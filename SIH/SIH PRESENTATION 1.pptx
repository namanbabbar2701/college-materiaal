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  <p:sldId id="298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1C4237-4AE3-49BE-86D4-2AB3EFFBD5B5}" v="2" dt="2024-09-13T04:31:56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an Babbar" userId="31f8182030175892" providerId="LiveId" clId="{EB1C4237-4AE3-49BE-86D4-2AB3EFFBD5B5}"/>
    <pc:docChg chg="undo custSel modSld">
      <pc:chgData name="Naman Babbar" userId="31f8182030175892" providerId="LiveId" clId="{EB1C4237-4AE3-49BE-86D4-2AB3EFFBD5B5}" dt="2024-09-13T04:32:21.790" v="10" actId="1076"/>
      <pc:docMkLst>
        <pc:docMk/>
      </pc:docMkLst>
      <pc:sldChg chg="addSp delSp modSp mod">
        <pc:chgData name="Naman Babbar" userId="31f8182030175892" providerId="LiveId" clId="{EB1C4237-4AE3-49BE-86D4-2AB3EFFBD5B5}" dt="2024-09-13T04:32:10.132" v="9" actId="1076"/>
        <pc:sldMkLst>
          <pc:docMk/>
          <pc:sldMk cId="3753387913" sldId="293"/>
        </pc:sldMkLst>
        <pc:spChg chg="mod">
          <ac:chgData name="Naman Babbar" userId="31f8182030175892" providerId="LiveId" clId="{EB1C4237-4AE3-49BE-86D4-2AB3EFFBD5B5}" dt="2024-09-13T04:32:10.132" v="9" actId="1076"/>
          <ac:spMkLst>
            <pc:docMk/>
            <pc:sldMk cId="3753387913" sldId="293"/>
            <ac:spMk id="9" creationId="{549CDE7C-8019-BC0D-9475-E05448DF1E52}"/>
          </ac:spMkLst>
        </pc:spChg>
        <pc:picChg chg="add mod">
          <ac:chgData name="Naman Babbar" userId="31f8182030175892" providerId="LiveId" clId="{EB1C4237-4AE3-49BE-86D4-2AB3EFFBD5B5}" dt="2024-09-13T04:32:05.445" v="8" actId="1076"/>
          <ac:picMkLst>
            <pc:docMk/>
            <pc:sldMk cId="3753387913" sldId="293"/>
            <ac:picMk id="4" creationId="{1E075B5C-8E66-4F78-A597-AC532B3FA85D}"/>
          </ac:picMkLst>
        </pc:picChg>
        <pc:picChg chg="del">
          <ac:chgData name="Naman Babbar" userId="31f8182030175892" providerId="LiveId" clId="{EB1C4237-4AE3-49BE-86D4-2AB3EFFBD5B5}" dt="2024-09-13T04:31:33.633" v="0" actId="478"/>
          <ac:picMkLst>
            <pc:docMk/>
            <pc:sldMk cId="3753387913" sldId="293"/>
            <ac:picMk id="2054" creationId="{17CF60D2-3A19-C350-EE51-3EB9DB50258E}"/>
          </ac:picMkLst>
        </pc:picChg>
      </pc:sldChg>
      <pc:sldChg chg="delSp modSp mod">
        <pc:chgData name="Naman Babbar" userId="31f8182030175892" providerId="LiveId" clId="{EB1C4237-4AE3-49BE-86D4-2AB3EFFBD5B5}" dt="2024-09-13T04:32:21.790" v="10" actId="1076"/>
        <pc:sldMkLst>
          <pc:docMk/>
          <pc:sldMk cId="3916788613" sldId="296"/>
        </pc:sldMkLst>
        <pc:graphicFrameChg chg="mod">
          <ac:chgData name="Naman Babbar" userId="31f8182030175892" providerId="LiveId" clId="{EB1C4237-4AE3-49BE-86D4-2AB3EFFBD5B5}" dt="2024-09-13T04:32:21.790" v="10" actId="1076"/>
          <ac:graphicFrameMkLst>
            <pc:docMk/>
            <pc:sldMk cId="3916788613" sldId="296"/>
            <ac:graphicFrameMk id="2" creationId="{0E2D004A-C251-BAB1-D80D-84DFF20A4AA5}"/>
          </ac:graphicFrameMkLst>
        </pc:graphicFrameChg>
        <pc:picChg chg="del mod">
          <ac:chgData name="Naman Babbar" userId="31f8182030175892" providerId="LiveId" clId="{EB1C4237-4AE3-49BE-86D4-2AB3EFFBD5B5}" dt="2024-09-13T04:31:53.442" v="5" actId="478"/>
          <ac:picMkLst>
            <pc:docMk/>
            <pc:sldMk cId="3916788613" sldId="296"/>
            <ac:picMk id="4" creationId="{55B51FA4-415B-42CD-F4B5-A03722F90C2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46714" y="233160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70661" y="1016034"/>
            <a:ext cx="8534400" cy="1752600"/>
          </a:xfrm>
        </p:spPr>
        <p:txBody>
          <a:bodyPr/>
          <a:lstStyle/>
          <a:p>
            <a:r>
              <a:rPr lang="en-US" sz="3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InFlux</a:t>
            </a:r>
            <a:endParaRPr lang="en-US"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Charging ahead with seamless power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4014" y="2124594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ID- SIH1595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InFlux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Vehicle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MITADTSW337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C2 Innovative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31020" y="123998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1"/>
            <a:ext cx="10972800" cy="1395247"/>
          </a:xfrm>
        </p:spPr>
        <p:txBody>
          <a:bodyPr/>
          <a:lstStyle/>
          <a:p>
            <a:pPr eaLnBrk="1" hangingPunct="1"/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InFlux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Charging ahead with seamless power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23449" y="1658744"/>
            <a:ext cx="1219199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9907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C2 Innovative</a:t>
            </a:r>
            <a:endParaRPr lang="en-IN" dirty="0"/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8">
            <a:extLst>
              <a:ext uri="{FF2B5EF4-FFF2-40B4-BE49-F238E27FC236}">
                <a16:creationId xmlns:a16="http://schemas.microsoft.com/office/drawing/2014/main" id="{B1272852-D65D-FB18-B3CD-5399F6366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690" y="2487310"/>
            <a:ext cx="32839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sz="3200" dirty="0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2530CF41-D20F-8A08-E772-517BE61CC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998" y="2651052"/>
            <a:ext cx="5804847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Provide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centralized website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locating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 charging stations.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Collaborate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with all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major EV charger brands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200" dirty="0"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Offer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unified wallet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 easy payments across different chargers.</a:t>
            </a:r>
          </a:p>
        </p:txBody>
      </p:sp>
      <p:pic>
        <p:nvPicPr>
          <p:cNvPr id="1026" name="Picture 2" descr="Gas Stations Vs. EV Charging Stations: Why Density Matters">
            <a:extLst>
              <a:ext uri="{FF2B5EF4-FFF2-40B4-BE49-F238E27FC236}">
                <a16:creationId xmlns:a16="http://schemas.microsoft.com/office/drawing/2014/main" id="{ACA90FC6-BB79-D32F-1E13-95F913DC8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845" y="2084439"/>
            <a:ext cx="5821360" cy="398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5571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9907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C2 Innovative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D65370-0EAA-4DA3-5093-D14C2A1D699D}"/>
              </a:ext>
            </a:extLst>
          </p:cNvPr>
          <p:cNvSpPr txBox="1"/>
          <p:nvPr/>
        </p:nvSpPr>
        <p:spPr>
          <a:xfrm>
            <a:off x="1391094" y="2197939"/>
            <a:ext cx="637582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responsive website providing real-time station discovery.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Integrate APIs from charger brands for location and availability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Secure online payment systems for the unified wallet.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endParaRPr lang="en-US" sz="2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EE5C63-2281-A794-08F9-F93C1BA8D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0" y="1346360"/>
            <a:ext cx="1860495" cy="15853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10415A-DB44-A55C-AAF8-76F92A144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945" y="4600050"/>
            <a:ext cx="1489804" cy="1489804"/>
          </a:xfrm>
          <a:prstGeom prst="rect">
            <a:avLst/>
          </a:prstGeom>
        </p:spPr>
      </p:pic>
      <p:pic>
        <p:nvPicPr>
          <p:cNvPr id="2052" name="Picture 4" descr="The Word &quot;Tech&quot; Written In Tile Letters ...">
            <a:extLst>
              <a:ext uri="{FF2B5EF4-FFF2-40B4-BE49-F238E27FC236}">
                <a16:creationId xmlns:a16="http://schemas.microsoft.com/office/drawing/2014/main" id="{E4F90C80-0388-65CF-7A36-B4F83E1C4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1374" y="2902463"/>
            <a:ext cx="2313272" cy="167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11694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9907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C2 Innovative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CDE7C-8019-BC0D-9475-E05448DF1E52}"/>
              </a:ext>
            </a:extLst>
          </p:cNvPr>
          <p:cNvSpPr txBox="1"/>
          <p:nvPr/>
        </p:nvSpPr>
        <p:spPr>
          <a:xfrm>
            <a:off x="609600" y="1693446"/>
            <a:ext cx="6046839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Growing demand for web-based EV charging solutions with market growth.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Collaborating with brands reduces infrastructure challenges.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Secure payment systems ensure user trust and adoption.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Scalable for future additions like mobile app compatibility.</a:t>
            </a:r>
          </a:p>
        </p:txBody>
      </p:sp>
      <p:sp>
        <p:nvSpPr>
          <p:cNvPr id="2" name="AutoShape 2" descr="Point Maps Icon Power Outlet Location ...">
            <a:extLst>
              <a:ext uri="{FF2B5EF4-FFF2-40B4-BE49-F238E27FC236}">
                <a16:creationId xmlns:a16="http://schemas.microsoft.com/office/drawing/2014/main" id="{3EED1C69-277C-4CD6-2DFC-6D5DA9C8EC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Point Maps Icon Power Outlet Location ...">
            <a:extLst>
              <a:ext uri="{FF2B5EF4-FFF2-40B4-BE49-F238E27FC236}">
                <a16:creationId xmlns:a16="http://schemas.microsoft.com/office/drawing/2014/main" id="{1FF46638-CE40-E443-CD9A-A661D3B179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75B5C-8E66-4F78-A597-AC532B3FA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581" y="1663254"/>
            <a:ext cx="3976819" cy="30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44930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5899" y="10951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909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C2 Innovative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5A60F3-928D-6A6C-5DF9-75AB19235C5F}"/>
              </a:ext>
            </a:extLst>
          </p:cNvPr>
          <p:cNvSpPr txBox="1"/>
          <p:nvPr/>
        </p:nvSpPr>
        <p:spPr>
          <a:xfrm>
            <a:off x="428320" y="2100281"/>
            <a:ext cx="573650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Simplifies the search for EV charging stations via a web platform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Unified wallet improves user convenience and transaction speed.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Strengthens the EV ecosystem by promoting green transportation.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Increases revenue for participating EV charger brands.</a:t>
            </a:r>
          </a:p>
        </p:txBody>
      </p:sp>
      <p:pic>
        <p:nvPicPr>
          <p:cNvPr id="3074" name="Picture 2" descr="How electric car is beneficial for our environment">
            <a:extLst>
              <a:ext uri="{FF2B5EF4-FFF2-40B4-BE49-F238E27FC236}">
                <a16:creationId xmlns:a16="http://schemas.microsoft.com/office/drawing/2014/main" id="{70993F62-8F48-FA98-F447-10B7780EC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2100281"/>
            <a:ext cx="6008658" cy="3661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93173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C2 Innovative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2D004A-C251-BAB1-D80D-84DFF20A4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428594"/>
              </p:ext>
            </p:extLst>
          </p:nvPr>
        </p:nvGraphicFramePr>
        <p:xfrm>
          <a:off x="2593498" y="1395246"/>
          <a:ext cx="6865134" cy="386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2567">
                  <a:extLst>
                    <a:ext uri="{9D8B030D-6E8A-4147-A177-3AD203B41FA5}">
                      <a16:colId xmlns:a16="http://schemas.microsoft.com/office/drawing/2014/main" val="3256148182"/>
                    </a:ext>
                  </a:extLst>
                </a:gridCol>
                <a:gridCol w="3432567">
                  <a:extLst>
                    <a:ext uri="{9D8B030D-6E8A-4147-A177-3AD203B41FA5}">
                      <a16:colId xmlns:a16="http://schemas.microsoft.com/office/drawing/2014/main" val="2113152115"/>
                    </a:ext>
                  </a:extLst>
                </a:gridCol>
              </a:tblGrid>
              <a:tr h="4449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Research Topic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sz="2000" dirty="0"/>
                        <a:t>Source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249245"/>
                  </a:ext>
                </a:extLst>
              </a:tr>
              <a:tr h="896337">
                <a:tc>
                  <a:txBody>
                    <a:bodyPr/>
                    <a:lstStyle/>
                    <a:p>
                      <a:r>
                        <a:rPr lang="en-US" dirty="0"/>
                        <a:t>EV Growth Market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McKinsey Report 2023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914284"/>
                  </a:ext>
                </a:extLst>
              </a:tr>
              <a:tr h="896337">
                <a:tc>
                  <a:txBody>
                    <a:bodyPr/>
                    <a:lstStyle/>
                    <a:p>
                      <a:r>
                        <a:rPr lang="en-US" dirty="0"/>
                        <a:t>Charger Network Expansion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IEA Global EV Outlook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817948"/>
                  </a:ext>
                </a:extLst>
              </a:tr>
              <a:tr h="816030">
                <a:tc>
                  <a:txBody>
                    <a:bodyPr/>
                    <a:lstStyle/>
                    <a:p>
                      <a:r>
                        <a:rPr lang="en-US" dirty="0"/>
                        <a:t>Consumer Behavior Analysis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Deloitte Ev Survey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119955"/>
                  </a:ext>
                </a:extLst>
              </a:tr>
              <a:tr h="816030">
                <a:tc>
                  <a:txBody>
                    <a:bodyPr/>
                    <a:lstStyle/>
                    <a:p>
                      <a:r>
                        <a:rPr lang="en-US" dirty="0"/>
                        <a:t>Unified Payment Systems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PwC Fintech Study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25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1198E-2E39-7570-C719-EFBA500E1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37" y="651752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Rubrics of Evaluation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5E747-B5C2-EAF3-FA25-B0036479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448D5-9D3C-369D-1CF5-406AE0FE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677C3CE7-23F7-4828-823C-E0205DF2CF97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pPr defTabSz="914400"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  <a:ea typeface="+mn-ea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73F7B9D-4C2F-73D6-2574-8CE1F4CDB6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8521259"/>
              </p:ext>
            </p:extLst>
          </p:nvPr>
        </p:nvGraphicFramePr>
        <p:xfrm>
          <a:off x="0" y="1396588"/>
          <a:ext cx="12192000" cy="5461411"/>
        </p:xfrm>
        <a:graphic>
          <a:graphicData uri="http://schemas.openxmlformats.org/drawingml/2006/table">
            <a:tbl>
              <a:tblPr/>
              <a:tblGrid>
                <a:gridCol w="1047207">
                  <a:extLst>
                    <a:ext uri="{9D8B030D-6E8A-4147-A177-3AD203B41FA5}">
                      <a16:colId xmlns:a16="http://schemas.microsoft.com/office/drawing/2014/main" val="2031034992"/>
                    </a:ext>
                  </a:extLst>
                </a:gridCol>
                <a:gridCol w="720545">
                  <a:extLst>
                    <a:ext uri="{9D8B030D-6E8A-4147-A177-3AD203B41FA5}">
                      <a16:colId xmlns:a16="http://schemas.microsoft.com/office/drawing/2014/main" val="346990665"/>
                    </a:ext>
                  </a:extLst>
                </a:gridCol>
                <a:gridCol w="1413565">
                  <a:extLst>
                    <a:ext uri="{9D8B030D-6E8A-4147-A177-3AD203B41FA5}">
                      <a16:colId xmlns:a16="http://schemas.microsoft.com/office/drawing/2014/main" val="137993388"/>
                    </a:ext>
                  </a:extLst>
                </a:gridCol>
                <a:gridCol w="2475860">
                  <a:extLst>
                    <a:ext uri="{9D8B030D-6E8A-4147-A177-3AD203B41FA5}">
                      <a16:colId xmlns:a16="http://schemas.microsoft.com/office/drawing/2014/main" val="2114457893"/>
                    </a:ext>
                  </a:extLst>
                </a:gridCol>
                <a:gridCol w="2306229">
                  <a:extLst>
                    <a:ext uri="{9D8B030D-6E8A-4147-A177-3AD203B41FA5}">
                      <a16:colId xmlns:a16="http://schemas.microsoft.com/office/drawing/2014/main" val="719884105"/>
                    </a:ext>
                  </a:extLst>
                </a:gridCol>
                <a:gridCol w="2420837">
                  <a:extLst>
                    <a:ext uri="{9D8B030D-6E8A-4147-A177-3AD203B41FA5}">
                      <a16:colId xmlns:a16="http://schemas.microsoft.com/office/drawing/2014/main" val="1128034729"/>
                    </a:ext>
                  </a:extLst>
                </a:gridCol>
                <a:gridCol w="1807757">
                  <a:extLst>
                    <a:ext uri="{9D8B030D-6E8A-4147-A177-3AD203B41FA5}">
                      <a16:colId xmlns:a16="http://schemas.microsoft.com/office/drawing/2014/main" val="1654997917"/>
                    </a:ext>
                  </a:extLst>
                </a:gridCol>
              </a:tblGrid>
              <a:tr h="382336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Assessment Phase/Category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Weightage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Parameters/Points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evaluators should look for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20-25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10-20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0-10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398431"/>
                  </a:ext>
                </a:extLst>
              </a:tr>
              <a:tr h="550396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Extensiveness of research/ Problem Validation/Desirability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Level of research conducted to understand the problem statement and it's need in the market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Excellent understanding of problem, Primary and secondary extensive research done, analysis done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Satisfactory understanding of problem, Only primary or only secondary research done well but no analysis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Unsatisfactory understanding of problem, Poor quality research done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607535"/>
                  </a:ext>
                </a:extLst>
              </a:tr>
              <a:tr h="539774">
                <a:tc rowSpan="3"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IDEATION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39" marR="71139" marT="35570" marB="355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EF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39" marR="71139" marT="35570" marB="355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Novelty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How innovative or novel is the idea suggested by the team?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Innovative idea and is still being/ to be explored in the industry/market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Have seen/heard before but still unexplored and needs more such ideas to make it scalable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common and has many solutions for it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012913"/>
                  </a:ext>
                </a:extLst>
              </a:tr>
              <a:tr h="7044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Technical Solution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Level of detailing done to present the idea - could be a sketch, 3D printing design, workflow diagram or something else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Extremely intelligent design with details and is ready to be prototyped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Decent design with details but needs a lot of work to be able to take it to prototyping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Poorly presented, difficult to undertstand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622657"/>
                  </a:ext>
                </a:extLst>
              </a:tr>
              <a:tr h="38233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 Dynamics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Commitment of the team towards one another and their project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Multidisciplinary Team with complementary skill sets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Single discipline with complementary skill sets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much role clarity among members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00321"/>
                  </a:ext>
                </a:extLst>
              </a:tr>
              <a:tr h="382336">
                <a:tc rowSpan="2"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FEASIBILITY and VIABILITY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39" marR="71139" marT="35570" marB="355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EF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39" marR="71139" marT="35570" marB="355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Feasibility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Does the Team possess all required resources to create solution?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Have Identified all resources to create solution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Have partially identified the resources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much work done to identify resources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526276"/>
                  </a:ext>
                </a:extLst>
              </a:tr>
              <a:tr h="38233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Viability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it financially viable solution? Will it make money?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 economics is well thought through and Business Plan is in place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Either Unit Economics or Business Plan in place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Both Unit economics and Business Plan are not present.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64175"/>
                  </a:ext>
                </a:extLst>
              </a:tr>
              <a:tr h="704432">
                <a:tc rowSpan="2"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SCALABILITY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39" marR="71139" marT="35570" marB="355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EF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39" marR="71139" marT="35570" marB="355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E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Growth Potential/Impact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Virality of Solution/ Benefits (Social, Economic, Environmental)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clear growth plan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Engagement with community/ Community awareness - Very High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help to build growth plan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Engagement with community/ Community awareness - Fair Enough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yet started on growth plan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Engagement with community/ Community awareness - Low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8501"/>
                  </a:ext>
                </a:extLst>
              </a:tr>
              <a:tr h="3630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Affordability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Pricing of the solution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Highly afforable compared to existing solution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Moderatly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affordable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Highly priced with low affordability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209136"/>
                  </a:ext>
                </a:extLst>
              </a:tr>
              <a:tr h="1070001">
                <a:tc gridSpan="2"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Video Presentation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39" marR="71139" marT="35570" marB="355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more than 3-5 minutes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Content of the video presentation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(Capturing the entire innovation solution journey in the entire video)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well presented;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Capturing :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Prototype demonstration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 On-ground testing/Prototyping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 User validation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 Defining Problem statement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Decently presented;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Capturing :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Prototyping 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 User validation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 Defining Problem statement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Presented;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Capturing problem statement only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195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684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8232</TotalTime>
  <Words>869</Words>
  <Application>Microsoft Office PowerPoint</Application>
  <PresentationFormat>Widescreen</PresentationFormat>
  <Paragraphs>148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2024</vt:lpstr>
      <vt:lpstr>InFlux Charging ahead with seamless power</vt:lpstr>
      <vt:lpstr>TECHNICAL APPROACH</vt:lpstr>
      <vt:lpstr>FEASIBILITY AND VIABILITY</vt:lpstr>
      <vt:lpstr>IMPACT AND BENEFITS</vt:lpstr>
      <vt:lpstr>RESEARCH  AND REFERENCES</vt:lpstr>
      <vt:lpstr>PowerPoint Presentation</vt:lpstr>
      <vt:lpstr>Rubrics of Evaluation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Naman Babbar</cp:lastModifiedBy>
  <cp:revision>156</cp:revision>
  <dcterms:created xsi:type="dcterms:W3CDTF">2013-12-12T18:46:50Z</dcterms:created>
  <dcterms:modified xsi:type="dcterms:W3CDTF">2024-09-13T04:32:23Z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2024-09-02T15:11:39Z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97be76ca-6bb3-42cd-8ac7-b6e33c6d26b1</vt:lpwstr>
  </property>
  <property fmtid="{D5CDD505-2E9C-101B-9397-08002B2CF9AE}" pid="8" name="MSIP_Label_e65487c9-99ed-4cbc-93a8-0e9b1796bde5_ContentBits">
    <vt:lpwstr>0</vt:lpwstr>
  </property>
</Properties>
</file>