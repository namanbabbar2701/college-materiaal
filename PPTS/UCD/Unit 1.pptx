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2"/>
  </p:notesMasterIdLst>
  <p:sldIdLst>
    <p:sldId id="285" r:id="rId2"/>
    <p:sldId id="305" r:id="rId3"/>
    <p:sldId id="306" r:id="rId4"/>
    <p:sldId id="259" r:id="rId5"/>
    <p:sldId id="307" r:id="rId6"/>
    <p:sldId id="310" r:id="rId7"/>
    <p:sldId id="311" r:id="rId8"/>
    <p:sldId id="312" r:id="rId9"/>
    <p:sldId id="309" r:id="rId10"/>
    <p:sldId id="308"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339" r:id="rId38"/>
    <p:sldId id="345" r:id="rId39"/>
    <p:sldId id="340" r:id="rId40"/>
    <p:sldId id="341" r:id="rId41"/>
    <p:sldId id="353" r:id="rId42"/>
    <p:sldId id="344" r:id="rId43"/>
    <p:sldId id="342" r:id="rId44"/>
    <p:sldId id="343" r:id="rId45"/>
    <p:sldId id="346" r:id="rId46"/>
    <p:sldId id="354" r:id="rId47"/>
    <p:sldId id="347" r:id="rId48"/>
    <p:sldId id="348" r:id="rId49"/>
    <p:sldId id="349" r:id="rId50"/>
    <p:sldId id="355" r:id="rId51"/>
    <p:sldId id="356" r:id="rId52"/>
    <p:sldId id="357" r:id="rId53"/>
    <p:sldId id="358" r:id="rId54"/>
    <p:sldId id="359" r:id="rId55"/>
    <p:sldId id="363" r:id="rId56"/>
    <p:sldId id="360" r:id="rId57"/>
    <p:sldId id="364" r:id="rId58"/>
    <p:sldId id="362" r:id="rId59"/>
    <p:sldId id="365" r:id="rId60"/>
    <p:sldId id="350" r:id="rId61"/>
  </p:sldIdLst>
  <p:sldSz cx="9144000" cy="6858000" type="screen4x3"/>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A2F4"/>
    <a:srgbClr val="F58634"/>
    <a:srgbClr val="FE7F7A"/>
    <a:srgbClr val="A43594"/>
    <a:srgbClr val="00A884"/>
    <a:srgbClr val="A63494"/>
    <a:srgbClr val="E32450"/>
    <a:srgbClr val="F57B32"/>
    <a:srgbClr val="FEE064"/>
    <a:srgbClr val="5868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4382" autoAdjust="0"/>
  </p:normalViewPr>
  <p:slideViewPr>
    <p:cSldViewPr snapToGrid="0">
      <p:cViewPr varScale="1">
        <p:scale>
          <a:sx n="104" d="100"/>
          <a:sy n="104" d="100"/>
        </p:scale>
        <p:origin x="1800" y="11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66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EA0560-2CC8-45D4-A4D6-7E4FE173BCFD}" type="doc">
      <dgm:prSet loTypeId="urn:microsoft.com/office/officeart/2005/8/layout/pList1#1" loCatId="list" qsTypeId="urn:microsoft.com/office/officeart/2005/8/quickstyle/simple1" qsCatId="simple" csTypeId="urn:microsoft.com/office/officeart/2005/8/colors/accent1_2" csCatId="accent1" phldr="1"/>
      <dgm:spPr/>
      <dgm:t>
        <a:bodyPr/>
        <a:lstStyle/>
        <a:p>
          <a:endParaRPr lang="en-US"/>
        </a:p>
      </dgm:t>
    </dgm:pt>
    <dgm:pt modelId="{0F3F74D0-EB9F-425B-ACE0-7AF0169A5234}">
      <dgm:prSet phldrT="[Text]"/>
      <dgm:spPr/>
      <dgm:t>
        <a:bodyPr/>
        <a:lstStyle/>
        <a:p>
          <a:r>
            <a:rPr lang="en-US" dirty="0"/>
            <a:t>A</a:t>
          </a:r>
        </a:p>
      </dgm:t>
    </dgm:pt>
    <dgm:pt modelId="{AA4F932B-8497-4650-B181-C3212F831CBE}" type="parTrans" cxnId="{0BDB45C3-08E7-43A8-93B9-A4278505451C}">
      <dgm:prSet/>
      <dgm:spPr/>
      <dgm:t>
        <a:bodyPr/>
        <a:lstStyle/>
        <a:p>
          <a:endParaRPr lang="en-US"/>
        </a:p>
      </dgm:t>
    </dgm:pt>
    <dgm:pt modelId="{E4378254-101F-4CE4-A7A9-80F97BEB2DEE}" type="sibTrans" cxnId="{0BDB45C3-08E7-43A8-93B9-A4278505451C}">
      <dgm:prSet/>
      <dgm:spPr/>
      <dgm:t>
        <a:bodyPr/>
        <a:lstStyle/>
        <a:p>
          <a:endParaRPr lang="en-US"/>
        </a:p>
      </dgm:t>
    </dgm:pt>
    <dgm:pt modelId="{74AD5868-B381-49E1-A7EB-97BB8D21207C}">
      <dgm:prSet phldrT="[Text]"/>
      <dgm:spPr/>
      <dgm:t>
        <a:bodyPr/>
        <a:lstStyle/>
        <a:p>
          <a:r>
            <a:rPr lang="en-US" dirty="0"/>
            <a:t>B</a:t>
          </a:r>
        </a:p>
      </dgm:t>
    </dgm:pt>
    <dgm:pt modelId="{BE4B9C71-8037-4D6D-9BE1-0780FE910889}" type="parTrans" cxnId="{8A2DB9B9-DDF3-49B9-9921-3F98D760B3E2}">
      <dgm:prSet/>
      <dgm:spPr/>
      <dgm:t>
        <a:bodyPr/>
        <a:lstStyle/>
        <a:p>
          <a:endParaRPr lang="en-US"/>
        </a:p>
      </dgm:t>
    </dgm:pt>
    <dgm:pt modelId="{1BCD3937-8D4A-4CB5-A676-9F0C3D7BA4D7}" type="sibTrans" cxnId="{8A2DB9B9-DDF3-49B9-9921-3F98D760B3E2}">
      <dgm:prSet/>
      <dgm:spPr/>
      <dgm:t>
        <a:bodyPr/>
        <a:lstStyle/>
        <a:p>
          <a:endParaRPr lang="en-US"/>
        </a:p>
      </dgm:t>
    </dgm:pt>
    <dgm:pt modelId="{D807AE5E-F440-49AC-99F4-F55EC88DD533}">
      <dgm:prSet phldrT="[Text]"/>
      <dgm:spPr/>
      <dgm:t>
        <a:bodyPr/>
        <a:lstStyle/>
        <a:p>
          <a:r>
            <a:rPr lang="en-US" dirty="0"/>
            <a:t>C</a:t>
          </a:r>
        </a:p>
      </dgm:t>
    </dgm:pt>
    <dgm:pt modelId="{D0D734AC-C5ED-496B-BA2B-526C905CD9A8}" type="parTrans" cxnId="{6F59FDE0-6010-41D7-A3B3-4240A942FA67}">
      <dgm:prSet/>
      <dgm:spPr/>
      <dgm:t>
        <a:bodyPr/>
        <a:lstStyle/>
        <a:p>
          <a:endParaRPr lang="en-US"/>
        </a:p>
      </dgm:t>
    </dgm:pt>
    <dgm:pt modelId="{7EB31CAB-86B3-4C6D-8267-5DB5BA90ABEB}" type="sibTrans" cxnId="{6F59FDE0-6010-41D7-A3B3-4240A942FA67}">
      <dgm:prSet/>
      <dgm:spPr/>
      <dgm:t>
        <a:bodyPr/>
        <a:lstStyle/>
        <a:p>
          <a:endParaRPr lang="en-US"/>
        </a:p>
      </dgm:t>
    </dgm:pt>
    <dgm:pt modelId="{8DF0C8DD-17B1-4E19-AD68-10725543EF52}" type="pres">
      <dgm:prSet presAssocID="{9FEA0560-2CC8-45D4-A4D6-7E4FE173BCFD}" presName="Name0" presStyleCnt="0">
        <dgm:presLayoutVars>
          <dgm:dir/>
          <dgm:resizeHandles val="exact"/>
        </dgm:presLayoutVars>
      </dgm:prSet>
      <dgm:spPr/>
    </dgm:pt>
    <dgm:pt modelId="{BD0228FB-D52C-40C8-BCD9-8BA1B49CD178}" type="pres">
      <dgm:prSet presAssocID="{0F3F74D0-EB9F-425B-ACE0-7AF0169A5234}" presName="compNode" presStyleCnt="0"/>
      <dgm:spPr/>
    </dgm:pt>
    <dgm:pt modelId="{24C35EED-16A5-4314-BEBB-90D67D962A93}" type="pres">
      <dgm:prSet presAssocID="{0F3F74D0-EB9F-425B-ACE0-7AF0169A5234}" presName="pictRect" presStyleLbl="node1" presStyleIdx="0" presStyleCnt="3"/>
      <dgm:spPr>
        <a:blipFill rotWithShape="0">
          <a:blip xmlns:r="http://schemas.openxmlformats.org/officeDocument/2006/relationships" r:embed="rId1"/>
          <a:stretch>
            <a:fillRect/>
          </a:stretch>
        </a:blipFill>
      </dgm:spPr>
    </dgm:pt>
    <dgm:pt modelId="{89C566D7-C41A-480A-8F96-161F104B26FA}" type="pres">
      <dgm:prSet presAssocID="{0F3F74D0-EB9F-425B-ACE0-7AF0169A5234}" presName="textRect" presStyleLbl="revTx" presStyleIdx="0" presStyleCnt="3">
        <dgm:presLayoutVars>
          <dgm:bulletEnabled val="1"/>
        </dgm:presLayoutVars>
      </dgm:prSet>
      <dgm:spPr/>
    </dgm:pt>
    <dgm:pt modelId="{89B1B340-4285-486B-9A7D-789F7CA11E2A}" type="pres">
      <dgm:prSet presAssocID="{E4378254-101F-4CE4-A7A9-80F97BEB2DEE}" presName="sibTrans" presStyleLbl="sibTrans2D1" presStyleIdx="0" presStyleCnt="0"/>
      <dgm:spPr/>
    </dgm:pt>
    <dgm:pt modelId="{8124971C-C532-4185-BC72-85A7FC001D7D}" type="pres">
      <dgm:prSet presAssocID="{74AD5868-B381-49E1-A7EB-97BB8D21207C}" presName="compNode" presStyleCnt="0"/>
      <dgm:spPr/>
    </dgm:pt>
    <dgm:pt modelId="{42609A0D-AC2D-4F67-B5AD-0068A591BF32}" type="pres">
      <dgm:prSet presAssocID="{74AD5868-B381-49E1-A7EB-97BB8D21207C}" presName="pictRect" presStyleLbl="node1" presStyleIdx="1" presStyleCnt="3"/>
      <dgm:spPr>
        <a:blipFill rotWithShape="0">
          <a:blip xmlns:r="http://schemas.openxmlformats.org/officeDocument/2006/relationships" r:embed="rId2"/>
          <a:stretch>
            <a:fillRect/>
          </a:stretch>
        </a:blipFill>
      </dgm:spPr>
    </dgm:pt>
    <dgm:pt modelId="{D152D9EC-316F-4107-BDB5-B1578D37932A}" type="pres">
      <dgm:prSet presAssocID="{74AD5868-B381-49E1-A7EB-97BB8D21207C}" presName="textRect" presStyleLbl="revTx" presStyleIdx="1" presStyleCnt="3">
        <dgm:presLayoutVars>
          <dgm:bulletEnabled val="1"/>
        </dgm:presLayoutVars>
      </dgm:prSet>
      <dgm:spPr/>
    </dgm:pt>
    <dgm:pt modelId="{47E7C481-E21F-45C8-9E3E-11D951D1ECEC}" type="pres">
      <dgm:prSet presAssocID="{1BCD3937-8D4A-4CB5-A676-9F0C3D7BA4D7}" presName="sibTrans" presStyleLbl="sibTrans2D1" presStyleIdx="0" presStyleCnt="0"/>
      <dgm:spPr/>
    </dgm:pt>
    <dgm:pt modelId="{61184845-4F40-4178-8D41-8F6C8D64EE2B}" type="pres">
      <dgm:prSet presAssocID="{D807AE5E-F440-49AC-99F4-F55EC88DD533}" presName="compNode" presStyleCnt="0"/>
      <dgm:spPr/>
    </dgm:pt>
    <dgm:pt modelId="{B2FFBC6D-6975-4955-A234-30DBEEB4AC3C}" type="pres">
      <dgm:prSet presAssocID="{D807AE5E-F440-49AC-99F4-F55EC88DD533}" presName="pictRect" presStyleLbl="node1" presStyleIdx="2" presStyleCnt="3"/>
      <dgm:spPr>
        <a:blipFill rotWithShape="0">
          <a:blip xmlns:r="http://schemas.openxmlformats.org/officeDocument/2006/relationships" r:embed="rId3"/>
          <a:stretch>
            <a:fillRect/>
          </a:stretch>
        </a:blipFill>
      </dgm:spPr>
    </dgm:pt>
    <dgm:pt modelId="{11DF3D4D-C5A4-4806-A814-F289A3D4DB67}" type="pres">
      <dgm:prSet presAssocID="{D807AE5E-F440-49AC-99F4-F55EC88DD533}" presName="textRect" presStyleLbl="revTx" presStyleIdx="2" presStyleCnt="3">
        <dgm:presLayoutVars>
          <dgm:bulletEnabled val="1"/>
        </dgm:presLayoutVars>
      </dgm:prSet>
      <dgm:spPr/>
    </dgm:pt>
  </dgm:ptLst>
  <dgm:cxnLst>
    <dgm:cxn modelId="{EC96AF1C-C640-48D6-8BD2-2F33CAA2993C}" type="presOf" srcId="{D807AE5E-F440-49AC-99F4-F55EC88DD533}" destId="{11DF3D4D-C5A4-4806-A814-F289A3D4DB67}" srcOrd="0" destOrd="0" presId="urn:microsoft.com/office/officeart/2005/8/layout/pList1#1"/>
    <dgm:cxn modelId="{0F3A3432-0C3F-474E-AEF4-8418997929DA}" type="presOf" srcId="{74AD5868-B381-49E1-A7EB-97BB8D21207C}" destId="{D152D9EC-316F-4107-BDB5-B1578D37932A}" srcOrd="0" destOrd="0" presId="urn:microsoft.com/office/officeart/2005/8/layout/pList1#1"/>
    <dgm:cxn modelId="{31FF0F62-59FF-49EC-9565-DA4C32FE6420}" type="presOf" srcId="{9FEA0560-2CC8-45D4-A4D6-7E4FE173BCFD}" destId="{8DF0C8DD-17B1-4E19-AD68-10725543EF52}" srcOrd="0" destOrd="0" presId="urn:microsoft.com/office/officeart/2005/8/layout/pList1#1"/>
    <dgm:cxn modelId="{B0B9DBB4-6A83-4FB1-AE08-D7335C2AD329}" type="presOf" srcId="{1BCD3937-8D4A-4CB5-A676-9F0C3D7BA4D7}" destId="{47E7C481-E21F-45C8-9E3E-11D951D1ECEC}" srcOrd="0" destOrd="0" presId="urn:microsoft.com/office/officeart/2005/8/layout/pList1#1"/>
    <dgm:cxn modelId="{8A2DB9B9-DDF3-49B9-9921-3F98D760B3E2}" srcId="{9FEA0560-2CC8-45D4-A4D6-7E4FE173BCFD}" destId="{74AD5868-B381-49E1-A7EB-97BB8D21207C}" srcOrd="1" destOrd="0" parTransId="{BE4B9C71-8037-4D6D-9BE1-0780FE910889}" sibTransId="{1BCD3937-8D4A-4CB5-A676-9F0C3D7BA4D7}"/>
    <dgm:cxn modelId="{0BDB45C3-08E7-43A8-93B9-A4278505451C}" srcId="{9FEA0560-2CC8-45D4-A4D6-7E4FE173BCFD}" destId="{0F3F74D0-EB9F-425B-ACE0-7AF0169A5234}" srcOrd="0" destOrd="0" parTransId="{AA4F932B-8497-4650-B181-C3212F831CBE}" sibTransId="{E4378254-101F-4CE4-A7A9-80F97BEB2DEE}"/>
    <dgm:cxn modelId="{BC53A9CF-8D58-4251-B3D8-F91FB17EF8A6}" type="presOf" srcId="{E4378254-101F-4CE4-A7A9-80F97BEB2DEE}" destId="{89B1B340-4285-486B-9A7D-789F7CA11E2A}" srcOrd="0" destOrd="0" presId="urn:microsoft.com/office/officeart/2005/8/layout/pList1#1"/>
    <dgm:cxn modelId="{6F59FDE0-6010-41D7-A3B3-4240A942FA67}" srcId="{9FEA0560-2CC8-45D4-A4D6-7E4FE173BCFD}" destId="{D807AE5E-F440-49AC-99F4-F55EC88DD533}" srcOrd="2" destOrd="0" parTransId="{D0D734AC-C5ED-496B-BA2B-526C905CD9A8}" sibTransId="{7EB31CAB-86B3-4C6D-8267-5DB5BA90ABEB}"/>
    <dgm:cxn modelId="{CF7EEEEE-13BE-44F4-992F-01D9698A88DB}" type="presOf" srcId="{0F3F74D0-EB9F-425B-ACE0-7AF0169A5234}" destId="{89C566D7-C41A-480A-8F96-161F104B26FA}" srcOrd="0" destOrd="0" presId="urn:microsoft.com/office/officeart/2005/8/layout/pList1#1"/>
    <dgm:cxn modelId="{55FE9D0B-C4EB-4E3E-99E0-8E4842A8923A}" type="presParOf" srcId="{8DF0C8DD-17B1-4E19-AD68-10725543EF52}" destId="{BD0228FB-D52C-40C8-BCD9-8BA1B49CD178}" srcOrd="0" destOrd="0" presId="urn:microsoft.com/office/officeart/2005/8/layout/pList1#1"/>
    <dgm:cxn modelId="{E35A6E1D-690F-46BC-9288-4CF9955FC4C5}" type="presParOf" srcId="{BD0228FB-D52C-40C8-BCD9-8BA1B49CD178}" destId="{24C35EED-16A5-4314-BEBB-90D67D962A93}" srcOrd="0" destOrd="0" presId="urn:microsoft.com/office/officeart/2005/8/layout/pList1#1"/>
    <dgm:cxn modelId="{3F0BFB4F-8003-4B11-9FC4-3C5A1872C847}" type="presParOf" srcId="{BD0228FB-D52C-40C8-BCD9-8BA1B49CD178}" destId="{89C566D7-C41A-480A-8F96-161F104B26FA}" srcOrd="1" destOrd="0" presId="urn:microsoft.com/office/officeart/2005/8/layout/pList1#1"/>
    <dgm:cxn modelId="{2D99303F-E111-46BB-9769-2D8BF68E3908}" type="presParOf" srcId="{8DF0C8DD-17B1-4E19-AD68-10725543EF52}" destId="{89B1B340-4285-486B-9A7D-789F7CA11E2A}" srcOrd="1" destOrd="0" presId="urn:microsoft.com/office/officeart/2005/8/layout/pList1#1"/>
    <dgm:cxn modelId="{8F3AF9E2-C957-4C23-B517-417F62A0D841}" type="presParOf" srcId="{8DF0C8DD-17B1-4E19-AD68-10725543EF52}" destId="{8124971C-C532-4185-BC72-85A7FC001D7D}" srcOrd="2" destOrd="0" presId="urn:microsoft.com/office/officeart/2005/8/layout/pList1#1"/>
    <dgm:cxn modelId="{B7D26446-5D60-446D-952F-D3835E5D8D4A}" type="presParOf" srcId="{8124971C-C532-4185-BC72-85A7FC001D7D}" destId="{42609A0D-AC2D-4F67-B5AD-0068A591BF32}" srcOrd="0" destOrd="0" presId="urn:microsoft.com/office/officeart/2005/8/layout/pList1#1"/>
    <dgm:cxn modelId="{C21DC82A-E4F0-4BA5-824D-FD40C86A6599}" type="presParOf" srcId="{8124971C-C532-4185-BC72-85A7FC001D7D}" destId="{D152D9EC-316F-4107-BDB5-B1578D37932A}" srcOrd="1" destOrd="0" presId="urn:microsoft.com/office/officeart/2005/8/layout/pList1#1"/>
    <dgm:cxn modelId="{1BBE2933-327F-4B3B-8996-EDC8E6984B94}" type="presParOf" srcId="{8DF0C8DD-17B1-4E19-AD68-10725543EF52}" destId="{47E7C481-E21F-45C8-9E3E-11D951D1ECEC}" srcOrd="3" destOrd="0" presId="urn:microsoft.com/office/officeart/2005/8/layout/pList1#1"/>
    <dgm:cxn modelId="{22FE239D-9210-48C6-A7E8-44ED4A34437D}" type="presParOf" srcId="{8DF0C8DD-17B1-4E19-AD68-10725543EF52}" destId="{61184845-4F40-4178-8D41-8F6C8D64EE2B}" srcOrd="4" destOrd="0" presId="urn:microsoft.com/office/officeart/2005/8/layout/pList1#1"/>
    <dgm:cxn modelId="{577D58FA-0D80-4E3C-A83F-82B409A7C740}" type="presParOf" srcId="{61184845-4F40-4178-8D41-8F6C8D64EE2B}" destId="{B2FFBC6D-6975-4955-A234-30DBEEB4AC3C}" srcOrd="0" destOrd="0" presId="urn:microsoft.com/office/officeart/2005/8/layout/pList1#1"/>
    <dgm:cxn modelId="{85DB93FC-3FD7-42B8-BDDD-AD1179FACE85}" type="presParOf" srcId="{61184845-4F40-4178-8D41-8F6C8D64EE2B}" destId="{11DF3D4D-C5A4-4806-A814-F289A3D4DB67}" srcOrd="1" destOrd="0" presId="urn:microsoft.com/office/officeart/2005/8/layout/pList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35EED-16A5-4314-BEBB-90D67D962A93}">
      <dsp:nvSpPr>
        <dsp:cNvPr id="0" name=""/>
        <dsp:cNvSpPr/>
      </dsp:nvSpPr>
      <dsp:spPr>
        <a:xfrm>
          <a:off x="232089" y="1798"/>
          <a:ext cx="2052947" cy="1414480"/>
        </a:xfrm>
        <a:prstGeom prst="roundRect">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C566D7-C41A-480A-8F96-161F104B26FA}">
      <dsp:nvSpPr>
        <dsp:cNvPr id="0" name=""/>
        <dsp:cNvSpPr/>
      </dsp:nvSpPr>
      <dsp:spPr>
        <a:xfrm>
          <a:off x="232089" y="1416279"/>
          <a:ext cx="2052947" cy="761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0" numCol="1" spcCol="1270" anchor="t" anchorCtr="0">
          <a:noAutofit/>
        </a:bodyPr>
        <a:lstStyle/>
        <a:p>
          <a:pPr marL="0" lvl="0" indent="0" algn="ctr" defTabSz="1600200">
            <a:lnSpc>
              <a:spcPct val="90000"/>
            </a:lnSpc>
            <a:spcBef>
              <a:spcPct val="0"/>
            </a:spcBef>
            <a:spcAft>
              <a:spcPct val="35000"/>
            </a:spcAft>
            <a:buNone/>
          </a:pPr>
          <a:r>
            <a:rPr lang="en-US" sz="3600" kern="1200" dirty="0"/>
            <a:t>A</a:t>
          </a:r>
        </a:p>
      </dsp:txBody>
      <dsp:txXfrm>
        <a:off x="232089" y="1416279"/>
        <a:ext cx="2052947" cy="761643"/>
      </dsp:txXfrm>
    </dsp:sp>
    <dsp:sp modelId="{42609A0D-AC2D-4F67-B5AD-0068A591BF32}">
      <dsp:nvSpPr>
        <dsp:cNvPr id="0" name=""/>
        <dsp:cNvSpPr/>
      </dsp:nvSpPr>
      <dsp:spPr>
        <a:xfrm>
          <a:off x="2490418" y="1798"/>
          <a:ext cx="2052947" cy="1414480"/>
        </a:xfrm>
        <a:prstGeom prst="roundRect">
          <a:avLst/>
        </a:prstGeom>
        <a:blipFill rotWithShape="0">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52D9EC-316F-4107-BDB5-B1578D37932A}">
      <dsp:nvSpPr>
        <dsp:cNvPr id="0" name=""/>
        <dsp:cNvSpPr/>
      </dsp:nvSpPr>
      <dsp:spPr>
        <a:xfrm>
          <a:off x="2490418" y="1416279"/>
          <a:ext cx="2052947" cy="761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0" numCol="1" spcCol="1270" anchor="t" anchorCtr="0">
          <a:noAutofit/>
        </a:bodyPr>
        <a:lstStyle/>
        <a:p>
          <a:pPr marL="0" lvl="0" indent="0" algn="ctr" defTabSz="1600200">
            <a:lnSpc>
              <a:spcPct val="90000"/>
            </a:lnSpc>
            <a:spcBef>
              <a:spcPct val="0"/>
            </a:spcBef>
            <a:spcAft>
              <a:spcPct val="35000"/>
            </a:spcAft>
            <a:buNone/>
          </a:pPr>
          <a:r>
            <a:rPr lang="en-US" sz="3600" kern="1200" dirty="0"/>
            <a:t>B</a:t>
          </a:r>
        </a:p>
      </dsp:txBody>
      <dsp:txXfrm>
        <a:off x="2490418" y="1416279"/>
        <a:ext cx="2052947" cy="761643"/>
      </dsp:txXfrm>
    </dsp:sp>
    <dsp:sp modelId="{B2FFBC6D-6975-4955-A234-30DBEEB4AC3C}">
      <dsp:nvSpPr>
        <dsp:cNvPr id="0" name=""/>
        <dsp:cNvSpPr/>
      </dsp:nvSpPr>
      <dsp:spPr>
        <a:xfrm>
          <a:off x="4748746" y="1798"/>
          <a:ext cx="2052947" cy="1414480"/>
        </a:xfrm>
        <a:prstGeom prst="roundRect">
          <a:avLst/>
        </a:prstGeom>
        <a:blipFill rotWithShape="0">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DF3D4D-C5A4-4806-A814-F289A3D4DB67}">
      <dsp:nvSpPr>
        <dsp:cNvPr id="0" name=""/>
        <dsp:cNvSpPr/>
      </dsp:nvSpPr>
      <dsp:spPr>
        <a:xfrm>
          <a:off x="4748746" y="1416279"/>
          <a:ext cx="2052947" cy="761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0" numCol="1" spcCol="1270" anchor="t" anchorCtr="0">
          <a:noAutofit/>
        </a:bodyPr>
        <a:lstStyle/>
        <a:p>
          <a:pPr marL="0" lvl="0" indent="0" algn="ctr" defTabSz="1600200">
            <a:lnSpc>
              <a:spcPct val="90000"/>
            </a:lnSpc>
            <a:spcBef>
              <a:spcPct val="0"/>
            </a:spcBef>
            <a:spcAft>
              <a:spcPct val="35000"/>
            </a:spcAft>
            <a:buNone/>
          </a:pPr>
          <a:r>
            <a:rPr lang="en-US" sz="3600" kern="1200" dirty="0"/>
            <a:t>C</a:t>
          </a:r>
        </a:p>
      </dsp:txBody>
      <dsp:txXfrm>
        <a:off x="4748746" y="1416279"/>
        <a:ext cx="2052947" cy="761643"/>
      </dsp:txXfrm>
    </dsp:sp>
  </dsp:spTree>
</dsp:drawing>
</file>

<file path=ppt/diagrams/layout1.xml><?xml version="1.0" encoding="utf-8"?>
<dgm:layoutDef xmlns:dgm="http://schemas.openxmlformats.org/drawingml/2006/diagram" xmlns:a="http://schemas.openxmlformats.org/drawingml/2006/main" uniqueId="urn:microsoft.com/office/officeart/2005/8/layout/pList1#1">
  <dgm:title val=""/>
  <dgm:desc val=""/>
  <dgm:catLst>
    <dgm:cat type="list" pri="20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IN"/>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50C984C2-7E11-4DF7-A9E2-43E8C00A068A}" type="datetimeFigureOut">
              <a:rPr lang="en-IN" smtClean="0"/>
              <a:pPr/>
              <a:t>18-06-2024</a:t>
            </a:fld>
            <a:endParaRPr lang="en-IN"/>
          </a:p>
        </p:txBody>
      </p:sp>
      <p:sp>
        <p:nvSpPr>
          <p:cNvPr id="4" name="Slide Image Placeholder 3"/>
          <p:cNvSpPr>
            <a:spLocks noGrp="1" noRot="1" noChangeAspect="1"/>
          </p:cNvSpPr>
          <p:nvPr>
            <p:ph type="sldImg" idx="2"/>
          </p:nvPr>
        </p:nvSpPr>
        <p:spPr>
          <a:xfrm>
            <a:off x="1190625" y="1252538"/>
            <a:ext cx="4506913" cy="3381375"/>
          </a:xfrm>
          <a:prstGeom prst="rect">
            <a:avLst/>
          </a:prstGeom>
          <a:noFill/>
          <a:ln w="12700">
            <a:solidFill>
              <a:prstClr val="black"/>
            </a:solidFill>
          </a:ln>
        </p:spPr>
        <p:txBody>
          <a:bodyPr vert="horz" lIns="96606" tIns="48303" rIns="96606" bIns="48303" rtlCol="0" anchor="ctr"/>
          <a:lstStyle/>
          <a:p>
            <a:endParaRPr lang="en-IN"/>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IN"/>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CFD25319-F40F-4D33-8C8F-76509F9007BA}" type="slidenum">
              <a:rPr lang="en-IN" smtClean="0"/>
              <a:pPr/>
              <a:t>‹#›</a:t>
            </a:fld>
            <a:endParaRPr lang="en-IN"/>
          </a:p>
        </p:txBody>
      </p:sp>
    </p:spTree>
    <p:extLst>
      <p:ext uri="{BB962C8B-B14F-4D97-AF65-F5344CB8AC3E}">
        <p14:creationId xmlns:p14="http://schemas.microsoft.com/office/powerpoint/2010/main" val="2118564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D25319-F40F-4D33-8C8F-76509F9007BA}" type="slidenum">
              <a:rPr lang="en-IN" smtClean="0"/>
              <a:pPr/>
              <a:t>25</a:t>
            </a:fld>
            <a:endParaRPr lang="en-IN"/>
          </a:p>
        </p:txBody>
      </p:sp>
    </p:spTree>
    <p:extLst>
      <p:ext uri="{BB962C8B-B14F-4D97-AF65-F5344CB8AC3E}">
        <p14:creationId xmlns:p14="http://schemas.microsoft.com/office/powerpoint/2010/main" val="546493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949517-CDB5-4587-ABD8-70D86A5576D5}" type="datetime1">
              <a:rPr lang="en-IN" smtClean="0"/>
              <a:t>18-06-2024</a:t>
            </a:fld>
            <a:endParaRPr lang="en-IN"/>
          </a:p>
        </p:txBody>
      </p:sp>
      <p:sp>
        <p:nvSpPr>
          <p:cNvPr id="6" name="Slide Number Placeholder 5"/>
          <p:cNvSpPr>
            <a:spLocks noGrp="1"/>
          </p:cNvSpPr>
          <p:nvPr>
            <p:ph type="sldNum" sz="quarter" idx="12"/>
          </p:nvPr>
        </p:nvSpPr>
        <p:spPr/>
        <p:txBody>
          <a:bodyPr/>
          <a:lstStyle/>
          <a:p>
            <a:fld id="{A107476B-842F-4693-AA99-121080D1FC8F}" type="slidenum">
              <a:rPr lang="en-IN" smtClean="0"/>
              <a:pPr/>
              <a:t>‹#›</a:t>
            </a:fld>
            <a:endParaRPr lang="en-IN"/>
          </a:p>
        </p:txBody>
      </p:sp>
      <p:sp>
        <p:nvSpPr>
          <p:cNvPr id="8" name="Subtitle 2"/>
          <p:cNvSpPr txBox="1">
            <a:spLocks/>
          </p:cNvSpPr>
          <p:nvPr userDrawn="1"/>
        </p:nvSpPr>
        <p:spPr>
          <a:xfrm>
            <a:off x="3371010" y="6542854"/>
            <a:ext cx="2401980" cy="23094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accent1">
                    <a:lumMod val="50000"/>
                  </a:schemeClr>
                </a:solidFill>
              </a:rPr>
              <a:t>Prof. Suraj Bhoyar, 2018</a:t>
            </a:r>
            <a:endParaRPr lang="en-IN" sz="2000" dirty="0">
              <a:solidFill>
                <a:schemeClr val="accent1">
                  <a:lumMod val="50000"/>
                </a:schemeClr>
              </a:solidFill>
            </a:endParaRPr>
          </a:p>
        </p:txBody>
      </p:sp>
    </p:spTree>
    <p:extLst>
      <p:ext uri="{BB962C8B-B14F-4D97-AF65-F5344CB8AC3E}">
        <p14:creationId xmlns:p14="http://schemas.microsoft.com/office/powerpoint/2010/main" val="3999791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18BE3-E37D-4125-9A5E-C88C66431E65}" type="datetime1">
              <a:rPr lang="en-IN" smtClean="0"/>
              <a:t>18-06-2024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2944180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0111D1-2AE9-44A0-B1A3-75300268B746}" type="datetime1">
              <a:rPr lang="en-IN" smtClean="0"/>
              <a:t>18-06-2024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2014194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523FC6-0C40-4553-AFC7-E1DCF508F84F}" type="datetime1">
              <a:rPr lang="en-IN" smtClean="0"/>
              <a:t>18-06-2024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1141842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6E85CE-9F41-442F-B7C4-E0A0AAB19533}" type="datetime1">
              <a:rPr lang="en-IN" smtClean="0"/>
              <a:t>18-06-2024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501287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A4B5A0-7370-4E72-A5A4-63FD2EBC2F99}" type="datetime1">
              <a:rPr lang="en-IN" smtClean="0"/>
              <a:t>18-06-2024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1171636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68AB0-7F47-44D1-8532-C8C42F2D4605}" type="datetime1">
              <a:rPr lang="en-IN" smtClean="0"/>
              <a:t>18-06-2024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3659889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910FFD-A97C-485E-AADB-3734B04B6FB8}" type="datetime1">
              <a:rPr lang="en-IN" smtClean="0"/>
              <a:t>18-06-2024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3592383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4DE8BC-37E8-43F2-B5A2-DBEF17017430}" type="datetime1">
              <a:rPr lang="en-IN" smtClean="0"/>
              <a:t>18-06-2024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52870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50ED7-1134-4FEE-8732-4039BEFA4EAD}" type="datetime1">
              <a:rPr lang="en-IN" smtClean="0"/>
              <a:t>18-06-2024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2382711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E60D9-A1CE-4E54-98A0-0B7E30FA2B6C}" type="datetime1">
              <a:rPr lang="en-IN" smtClean="0"/>
              <a:t>18-06-2024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07476B-842F-4693-AA99-121080D1FC8F}" type="slidenum">
              <a:rPr lang="en-IN" smtClean="0"/>
              <a:pPr/>
              <a:t>‹#›</a:t>
            </a:fld>
            <a:endParaRPr lang="en-IN"/>
          </a:p>
        </p:txBody>
      </p:sp>
    </p:spTree>
    <p:extLst>
      <p:ext uri="{BB962C8B-B14F-4D97-AF65-F5344CB8AC3E}">
        <p14:creationId xmlns:p14="http://schemas.microsoft.com/office/powerpoint/2010/main" val="2086819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974D31-4284-44F1-A820-EB4944DC48B9}" type="datetime1">
              <a:rPr lang="en-IN" smtClean="0"/>
              <a:t>18-06-2024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07476B-842F-4693-AA99-121080D1FC8F}" type="slidenum">
              <a:rPr lang="en-IN" smtClean="0"/>
              <a:pPr/>
              <a:t>‹#›</a:t>
            </a:fld>
            <a:endParaRPr lang="en-IN"/>
          </a:p>
        </p:txBody>
      </p:sp>
    </p:spTree>
    <p:extLst>
      <p:ext uri="{BB962C8B-B14F-4D97-AF65-F5344CB8AC3E}">
        <p14:creationId xmlns:p14="http://schemas.microsoft.com/office/powerpoint/2010/main" val="9395823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www.flowinteractive.com/whatwedo"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jpeg"/><Relationship Id="rId7" Type="http://schemas.openxmlformats.org/officeDocument/2006/relationships/image" Target="../media/image44.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3.jpeg"/><Relationship Id="rId11" Type="http://schemas.openxmlformats.org/officeDocument/2006/relationships/image" Target="../media/image48.png"/><Relationship Id="rId5" Type="http://schemas.openxmlformats.org/officeDocument/2006/relationships/image" Target="../media/image42.jpeg"/><Relationship Id="rId10" Type="http://schemas.openxmlformats.org/officeDocument/2006/relationships/image" Target="../media/image47.png"/><Relationship Id="rId4" Type="http://schemas.openxmlformats.org/officeDocument/2006/relationships/hyperlink" Target="http://www.aboutmcdonalds.com/mcd/country/map.html" TargetMode="External"/><Relationship Id="rId9"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2.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56.jpeg"/><Relationship Id="rId4" Type="http://schemas.openxmlformats.org/officeDocument/2006/relationships/diagramData" Target="../diagrams/data1.xml"/><Relationship Id="rId9" Type="http://schemas.openxmlformats.org/officeDocument/2006/relationships/hyperlink" Target="http://www.totallycommunications.com/news/distinguishing-between-usability-ux-and-their-impact-on-your-business/"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0.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3.jpe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7.jpeg"/></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jpeg"/></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7.jpeg"/></Relationships>
</file>

<file path=ppt/slides/_rels/slide54.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1.gif"/><Relationship Id="rId5" Type="http://schemas.openxmlformats.org/officeDocument/2006/relationships/image" Target="../media/image80.gif"/><Relationship Id="rId4" Type="http://schemas.openxmlformats.org/officeDocument/2006/relationships/image" Target="../media/image79.gif"/></Relationships>
</file>

<file path=ppt/slides/_rels/slide5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27648"/>
            <a:ext cx="9144001" cy="6858000"/>
          </a:xfrm>
        </p:spPr>
      </p:pic>
      <p:sp>
        <p:nvSpPr>
          <p:cNvPr id="8" name="Rectangle: Rounded Corners 7">
            <a:extLst>
              <a:ext uri="{FF2B5EF4-FFF2-40B4-BE49-F238E27FC236}">
                <a16:creationId xmlns:a16="http://schemas.microsoft.com/office/drawing/2014/main" id="{F9338846-245A-4CD6-AA11-D3FF8842F0BB}"/>
              </a:ext>
            </a:extLst>
          </p:cNvPr>
          <p:cNvSpPr/>
          <p:nvPr/>
        </p:nvSpPr>
        <p:spPr>
          <a:xfrm>
            <a:off x="593720" y="1840620"/>
            <a:ext cx="1336227" cy="131095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p>
        </p:txBody>
      </p:sp>
      <p:sp>
        <p:nvSpPr>
          <p:cNvPr id="46" name="Rectangle 45"/>
          <p:cNvSpPr/>
          <p:nvPr/>
        </p:nvSpPr>
        <p:spPr>
          <a:xfrm>
            <a:off x="4646363" y="3348915"/>
            <a:ext cx="484001" cy="646331"/>
          </a:xfrm>
          <a:prstGeom prst="rect">
            <a:avLst/>
          </a:prstGeom>
        </p:spPr>
        <p:txBody>
          <a:bodyPr wrap="square">
            <a:spAutoFit/>
          </a:bodyPr>
          <a:lstStyle/>
          <a:p>
            <a:r>
              <a:rPr lang="en-US" dirty="0">
                <a:solidFill>
                  <a:schemeClr val="bg1"/>
                </a:solidFill>
                <a:latin typeface="Cambria" pitchFamily="18" charset="0"/>
              </a:rPr>
              <a:t>PLD </a:t>
            </a:r>
            <a:endParaRPr lang="en-US" dirty="0"/>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300"/>
            <a:ext cx="6504495" cy="858321"/>
          </a:xfrm>
          <a:prstGeom prst="rect">
            <a:avLst/>
          </a:prstGeom>
        </p:spPr>
      </p:pic>
      <p:sp>
        <p:nvSpPr>
          <p:cNvPr id="17" name="Title 1"/>
          <p:cNvSpPr txBox="1">
            <a:spLocks/>
          </p:cNvSpPr>
          <p:nvPr/>
        </p:nvSpPr>
        <p:spPr>
          <a:xfrm>
            <a:off x="869966" y="243299"/>
            <a:ext cx="6039881" cy="76473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solidFill>
                  <a:schemeClr val="bg1"/>
                </a:solidFill>
                <a:latin typeface="Adobe Caslon Pro" panose="0205060205050A020403" pitchFamily="18" charset="0"/>
                <a:ea typeface="Open Sans" panose="020B0606030504020204" pitchFamily="34" charset="0"/>
                <a:cs typeface="Open Sans" panose="020B0606030504020204" pitchFamily="34" charset="0"/>
              </a:rPr>
              <a:t>Dept. of Computer Science &amp; Engineering. </a:t>
            </a:r>
          </a:p>
        </p:txBody>
      </p:sp>
      <p:sp>
        <p:nvSpPr>
          <p:cNvPr id="19" name="TextBox 18">
            <a:extLst>
              <a:ext uri="{FF2B5EF4-FFF2-40B4-BE49-F238E27FC236}">
                <a16:creationId xmlns:a16="http://schemas.microsoft.com/office/drawing/2014/main" id="{B36A3D00-6490-4D7E-BAEE-2D37DEBF7877}"/>
              </a:ext>
            </a:extLst>
          </p:cNvPr>
          <p:cNvSpPr txBox="1"/>
          <p:nvPr/>
        </p:nvSpPr>
        <p:spPr>
          <a:xfrm>
            <a:off x="1" y="3348915"/>
            <a:ext cx="8983744" cy="1569660"/>
          </a:xfrm>
          <a:prstGeom prst="rect">
            <a:avLst/>
          </a:prstGeom>
          <a:noFill/>
        </p:spPr>
        <p:txBody>
          <a:bodyPr wrap="square" rtlCol="0">
            <a:spAutoFit/>
          </a:bodyPr>
          <a:lstStyle/>
          <a:p>
            <a:r>
              <a:rPr lang="en-US" sz="2400" dirty="0"/>
              <a:t>Prepared By:</a:t>
            </a:r>
          </a:p>
          <a:p>
            <a:r>
              <a:rPr lang="en-US" sz="2400" dirty="0"/>
              <a:t>Prof. A. R. Uttarkar</a:t>
            </a:r>
          </a:p>
          <a:p>
            <a:r>
              <a:rPr lang="en-US" sz="2400" dirty="0"/>
              <a:t>Assistant Professor</a:t>
            </a:r>
          </a:p>
          <a:p>
            <a:r>
              <a:rPr lang="en-US" sz="2400" dirty="0"/>
              <a:t>CSE Department, MIT SOE</a:t>
            </a:r>
            <a:endParaRPr lang="en-IN" sz="2400" dirty="0"/>
          </a:p>
        </p:txBody>
      </p:sp>
      <p:sp>
        <p:nvSpPr>
          <p:cNvPr id="2" name="TextBox 1">
            <a:extLst>
              <a:ext uri="{FF2B5EF4-FFF2-40B4-BE49-F238E27FC236}">
                <a16:creationId xmlns:a16="http://schemas.microsoft.com/office/drawing/2014/main" id="{49DD8477-EFCF-487E-9E68-607EC533AC1D}"/>
              </a:ext>
            </a:extLst>
          </p:cNvPr>
          <p:cNvSpPr txBox="1"/>
          <p:nvPr/>
        </p:nvSpPr>
        <p:spPr>
          <a:xfrm>
            <a:off x="51845" y="1723247"/>
            <a:ext cx="9040308" cy="1200329"/>
          </a:xfrm>
          <a:prstGeom prst="rect">
            <a:avLst/>
          </a:prstGeom>
          <a:noFill/>
        </p:spPr>
        <p:txBody>
          <a:bodyPr wrap="square" rtlCol="0">
            <a:spAutoFit/>
          </a:bodyPr>
          <a:lstStyle/>
          <a:p>
            <a:pPr algn="ctr"/>
            <a:r>
              <a:rPr lang="en-US" sz="3600" dirty="0"/>
              <a:t>Unit No 1</a:t>
            </a:r>
          </a:p>
          <a:p>
            <a:pPr algn="ctr"/>
            <a:r>
              <a:rPr lang="en-US" sz="3600" dirty="0"/>
              <a:t>Introduction to Human-Computer Interaction</a:t>
            </a:r>
          </a:p>
        </p:txBody>
      </p:sp>
    </p:spTree>
    <p:extLst>
      <p:ext uri="{BB962C8B-B14F-4D97-AF65-F5344CB8AC3E}">
        <p14:creationId xmlns:p14="http://schemas.microsoft.com/office/powerpoint/2010/main" val="203388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3">
            <a:extLst>
              <a:ext uri="{FF2B5EF4-FFF2-40B4-BE49-F238E27FC236}">
                <a16:creationId xmlns:a16="http://schemas.microsoft.com/office/drawing/2014/main" id="{37D1FAC4-F23A-42A3-82E9-A43BD834B7D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p:spPr>
      </p:pic>
      <p:sp>
        <p:nvSpPr>
          <p:cNvPr id="6" name="TextBox 5">
            <a:extLst>
              <a:ext uri="{FF2B5EF4-FFF2-40B4-BE49-F238E27FC236}">
                <a16:creationId xmlns:a16="http://schemas.microsoft.com/office/drawing/2014/main" id="{9516C469-7894-42F9-B7E7-B68746441CCB}"/>
              </a:ext>
            </a:extLst>
          </p:cNvPr>
          <p:cNvSpPr txBox="1"/>
          <p:nvPr/>
        </p:nvSpPr>
        <p:spPr>
          <a:xfrm>
            <a:off x="0" y="1089810"/>
            <a:ext cx="9144000" cy="523220"/>
          </a:xfrm>
          <a:prstGeom prst="rect">
            <a:avLst/>
          </a:prstGeom>
          <a:noFill/>
        </p:spPr>
        <p:txBody>
          <a:bodyPr wrap="square">
            <a:spAutoFit/>
          </a:bodyPr>
          <a:lstStyle/>
          <a:p>
            <a:pPr algn="ctr"/>
            <a:r>
              <a:rPr lang="en-IN" sz="2800" dirty="0"/>
              <a:t>Unit-I: Introduction to Human-Computer Interaction</a:t>
            </a:r>
          </a:p>
        </p:txBody>
      </p:sp>
      <p:sp>
        <p:nvSpPr>
          <p:cNvPr id="5" name="TextBox 4">
            <a:extLst>
              <a:ext uri="{FF2B5EF4-FFF2-40B4-BE49-F238E27FC236}">
                <a16:creationId xmlns:a16="http://schemas.microsoft.com/office/drawing/2014/main" id="{A9EEA55E-62F6-4490-93FB-C9A7CCD5A9AD}"/>
              </a:ext>
            </a:extLst>
          </p:cNvPr>
          <p:cNvSpPr txBox="1"/>
          <p:nvPr/>
        </p:nvSpPr>
        <p:spPr>
          <a:xfrm>
            <a:off x="0" y="47510"/>
            <a:ext cx="9144000" cy="584775"/>
          </a:xfrm>
          <a:prstGeom prst="rect">
            <a:avLst/>
          </a:prstGeom>
          <a:noFill/>
        </p:spPr>
        <p:txBody>
          <a:bodyPr wrap="square" rtlCol="0">
            <a:spAutoFit/>
          </a:bodyPr>
          <a:lstStyle/>
          <a:p>
            <a:pPr algn="ctr"/>
            <a:r>
              <a:rPr lang="en-US" sz="3200" dirty="0"/>
              <a:t>Unit -1 at a Glance</a:t>
            </a:r>
            <a:endParaRPr lang="en-IN" sz="3200" dirty="0"/>
          </a:p>
        </p:txBody>
      </p:sp>
      <p:sp>
        <p:nvSpPr>
          <p:cNvPr id="3" name="TextBox 2">
            <a:extLst>
              <a:ext uri="{FF2B5EF4-FFF2-40B4-BE49-F238E27FC236}">
                <a16:creationId xmlns:a16="http://schemas.microsoft.com/office/drawing/2014/main" id="{933D31D1-092E-1280-3523-E6DFD6E412D5}"/>
              </a:ext>
            </a:extLst>
          </p:cNvPr>
          <p:cNvSpPr txBox="1"/>
          <p:nvPr/>
        </p:nvSpPr>
        <p:spPr>
          <a:xfrm>
            <a:off x="511277" y="2654710"/>
            <a:ext cx="4060723" cy="698090"/>
          </a:xfrm>
          <a:prstGeom prst="rect">
            <a:avLst/>
          </a:prstGeom>
          <a:noFill/>
        </p:spPr>
        <p:txBody>
          <a:bodyPr wrap="square" rtlCol="0">
            <a:spAutoFit/>
          </a:bodyPr>
          <a:lstStyle/>
          <a:p>
            <a:endParaRPr lang="en-IN" dirty="0"/>
          </a:p>
        </p:txBody>
      </p:sp>
      <p:graphicFrame>
        <p:nvGraphicFramePr>
          <p:cNvPr id="7" name="Table 6">
            <a:extLst>
              <a:ext uri="{FF2B5EF4-FFF2-40B4-BE49-F238E27FC236}">
                <a16:creationId xmlns:a16="http://schemas.microsoft.com/office/drawing/2014/main" id="{94DE3425-4583-01EF-40BB-79BD3DBF2BAB}"/>
              </a:ext>
            </a:extLst>
          </p:cNvPr>
          <p:cNvGraphicFramePr>
            <a:graphicFrameLocks noGrp="1"/>
          </p:cNvGraphicFramePr>
          <p:nvPr>
            <p:extLst>
              <p:ext uri="{D42A27DB-BD31-4B8C-83A1-F6EECF244321}">
                <p14:modId xmlns:p14="http://schemas.microsoft.com/office/powerpoint/2010/main" val="1871469271"/>
              </p:ext>
            </p:extLst>
          </p:nvPr>
        </p:nvGraphicFramePr>
        <p:xfrm>
          <a:off x="0" y="1739661"/>
          <a:ext cx="9144000" cy="4823778"/>
        </p:xfrm>
        <a:graphic>
          <a:graphicData uri="http://schemas.openxmlformats.org/drawingml/2006/table">
            <a:tbl>
              <a:tblPr>
                <a:tableStyleId>{5C22544A-7EE6-4342-B048-85BDC9FD1C3A}</a:tableStyleId>
              </a:tblPr>
              <a:tblGrid>
                <a:gridCol w="9144000">
                  <a:extLst>
                    <a:ext uri="{9D8B030D-6E8A-4147-A177-3AD203B41FA5}">
                      <a16:colId xmlns:a16="http://schemas.microsoft.com/office/drawing/2014/main" val="2490900028"/>
                    </a:ext>
                  </a:extLst>
                </a:gridCol>
              </a:tblGrid>
              <a:tr h="495935">
                <a:tc>
                  <a:txBody>
                    <a:bodyPr/>
                    <a:lstStyle/>
                    <a:p>
                      <a:pPr marL="457200" marR="0" indent="-457200" algn="just">
                        <a:spcBef>
                          <a:spcPts val="0"/>
                        </a:spcBef>
                        <a:spcAft>
                          <a:spcPts val="0"/>
                        </a:spcAft>
                        <a:buFont typeface="Arial" panose="020B0604020202020204" pitchFamily="34" charset="0"/>
                        <a:buChar char="•"/>
                      </a:pPr>
                      <a:r>
                        <a:rPr lang="en-US" sz="2800" dirty="0">
                          <a:effectLst/>
                        </a:rPr>
                        <a:t>Includes the difference between good and poor interaction design</a:t>
                      </a:r>
                    </a:p>
                    <a:p>
                      <a:pPr marL="457200" marR="0" indent="-457200" algn="just">
                        <a:spcBef>
                          <a:spcPts val="0"/>
                        </a:spcBef>
                        <a:spcAft>
                          <a:spcPts val="0"/>
                        </a:spcAft>
                        <a:buFont typeface="Arial" panose="020B0604020202020204" pitchFamily="34" charset="0"/>
                        <a:buChar char="•"/>
                      </a:pPr>
                      <a:r>
                        <a:rPr lang="en-US" sz="2800" dirty="0">
                          <a:effectLst/>
                        </a:rPr>
                        <a:t>What interaction design is and how it relates to human-computer interaction and other fields</a:t>
                      </a:r>
                    </a:p>
                    <a:p>
                      <a:pPr marL="457200" marR="0" indent="-457200" algn="just">
                        <a:spcBef>
                          <a:spcPts val="0"/>
                        </a:spcBef>
                        <a:spcAft>
                          <a:spcPts val="0"/>
                        </a:spcAft>
                        <a:buFont typeface="Arial" panose="020B0604020202020204" pitchFamily="34" charset="0"/>
                        <a:buChar char="•"/>
                      </a:pPr>
                      <a:r>
                        <a:rPr lang="en-US" sz="2800" dirty="0">
                          <a:effectLst/>
                        </a:rPr>
                        <a:t>What is involved in the process of interaction design, the different forms of guidance used in interaction design, etc.</a:t>
                      </a:r>
                      <a:endParaRPr lang="en-IN" sz="2400" dirty="0">
                        <a:effectLst/>
                      </a:endParaRPr>
                    </a:p>
                    <a:p>
                      <a:pPr marL="457200" marR="0" indent="-457200" algn="just">
                        <a:spcBef>
                          <a:spcPts val="0"/>
                        </a:spcBef>
                        <a:spcAft>
                          <a:spcPts val="0"/>
                        </a:spcAft>
                        <a:buFont typeface="Arial" panose="020B0604020202020204" pitchFamily="34" charset="0"/>
                        <a:buChar char="•"/>
                      </a:pPr>
                      <a:r>
                        <a:rPr lang="en-US" sz="2800" dirty="0">
                          <a:effectLst/>
                        </a:rPr>
                        <a:t>Need for Design - Examples from Design of everyday things, case studies, Evolution of the web and digital interfaces, Design thinking and wicked problems.</a:t>
                      </a:r>
                      <a:endParaRPr lang="en-IN" sz="2400" dirty="0">
                        <a:effectLst/>
                      </a:endParaRPr>
                    </a:p>
                    <a:p>
                      <a:pPr marL="457200" marR="63500" indent="-457200" algn="just">
                        <a:lnSpc>
                          <a:spcPct val="114000"/>
                        </a:lnSpc>
                        <a:spcBef>
                          <a:spcPts val="275"/>
                        </a:spcBef>
                        <a:spcAft>
                          <a:spcPts val="0"/>
                        </a:spcAft>
                        <a:buFont typeface="Arial" panose="020B0604020202020204" pitchFamily="34" charset="0"/>
                        <a:buChar char="•"/>
                      </a:pPr>
                      <a:r>
                        <a:rPr lang="en-US" sz="2800" b="1" dirty="0">
                          <a:effectLst/>
                        </a:rPr>
                        <a:t>Exercise - Identify problems around us requiring design solutions Or problems solved using design.</a:t>
                      </a:r>
                      <a:endParaRPr lang="en-IN" sz="2400" b="1"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665095244"/>
                  </a:ext>
                </a:extLst>
              </a:tr>
            </a:tbl>
          </a:graphicData>
        </a:graphic>
      </p:graphicFrame>
    </p:spTree>
    <p:extLst>
      <p:ext uri="{BB962C8B-B14F-4D97-AF65-F5344CB8AC3E}">
        <p14:creationId xmlns:p14="http://schemas.microsoft.com/office/powerpoint/2010/main" val="763554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8" name="TextBox 7">
            <a:extLst>
              <a:ext uri="{FF2B5EF4-FFF2-40B4-BE49-F238E27FC236}">
                <a16:creationId xmlns:a16="http://schemas.microsoft.com/office/drawing/2014/main" id="{952B7DA3-970D-9AE9-E488-6AE0394CFD84}"/>
              </a:ext>
            </a:extLst>
          </p:cNvPr>
          <p:cNvSpPr txBox="1"/>
          <p:nvPr/>
        </p:nvSpPr>
        <p:spPr>
          <a:xfrm>
            <a:off x="0" y="179127"/>
            <a:ext cx="6705600" cy="523220"/>
          </a:xfrm>
          <a:prstGeom prst="rect">
            <a:avLst/>
          </a:prstGeom>
          <a:noFill/>
        </p:spPr>
        <p:txBody>
          <a:bodyPr wrap="square">
            <a:spAutoFit/>
          </a:bodyPr>
          <a:lstStyle/>
          <a:p>
            <a:r>
              <a:rPr lang="en-US" sz="2800" dirty="0"/>
              <a:t>By the end of this chapter, you will…</a:t>
            </a:r>
          </a:p>
        </p:txBody>
      </p:sp>
      <p:sp>
        <p:nvSpPr>
          <p:cNvPr id="10" name="TextBox 9">
            <a:extLst>
              <a:ext uri="{FF2B5EF4-FFF2-40B4-BE49-F238E27FC236}">
                <a16:creationId xmlns:a16="http://schemas.microsoft.com/office/drawing/2014/main" id="{C38DDB4D-B1F4-14F1-D551-A0C298E8ED6E}"/>
              </a:ext>
            </a:extLst>
          </p:cNvPr>
          <p:cNvSpPr txBox="1"/>
          <p:nvPr/>
        </p:nvSpPr>
        <p:spPr>
          <a:xfrm>
            <a:off x="0" y="1251290"/>
            <a:ext cx="9236497" cy="3157916"/>
          </a:xfrm>
          <a:prstGeom prst="rect">
            <a:avLst/>
          </a:prstGeom>
          <a:noFill/>
        </p:spPr>
        <p:txBody>
          <a:bodyPr wrap="square">
            <a:spAutoFit/>
          </a:bodyPr>
          <a:lstStyle/>
          <a:p>
            <a:pPr fontAlgn="auto">
              <a:lnSpc>
                <a:spcPct val="150000"/>
              </a:lnSpc>
              <a:spcBef>
                <a:spcPts val="0"/>
              </a:spcBef>
              <a:spcAft>
                <a:spcPts val="1200"/>
              </a:spcAft>
              <a:buClr>
                <a:schemeClr val="accent3">
                  <a:lumMod val="50000"/>
                </a:schemeClr>
              </a:buClr>
              <a:buSzPct val="70000"/>
              <a:buFont typeface="Wingdings 2" pitchFamily="18" charset="2"/>
              <a:buChar char=""/>
              <a:defRPr/>
            </a:pPr>
            <a:r>
              <a:rPr lang="en-GB" sz="1800" dirty="0">
                <a:latin typeface="+mn-lt"/>
                <a:cs typeface="+mn-cs"/>
              </a:rPr>
              <a:t>Understand the difference between </a:t>
            </a:r>
            <a:r>
              <a:rPr lang="en-GB" sz="1800" b="1" dirty="0">
                <a:latin typeface="+mn-lt"/>
                <a:cs typeface="+mn-cs"/>
              </a:rPr>
              <a:t>good and poor interaction </a:t>
            </a:r>
            <a:r>
              <a:rPr lang="en-GB" sz="1800" dirty="0">
                <a:latin typeface="+mn-lt"/>
                <a:cs typeface="+mn-cs"/>
              </a:rPr>
              <a:t>design.</a:t>
            </a:r>
          </a:p>
          <a:p>
            <a:pPr fontAlgn="auto">
              <a:lnSpc>
                <a:spcPct val="150000"/>
              </a:lnSpc>
              <a:spcBef>
                <a:spcPts val="0"/>
              </a:spcBef>
              <a:spcAft>
                <a:spcPts val="1200"/>
              </a:spcAft>
              <a:buClr>
                <a:schemeClr val="accent3">
                  <a:lumMod val="50000"/>
                </a:schemeClr>
              </a:buClr>
              <a:buSzPct val="70000"/>
              <a:buFont typeface="Wingdings 2" pitchFamily="18" charset="2"/>
              <a:buChar char=""/>
              <a:defRPr/>
            </a:pPr>
            <a:r>
              <a:rPr lang="en-GB" sz="1800" dirty="0">
                <a:latin typeface="+mn-lt"/>
                <a:cs typeface="+mn-cs"/>
              </a:rPr>
              <a:t>Be able to describe what </a:t>
            </a:r>
            <a:r>
              <a:rPr lang="en-GB" sz="1800" b="1" dirty="0">
                <a:latin typeface="+mn-lt"/>
                <a:cs typeface="+mn-cs"/>
              </a:rPr>
              <a:t>interaction design </a:t>
            </a:r>
            <a:r>
              <a:rPr lang="en-GB" sz="1800" dirty="0">
                <a:latin typeface="+mn-lt"/>
                <a:cs typeface="+mn-cs"/>
              </a:rPr>
              <a:t>is and how it relates to human-computer interaction and other fields. </a:t>
            </a:r>
          </a:p>
          <a:p>
            <a:pPr fontAlgn="auto">
              <a:lnSpc>
                <a:spcPct val="150000"/>
              </a:lnSpc>
              <a:spcBef>
                <a:spcPts val="0"/>
              </a:spcBef>
              <a:spcAft>
                <a:spcPts val="1200"/>
              </a:spcAft>
              <a:buClr>
                <a:schemeClr val="accent3">
                  <a:lumMod val="50000"/>
                </a:schemeClr>
              </a:buClr>
              <a:buSzPct val="70000"/>
              <a:buFont typeface="Wingdings 2" pitchFamily="18" charset="2"/>
              <a:buChar char=""/>
              <a:defRPr/>
            </a:pPr>
            <a:r>
              <a:rPr lang="en-GB" sz="1800" dirty="0">
                <a:latin typeface="+mn-lt"/>
                <a:cs typeface="+mn-cs"/>
              </a:rPr>
              <a:t>Understand what is meant by the </a:t>
            </a:r>
            <a:r>
              <a:rPr lang="en-GB" sz="1800" b="1" dirty="0">
                <a:latin typeface="+mn-lt"/>
                <a:cs typeface="+mn-cs"/>
              </a:rPr>
              <a:t>user experience </a:t>
            </a:r>
            <a:r>
              <a:rPr lang="en-GB" sz="1800" dirty="0">
                <a:latin typeface="+mn-lt"/>
                <a:cs typeface="+mn-cs"/>
              </a:rPr>
              <a:t>and </a:t>
            </a:r>
            <a:r>
              <a:rPr lang="en-GB" sz="1800" b="1" dirty="0">
                <a:latin typeface="+mn-lt"/>
                <a:cs typeface="+mn-cs"/>
              </a:rPr>
              <a:t>usability</a:t>
            </a:r>
            <a:r>
              <a:rPr lang="en-GB" sz="1800" dirty="0">
                <a:latin typeface="+mn-lt"/>
                <a:cs typeface="+mn-cs"/>
              </a:rPr>
              <a:t>.</a:t>
            </a:r>
          </a:p>
          <a:p>
            <a:pPr fontAlgn="auto">
              <a:lnSpc>
                <a:spcPct val="150000"/>
              </a:lnSpc>
              <a:spcBef>
                <a:spcPts val="0"/>
              </a:spcBef>
              <a:spcAft>
                <a:spcPts val="1200"/>
              </a:spcAft>
              <a:buClr>
                <a:schemeClr val="accent3">
                  <a:lumMod val="50000"/>
                </a:schemeClr>
              </a:buClr>
              <a:buSzPct val="70000"/>
              <a:buFont typeface="Wingdings 2" pitchFamily="18" charset="2"/>
              <a:buChar char=""/>
              <a:defRPr/>
            </a:pPr>
            <a:r>
              <a:rPr lang="en-GB" sz="1800" dirty="0">
                <a:latin typeface="+mn-lt"/>
                <a:cs typeface="+mn-cs"/>
              </a:rPr>
              <a:t>Understand what is involved in </a:t>
            </a:r>
            <a:r>
              <a:rPr lang="en-GB" sz="1800" b="1" dirty="0">
                <a:latin typeface="+mn-lt"/>
                <a:cs typeface="+mn-cs"/>
              </a:rPr>
              <a:t>the process of interaction design</a:t>
            </a:r>
            <a:r>
              <a:rPr lang="en-GB" sz="1800" dirty="0">
                <a:latin typeface="+mn-lt"/>
                <a:cs typeface="+mn-cs"/>
              </a:rPr>
              <a:t>. </a:t>
            </a:r>
          </a:p>
          <a:p>
            <a:pPr fontAlgn="auto">
              <a:lnSpc>
                <a:spcPct val="150000"/>
              </a:lnSpc>
              <a:spcBef>
                <a:spcPts val="0"/>
              </a:spcBef>
              <a:spcAft>
                <a:spcPts val="1200"/>
              </a:spcAft>
              <a:buClr>
                <a:schemeClr val="accent3">
                  <a:lumMod val="50000"/>
                </a:schemeClr>
              </a:buClr>
              <a:buSzPct val="70000"/>
              <a:buFont typeface="Wingdings 2" pitchFamily="18" charset="2"/>
              <a:buChar char=""/>
              <a:defRPr/>
            </a:pPr>
            <a:r>
              <a:rPr lang="en-GB" sz="1800" dirty="0">
                <a:latin typeface="+mn-lt"/>
                <a:cs typeface="+mn-cs"/>
              </a:rPr>
              <a:t>Outline the different forms of </a:t>
            </a:r>
            <a:r>
              <a:rPr lang="en-GB" sz="1800" b="1" dirty="0">
                <a:latin typeface="+mn-lt"/>
                <a:cs typeface="+mn-cs"/>
              </a:rPr>
              <a:t>guidance</a:t>
            </a:r>
            <a:r>
              <a:rPr lang="en-GB" sz="1800" dirty="0">
                <a:latin typeface="+mn-lt"/>
                <a:cs typeface="+mn-cs"/>
              </a:rPr>
              <a:t> used in interaction design. </a:t>
            </a:r>
          </a:p>
        </p:txBody>
      </p:sp>
      <p:pic>
        <p:nvPicPr>
          <p:cNvPr id="11" name="Picture 10">
            <a:extLst>
              <a:ext uri="{FF2B5EF4-FFF2-40B4-BE49-F238E27FC236}">
                <a16:creationId xmlns:a16="http://schemas.microsoft.com/office/drawing/2014/main" id="{AC218390-AE8E-074A-8F43-161DDD85D0CB}"/>
              </a:ext>
            </a:extLst>
          </p:cNvPr>
          <p:cNvPicPr>
            <a:picLocks noChangeAspect="1"/>
          </p:cNvPicPr>
          <p:nvPr/>
        </p:nvPicPr>
        <p:blipFill>
          <a:blip r:embed="rId3"/>
          <a:stretch>
            <a:fillRect/>
          </a:stretch>
        </p:blipFill>
        <p:spPr>
          <a:xfrm>
            <a:off x="-184995" y="4638864"/>
            <a:ext cx="9513989" cy="2219136"/>
          </a:xfrm>
          <a:prstGeom prst="rect">
            <a:avLst/>
          </a:prstGeom>
        </p:spPr>
      </p:pic>
    </p:spTree>
    <p:extLst>
      <p:ext uri="{BB962C8B-B14F-4D97-AF65-F5344CB8AC3E}">
        <p14:creationId xmlns:p14="http://schemas.microsoft.com/office/powerpoint/2010/main" val="128971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pic>
        <p:nvPicPr>
          <p:cNvPr id="13" name="Picture 12">
            <a:extLst>
              <a:ext uri="{FF2B5EF4-FFF2-40B4-BE49-F238E27FC236}">
                <a16:creationId xmlns:a16="http://schemas.microsoft.com/office/drawing/2014/main" id="{C21D8C2E-F85D-2000-A34F-750A232D1B83}"/>
              </a:ext>
            </a:extLst>
          </p:cNvPr>
          <p:cNvPicPr>
            <a:picLocks noChangeAspect="1"/>
          </p:cNvPicPr>
          <p:nvPr/>
        </p:nvPicPr>
        <p:blipFill>
          <a:blip r:embed="rId3"/>
          <a:stretch>
            <a:fillRect/>
          </a:stretch>
        </p:blipFill>
        <p:spPr>
          <a:xfrm>
            <a:off x="0" y="-185524"/>
            <a:ext cx="9144000" cy="2017951"/>
          </a:xfrm>
          <a:prstGeom prst="rect">
            <a:avLst/>
          </a:prstGeom>
        </p:spPr>
      </p:pic>
      <p:sp>
        <p:nvSpPr>
          <p:cNvPr id="15" name="TextBox 6">
            <a:extLst>
              <a:ext uri="{FF2B5EF4-FFF2-40B4-BE49-F238E27FC236}">
                <a16:creationId xmlns:a16="http://schemas.microsoft.com/office/drawing/2014/main" id="{710F67D2-8E7F-8E85-F21F-5C32C29D9B7D}"/>
              </a:ext>
            </a:extLst>
          </p:cNvPr>
          <p:cNvSpPr txBox="1">
            <a:spLocks noChangeArrowheads="1"/>
          </p:cNvSpPr>
          <p:nvPr/>
        </p:nvSpPr>
        <p:spPr bwMode="auto">
          <a:xfrm>
            <a:off x="3403143" y="1779091"/>
            <a:ext cx="5712260" cy="369888"/>
          </a:xfrm>
          <a:prstGeom prst="rect">
            <a:avLst/>
          </a:prstGeom>
          <a:noFill/>
          <a:ln w="9525">
            <a:noFill/>
            <a:miter lim="800000"/>
            <a:headEnd/>
            <a:tailEnd/>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Which do you think should have the most holes?</a:t>
            </a:r>
            <a:endParaRPr kumimoji="0" lang="en-GB"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pic>
        <p:nvPicPr>
          <p:cNvPr id="16" name="Picture 4" descr="http://3.bp.blogspot.com/_YKPBJvALc2o/RtwrBcUnjNI/AAAAAAAAAMs/M1sgY83YdRc/s400/SaltPepperShakers.jpg">
            <a:extLst>
              <a:ext uri="{FF2B5EF4-FFF2-40B4-BE49-F238E27FC236}">
                <a16:creationId xmlns:a16="http://schemas.microsoft.com/office/drawing/2014/main" id="{E8480C9D-0681-9456-057F-DBE6D831F13C}"/>
              </a:ext>
            </a:extLst>
          </p:cNvPr>
          <p:cNvPicPr>
            <a:picLocks noChangeAspect="1" noChangeArrowheads="1"/>
          </p:cNvPicPr>
          <p:nvPr/>
        </p:nvPicPr>
        <p:blipFill>
          <a:blip r:embed="rId4" cstate="print"/>
          <a:srcRect/>
          <a:stretch>
            <a:fillRect/>
          </a:stretch>
        </p:blipFill>
        <p:spPr bwMode="auto">
          <a:xfrm>
            <a:off x="3615431" y="2152148"/>
            <a:ext cx="2555875" cy="2555875"/>
          </a:xfrm>
          <a:prstGeom prst="rect">
            <a:avLst/>
          </a:prstGeom>
          <a:ln>
            <a:noFill/>
          </a:ln>
          <a:effectLst>
            <a:outerShdw blurRad="292100" dist="139700" dir="2700000" algn="tl" rotWithShape="0">
              <a:srgbClr val="333333">
                <a:alpha val="65000"/>
              </a:srgbClr>
            </a:outerShdw>
          </a:effectLst>
        </p:spPr>
      </p:pic>
      <p:grpSp>
        <p:nvGrpSpPr>
          <p:cNvPr id="17" name="Group 9">
            <a:extLst>
              <a:ext uri="{FF2B5EF4-FFF2-40B4-BE49-F238E27FC236}">
                <a16:creationId xmlns:a16="http://schemas.microsoft.com/office/drawing/2014/main" id="{017F4389-3AE9-01EA-7C76-DE4B5C35424A}"/>
              </a:ext>
            </a:extLst>
          </p:cNvPr>
          <p:cNvGrpSpPr>
            <a:grpSpLocks/>
          </p:cNvGrpSpPr>
          <p:nvPr/>
        </p:nvGrpSpPr>
        <p:grpSpPr bwMode="auto">
          <a:xfrm>
            <a:off x="6411081" y="3426917"/>
            <a:ext cx="2714150" cy="2555874"/>
            <a:chOff x="4968044" y="3248980"/>
            <a:chExt cx="2629855" cy="2519700"/>
          </a:xfrm>
        </p:grpSpPr>
        <p:pic>
          <p:nvPicPr>
            <p:cNvPr id="18" name="Picture 1">
              <a:extLst>
                <a:ext uri="{FF2B5EF4-FFF2-40B4-BE49-F238E27FC236}">
                  <a16:creationId xmlns:a16="http://schemas.microsoft.com/office/drawing/2014/main" id="{01E8BAA2-7BB8-85DF-5C1F-997F46C93D76}"/>
                </a:ext>
              </a:extLst>
            </p:cNvPr>
            <p:cNvPicPr>
              <a:picLocks noChangeAspect="1" noChangeArrowheads="1"/>
            </p:cNvPicPr>
            <p:nvPr/>
          </p:nvPicPr>
          <p:blipFill>
            <a:blip r:embed="rId5" cstate="print"/>
            <a:srcRect/>
            <a:stretch>
              <a:fillRect/>
            </a:stretch>
          </p:blipFill>
          <p:spPr bwMode="auto">
            <a:xfrm>
              <a:off x="4968044" y="3248980"/>
              <a:ext cx="2629855" cy="2510174"/>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CABCC21F-30B0-93EA-2B32-D1774563BA99}"/>
                </a:ext>
              </a:extLst>
            </p:cNvPr>
            <p:cNvSpPr txBox="1"/>
            <p:nvPr/>
          </p:nvSpPr>
          <p:spPr>
            <a:xfrm>
              <a:off x="5183892" y="5552751"/>
              <a:ext cx="2404484" cy="215929"/>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1" u="none" strike="noStrike" kern="1200" cap="none" spc="0" normalizeH="0" baseline="0" noProof="0" dirty="0">
                  <a:ln>
                    <a:noFill/>
                  </a:ln>
                  <a:solidFill>
                    <a:prstClr val="black">
                      <a:lumMod val="50000"/>
                      <a:lumOff val="50000"/>
                    </a:prstClr>
                  </a:solidFill>
                  <a:effectLst/>
                  <a:uLnTx/>
                  <a:uFillTx/>
                  <a:latin typeface="Arial" charset="0"/>
                  <a:ea typeface="+mn-ea"/>
                  <a:cs typeface="Arial" charset="0"/>
                </a:rPr>
                <a:t>Image from http://www.jnd.org/books.html#608 : </a:t>
              </a:r>
              <a:endParaRPr kumimoji="0" lang="en-GB" sz="800" b="0" i="1" u="none" strike="noStrike" kern="1200" cap="none" spc="0" normalizeH="0" baseline="0" noProof="0" dirty="0">
                <a:ln>
                  <a:noFill/>
                </a:ln>
                <a:solidFill>
                  <a:prstClr val="black">
                    <a:lumMod val="50000"/>
                    <a:lumOff val="50000"/>
                  </a:prstClr>
                </a:solidFill>
                <a:effectLst/>
                <a:uLnTx/>
                <a:uFillTx/>
                <a:latin typeface="Arial" charset="0"/>
                <a:ea typeface="+mn-ea"/>
                <a:cs typeface="Arial" charset="0"/>
              </a:endParaRPr>
            </a:p>
          </p:txBody>
        </p:sp>
      </p:grpSp>
      <p:sp>
        <p:nvSpPr>
          <p:cNvPr id="20" name="TextBox 19">
            <a:extLst>
              <a:ext uri="{FF2B5EF4-FFF2-40B4-BE49-F238E27FC236}">
                <a16:creationId xmlns:a16="http://schemas.microsoft.com/office/drawing/2014/main" id="{8823A4C0-B2C4-5B9C-A704-F418C85515F9}"/>
              </a:ext>
            </a:extLst>
          </p:cNvPr>
          <p:cNvSpPr txBox="1"/>
          <p:nvPr/>
        </p:nvSpPr>
        <p:spPr>
          <a:xfrm>
            <a:off x="3615431" y="6117569"/>
            <a:ext cx="4302125" cy="369888"/>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b="0" i="1" u="none" strike="noStrike" kern="1200" cap="none" spc="0" normalizeH="0" baseline="0" noProof="0" dirty="0">
                <a:ln>
                  <a:noFill/>
                </a:ln>
                <a:solidFill>
                  <a:srgbClr val="8CADAE">
                    <a:lumMod val="50000"/>
                  </a:srgbClr>
                </a:solidFill>
                <a:effectLst/>
                <a:uLnTx/>
                <a:uFillTx/>
                <a:latin typeface="Calibri"/>
                <a:ea typeface="+mn-ea"/>
                <a:cs typeface="+mn-cs"/>
              </a:rPr>
              <a:t>Does it matter what the designers think?</a:t>
            </a:r>
            <a:endParaRPr kumimoji="0" lang="en-GB" b="0" i="1" u="none" strike="noStrike" kern="1200" cap="none" spc="0" normalizeH="0" baseline="0" noProof="0" dirty="0">
              <a:ln>
                <a:noFill/>
              </a:ln>
              <a:solidFill>
                <a:srgbClr val="8CADAE">
                  <a:lumMod val="50000"/>
                </a:srgbClr>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984BF00F-9D94-B3C4-E469-448D014747BB}"/>
              </a:ext>
            </a:extLst>
          </p:cNvPr>
          <p:cNvSpPr txBox="1"/>
          <p:nvPr/>
        </p:nvSpPr>
        <p:spPr>
          <a:xfrm>
            <a:off x="28597" y="1779091"/>
            <a:ext cx="3402525" cy="4893647"/>
          </a:xfrm>
          <a:prstGeom prst="rect">
            <a:avLst/>
          </a:prstGeom>
          <a:noFill/>
        </p:spPr>
        <p:txBody>
          <a:bodyPr wrap="square">
            <a:spAutoFit/>
          </a:bodyPr>
          <a:lstStyle/>
          <a:p>
            <a:r>
              <a:rPr lang="en-US" sz="2400" b="0" i="0" dirty="0">
                <a:solidFill>
                  <a:srgbClr val="292929"/>
                </a:solidFill>
                <a:effectLst/>
                <a:latin typeface="sohne"/>
              </a:rPr>
              <a:t>Good design makes a product useful. A product is bought to be used. It has to satisfy certain criteria, not only functional, but also psychological and aesthetic. Good design emphasizes the usefulness of a product whilst disregarding anything that could possibly detract from it.</a:t>
            </a:r>
            <a:endParaRPr lang="en-IN" sz="2400" dirty="0"/>
          </a:p>
        </p:txBody>
      </p:sp>
    </p:spTree>
    <p:extLst>
      <p:ext uri="{BB962C8B-B14F-4D97-AF65-F5344CB8AC3E}">
        <p14:creationId xmlns:p14="http://schemas.microsoft.com/office/powerpoint/2010/main" val="45110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bg/>
                                          </p:spTgt>
                                        </p:tgtEl>
                                        <p:attrNameLst>
                                          <p:attrName>style.visibility</p:attrName>
                                        </p:attrNameLst>
                                      </p:cBhvr>
                                      <p:to>
                                        <p:strVal val="visible"/>
                                      </p:to>
                                    </p:set>
                                    <p:animEffect transition="in" filter="fade">
                                      <p:cBhvr>
                                        <p:cTn id="7" dur="3000"/>
                                        <p:tgtEl>
                                          <p:spTgt spid="20">
                                            <p:bg/>
                                          </p:spTgt>
                                        </p:tgtEl>
                                      </p:cBhvr>
                                    </p:animEffect>
                                  </p:childTnLst>
                                </p:cTn>
                              </p:par>
                            </p:childTnLst>
                          </p:cTn>
                        </p:par>
                        <p:par>
                          <p:cTn id="8" fill="hold">
                            <p:stCondLst>
                              <p:cond delay="3000"/>
                            </p:stCondLst>
                            <p:childTnLst>
                              <p:par>
                                <p:cTn id="9" presetID="10" presetClass="entr" presetSubtype="0"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fade">
                                      <p:cBhvr>
                                        <p:cTn id="11" dur="3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6CEF2752-4F66-F1FD-C2F7-F9FA00399DA6}"/>
              </a:ext>
            </a:extLst>
          </p:cNvPr>
          <p:cNvSpPr txBox="1"/>
          <p:nvPr/>
        </p:nvSpPr>
        <p:spPr>
          <a:xfrm>
            <a:off x="-1" y="0"/>
            <a:ext cx="8426245" cy="3970318"/>
          </a:xfrm>
          <a:prstGeom prst="rect">
            <a:avLst/>
          </a:prstGeom>
          <a:noFill/>
        </p:spPr>
        <p:txBody>
          <a:bodyPr wrap="square">
            <a:spAutoFit/>
          </a:bodyPr>
          <a:lstStyle/>
          <a:p>
            <a:pPr algn="l"/>
            <a:r>
              <a:rPr lang="en-US" sz="2800" b="0" i="0" dirty="0">
                <a:solidFill>
                  <a:srgbClr val="292929"/>
                </a:solidFill>
                <a:effectLst/>
                <a:latin typeface="sohne"/>
              </a:rPr>
              <a:t>Good design is innovative.</a:t>
            </a:r>
          </a:p>
          <a:p>
            <a:pPr algn="l"/>
            <a:r>
              <a:rPr lang="en-US" sz="2800" b="0" i="0" dirty="0">
                <a:solidFill>
                  <a:srgbClr val="292929"/>
                </a:solidFill>
                <a:effectLst/>
                <a:latin typeface="sohne"/>
              </a:rPr>
              <a:t>•Good design makes a product useful.</a:t>
            </a:r>
          </a:p>
          <a:p>
            <a:pPr algn="l"/>
            <a:r>
              <a:rPr lang="en-US" sz="2800" b="0" i="0" dirty="0">
                <a:solidFill>
                  <a:srgbClr val="292929"/>
                </a:solidFill>
                <a:effectLst/>
                <a:latin typeface="sohne"/>
              </a:rPr>
              <a:t>•Good design is aesthetic.</a:t>
            </a:r>
          </a:p>
          <a:p>
            <a:pPr algn="l"/>
            <a:r>
              <a:rPr lang="en-US" sz="2800" b="0" i="0" dirty="0">
                <a:solidFill>
                  <a:srgbClr val="292929"/>
                </a:solidFill>
                <a:effectLst/>
                <a:latin typeface="sohne"/>
              </a:rPr>
              <a:t>•Good design makes a product understandable.</a:t>
            </a:r>
          </a:p>
          <a:p>
            <a:pPr algn="l"/>
            <a:r>
              <a:rPr lang="en-US" sz="2800" b="0" i="0" dirty="0">
                <a:solidFill>
                  <a:srgbClr val="292929"/>
                </a:solidFill>
                <a:effectLst/>
                <a:latin typeface="sohne"/>
              </a:rPr>
              <a:t>•Good design is unobtrusive.</a:t>
            </a:r>
          </a:p>
          <a:p>
            <a:pPr algn="l"/>
            <a:r>
              <a:rPr lang="en-US" sz="2800" b="0" i="0" dirty="0">
                <a:solidFill>
                  <a:srgbClr val="292929"/>
                </a:solidFill>
                <a:effectLst/>
                <a:latin typeface="sohne"/>
              </a:rPr>
              <a:t>•Good design is honest.</a:t>
            </a:r>
          </a:p>
          <a:p>
            <a:pPr algn="l"/>
            <a:r>
              <a:rPr lang="en-US" sz="2800" b="0" i="0" dirty="0">
                <a:solidFill>
                  <a:srgbClr val="292929"/>
                </a:solidFill>
                <a:effectLst/>
                <a:latin typeface="sohne"/>
              </a:rPr>
              <a:t>•Good design is long-lasting.</a:t>
            </a:r>
          </a:p>
          <a:p>
            <a:pPr algn="l"/>
            <a:r>
              <a:rPr lang="en-US" sz="2800" b="0" i="0" dirty="0">
                <a:solidFill>
                  <a:srgbClr val="292929"/>
                </a:solidFill>
                <a:effectLst/>
                <a:latin typeface="sohne"/>
              </a:rPr>
              <a:t>•Good design is thorough down to the last detail.</a:t>
            </a:r>
          </a:p>
          <a:p>
            <a:pPr algn="l"/>
            <a:r>
              <a:rPr lang="en-US" sz="2800" b="0" i="0" dirty="0">
                <a:solidFill>
                  <a:srgbClr val="292929"/>
                </a:solidFill>
                <a:effectLst/>
                <a:latin typeface="sohne"/>
              </a:rPr>
              <a:t>•Good design is environmentally-friendly</a:t>
            </a:r>
          </a:p>
        </p:txBody>
      </p:sp>
      <p:pic>
        <p:nvPicPr>
          <p:cNvPr id="23554" name="Picture 2" descr="Stapler used to staple sheets and documents.">
            <a:extLst>
              <a:ext uri="{FF2B5EF4-FFF2-40B4-BE49-F238E27FC236}">
                <a16:creationId xmlns:a16="http://schemas.microsoft.com/office/drawing/2014/main" id="{0E88E80D-CAE0-873E-E9BC-0B921C4D5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88" y="5312450"/>
            <a:ext cx="2035277" cy="981591"/>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Scissors used for cutting purpose. Used for domestic and personal use.">
            <a:extLst>
              <a:ext uri="{FF2B5EF4-FFF2-40B4-BE49-F238E27FC236}">
                <a16:creationId xmlns:a16="http://schemas.microsoft.com/office/drawing/2014/main" id="{FD58E621-F86E-C143-B9F0-88ED74D4A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88" y="4028921"/>
            <a:ext cx="1925625" cy="1224926"/>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descr="Wallet used to store cash, card and other documents.">
            <a:extLst>
              <a:ext uri="{FF2B5EF4-FFF2-40B4-BE49-F238E27FC236}">
                <a16:creationId xmlns:a16="http://schemas.microsoft.com/office/drawing/2014/main" id="{4BC89D57-C2F5-F44E-675B-F512FEC837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5253" y="5000303"/>
            <a:ext cx="4965189" cy="1605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145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E36489D3-A057-3BE3-3280-AD52EA02C773}"/>
              </a:ext>
            </a:extLst>
          </p:cNvPr>
          <p:cNvSpPr txBox="1"/>
          <p:nvPr/>
        </p:nvSpPr>
        <p:spPr>
          <a:xfrm>
            <a:off x="0" y="804658"/>
            <a:ext cx="9144000" cy="5262979"/>
          </a:xfrm>
          <a:prstGeom prst="rect">
            <a:avLst/>
          </a:prstGeom>
          <a:noFill/>
        </p:spPr>
        <p:txBody>
          <a:bodyPr wrap="square">
            <a:spAutoFit/>
          </a:bodyPr>
          <a:lstStyle/>
          <a:p>
            <a:pPr algn="l" fontAlgn="base"/>
            <a:r>
              <a:rPr lang="en-US" sz="2400" b="1" i="0" dirty="0">
                <a:solidFill>
                  <a:srgbClr val="333333"/>
                </a:solidFill>
                <a:effectLst/>
                <a:latin typeface="inherit"/>
              </a:rPr>
              <a:t>Definition of good design</a:t>
            </a:r>
            <a:endParaRPr lang="en-US" sz="2400" b="1" i="0" dirty="0">
              <a:solidFill>
                <a:srgbClr val="333333"/>
              </a:solidFill>
              <a:effectLst/>
              <a:latin typeface="Open Sans" panose="020B0606030504020204" pitchFamily="34" charset="0"/>
            </a:endParaRPr>
          </a:p>
          <a:p>
            <a:pPr marL="342900" indent="-342900" algn="l" fontAlgn="base">
              <a:buFont typeface="Arial" panose="020B0604020202020204" pitchFamily="34" charset="0"/>
              <a:buChar char="•"/>
            </a:pPr>
            <a:r>
              <a:rPr lang="en-US" sz="2400" b="0" i="0" dirty="0">
                <a:solidFill>
                  <a:srgbClr val="4A4A4A"/>
                </a:solidFill>
                <a:effectLst/>
                <a:latin typeface="Open Sans" panose="020B0606030504020204" pitchFamily="34" charset="0"/>
              </a:rPr>
              <a:t>Good design can be difficult to define, but in general it refers to the creation of aesthetically pleasing items that are also functional. Good design is often thought of as being visually appealing and creative, yet still able to fulfil its purpose whether it’s a piece of furniture or an app.</a:t>
            </a:r>
          </a:p>
          <a:p>
            <a:pPr marL="342900" indent="-342900" algn="l" fontAlgn="base">
              <a:buFont typeface="Arial" panose="020B0604020202020204" pitchFamily="34" charset="0"/>
              <a:buChar char="•"/>
            </a:pPr>
            <a:endParaRPr lang="en-US" sz="2400" dirty="0">
              <a:solidFill>
                <a:srgbClr val="4A4A4A"/>
              </a:solidFill>
              <a:latin typeface="Open Sans" panose="020B0606030504020204" pitchFamily="34" charset="0"/>
            </a:endParaRPr>
          </a:p>
          <a:p>
            <a:pPr marL="342900" indent="-342900" algn="l" fontAlgn="base">
              <a:buFont typeface="Arial" panose="020B0604020202020204" pitchFamily="34" charset="0"/>
              <a:buChar char="•"/>
            </a:pPr>
            <a:endParaRPr lang="en-US" sz="2400" b="0" i="0" dirty="0">
              <a:solidFill>
                <a:srgbClr val="4A4A4A"/>
              </a:solidFill>
              <a:effectLst/>
              <a:latin typeface="Open Sans" panose="020B0606030504020204" pitchFamily="34" charset="0"/>
            </a:endParaRPr>
          </a:p>
          <a:p>
            <a:pPr marL="342900" indent="-342900" algn="l" fontAlgn="base">
              <a:buFont typeface="Arial" panose="020B0604020202020204" pitchFamily="34" charset="0"/>
              <a:buChar char="•"/>
            </a:pPr>
            <a:r>
              <a:rPr lang="en-US" sz="2400" b="0" i="0" dirty="0">
                <a:solidFill>
                  <a:srgbClr val="4A4A4A"/>
                </a:solidFill>
                <a:effectLst/>
                <a:latin typeface="Open Sans" panose="020B0606030504020204" pitchFamily="34" charset="0"/>
              </a:rPr>
              <a:t>Designers strive to create products that meet these criteria by exploring elements such as shape, color, texture and size. It’s important for designers to consider usability factors when creating a product so that users can understand how the product works effectively without confusion or frustration.</a:t>
            </a:r>
          </a:p>
        </p:txBody>
      </p:sp>
    </p:spTree>
    <p:extLst>
      <p:ext uri="{BB962C8B-B14F-4D97-AF65-F5344CB8AC3E}">
        <p14:creationId xmlns:p14="http://schemas.microsoft.com/office/powerpoint/2010/main" val="326575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87DB8336-B974-D4DC-4400-3AB54B930B3F}"/>
              </a:ext>
            </a:extLst>
          </p:cNvPr>
          <p:cNvSpPr txBox="1"/>
          <p:nvPr/>
        </p:nvSpPr>
        <p:spPr>
          <a:xfrm>
            <a:off x="103238" y="0"/>
            <a:ext cx="4572000" cy="584775"/>
          </a:xfrm>
          <a:prstGeom prst="rect">
            <a:avLst/>
          </a:prstGeom>
          <a:noFill/>
        </p:spPr>
        <p:txBody>
          <a:bodyPr wrap="square">
            <a:spAutoFit/>
          </a:bodyPr>
          <a:lstStyle/>
          <a:p>
            <a:r>
              <a:rPr lang="en-IN" sz="3200" dirty="0"/>
              <a:t>Bad Design</a:t>
            </a:r>
          </a:p>
        </p:txBody>
      </p:sp>
      <p:sp>
        <p:nvSpPr>
          <p:cNvPr id="7" name="Content Placeholder 9">
            <a:extLst>
              <a:ext uri="{FF2B5EF4-FFF2-40B4-BE49-F238E27FC236}">
                <a16:creationId xmlns:a16="http://schemas.microsoft.com/office/drawing/2014/main" id="{E6DB5AC9-7DCD-B286-6266-30D33012132A}"/>
              </a:ext>
            </a:extLst>
          </p:cNvPr>
          <p:cNvSpPr txBox="1">
            <a:spLocks/>
          </p:cNvSpPr>
          <p:nvPr/>
        </p:nvSpPr>
        <p:spPr>
          <a:xfrm>
            <a:off x="5053781" y="1189703"/>
            <a:ext cx="4090219" cy="3274142"/>
          </a:xfrm>
          <a:prstGeom prst="rect">
            <a:avLst/>
          </a:prstGeom>
        </p:spPr>
        <p:txBody>
          <a:bodyPr/>
          <a:lstStyle/>
          <a:p>
            <a:pPr fontAlgn="auto">
              <a:spcBef>
                <a:spcPts val="0"/>
              </a:spcBef>
              <a:spcAft>
                <a:spcPts val="0"/>
              </a:spcAft>
              <a:buClr>
                <a:schemeClr val="accent3">
                  <a:lumMod val="50000"/>
                </a:schemeClr>
              </a:buClr>
              <a:buFont typeface="Wingdings 2" pitchFamily="18" charset="2"/>
              <a:buChar char=""/>
              <a:defRPr/>
            </a:pPr>
            <a:r>
              <a:rPr lang="en-GB" sz="2000" dirty="0">
                <a:latin typeface="+mn-lt"/>
                <a:cs typeface="Arial" charset="0"/>
              </a:rPr>
              <a:t>Elevator controls and labels on the bottom row all look the same, so it is easy to push a label by mistake instead of a control button</a:t>
            </a:r>
          </a:p>
          <a:p>
            <a:pPr fontAlgn="auto">
              <a:spcBef>
                <a:spcPts val="0"/>
              </a:spcBef>
              <a:spcAft>
                <a:spcPts val="0"/>
              </a:spcAft>
              <a:buClr>
                <a:schemeClr val="accent3">
                  <a:lumMod val="50000"/>
                </a:schemeClr>
              </a:buClr>
              <a:buFont typeface="Wingdings 2" pitchFamily="18" charset="2"/>
              <a:buChar char=""/>
              <a:defRPr/>
            </a:pPr>
            <a:r>
              <a:rPr lang="en-GB" sz="2000" dirty="0">
                <a:latin typeface="+mn-lt"/>
                <a:cs typeface="Arial" charset="0"/>
              </a:rPr>
              <a:t>People do not make same mistake for the labels and buttons on the top row. Why not?</a:t>
            </a:r>
          </a:p>
          <a:p>
            <a:pPr fontAlgn="auto">
              <a:spcBef>
                <a:spcPts val="0"/>
              </a:spcBef>
              <a:spcAft>
                <a:spcPts val="0"/>
              </a:spcAft>
              <a:buClr>
                <a:schemeClr val="accent3">
                  <a:lumMod val="50000"/>
                </a:schemeClr>
              </a:buClr>
              <a:defRPr/>
            </a:pPr>
            <a:endParaRPr lang="en-US" sz="2000" dirty="0">
              <a:latin typeface="+mn-lt"/>
              <a:cs typeface="Arial" charset="0"/>
            </a:endParaRPr>
          </a:p>
          <a:p>
            <a:pPr fontAlgn="auto">
              <a:spcBef>
                <a:spcPts val="0"/>
              </a:spcBef>
              <a:spcAft>
                <a:spcPts val="0"/>
              </a:spcAft>
              <a:buClr>
                <a:schemeClr val="accent3">
                  <a:lumMod val="50000"/>
                </a:schemeClr>
              </a:buClr>
              <a:buFont typeface="Wingdings 2" pitchFamily="18" charset="2"/>
              <a:buChar char=""/>
              <a:defRPr/>
            </a:pPr>
            <a:endParaRPr lang="en-US" sz="2000" dirty="0">
              <a:latin typeface="+mn-lt"/>
              <a:cs typeface="Arial" charset="0"/>
            </a:endParaRPr>
          </a:p>
        </p:txBody>
      </p:sp>
      <p:pic>
        <p:nvPicPr>
          <p:cNvPr id="8" name="Picture 4">
            <a:extLst>
              <a:ext uri="{FF2B5EF4-FFF2-40B4-BE49-F238E27FC236}">
                <a16:creationId xmlns:a16="http://schemas.microsoft.com/office/drawing/2014/main" id="{4A17C6A8-22D3-A4B7-3CE7-7C8E99059520}"/>
              </a:ext>
            </a:extLst>
          </p:cNvPr>
          <p:cNvPicPr>
            <a:picLocks noChangeAspect="1" noChangeArrowheads="1"/>
          </p:cNvPicPr>
          <p:nvPr/>
        </p:nvPicPr>
        <p:blipFill>
          <a:blip r:embed="rId3" cstate="print"/>
          <a:srcRect/>
          <a:stretch>
            <a:fillRect/>
          </a:stretch>
        </p:blipFill>
        <p:spPr bwMode="auto">
          <a:xfrm>
            <a:off x="5053781" y="3512641"/>
            <a:ext cx="4090219" cy="1859190"/>
          </a:xfrm>
          <a:prstGeom prst="rect">
            <a:avLst/>
          </a:prstGeom>
          <a:noFill/>
          <a:ln w="9525">
            <a:noFill/>
            <a:miter lim="800000"/>
            <a:headEnd/>
            <a:tailEnd/>
          </a:ln>
        </p:spPr>
      </p:pic>
      <p:pic>
        <p:nvPicPr>
          <p:cNvPr id="9" name="Picture 8">
            <a:extLst>
              <a:ext uri="{FF2B5EF4-FFF2-40B4-BE49-F238E27FC236}">
                <a16:creationId xmlns:a16="http://schemas.microsoft.com/office/drawing/2014/main" id="{F861044C-2B0E-5E86-18AB-9ADA9B1EE6B4}"/>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03238" y="3696929"/>
            <a:ext cx="4685072" cy="3048620"/>
          </a:xfrm>
          <a:prstGeom prst="rect">
            <a:avLst/>
          </a:prstGeom>
        </p:spPr>
      </p:pic>
      <p:pic>
        <p:nvPicPr>
          <p:cNvPr id="10" name="Picture 2">
            <a:extLst>
              <a:ext uri="{FF2B5EF4-FFF2-40B4-BE49-F238E27FC236}">
                <a16:creationId xmlns:a16="http://schemas.microsoft.com/office/drawing/2014/main" id="{6B813CE2-0007-9422-C754-A70621EF25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36" y="591761"/>
            <a:ext cx="4685071" cy="2837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16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733C344E-1F9C-3125-A19B-B282F3753D8A}"/>
              </a:ext>
            </a:extLst>
          </p:cNvPr>
          <p:cNvSpPr txBox="1"/>
          <p:nvPr/>
        </p:nvSpPr>
        <p:spPr>
          <a:xfrm>
            <a:off x="0" y="229300"/>
            <a:ext cx="9144000" cy="6370975"/>
          </a:xfrm>
          <a:prstGeom prst="rect">
            <a:avLst/>
          </a:prstGeom>
          <a:noFill/>
        </p:spPr>
        <p:txBody>
          <a:bodyPr wrap="square">
            <a:spAutoFit/>
          </a:bodyPr>
          <a:lstStyle/>
          <a:p>
            <a:pPr algn="l" fontAlgn="base"/>
            <a:r>
              <a:rPr lang="en-US" sz="2400" b="1" i="0" dirty="0">
                <a:solidFill>
                  <a:srgbClr val="333333"/>
                </a:solidFill>
                <a:effectLst/>
                <a:latin typeface="inherit"/>
              </a:rPr>
              <a:t>Definition of bad design</a:t>
            </a:r>
            <a:endParaRPr lang="en-US" sz="2400" b="1" i="0" dirty="0">
              <a:solidFill>
                <a:srgbClr val="333333"/>
              </a:solidFill>
              <a:effectLst/>
              <a:latin typeface="Open Sans" panose="020B0606030504020204" pitchFamily="34" charset="0"/>
            </a:endParaRPr>
          </a:p>
          <a:p>
            <a:pPr marL="342900" indent="-342900" algn="l" fontAlgn="base">
              <a:buFont typeface="Arial" panose="020B0604020202020204" pitchFamily="34" charset="0"/>
              <a:buChar char="•"/>
            </a:pPr>
            <a:r>
              <a:rPr lang="en-US" sz="2400" b="0" i="0" dirty="0">
                <a:solidFill>
                  <a:srgbClr val="4A4A4A"/>
                </a:solidFill>
                <a:effectLst/>
                <a:latin typeface="Open Sans" panose="020B0606030504020204" pitchFamily="34" charset="0"/>
              </a:rPr>
              <a:t>Bad design is an umbrella term used to refer to any design that fails to fulfil its intended purpose. Bad design can encompass a wide range of failures, from aesthetic issues such as poor color selection or a cluttered layout, to functional issues such as usability problems or difficulty navigating a website.</a:t>
            </a:r>
          </a:p>
          <a:p>
            <a:pPr algn="l" fontAlgn="base"/>
            <a:endParaRPr lang="en-US" sz="2400" b="0" i="0" dirty="0">
              <a:solidFill>
                <a:srgbClr val="4A4A4A"/>
              </a:solidFill>
              <a:effectLst/>
              <a:latin typeface="Open Sans" panose="020B0606030504020204" pitchFamily="34" charset="0"/>
            </a:endParaRPr>
          </a:p>
          <a:p>
            <a:pPr marL="342900" indent="-342900" algn="l" fontAlgn="base">
              <a:buFont typeface="Arial" panose="020B0604020202020204" pitchFamily="34" charset="0"/>
              <a:buChar char="•"/>
            </a:pPr>
            <a:r>
              <a:rPr lang="en-US" sz="2400" b="0" i="0" dirty="0">
                <a:solidFill>
                  <a:srgbClr val="4A4A4A"/>
                </a:solidFill>
                <a:effectLst/>
                <a:latin typeface="Open Sans" panose="020B0606030504020204" pitchFamily="34" charset="0"/>
              </a:rPr>
              <a:t>Bad design can also refer to designs that don’t effectively deliver their message, or are not appropriate for the intended audience. It can be difficult to define bad design since it’s often subjective and open to interpretation; however, some common indicators of bad design include confusing navigation systems, unreadable text, too-small elements on the page, overcomplicated designs with too much going on at once, and poorly designed visuals that fail to grab attention.</a:t>
            </a:r>
          </a:p>
        </p:txBody>
      </p:sp>
    </p:spTree>
    <p:extLst>
      <p:ext uri="{BB962C8B-B14F-4D97-AF65-F5344CB8AC3E}">
        <p14:creationId xmlns:p14="http://schemas.microsoft.com/office/powerpoint/2010/main" val="2262296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774" y="0"/>
            <a:ext cx="9144001" cy="6858000"/>
          </a:xfrm>
          <a:prstGeom prst="rect">
            <a:avLst/>
          </a:prstGeom>
        </p:spPr>
      </p:pic>
      <p:pic>
        <p:nvPicPr>
          <p:cNvPr id="2" name="object 4">
            <a:extLst>
              <a:ext uri="{FF2B5EF4-FFF2-40B4-BE49-F238E27FC236}">
                <a16:creationId xmlns:a16="http://schemas.microsoft.com/office/drawing/2014/main" id="{9B485FEC-0A14-3009-9026-639DBB184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354" y="1268089"/>
            <a:ext cx="3457575"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object 5">
            <a:extLst>
              <a:ext uri="{FF2B5EF4-FFF2-40B4-BE49-F238E27FC236}">
                <a16:creationId xmlns:a16="http://schemas.microsoft.com/office/drawing/2014/main" id="{EAF1A136-AAD3-2E05-EA10-E72D7E62C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9702" y="1685408"/>
            <a:ext cx="3744912"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object 4">
            <a:extLst>
              <a:ext uri="{FF2B5EF4-FFF2-40B4-BE49-F238E27FC236}">
                <a16:creationId xmlns:a16="http://schemas.microsoft.com/office/drawing/2014/main" id="{F62E2E48-23FB-6829-AD5D-39A007EA53A0}"/>
              </a:ext>
            </a:extLst>
          </p:cNvPr>
          <p:cNvPicPr/>
          <p:nvPr/>
        </p:nvPicPr>
        <p:blipFill>
          <a:blip r:embed="rId5" cstate="print"/>
          <a:stretch>
            <a:fillRect/>
          </a:stretch>
        </p:blipFill>
        <p:spPr>
          <a:xfrm>
            <a:off x="-138774" y="3666739"/>
            <a:ext cx="2635045" cy="3191261"/>
          </a:xfrm>
          <a:prstGeom prst="rect">
            <a:avLst/>
          </a:prstGeom>
        </p:spPr>
      </p:pic>
      <p:pic>
        <p:nvPicPr>
          <p:cNvPr id="6" name="Picture 2" descr="Collection of messages that say 'you deleted this message'">
            <a:extLst>
              <a:ext uri="{FF2B5EF4-FFF2-40B4-BE49-F238E27FC236}">
                <a16:creationId xmlns:a16="http://schemas.microsoft.com/office/drawing/2014/main" id="{99711DDD-482D-3885-2049-A0B2988702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4233" t="4817" r="22588" b="5731"/>
          <a:stretch/>
        </p:blipFill>
        <p:spPr bwMode="auto">
          <a:xfrm>
            <a:off x="4375355" y="4517508"/>
            <a:ext cx="4768645" cy="23404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24DDF50-80D5-8EA4-617A-21E7A431D4B6}"/>
              </a:ext>
            </a:extLst>
          </p:cNvPr>
          <p:cNvSpPr txBox="1"/>
          <p:nvPr/>
        </p:nvSpPr>
        <p:spPr>
          <a:xfrm>
            <a:off x="-138774" y="94654"/>
            <a:ext cx="6598568" cy="584775"/>
          </a:xfrm>
          <a:prstGeom prst="rect">
            <a:avLst/>
          </a:prstGeom>
          <a:noFill/>
        </p:spPr>
        <p:txBody>
          <a:bodyPr wrap="square">
            <a:spAutoFit/>
          </a:bodyPr>
          <a:lstStyle/>
          <a:p>
            <a:pPr eaLnBrk="1" fontAlgn="auto" hangingPunct="1">
              <a:spcAft>
                <a:spcPts val="0"/>
              </a:spcAft>
              <a:buFont typeface="Arial" pitchFamily="34" charset="0"/>
              <a:buNone/>
              <a:defRPr/>
            </a:pPr>
            <a:r>
              <a:rPr lang="en-US" sz="3200" b="1" dirty="0"/>
              <a:t>Good Vs Bad Design</a:t>
            </a:r>
          </a:p>
        </p:txBody>
      </p:sp>
    </p:spTree>
    <p:extLst>
      <p:ext uri="{BB962C8B-B14F-4D97-AF65-F5344CB8AC3E}">
        <p14:creationId xmlns:p14="http://schemas.microsoft.com/office/powerpoint/2010/main" val="1573040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pic>
        <p:nvPicPr>
          <p:cNvPr id="2" name="Picture 8" descr="Redbus website used for booking bus tickets online.">
            <a:extLst>
              <a:ext uri="{FF2B5EF4-FFF2-40B4-BE49-F238E27FC236}">
                <a16:creationId xmlns:a16="http://schemas.microsoft.com/office/drawing/2014/main" id="{6B589BF8-EEBA-8C54-59D0-53C312604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8323"/>
            <a:ext cx="9144000" cy="32004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02B29171-691C-E2CF-6B02-DE58A3317670}"/>
              </a:ext>
            </a:extLst>
          </p:cNvPr>
          <p:cNvSpPr>
            <a:spLocks noChangeArrowheads="1"/>
          </p:cNvSpPr>
          <p:nvPr/>
        </p:nvSpPr>
        <p:spPr bwMode="auto">
          <a:xfrm>
            <a:off x="167147" y="3397046"/>
            <a:ext cx="4680155" cy="32004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defRPr>
            </a:lvl9pPr>
          </a:lstStyle>
          <a:p>
            <a:pPr eaLnBrk="1" hangingPunct="1"/>
            <a:endParaRPr lang="en-US" altLang="en-US"/>
          </a:p>
        </p:txBody>
      </p:sp>
      <p:grpSp>
        <p:nvGrpSpPr>
          <p:cNvPr id="5" name="object 3">
            <a:extLst>
              <a:ext uri="{FF2B5EF4-FFF2-40B4-BE49-F238E27FC236}">
                <a16:creationId xmlns:a16="http://schemas.microsoft.com/office/drawing/2014/main" id="{0F7BAA0C-D6E0-C9D0-1393-A936AC51BC6B}"/>
              </a:ext>
            </a:extLst>
          </p:cNvPr>
          <p:cNvGrpSpPr>
            <a:grpSpLocks/>
          </p:cNvGrpSpPr>
          <p:nvPr/>
        </p:nvGrpSpPr>
        <p:grpSpPr bwMode="auto">
          <a:xfrm>
            <a:off x="5122607" y="3426341"/>
            <a:ext cx="3952566" cy="3200399"/>
            <a:chOff x="1384300" y="1447800"/>
            <a:chExt cx="10236200" cy="7696200"/>
          </a:xfrm>
        </p:grpSpPr>
        <p:sp>
          <p:nvSpPr>
            <p:cNvPr id="6" name="object 4">
              <a:extLst>
                <a:ext uri="{FF2B5EF4-FFF2-40B4-BE49-F238E27FC236}">
                  <a16:creationId xmlns:a16="http://schemas.microsoft.com/office/drawing/2014/main" id="{769A03B3-821E-D5C0-5E9D-797F67651645}"/>
                </a:ext>
              </a:extLst>
            </p:cNvPr>
            <p:cNvSpPr>
              <a:spLocks noChangeArrowheads="1"/>
            </p:cNvSpPr>
            <p:nvPr/>
          </p:nvSpPr>
          <p:spPr bwMode="auto">
            <a:xfrm>
              <a:off x="1384300" y="1447800"/>
              <a:ext cx="10236200" cy="76962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defRPr>
              </a:lvl9pPr>
            </a:lstStyle>
            <a:p>
              <a:pPr eaLnBrk="1" hangingPunct="1"/>
              <a:endParaRPr lang="en-US" altLang="en-US"/>
            </a:p>
          </p:txBody>
        </p:sp>
        <p:sp>
          <p:nvSpPr>
            <p:cNvPr id="7" name="object 5">
              <a:extLst>
                <a:ext uri="{FF2B5EF4-FFF2-40B4-BE49-F238E27FC236}">
                  <a16:creationId xmlns:a16="http://schemas.microsoft.com/office/drawing/2014/main" id="{1A94C3A9-11CA-C4D3-C09D-05462D8453D0}"/>
                </a:ext>
              </a:extLst>
            </p:cNvPr>
            <p:cNvSpPr>
              <a:spLocks noChangeArrowheads="1"/>
            </p:cNvSpPr>
            <p:nvPr/>
          </p:nvSpPr>
          <p:spPr bwMode="auto">
            <a:xfrm>
              <a:off x="1422400" y="1473200"/>
              <a:ext cx="10160000" cy="762000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eaLnBrk="0" fontAlgn="base" hangingPunct="0">
                <a:spcBef>
                  <a:spcPct val="0"/>
                </a:spcBef>
                <a:spcAft>
                  <a:spcPct val="0"/>
                </a:spcAft>
                <a:defRPr>
                  <a:solidFill>
                    <a:schemeClr val="tx1"/>
                  </a:solidFill>
                  <a:latin typeface="Gill Sans MT" panose="020B0502020104020203" pitchFamily="34" charset="0"/>
                </a:defRPr>
              </a:lvl6pPr>
              <a:lvl7pPr marL="2971800" indent="-228600" eaLnBrk="0" fontAlgn="base" hangingPunct="0">
                <a:spcBef>
                  <a:spcPct val="0"/>
                </a:spcBef>
                <a:spcAft>
                  <a:spcPct val="0"/>
                </a:spcAft>
                <a:defRPr>
                  <a:solidFill>
                    <a:schemeClr val="tx1"/>
                  </a:solidFill>
                  <a:latin typeface="Gill Sans MT" panose="020B0502020104020203" pitchFamily="34" charset="0"/>
                </a:defRPr>
              </a:lvl7pPr>
              <a:lvl8pPr marL="3429000" indent="-228600" eaLnBrk="0" fontAlgn="base" hangingPunct="0">
                <a:spcBef>
                  <a:spcPct val="0"/>
                </a:spcBef>
                <a:spcAft>
                  <a:spcPct val="0"/>
                </a:spcAft>
                <a:defRPr>
                  <a:solidFill>
                    <a:schemeClr val="tx1"/>
                  </a:solidFill>
                  <a:latin typeface="Gill Sans MT" panose="020B0502020104020203" pitchFamily="34" charset="0"/>
                </a:defRPr>
              </a:lvl8pPr>
              <a:lvl9pPr marL="3886200" indent="-228600" eaLnBrk="0" fontAlgn="base" hangingPunct="0">
                <a:spcBef>
                  <a:spcPct val="0"/>
                </a:spcBef>
                <a:spcAft>
                  <a:spcPct val="0"/>
                </a:spcAft>
                <a:defRPr>
                  <a:solidFill>
                    <a:schemeClr val="tx1"/>
                  </a:solidFill>
                  <a:latin typeface="Gill Sans MT" panose="020B0502020104020203" pitchFamily="34" charset="0"/>
                </a:defRPr>
              </a:lvl9pPr>
            </a:lstStyle>
            <a:p>
              <a:pPr eaLnBrk="1" hangingPunct="1"/>
              <a:endParaRPr lang="en-US" altLang="en-US"/>
            </a:p>
          </p:txBody>
        </p:sp>
      </p:grpSp>
    </p:spTree>
    <p:extLst>
      <p:ext uri="{BB962C8B-B14F-4D97-AF65-F5344CB8AC3E}">
        <p14:creationId xmlns:p14="http://schemas.microsoft.com/office/powerpoint/2010/main" val="310556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pic>
        <p:nvPicPr>
          <p:cNvPr id="17410" name="Picture 2">
            <a:extLst>
              <a:ext uri="{FF2B5EF4-FFF2-40B4-BE49-F238E27FC236}">
                <a16:creationId xmlns:a16="http://schemas.microsoft.com/office/drawing/2014/main" id="{DC36975C-B2BA-03D5-A4EC-6A9A7D3B6D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703284" cy="6272981"/>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a:extLst>
              <a:ext uri="{FF2B5EF4-FFF2-40B4-BE49-F238E27FC236}">
                <a16:creationId xmlns:a16="http://schemas.microsoft.com/office/drawing/2014/main" id="{C9A59D33-20E2-7324-F160-557BB5B285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3284" y="1012723"/>
            <a:ext cx="4430523" cy="5761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164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pic>
        <p:nvPicPr>
          <p:cNvPr id="16386" name="Picture 2">
            <a:extLst>
              <a:ext uri="{FF2B5EF4-FFF2-40B4-BE49-F238E27FC236}">
                <a16:creationId xmlns:a16="http://schemas.microsoft.com/office/drawing/2014/main" id="{E3209CAD-39B3-A211-199F-14C5731E9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58" y="77088"/>
            <a:ext cx="2983118" cy="3978718"/>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9EA4DDA0-A199-A138-46F5-A16FD5FCB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434" y="195728"/>
            <a:ext cx="5924908" cy="374143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atsApp vs Telegram — Good or Bad Design?">
            <a:extLst>
              <a:ext uri="{FF2B5EF4-FFF2-40B4-BE49-F238E27FC236}">
                <a16:creationId xmlns:a16="http://schemas.microsoft.com/office/drawing/2014/main" id="{6FDD30C2-3E83-EC05-664F-CFF17C63CA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658" y="4251534"/>
            <a:ext cx="4063423" cy="22871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ypes of Books— Good or Bad Designs?">
            <a:extLst>
              <a:ext uri="{FF2B5EF4-FFF2-40B4-BE49-F238E27FC236}">
                <a16:creationId xmlns:a16="http://schemas.microsoft.com/office/drawing/2014/main" id="{6A5A9747-D7EB-A45F-A115-233A812D25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20739" y="4113988"/>
            <a:ext cx="2788447" cy="156949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ater Bottles — Good or Bad Design?">
            <a:extLst>
              <a:ext uri="{FF2B5EF4-FFF2-40B4-BE49-F238E27FC236}">
                <a16:creationId xmlns:a16="http://schemas.microsoft.com/office/drawing/2014/main" id="{075EB986-37B0-4D22-2B73-C294DAC7159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89305" y="5395097"/>
            <a:ext cx="2354695" cy="1325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8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pic>
        <p:nvPicPr>
          <p:cNvPr id="2" name="Picture 6" descr="1">
            <a:extLst>
              <a:ext uri="{FF2B5EF4-FFF2-40B4-BE49-F238E27FC236}">
                <a16:creationId xmlns:a16="http://schemas.microsoft.com/office/drawing/2014/main" id="{850C237D-AEC3-CB49-A2F5-22578235E907}"/>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486563" y="570634"/>
            <a:ext cx="2654300" cy="3632200"/>
          </a:xfrm>
          <a:prstGeom prst="rect">
            <a:avLst/>
          </a:prstGeom>
          <a:noFill/>
          <a:ln w="9525">
            <a:noFill/>
            <a:miter lim="800000"/>
            <a:headEnd/>
            <a:tailEnd/>
          </a:ln>
        </p:spPr>
      </p:pic>
      <p:pic>
        <p:nvPicPr>
          <p:cNvPr id="3" name="Picture 5" descr="1">
            <a:extLst>
              <a:ext uri="{FF2B5EF4-FFF2-40B4-BE49-F238E27FC236}">
                <a16:creationId xmlns:a16="http://schemas.microsoft.com/office/drawing/2014/main" id="{D80E2AB9-056F-1CDA-5678-377AAA15947F}"/>
              </a:ext>
            </a:extLst>
          </p:cNvPr>
          <p:cNvPicPr>
            <a:picLocks noChangeAspect="1" noChangeArrowheads="1"/>
          </p:cNvPicPr>
          <p:nvPr/>
        </p:nvPicPr>
        <p:blipFill>
          <a:blip r:embed="rId4" cstate="print"/>
          <a:srcRect l="32996" t="5016" r="33502" b="6372"/>
          <a:stretch>
            <a:fillRect/>
          </a:stretch>
        </p:blipFill>
        <p:spPr bwMode="auto">
          <a:xfrm>
            <a:off x="7387036" y="1736725"/>
            <a:ext cx="1143000" cy="4038600"/>
          </a:xfrm>
          <a:prstGeom prst="rect">
            <a:avLst/>
          </a:prstGeom>
          <a:noFill/>
          <a:ln w="9525">
            <a:noFill/>
            <a:miter lim="800000"/>
            <a:headEnd/>
            <a:tailEnd/>
          </a:ln>
        </p:spPr>
      </p:pic>
      <p:pic>
        <p:nvPicPr>
          <p:cNvPr id="2050" name="Picture 2" descr="Electric Buttons — Good or Bad Design?">
            <a:extLst>
              <a:ext uri="{FF2B5EF4-FFF2-40B4-BE49-F238E27FC236}">
                <a16:creationId xmlns:a16="http://schemas.microsoft.com/office/drawing/2014/main" id="{9B411033-3E5B-59E2-EA45-E3E3DCEC68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240390" cy="23867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ypes of Electric Extension Boards — Good or Bad Designs?">
            <a:extLst>
              <a:ext uri="{FF2B5EF4-FFF2-40B4-BE49-F238E27FC236}">
                <a16:creationId xmlns:a16="http://schemas.microsoft.com/office/drawing/2014/main" id="{F21FFE96-0874-0A05-9534-2DA8CC8615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2386734"/>
            <a:ext cx="4240390" cy="238673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ypes of Water Taps — Good or Bad Designs?">
            <a:extLst>
              <a:ext uri="{FF2B5EF4-FFF2-40B4-BE49-F238E27FC236}">
                <a16:creationId xmlns:a16="http://schemas.microsoft.com/office/drawing/2014/main" id="{49933FDA-58E3-A4CB-A490-828F25B079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4773468"/>
            <a:ext cx="4240389" cy="208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395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2" name="Content Placeholder 5">
            <a:extLst>
              <a:ext uri="{FF2B5EF4-FFF2-40B4-BE49-F238E27FC236}">
                <a16:creationId xmlns:a16="http://schemas.microsoft.com/office/drawing/2014/main" id="{B3B0FC1F-CFF9-4802-6BE5-5D7711C085E6}"/>
              </a:ext>
            </a:extLst>
          </p:cNvPr>
          <p:cNvSpPr txBox="1">
            <a:spLocks/>
          </p:cNvSpPr>
          <p:nvPr/>
        </p:nvSpPr>
        <p:spPr>
          <a:xfrm>
            <a:off x="0" y="0"/>
            <a:ext cx="9144000" cy="480291"/>
          </a:xfrm>
          <a:prstGeom prst="rect">
            <a:avLst/>
          </a:prstGeom>
          <a:solidFill>
            <a:schemeClr val="accent3">
              <a:lumMod val="7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defRPr/>
            </a:pPr>
            <a:r>
              <a:rPr lang="en-US" sz="4000">
                <a:solidFill>
                  <a:schemeClr val="bg1"/>
                </a:solidFill>
              </a:rPr>
              <a:t>What to Design</a:t>
            </a:r>
            <a:endParaRPr lang="en-US" sz="4000" dirty="0">
              <a:solidFill>
                <a:schemeClr val="bg1"/>
              </a:solidFill>
            </a:endParaRPr>
          </a:p>
        </p:txBody>
      </p:sp>
      <p:pic>
        <p:nvPicPr>
          <p:cNvPr id="10" name="Picture 9">
            <a:extLst>
              <a:ext uri="{FF2B5EF4-FFF2-40B4-BE49-F238E27FC236}">
                <a16:creationId xmlns:a16="http://schemas.microsoft.com/office/drawing/2014/main" id="{4FF6A367-5EFB-50E4-2BB6-94BCF48CB052}"/>
              </a:ext>
            </a:extLst>
          </p:cNvPr>
          <p:cNvPicPr>
            <a:picLocks noChangeAspect="1"/>
          </p:cNvPicPr>
          <p:nvPr/>
        </p:nvPicPr>
        <p:blipFill>
          <a:blip r:embed="rId3"/>
          <a:stretch>
            <a:fillRect/>
          </a:stretch>
        </p:blipFill>
        <p:spPr>
          <a:xfrm>
            <a:off x="-1" y="480291"/>
            <a:ext cx="7518400" cy="3658607"/>
          </a:xfrm>
          <a:prstGeom prst="rect">
            <a:avLst/>
          </a:prstGeom>
        </p:spPr>
      </p:pic>
      <p:sp>
        <p:nvSpPr>
          <p:cNvPr id="12" name="TextBox 11">
            <a:extLst>
              <a:ext uri="{FF2B5EF4-FFF2-40B4-BE49-F238E27FC236}">
                <a16:creationId xmlns:a16="http://schemas.microsoft.com/office/drawing/2014/main" id="{9A3A63D0-E8F1-1FC2-5DDD-3EABDDB54708}"/>
              </a:ext>
            </a:extLst>
          </p:cNvPr>
          <p:cNvSpPr txBox="1"/>
          <p:nvPr/>
        </p:nvSpPr>
        <p:spPr>
          <a:xfrm>
            <a:off x="-1" y="4285835"/>
            <a:ext cx="8368145" cy="2092881"/>
          </a:xfrm>
          <a:prstGeom prst="rect">
            <a:avLst/>
          </a:prstGeom>
          <a:noFill/>
        </p:spPr>
        <p:txBody>
          <a:bodyPr wrap="square">
            <a:spAutoFit/>
          </a:bodyPr>
          <a:lstStyle/>
          <a:p>
            <a:pPr fontAlgn="auto">
              <a:spcBef>
                <a:spcPts val="0"/>
              </a:spcBef>
              <a:spcAft>
                <a:spcPts val="1200"/>
              </a:spcAft>
              <a:buClr>
                <a:schemeClr val="accent3">
                  <a:lumMod val="50000"/>
                </a:schemeClr>
              </a:buClr>
              <a:buFont typeface="Wingdings 2" pitchFamily="18" charset="2"/>
              <a:buChar char=""/>
              <a:defRPr/>
            </a:pPr>
            <a:r>
              <a:rPr lang="en-GB" sz="1800" dirty="0">
                <a:latin typeface="+mn-lt"/>
                <a:cs typeface="Arial" charset="0"/>
              </a:rPr>
              <a:t>Need to take into account </a:t>
            </a:r>
            <a:r>
              <a:rPr lang="en-GB" sz="1800" dirty="0">
                <a:effectLst>
                  <a:outerShdw blurRad="38100" dist="38100" dir="2700000" algn="tl">
                    <a:srgbClr val="000000">
                      <a:alpha val="43137"/>
                    </a:srgbClr>
                  </a:outerShdw>
                </a:effectLst>
                <a:latin typeface="+mn-lt"/>
                <a:cs typeface="Arial" charset="0"/>
              </a:rPr>
              <a:t>what people are good and bad at</a:t>
            </a:r>
          </a:p>
          <a:p>
            <a:pPr fontAlgn="auto">
              <a:spcBef>
                <a:spcPts val="0"/>
              </a:spcBef>
              <a:spcAft>
                <a:spcPts val="1200"/>
              </a:spcAft>
              <a:buClr>
                <a:schemeClr val="accent3">
                  <a:lumMod val="50000"/>
                </a:schemeClr>
              </a:buClr>
              <a:buFont typeface="Wingdings 2" pitchFamily="18" charset="2"/>
              <a:buChar char=""/>
              <a:defRPr/>
            </a:pPr>
            <a:r>
              <a:rPr lang="en-GB" sz="1800" dirty="0">
                <a:latin typeface="+mn-lt"/>
                <a:cs typeface="Arial" charset="0"/>
              </a:rPr>
              <a:t>Consider </a:t>
            </a:r>
            <a:r>
              <a:rPr lang="en-GB" sz="1800" dirty="0">
                <a:effectLst>
                  <a:outerShdw blurRad="38100" dist="38100" dir="2700000" algn="tl">
                    <a:srgbClr val="000000">
                      <a:alpha val="43137"/>
                    </a:srgbClr>
                  </a:outerShdw>
                </a:effectLst>
                <a:latin typeface="+mn-lt"/>
                <a:cs typeface="Arial" charset="0"/>
              </a:rPr>
              <a:t>what might help people </a:t>
            </a:r>
            <a:r>
              <a:rPr lang="en-GB" sz="1800" dirty="0">
                <a:latin typeface="+mn-lt"/>
                <a:cs typeface="Arial" charset="0"/>
              </a:rPr>
              <a:t>in the way they </a:t>
            </a:r>
            <a:r>
              <a:rPr lang="en-GB" sz="1800" dirty="0">
                <a:effectLst>
                  <a:outerShdw blurRad="38100" dist="38100" dir="2700000" algn="tl">
                    <a:srgbClr val="000000">
                      <a:alpha val="43137"/>
                    </a:srgbClr>
                  </a:outerShdw>
                </a:effectLst>
                <a:latin typeface="+mn-lt"/>
                <a:cs typeface="Arial" charset="0"/>
              </a:rPr>
              <a:t>currently</a:t>
            </a:r>
            <a:r>
              <a:rPr lang="en-GB" sz="1800" dirty="0">
                <a:latin typeface="+mn-lt"/>
                <a:cs typeface="Arial" charset="0"/>
              </a:rPr>
              <a:t> do things</a:t>
            </a:r>
          </a:p>
          <a:p>
            <a:pPr fontAlgn="auto">
              <a:spcBef>
                <a:spcPts val="0"/>
              </a:spcBef>
              <a:spcAft>
                <a:spcPts val="1200"/>
              </a:spcAft>
              <a:buClr>
                <a:schemeClr val="accent3">
                  <a:lumMod val="50000"/>
                </a:schemeClr>
              </a:buClr>
              <a:buFont typeface="Wingdings 2" pitchFamily="18" charset="2"/>
              <a:buChar char=""/>
              <a:defRPr/>
            </a:pPr>
            <a:r>
              <a:rPr lang="en-GB" sz="1800" dirty="0">
                <a:latin typeface="+mn-lt"/>
                <a:cs typeface="Arial" charset="0"/>
              </a:rPr>
              <a:t>Think through </a:t>
            </a:r>
            <a:r>
              <a:rPr lang="en-GB" sz="1800" dirty="0">
                <a:effectLst>
                  <a:outerShdw blurRad="38100" dist="38100" dir="2700000" algn="tl">
                    <a:srgbClr val="000000">
                      <a:alpha val="43137"/>
                    </a:srgbClr>
                  </a:outerShdw>
                </a:effectLst>
                <a:latin typeface="+mn-lt"/>
                <a:cs typeface="Arial" charset="0"/>
              </a:rPr>
              <a:t>what might provide quality user experiences</a:t>
            </a:r>
          </a:p>
          <a:p>
            <a:pPr fontAlgn="auto">
              <a:spcBef>
                <a:spcPts val="0"/>
              </a:spcBef>
              <a:spcAft>
                <a:spcPts val="1200"/>
              </a:spcAft>
              <a:buClr>
                <a:schemeClr val="accent3">
                  <a:lumMod val="50000"/>
                </a:schemeClr>
              </a:buClr>
              <a:buFont typeface="Wingdings 2" pitchFamily="18" charset="2"/>
              <a:buChar char=""/>
              <a:defRPr/>
            </a:pPr>
            <a:r>
              <a:rPr lang="en-GB" sz="1800" dirty="0">
                <a:effectLst>
                  <a:outerShdw blurRad="38100" dist="38100" dir="2700000" algn="tl">
                    <a:srgbClr val="000000">
                      <a:alpha val="43137"/>
                    </a:srgbClr>
                  </a:outerShdw>
                </a:effectLst>
                <a:latin typeface="+mn-lt"/>
                <a:cs typeface="Arial" charset="0"/>
              </a:rPr>
              <a:t>Listen to what people want </a:t>
            </a:r>
            <a:r>
              <a:rPr lang="en-GB" sz="1800" dirty="0">
                <a:latin typeface="+mn-lt"/>
                <a:cs typeface="Arial" charset="0"/>
              </a:rPr>
              <a:t>and get them </a:t>
            </a:r>
            <a:r>
              <a:rPr lang="en-GB" sz="1800" dirty="0">
                <a:effectLst>
                  <a:outerShdw blurRad="38100" dist="38100" dir="2700000" algn="tl">
                    <a:srgbClr val="000000">
                      <a:alpha val="43137"/>
                    </a:srgbClr>
                  </a:outerShdw>
                </a:effectLst>
                <a:latin typeface="+mn-lt"/>
                <a:cs typeface="Arial" charset="0"/>
              </a:rPr>
              <a:t>involved</a:t>
            </a:r>
          </a:p>
          <a:p>
            <a:pPr fontAlgn="auto">
              <a:spcBef>
                <a:spcPts val="0"/>
              </a:spcBef>
              <a:spcAft>
                <a:spcPts val="1200"/>
              </a:spcAft>
              <a:buClr>
                <a:schemeClr val="accent3">
                  <a:lumMod val="50000"/>
                </a:schemeClr>
              </a:buClr>
              <a:buFont typeface="Wingdings 2" pitchFamily="18" charset="2"/>
              <a:buChar char=""/>
              <a:defRPr/>
            </a:pPr>
            <a:r>
              <a:rPr lang="en-GB" sz="1800" dirty="0">
                <a:latin typeface="+mn-lt"/>
                <a:cs typeface="Arial" charset="0"/>
              </a:rPr>
              <a:t>Use tried and tested </a:t>
            </a:r>
            <a:r>
              <a:rPr lang="en-GB" sz="1800" b="1" dirty="0">
                <a:effectLst>
                  <a:outerShdw blurRad="38100" dist="38100" dir="2700000" algn="tl">
                    <a:srgbClr val="000000">
                      <a:alpha val="43137"/>
                    </a:srgbClr>
                  </a:outerShdw>
                </a:effectLst>
                <a:latin typeface="+mn-lt"/>
                <a:cs typeface="Arial" charset="0"/>
              </a:rPr>
              <a:t>user-</a:t>
            </a:r>
            <a:r>
              <a:rPr lang="en-GB" sz="1800" b="1" dirty="0" err="1">
                <a:effectLst>
                  <a:outerShdw blurRad="38100" dist="38100" dir="2700000" algn="tl">
                    <a:srgbClr val="000000">
                      <a:alpha val="43137"/>
                    </a:srgbClr>
                  </a:outerShdw>
                </a:effectLst>
                <a:latin typeface="+mn-lt"/>
                <a:cs typeface="Arial" charset="0"/>
              </a:rPr>
              <a:t>centered</a:t>
            </a:r>
            <a:r>
              <a:rPr lang="en-GB" sz="1800" b="1" dirty="0">
                <a:effectLst>
                  <a:outerShdw blurRad="38100" dist="38100" dir="2700000" algn="tl">
                    <a:srgbClr val="000000">
                      <a:alpha val="43137"/>
                    </a:srgbClr>
                  </a:outerShdw>
                </a:effectLst>
                <a:latin typeface="+mn-lt"/>
                <a:cs typeface="Arial" charset="0"/>
              </a:rPr>
              <a:t> methods</a:t>
            </a:r>
          </a:p>
        </p:txBody>
      </p:sp>
    </p:spTree>
    <p:extLst>
      <p:ext uri="{BB962C8B-B14F-4D97-AF65-F5344CB8AC3E}">
        <p14:creationId xmlns:p14="http://schemas.microsoft.com/office/powerpoint/2010/main" val="826329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44001" cy="6858000"/>
          </a:xfrm>
          <a:prstGeom prst="rect">
            <a:avLst/>
          </a:prstGeom>
        </p:spPr>
      </p:pic>
      <p:sp>
        <p:nvSpPr>
          <p:cNvPr id="2" name="Title 2">
            <a:extLst>
              <a:ext uri="{FF2B5EF4-FFF2-40B4-BE49-F238E27FC236}">
                <a16:creationId xmlns:a16="http://schemas.microsoft.com/office/drawing/2014/main" id="{973317BB-5386-7AA5-7F42-79D8F0419C94}"/>
              </a:ext>
            </a:extLst>
          </p:cNvPr>
          <p:cNvSpPr txBox="1">
            <a:spLocks/>
          </p:cNvSpPr>
          <p:nvPr/>
        </p:nvSpPr>
        <p:spPr>
          <a:xfrm>
            <a:off x="-1" y="0"/>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Steve Jobs legacy : HCI </a:t>
            </a:r>
            <a:endParaRPr lang="ar-SA" dirty="0"/>
          </a:p>
        </p:txBody>
      </p:sp>
      <p:sp>
        <p:nvSpPr>
          <p:cNvPr id="3" name="Content Placeholder 3">
            <a:extLst>
              <a:ext uri="{FF2B5EF4-FFF2-40B4-BE49-F238E27FC236}">
                <a16:creationId xmlns:a16="http://schemas.microsoft.com/office/drawing/2014/main" id="{00A3EB4C-D5EA-198A-4C01-49E6644D4510}"/>
              </a:ext>
            </a:extLst>
          </p:cNvPr>
          <p:cNvSpPr txBox="1">
            <a:spLocks/>
          </p:cNvSpPr>
          <p:nvPr/>
        </p:nvSpPr>
        <p:spPr>
          <a:xfrm>
            <a:off x="0" y="1736726"/>
            <a:ext cx="91440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i="1" dirty="0"/>
              <a:t>Human-computer interaction (HCI)  has always been at the heart of Apple design.</a:t>
            </a:r>
            <a:endParaRPr lang="en-US" sz="1800" dirty="0"/>
          </a:p>
          <a:p>
            <a:r>
              <a:rPr lang="en-US" sz="1800" dirty="0"/>
              <a:t>Jobs recognized the central role of the user as well as human-computer interaction and design in products.</a:t>
            </a:r>
          </a:p>
          <a:p>
            <a:r>
              <a:rPr lang="en-US" sz="1800" dirty="0"/>
              <a:t>Steve Jobs and Apple computers, by investing in products that are enjoyable  easy to use by anyone, have changed the way that user experience is perceived in both technology and computer companies. </a:t>
            </a:r>
          </a:p>
          <a:p>
            <a:r>
              <a:rPr lang="en-US" sz="1800" dirty="0"/>
              <a:t>People working in the field of HCI often make a prime example of Apple products as a standard for a device that has good user experience, while also being commercially successful.</a:t>
            </a:r>
          </a:p>
          <a:p>
            <a:r>
              <a:rPr lang="en-US" sz="1800" dirty="0"/>
              <a:t>Steve quotes about Design : "the design that works". "</a:t>
            </a:r>
            <a:r>
              <a:rPr lang="en-US" sz="1800" b="1" dirty="0">
                <a:effectLst>
                  <a:outerShdw blurRad="38100" dist="38100" dir="2700000" algn="tl">
                    <a:srgbClr val="000000">
                      <a:alpha val="43137"/>
                    </a:srgbClr>
                  </a:outerShdw>
                </a:effectLst>
              </a:rPr>
              <a:t>Most people make the mistake of thinking design is what it looks like</a:t>
            </a:r>
            <a:r>
              <a:rPr lang="en-US" sz="1800" dirty="0"/>
              <a:t>. People think it's this veneer - that the designers are handed this box and told, 'Make it look good!' That's not what we think design is. It's not just what it looks like and feels like. Design is how it works," (New York Times, November 30, 2003).</a:t>
            </a:r>
          </a:p>
          <a:p>
            <a:endParaRPr lang="en-US" sz="1800" dirty="0"/>
          </a:p>
          <a:p>
            <a:endParaRPr lang="ar-SA" sz="1800" dirty="0"/>
          </a:p>
        </p:txBody>
      </p:sp>
      <p:pic>
        <p:nvPicPr>
          <p:cNvPr id="5" name="Picture 4" descr="http://www.mysciencework.com/bundles/mswblog/images/Posts/2011/10/jobs-239x300.png">
            <a:extLst>
              <a:ext uri="{FF2B5EF4-FFF2-40B4-BE49-F238E27FC236}">
                <a16:creationId xmlns:a16="http://schemas.microsoft.com/office/drawing/2014/main" id="{936F1F50-EE29-7E46-65CA-42E866FE73F2}"/>
              </a:ext>
            </a:extLst>
          </p:cNvPr>
          <p:cNvPicPr>
            <a:picLocks noChangeAspect="1" noChangeArrowheads="1"/>
          </p:cNvPicPr>
          <p:nvPr/>
        </p:nvPicPr>
        <p:blipFill>
          <a:blip r:embed="rId3" cstate="print"/>
          <a:srcRect/>
          <a:stretch>
            <a:fillRect/>
          </a:stretch>
        </p:blipFill>
        <p:spPr bwMode="auto">
          <a:xfrm>
            <a:off x="5142392" y="37989"/>
            <a:ext cx="1323062" cy="1660748"/>
          </a:xfrm>
          <a:prstGeom prst="rect">
            <a:avLst/>
          </a:prstGeom>
          <a:noFill/>
        </p:spPr>
      </p:pic>
    </p:spTree>
    <p:extLst>
      <p:ext uri="{BB962C8B-B14F-4D97-AF65-F5344CB8AC3E}">
        <p14:creationId xmlns:p14="http://schemas.microsoft.com/office/powerpoint/2010/main" val="301843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223172DD-13A4-BAF4-C06B-6E849019FE61}"/>
              </a:ext>
            </a:extLst>
          </p:cNvPr>
          <p:cNvSpPr txBox="1"/>
          <p:nvPr/>
        </p:nvSpPr>
        <p:spPr>
          <a:xfrm>
            <a:off x="-78510" y="0"/>
            <a:ext cx="6562436" cy="523220"/>
          </a:xfrm>
          <a:prstGeom prst="rect">
            <a:avLst/>
          </a:prstGeom>
          <a:noFill/>
        </p:spPr>
        <p:txBody>
          <a:bodyPr wrap="square">
            <a:spAutoFit/>
          </a:bodyPr>
          <a:lstStyle/>
          <a:p>
            <a:r>
              <a:rPr lang="en-IN" sz="2800" dirty="0"/>
              <a:t>What is Interaction Design?</a:t>
            </a:r>
          </a:p>
        </p:txBody>
      </p:sp>
      <p:pic>
        <p:nvPicPr>
          <p:cNvPr id="8" name="Picture 7">
            <a:extLst>
              <a:ext uri="{FF2B5EF4-FFF2-40B4-BE49-F238E27FC236}">
                <a16:creationId xmlns:a16="http://schemas.microsoft.com/office/drawing/2014/main" id="{3C724738-E74E-EA6A-DD48-6C68BF57E4D5}"/>
              </a:ext>
            </a:extLst>
          </p:cNvPr>
          <p:cNvPicPr>
            <a:picLocks noChangeAspect="1"/>
          </p:cNvPicPr>
          <p:nvPr/>
        </p:nvPicPr>
        <p:blipFill>
          <a:blip r:embed="rId3"/>
          <a:stretch>
            <a:fillRect/>
          </a:stretch>
        </p:blipFill>
        <p:spPr>
          <a:xfrm>
            <a:off x="4822630" y="0"/>
            <a:ext cx="4321370" cy="3676073"/>
          </a:xfrm>
          <a:prstGeom prst="rect">
            <a:avLst/>
          </a:prstGeom>
        </p:spPr>
      </p:pic>
      <p:sp>
        <p:nvSpPr>
          <p:cNvPr id="9" name="Content Placeholder 9">
            <a:extLst>
              <a:ext uri="{FF2B5EF4-FFF2-40B4-BE49-F238E27FC236}">
                <a16:creationId xmlns:a16="http://schemas.microsoft.com/office/drawing/2014/main" id="{696AF13E-2035-69BE-46F4-C9DE00EF2CFB}"/>
              </a:ext>
            </a:extLst>
          </p:cNvPr>
          <p:cNvSpPr txBox="1">
            <a:spLocks/>
          </p:cNvSpPr>
          <p:nvPr/>
        </p:nvSpPr>
        <p:spPr>
          <a:xfrm>
            <a:off x="0" y="523220"/>
            <a:ext cx="5237018" cy="3586962"/>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Develop </a:t>
            </a:r>
            <a:r>
              <a:rPr lang="en-GB" sz="2400" dirty="0">
                <a:solidFill>
                  <a:schemeClr val="accent3">
                    <a:lumMod val="50000"/>
                  </a:schemeClr>
                </a:solidFill>
                <a:effectLst>
                  <a:outerShdw blurRad="38100" dist="38100" dir="2700000" algn="tl">
                    <a:srgbClr val="000000">
                      <a:alpha val="43137"/>
                    </a:srgbClr>
                  </a:outerShdw>
                </a:effectLst>
                <a:latin typeface="+mn-lt"/>
                <a:cs typeface="Arial" charset="0"/>
              </a:rPr>
              <a:t>usable</a:t>
            </a:r>
            <a:r>
              <a:rPr lang="en-GB" sz="2400" dirty="0">
                <a:latin typeface="+mn-lt"/>
                <a:cs typeface="Arial" charset="0"/>
              </a:rPr>
              <a:t> products</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Usability means </a:t>
            </a:r>
          </a:p>
          <a:p>
            <a:pPr marL="914400" lvl="1" indent="-457200" fontAlgn="auto">
              <a:spcBef>
                <a:spcPts val="0"/>
              </a:spcBef>
              <a:spcAft>
                <a:spcPts val="1200"/>
              </a:spcAft>
              <a:buClr>
                <a:schemeClr val="accent3">
                  <a:lumMod val="50000"/>
                </a:schemeClr>
              </a:buClr>
              <a:buFont typeface="+mj-lt"/>
              <a:buAutoNum type="arabicPeriod"/>
              <a:defRPr/>
            </a:pPr>
            <a:r>
              <a:rPr lang="en-GB" sz="2400" dirty="0">
                <a:effectLst>
                  <a:outerShdw blurRad="38100" dist="38100" dir="2700000" algn="tl">
                    <a:srgbClr val="000000">
                      <a:alpha val="43137"/>
                    </a:srgbClr>
                  </a:outerShdw>
                </a:effectLst>
                <a:latin typeface="+mn-lt"/>
                <a:cs typeface="Arial" charset="0"/>
              </a:rPr>
              <a:t>easy</a:t>
            </a:r>
            <a:r>
              <a:rPr lang="en-GB" sz="2400" dirty="0">
                <a:latin typeface="+mn-lt"/>
                <a:cs typeface="Arial" charset="0"/>
              </a:rPr>
              <a:t> to learn, </a:t>
            </a:r>
          </a:p>
          <a:p>
            <a:pPr marL="914400" lvl="1" indent="-457200" fontAlgn="auto">
              <a:spcBef>
                <a:spcPts val="0"/>
              </a:spcBef>
              <a:spcAft>
                <a:spcPts val="1200"/>
              </a:spcAft>
              <a:buClr>
                <a:schemeClr val="accent3">
                  <a:lumMod val="50000"/>
                </a:schemeClr>
              </a:buClr>
              <a:buFont typeface="+mj-lt"/>
              <a:buAutoNum type="arabicPeriod"/>
              <a:defRPr/>
            </a:pPr>
            <a:r>
              <a:rPr lang="en-GB" sz="2400" dirty="0">
                <a:effectLst>
                  <a:outerShdw blurRad="38100" dist="38100" dir="2700000" algn="tl">
                    <a:srgbClr val="000000">
                      <a:alpha val="43137"/>
                    </a:srgbClr>
                  </a:outerShdw>
                </a:effectLst>
                <a:latin typeface="+mn-lt"/>
                <a:cs typeface="Arial" charset="0"/>
              </a:rPr>
              <a:t>effective</a:t>
            </a:r>
            <a:r>
              <a:rPr lang="en-GB" sz="2400" dirty="0">
                <a:latin typeface="+mn-lt"/>
                <a:cs typeface="Arial" charset="0"/>
              </a:rPr>
              <a:t> to use and </a:t>
            </a:r>
          </a:p>
          <a:p>
            <a:pPr marL="914400" lvl="1" indent="-457200" fontAlgn="auto">
              <a:spcBef>
                <a:spcPts val="0"/>
              </a:spcBef>
              <a:spcAft>
                <a:spcPts val="1200"/>
              </a:spcAft>
              <a:buClr>
                <a:schemeClr val="accent3">
                  <a:lumMod val="50000"/>
                </a:schemeClr>
              </a:buClr>
              <a:buFont typeface="+mj-lt"/>
              <a:buAutoNum type="arabicPeriod"/>
              <a:defRPr/>
            </a:pPr>
            <a:r>
              <a:rPr lang="en-GB" sz="2400" dirty="0">
                <a:latin typeface="+mn-lt"/>
                <a:cs typeface="Arial" charset="0"/>
              </a:rPr>
              <a:t>provide an </a:t>
            </a:r>
            <a:r>
              <a:rPr lang="en-GB" sz="2400" dirty="0">
                <a:effectLst>
                  <a:outerShdw blurRad="38100" dist="38100" dir="2700000" algn="tl">
                    <a:srgbClr val="000000">
                      <a:alpha val="43137"/>
                    </a:srgbClr>
                  </a:outerShdw>
                </a:effectLst>
                <a:latin typeface="+mn-lt"/>
                <a:cs typeface="Arial" charset="0"/>
              </a:rPr>
              <a:t>enjoyable</a:t>
            </a:r>
            <a:r>
              <a:rPr lang="en-GB" sz="2400" dirty="0">
                <a:latin typeface="+mn-lt"/>
                <a:cs typeface="Arial" charset="0"/>
              </a:rPr>
              <a:t> </a:t>
            </a:r>
            <a:r>
              <a:rPr lang="en-GB" sz="2400" dirty="0">
                <a:effectLst>
                  <a:outerShdw blurRad="38100" dist="38100" dir="2700000" algn="tl">
                    <a:srgbClr val="000000">
                      <a:alpha val="43137"/>
                    </a:srgbClr>
                  </a:outerShdw>
                </a:effectLst>
                <a:latin typeface="+mn-lt"/>
                <a:cs typeface="Arial" charset="0"/>
              </a:rPr>
              <a:t>experience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Involve </a:t>
            </a:r>
            <a:r>
              <a:rPr lang="en-GB" sz="2400" dirty="0">
                <a:effectLst>
                  <a:outerShdw blurRad="38100" dist="38100" dir="2700000" algn="tl">
                    <a:srgbClr val="000000">
                      <a:alpha val="43137"/>
                    </a:srgbClr>
                  </a:outerShdw>
                </a:effectLst>
                <a:latin typeface="+mn-lt"/>
                <a:cs typeface="Arial" charset="0"/>
              </a:rPr>
              <a:t>users</a:t>
            </a:r>
            <a:r>
              <a:rPr lang="en-GB" sz="2400" dirty="0">
                <a:latin typeface="+mn-lt"/>
                <a:cs typeface="Arial" charset="0"/>
              </a:rPr>
              <a:t> in the design process</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pic>
        <p:nvPicPr>
          <p:cNvPr id="10" name="Picture 1">
            <a:extLst>
              <a:ext uri="{FF2B5EF4-FFF2-40B4-BE49-F238E27FC236}">
                <a16:creationId xmlns:a16="http://schemas.microsoft.com/office/drawing/2014/main" id="{506E03CD-58F5-3660-07A3-C995BB32AE06}"/>
              </a:ext>
            </a:extLst>
          </p:cNvPr>
          <p:cNvPicPr>
            <a:picLocks noChangeAspect="1" noChangeArrowheads="1"/>
          </p:cNvPicPr>
          <p:nvPr/>
        </p:nvPicPr>
        <p:blipFill>
          <a:blip r:embed="rId4" cstate="print"/>
          <a:srcRect/>
          <a:stretch>
            <a:fillRect/>
          </a:stretch>
        </p:blipFill>
        <p:spPr bwMode="auto">
          <a:xfrm>
            <a:off x="4842603" y="3746900"/>
            <a:ext cx="4281424" cy="28740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26655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2" name="Content Placeholder 9">
            <a:extLst>
              <a:ext uri="{FF2B5EF4-FFF2-40B4-BE49-F238E27FC236}">
                <a16:creationId xmlns:a16="http://schemas.microsoft.com/office/drawing/2014/main" id="{D4434BD5-6A90-F86D-2FFA-350D1371E3B1}"/>
              </a:ext>
            </a:extLst>
          </p:cNvPr>
          <p:cNvSpPr txBox="1">
            <a:spLocks/>
          </p:cNvSpPr>
          <p:nvPr/>
        </p:nvSpPr>
        <p:spPr>
          <a:xfrm>
            <a:off x="0" y="1288472"/>
            <a:ext cx="9144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Number of other terms used emphasizing what is being designed, e.g., </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user interface design, software design, user-</a:t>
            </a:r>
            <a:r>
              <a:rPr lang="en-GB" sz="2400" dirty="0" err="1">
                <a:latin typeface="+mn-lt"/>
                <a:cs typeface="Arial" charset="0"/>
              </a:rPr>
              <a:t>centered</a:t>
            </a:r>
            <a:r>
              <a:rPr lang="en-GB" sz="2400" dirty="0">
                <a:latin typeface="+mn-lt"/>
                <a:cs typeface="Arial" charset="0"/>
              </a:rPr>
              <a:t> design, product design, web design, experience design (UX) </a:t>
            </a:r>
          </a:p>
          <a:p>
            <a:pPr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Interaction design </a:t>
            </a:r>
            <a:r>
              <a:rPr lang="en-GB" sz="2400" dirty="0">
                <a:latin typeface="+mn-lt"/>
                <a:cs typeface="Arial" charset="0"/>
              </a:rPr>
              <a:t>is the </a:t>
            </a:r>
            <a:r>
              <a:rPr lang="en-GB" sz="2400" b="1" dirty="0">
                <a:effectLst>
                  <a:outerShdw blurRad="38100" dist="38100" dir="2700000" algn="tl">
                    <a:srgbClr val="000000">
                      <a:alpha val="43137"/>
                    </a:srgbClr>
                  </a:outerShdw>
                </a:effectLst>
                <a:latin typeface="+mn-lt"/>
                <a:cs typeface="Arial" charset="0"/>
              </a:rPr>
              <a:t>umbrella</a:t>
            </a:r>
            <a:r>
              <a:rPr lang="en-GB" sz="2400" dirty="0">
                <a:latin typeface="+mn-lt"/>
                <a:cs typeface="Arial" charset="0"/>
              </a:rPr>
              <a:t> term covering all of these aspects</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fundamental to all disciplines, fields, and approaches concerned with researching and designing computer-based systems for people </a:t>
            </a: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1133637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C795D916-25ED-7407-82A1-BD304033B65F}"/>
              </a:ext>
            </a:extLst>
          </p:cNvPr>
          <p:cNvSpPr txBox="1"/>
          <p:nvPr/>
        </p:nvSpPr>
        <p:spPr>
          <a:xfrm>
            <a:off x="0" y="133988"/>
            <a:ext cx="4572000" cy="523220"/>
          </a:xfrm>
          <a:prstGeom prst="rect">
            <a:avLst/>
          </a:prstGeom>
          <a:noFill/>
        </p:spPr>
        <p:txBody>
          <a:bodyPr wrap="square">
            <a:spAutoFit/>
          </a:bodyPr>
          <a:lstStyle/>
          <a:p>
            <a:r>
              <a:rPr lang="en-IN" sz="2800" dirty="0"/>
              <a:t>HCI and Interaction Design</a:t>
            </a:r>
          </a:p>
        </p:txBody>
      </p:sp>
      <p:grpSp>
        <p:nvGrpSpPr>
          <p:cNvPr id="7" name="Group 138">
            <a:extLst>
              <a:ext uri="{FF2B5EF4-FFF2-40B4-BE49-F238E27FC236}">
                <a16:creationId xmlns:a16="http://schemas.microsoft.com/office/drawing/2014/main" id="{5B7F5C69-2E38-72C5-78B9-3CBFEB76D2B1}"/>
              </a:ext>
            </a:extLst>
          </p:cNvPr>
          <p:cNvGrpSpPr>
            <a:grpSpLocks/>
          </p:cNvGrpSpPr>
          <p:nvPr/>
        </p:nvGrpSpPr>
        <p:grpSpPr bwMode="auto">
          <a:xfrm>
            <a:off x="-92120" y="866777"/>
            <a:ext cx="3138488" cy="3124200"/>
            <a:chOff x="0" y="1880828"/>
            <a:chExt cx="3138736" cy="3124200"/>
          </a:xfrm>
        </p:grpSpPr>
        <p:sp>
          <p:nvSpPr>
            <p:cNvPr id="8" name="TextBox 44">
              <a:extLst>
                <a:ext uri="{FF2B5EF4-FFF2-40B4-BE49-F238E27FC236}">
                  <a16:creationId xmlns:a16="http://schemas.microsoft.com/office/drawing/2014/main" id="{D180062B-BFBC-3C30-CD4F-995FFC12C5B4}"/>
                </a:ext>
              </a:extLst>
            </p:cNvPr>
            <p:cNvSpPr txBox="1">
              <a:spLocks noChangeArrowheads="1"/>
            </p:cNvSpPr>
            <p:nvPr/>
          </p:nvSpPr>
          <p:spPr bwMode="auto">
            <a:xfrm>
              <a:off x="0" y="3789040"/>
              <a:ext cx="2362200" cy="461665"/>
            </a:xfrm>
            <a:prstGeom prst="rect">
              <a:avLst/>
            </a:prstGeom>
            <a:noFill/>
            <a:ln w="9525">
              <a:noFill/>
              <a:miter lim="800000"/>
              <a:headEnd/>
              <a:tailEnd/>
            </a:ln>
          </p:spPr>
          <p:txBody>
            <a:bodyPr>
              <a:spAutoFit/>
            </a:bodyPr>
            <a:lstStyle/>
            <a:p>
              <a:pPr algn="r"/>
              <a:r>
                <a:rPr lang="en-US" sz="1200"/>
                <a:t>Psychology/ </a:t>
              </a:r>
            </a:p>
            <a:p>
              <a:pPr algn="r"/>
              <a:r>
                <a:rPr lang="en-US" sz="1200"/>
                <a:t>Cognitive Science</a:t>
              </a:r>
              <a:endParaRPr lang="en-GB" sz="1200"/>
            </a:p>
          </p:txBody>
        </p:sp>
        <p:sp>
          <p:nvSpPr>
            <p:cNvPr id="9" name="TextBox 8">
              <a:extLst>
                <a:ext uri="{FF2B5EF4-FFF2-40B4-BE49-F238E27FC236}">
                  <a16:creationId xmlns:a16="http://schemas.microsoft.com/office/drawing/2014/main" id="{79728422-0149-FD8C-2B41-C4A79F7E9DD2}"/>
                </a:ext>
              </a:extLst>
            </p:cNvPr>
            <p:cNvSpPr txBox="1">
              <a:spLocks noChangeArrowheads="1"/>
            </p:cNvSpPr>
            <p:nvPr/>
          </p:nvSpPr>
          <p:spPr bwMode="auto">
            <a:xfrm>
              <a:off x="395536" y="2490428"/>
              <a:ext cx="1981200" cy="461665"/>
            </a:xfrm>
            <a:prstGeom prst="rect">
              <a:avLst/>
            </a:prstGeom>
            <a:noFill/>
            <a:ln w="9525">
              <a:noFill/>
              <a:miter lim="800000"/>
              <a:headEnd/>
              <a:tailEnd/>
            </a:ln>
          </p:spPr>
          <p:txBody>
            <a:bodyPr>
              <a:spAutoFit/>
            </a:bodyPr>
            <a:lstStyle/>
            <a:p>
              <a:pPr algn="r"/>
              <a:r>
                <a:rPr lang="en-US" sz="1200"/>
                <a:t>Computer Science/ Software Engineering</a:t>
              </a:r>
              <a:endParaRPr lang="en-GB" sz="1200"/>
            </a:p>
          </p:txBody>
        </p:sp>
        <p:cxnSp>
          <p:nvCxnSpPr>
            <p:cNvPr id="10" name="Straight Arrow Connector 9">
              <a:extLst>
                <a:ext uri="{FF2B5EF4-FFF2-40B4-BE49-F238E27FC236}">
                  <a16:creationId xmlns:a16="http://schemas.microsoft.com/office/drawing/2014/main" id="{D4060880-9B76-1B9F-BC54-28131AE9AC1B}"/>
                </a:ext>
              </a:extLst>
            </p:cNvPr>
            <p:cNvCxnSpPr>
              <a:stCxn id="9" idx="3"/>
            </p:cNvCxnSpPr>
            <p:nvPr/>
          </p:nvCxnSpPr>
          <p:spPr>
            <a:xfrm flipV="1">
              <a:off x="2376676" y="2719028"/>
              <a:ext cx="762060" cy="1587"/>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11" name="TextBox 16">
              <a:extLst>
                <a:ext uri="{FF2B5EF4-FFF2-40B4-BE49-F238E27FC236}">
                  <a16:creationId xmlns:a16="http://schemas.microsoft.com/office/drawing/2014/main" id="{0133FB18-9636-157A-67FD-D23EF01B5322}"/>
                </a:ext>
              </a:extLst>
            </p:cNvPr>
            <p:cNvSpPr txBox="1">
              <a:spLocks noChangeArrowheads="1"/>
            </p:cNvSpPr>
            <p:nvPr/>
          </p:nvSpPr>
          <p:spPr bwMode="auto">
            <a:xfrm>
              <a:off x="700336" y="3051629"/>
              <a:ext cx="1676400" cy="276999"/>
            </a:xfrm>
            <a:prstGeom prst="rect">
              <a:avLst/>
            </a:prstGeom>
            <a:noFill/>
            <a:ln w="9525">
              <a:noFill/>
              <a:miter lim="800000"/>
              <a:headEnd/>
              <a:tailEnd/>
            </a:ln>
          </p:spPr>
          <p:txBody>
            <a:bodyPr>
              <a:spAutoFit/>
            </a:bodyPr>
            <a:lstStyle/>
            <a:p>
              <a:pPr algn="r"/>
              <a:r>
                <a:rPr lang="en-US" sz="1200"/>
                <a:t>Ergonomics</a:t>
              </a:r>
              <a:endParaRPr lang="en-GB" sz="1200"/>
            </a:p>
          </p:txBody>
        </p:sp>
        <p:sp>
          <p:nvSpPr>
            <p:cNvPr id="12" name="TextBox 43">
              <a:extLst>
                <a:ext uri="{FF2B5EF4-FFF2-40B4-BE49-F238E27FC236}">
                  <a16:creationId xmlns:a16="http://schemas.microsoft.com/office/drawing/2014/main" id="{AC25B2BE-AC51-8364-12A5-A46E99896E14}"/>
                </a:ext>
              </a:extLst>
            </p:cNvPr>
            <p:cNvSpPr txBox="1">
              <a:spLocks noChangeArrowheads="1"/>
            </p:cNvSpPr>
            <p:nvPr/>
          </p:nvSpPr>
          <p:spPr bwMode="auto">
            <a:xfrm>
              <a:off x="700336" y="3432629"/>
              <a:ext cx="1676400" cy="276999"/>
            </a:xfrm>
            <a:prstGeom prst="rect">
              <a:avLst/>
            </a:prstGeom>
            <a:noFill/>
            <a:ln w="9525">
              <a:noFill/>
              <a:miter lim="800000"/>
              <a:headEnd/>
              <a:tailEnd/>
            </a:ln>
          </p:spPr>
          <p:txBody>
            <a:bodyPr>
              <a:spAutoFit/>
            </a:bodyPr>
            <a:lstStyle/>
            <a:p>
              <a:pPr algn="r"/>
              <a:r>
                <a:rPr lang="en-US" sz="1200"/>
                <a:t>Engineering</a:t>
              </a:r>
              <a:endParaRPr lang="en-GB" sz="1200"/>
            </a:p>
          </p:txBody>
        </p:sp>
        <p:sp>
          <p:nvSpPr>
            <p:cNvPr id="13" name="TextBox 49">
              <a:extLst>
                <a:ext uri="{FF2B5EF4-FFF2-40B4-BE49-F238E27FC236}">
                  <a16:creationId xmlns:a16="http://schemas.microsoft.com/office/drawing/2014/main" id="{CFFDC8F7-BDE7-B85D-2ADE-8B30530E0156}"/>
                </a:ext>
              </a:extLst>
            </p:cNvPr>
            <p:cNvSpPr txBox="1">
              <a:spLocks noChangeArrowheads="1"/>
            </p:cNvSpPr>
            <p:nvPr/>
          </p:nvSpPr>
          <p:spPr bwMode="auto">
            <a:xfrm>
              <a:off x="700336" y="4347029"/>
              <a:ext cx="1676400" cy="276999"/>
            </a:xfrm>
            <a:prstGeom prst="rect">
              <a:avLst/>
            </a:prstGeom>
            <a:noFill/>
            <a:ln w="9525">
              <a:noFill/>
              <a:miter lim="800000"/>
              <a:headEnd/>
              <a:tailEnd/>
            </a:ln>
          </p:spPr>
          <p:txBody>
            <a:bodyPr>
              <a:spAutoFit/>
            </a:bodyPr>
            <a:lstStyle/>
            <a:p>
              <a:pPr algn="r"/>
              <a:r>
                <a:rPr lang="en-US" sz="1200" dirty="0"/>
                <a:t>Informatics</a:t>
              </a:r>
              <a:endParaRPr lang="en-GB" sz="1200" dirty="0"/>
            </a:p>
          </p:txBody>
        </p:sp>
        <p:sp>
          <p:nvSpPr>
            <p:cNvPr id="14" name="TextBox 50">
              <a:extLst>
                <a:ext uri="{FF2B5EF4-FFF2-40B4-BE49-F238E27FC236}">
                  <a16:creationId xmlns:a16="http://schemas.microsoft.com/office/drawing/2014/main" id="{079CFF00-5EAF-AB7D-6737-280BF5788956}"/>
                </a:ext>
              </a:extLst>
            </p:cNvPr>
            <p:cNvSpPr txBox="1">
              <a:spLocks noChangeArrowheads="1"/>
            </p:cNvSpPr>
            <p:nvPr/>
          </p:nvSpPr>
          <p:spPr bwMode="auto">
            <a:xfrm>
              <a:off x="700336" y="4728029"/>
              <a:ext cx="1676400" cy="276999"/>
            </a:xfrm>
            <a:prstGeom prst="rect">
              <a:avLst/>
            </a:prstGeom>
            <a:noFill/>
            <a:ln w="9525">
              <a:noFill/>
              <a:miter lim="800000"/>
              <a:headEnd/>
              <a:tailEnd/>
            </a:ln>
          </p:spPr>
          <p:txBody>
            <a:bodyPr>
              <a:spAutoFit/>
            </a:bodyPr>
            <a:lstStyle/>
            <a:p>
              <a:pPr algn="r"/>
              <a:r>
                <a:rPr lang="en-US" sz="1200"/>
                <a:t>Social Sciences</a:t>
              </a:r>
              <a:endParaRPr lang="en-GB" sz="1200"/>
            </a:p>
          </p:txBody>
        </p:sp>
        <p:sp>
          <p:nvSpPr>
            <p:cNvPr id="15" name="TextBox 14">
              <a:extLst>
                <a:ext uri="{FF2B5EF4-FFF2-40B4-BE49-F238E27FC236}">
                  <a16:creationId xmlns:a16="http://schemas.microsoft.com/office/drawing/2014/main" id="{6DA753EE-D767-C894-A886-FB127982B435}"/>
                </a:ext>
              </a:extLst>
            </p:cNvPr>
            <p:cNvSpPr txBox="1"/>
            <p:nvPr/>
          </p:nvSpPr>
          <p:spPr>
            <a:xfrm>
              <a:off x="471525" y="1880828"/>
              <a:ext cx="2209975" cy="307975"/>
            </a:xfrm>
            <a:prstGeom prst="rect">
              <a:avLst/>
            </a:prstGeom>
            <a:noFill/>
          </p:spPr>
          <p:txBody>
            <a:bodyPr>
              <a:spAutoFit/>
            </a:bodyPr>
            <a:lstStyle/>
            <a:p>
              <a:pPr algn="ctr">
                <a:defRPr/>
              </a:pPr>
              <a:r>
                <a:rPr lang="en-US" sz="1400" b="1" dirty="0">
                  <a:solidFill>
                    <a:schemeClr val="accent3">
                      <a:lumMod val="50000"/>
                    </a:schemeClr>
                  </a:solidFill>
                  <a:latin typeface="Arial" charset="0"/>
                  <a:cs typeface="Arial" charset="0"/>
                </a:rPr>
                <a:t>Academic Disciplines</a:t>
              </a:r>
              <a:endParaRPr lang="en-GB" sz="1400" b="1" dirty="0">
                <a:solidFill>
                  <a:schemeClr val="accent3">
                    <a:lumMod val="50000"/>
                  </a:schemeClr>
                </a:solidFill>
                <a:latin typeface="Arial" charset="0"/>
                <a:cs typeface="Arial" charset="0"/>
              </a:endParaRPr>
            </a:p>
          </p:txBody>
        </p:sp>
        <p:cxnSp>
          <p:nvCxnSpPr>
            <p:cNvPr id="16" name="Straight Arrow Connector 15">
              <a:extLst>
                <a:ext uri="{FF2B5EF4-FFF2-40B4-BE49-F238E27FC236}">
                  <a16:creationId xmlns:a16="http://schemas.microsoft.com/office/drawing/2014/main" id="{AD4E10FE-1349-37D1-E376-C55FC90756F0}"/>
                </a:ext>
              </a:extLst>
            </p:cNvPr>
            <p:cNvCxnSpPr/>
            <p:nvPr/>
          </p:nvCxnSpPr>
          <p:spPr>
            <a:xfrm flipV="1">
              <a:off x="2376676" y="3174640"/>
              <a:ext cx="762060"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586975-0802-EED0-7CE8-A953EC397D4E}"/>
                </a:ext>
              </a:extLst>
            </p:cNvPr>
            <p:cNvCxnSpPr/>
            <p:nvPr/>
          </p:nvCxnSpPr>
          <p:spPr>
            <a:xfrm flipV="1">
              <a:off x="2376676" y="3555640"/>
              <a:ext cx="762060"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B6C6BA-0480-D355-C16B-8E6053158300}"/>
                </a:ext>
              </a:extLst>
            </p:cNvPr>
            <p:cNvCxnSpPr/>
            <p:nvPr/>
          </p:nvCxnSpPr>
          <p:spPr>
            <a:xfrm flipV="1">
              <a:off x="2376676" y="4012840"/>
              <a:ext cx="762060"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A1E4CF6-E873-D1B9-9CA5-7E154E8DF654}"/>
                </a:ext>
              </a:extLst>
            </p:cNvPr>
            <p:cNvCxnSpPr/>
            <p:nvPr/>
          </p:nvCxnSpPr>
          <p:spPr>
            <a:xfrm flipV="1">
              <a:off x="2376676" y="4470040"/>
              <a:ext cx="762060"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1D974F-4F2D-6F27-64E5-190932819572}"/>
                </a:ext>
              </a:extLst>
            </p:cNvPr>
            <p:cNvCxnSpPr/>
            <p:nvPr/>
          </p:nvCxnSpPr>
          <p:spPr>
            <a:xfrm flipV="1">
              <a:off x="2376676" y="4851040"/>
              <a:ext cx="762060"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grpSp>
      <p:pic>
        <p:nvPicPr>
          <p:cNvPr id="50" name="Picture 49">
            <a:extLst>
              <a:ext uri="{FF2B5EF4-FFF2-40B4-BE49-F238E27FC236}">
                <a16:creationId xmlns:a16="http://schemas.microsoft.com/office/drawing/2014/main" id="{D84BB197-63F3-B44B-E0B9-4CEE6BE57555}"/>
              </a:ext>
            </a:extLst>
          </p:cNvPr>
          <p:cNvPicPr>
            <a:picLocks noChangeAspect="1"/>
          </p:cNvPicPr>
          <p:nvPr/>
        </p:nvPicPr>
        <p:blipFill>
          <a:blip r:embed="rId3"/>
          <a:stretch>
            <a:fillRect/>
          </a:stretch>
        </p:blipFill>
        <p:spPr>
          <a:xfrm>
            <a:off x="3252955" y="1533035"/>
            <a:ext cx="2682472" cy="2462997"/>
          </a:xfrm>
          <a:prstGeom prst="rect">
            <a:avLst/>
          </a:prstGeom>
        </p:spPr>
      </p:pic>
      <p:grpSp>
        <p:nvGrpSpPr>
          <p:cNvPr id="51" name="Group 136">
            <a:extLst>
              <a:ext uri="{FF2B5EF4-FFF2-40B4-BE49-F238E27FC236}">
                <a16:creationId xmlns:a16="http://schemas.microsoft.com/office/drawing/2014/main" id="{1482E4FD-6FFC-E604-17A2-D0460AB7514C}"/>
              </a:ext>
            </a:extLst>
          </p:cNvPr>
          <p:cNvGrpSpPr>
            <a:grpSpLocks/>
          </p:cNvGrpSpPr>
          <p:nvPr/>
        </p:nvGrpSpPr>
        <p:grpSpPr bwMode="auto">
          <a:xfrm>
            <a:off x="6165402" y="1095710"/>
            <a:ext cx="2701925" cy="2457450"/>
            <a:chOff x="5939172" y="1880828"/>
            <a:chExt cx="2701280" cy="2457274"/>
          </a:xfrm>
        </p:grpSpPr>
        <p:sp>
          <p:nvSpPr>
            <p:cNvPr id="52" name="TextBox 60">
              <a:extLst>
                <a:ext uri="{FF2B5EF4-FFF2-40B4-BE49-F238E27FC236}">
                  <a16:creationId xmlns:a16="http://schemas.microsoft.com/office/drawing/2014/main" id="{60A03676-ECB5-3E29-B1B5-2A6B8733E015}"/>
                </a:ext>
              </a:extLst>
            </p:cNvPr>
            <p:cNvSpPr txBox="1">
              <a:spLocks noChangeArrowheads="1"/>
            </p:cNvSpPr>
            <p:nvPr/>
          </p:nvSpPr>
          <p:spPr bwMode="auto">
            <a:xfrm>
              <a:off x="6651848" y="2523964"/>
              <a:ext cx="1981200" cy="276999"/>
            </a:xfrm>
            <a:prstGeom prst="rect">
              <a:avLst/>
            </a:prstGeom>
            <a:noFill/>
            <a:ln w="9525">
              <a:noFill/>
              <a:miter lim="800000"/>
              <a:headEnd/>
              <a:tailEnd/>
            </a:ln>
          </p:spPr>
          <p:txBody>
            <a:bodyPr>
              <a:spAutoFit/>
            </a:bodyPr>
            <a:lstStyle/>
            <a:p>
              <a:r>
                <a:rPr lang="en-US" sz="1200"/>
                <a:t>Graphic Design</a:t>
              </a:r>
              <a:endParaRPr lang="en-GB" sz="1200"/>
            </a:p>
          </p:txBody>
        </p:sp>
        <p:cxnSp>
          <p:nvCxnSpPr>
            <p:cNvPr id="53" name="Straight Arrow Connector 52">
              <a:extLst>
                <a:ext uri="{FF2B5EF4-FFF2-40B4-BE49-F238E27FC236}">
                  <a16:creationId xmlns:a16="http://schemas.microsoft.com/office/drawing/2014/main" id="{867CD9F9-A928-58BA-6D8E-360222517475}"/>
                </a:ext>
              </a:extLst>
            </p:cNvPr>
            <p:cNvCxnSpPr/>
            <p:nvPr/>
          </p:nvCxnSpPr>
          <p:spPr>
            <a:xfrm rot="10800000">
              <a:off x="5942346" y="2664997"/>
              <a:ext cx="717379" cy="3175"/>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3C0E2408-D68F-C2D2-7387-11A176BF3CC9}"/>
                </a:ext>
              </a:extLst>
            </p:cNvPr>
            <p:cNvSpPr txBox="1"/>
            <p:nvPr/>
          </p:nvSpPr>
          <p:spPr>
            <a:xfrm>
              <a:off x="6423243" y="1880828"/>
              <a:ext cx="2209272" cy="307953"/>
            </a:xfrm>
            <a:prstGeom prst="rect">
              <a:avLst/>
            </a:prstGeom>
            <a:noFill/>
          </p:spPr>
          <p:txBody>
            <a:bodyPr>
              <a:spAutoFit/>
            </a:bodyPr>
            <a:lstStyle/>
            <a:p>
              <a:pPr algn="ctr">
                <a:defRPr/>
              </a:pPr>
              <a:r>
                <a:rPr lang="en-US" sz="1400" b="1" dirty="0">
                  <a:solidFill>
                    <a:schemeClr val="accent3">
                      <a:lumMod val="50000"/>
                    </a:schemeClr>
                  </a:solidFill>
                  <a:latin typeface="Arial" charset="0"/>
                  <a:cs typeface="Arial" charset="0"/>
                </a:rPr>
                <a:t>Design Practices</a:t>
              </a:r>
              <a:endParaRPr lang="en-GB" sz="1400" b="1" dirty="0">
                <a:solidFill>
                  <a:schemeClr val="accent3">
                    <a:lumMod val="50000"/>
                  </a:schemeClr>
                </a:solidFill>
                <a:latin typeface="Arial" charset="0"/>
                <a:cs typeface="Arial" charset="0"/>
              </a:endParaRPr>
            </a:p>
          </p:txBody>
        </p:sp>
        <p:sp>
          <p:nvSpPr>
            <p:cNvPr id="55" name="TextBox 67">
              <a:extLst>
                <a:ext uri="{FF2B5EF4-FFF2-40B4-BE49-F238E27FC236}">
                  <a16:creationId xmlns:a16="http://schemas.microsoft.com/office/drawing/2014/main" id="{05825A4D-FE54-3FBE-CBD0-4B5343C686CD}"/>
                </a:ext>
              </a:extLst>
            </p:cNvPr>
            <p:cNvSpPr txBox="1">
              <a:spLocks noChangeArrowheads="1"/>
            </p:cNvSpPr>
            <p:nvPr/>
          </p:nvSpPr>
          <p:spPr bwMode="auto">
            <a:xfrm>
              <a:off x="6651848" y="2884004"/>
              <a:ext cx="1981200" cy="276999"/>
            </a:xfrm>
            <a:prstGeom prst="rect">
              <a:avLst/>
            </a:prstGeom>
            <a:noFill/>
            <a:ln w="9525">
              <a:noFill/>
              <a:miter lim="800000"/>
              <a:headEnd/>
              <a:tailEnd/>
            </a:ln>
          </p:spPr>
          <p:txBody>
            <a:bodyPr>
              <a:spAutoFit/>
            </a:bodyPr>
            <a:lstStyle/>
            <a:p>
              <a:r>
                <a:rPr lang="en-US" sz="1200"/>
                <a:t>Product Design</a:t>
              </a:r>
              <a:endParaRPr lang="en-GB" sz="1200"/>
            </a:p>
          </p:txBody>
        </p:sp>
        <p:sp>
          <p:nvSpPr>
            <p:cNvPr id="56" name="TextBox 68">
              <a:extLst>
                <a:ext uri="{FF2B5EF4-FFF2-40B4-BE49-F238E27FC236}">
                  <a16:creationId xmlns:a16="http://schemas.microsoft.com/office/drawing/2014/main" id="{114E13CA-8492-E35B-C208-1C81DC394601}"/>
                </a:ext>
              </a:extLst>
            </p:cNvPr>
            <p:cNvSpPr txBox="1">
              <a:spLocks noChangeArrowheads="1"/>
            </p:cNvSpPr>
            <p:nvPr/>
          </p:nvSpPr>
          <p:spPr bwMode="auto">
            <a:xfrm>
              <a:off x="6659252" y="3280048"/>
              <a:ext cx="1981200" cy="276999"/>
            </a:xfrm>
            <a:prstGeom prst="rect">
              <a:avLst/>
            </a:prstGeom>
            <a:noFill/>
            <a:ln w="9525">
              <a:noFill/>
              <a:miter lim="800000"/>
              <a:headEnd/>
              <a:tailEnd/>
            </a:ln>
          </p:spPr>
          <p:txBody>
            <a:bodyPr>
              <a:spAutoFit/>
            </a:bodyPr>
            <a:lstStyle/>
            <a:p>
              <a:r>
                <a:rPr lang="en-US" sz="1200" dirty="0"/>
                <a:t>Artist Design</a:t>
              </a:r>
              <a:endParaRPr lang="en-GB" sz="1200" dirty="0"/>
            </a:p>
          </p:txBody>
        </p:sp>
        <p:sp>
          <p:nvSpPr>
            <p:cNvPr id="57" name="TextBox 69">
              <a:extLst>
                <a:ext uri="{FF2B5EF4-FFF2-40B4-BE49-F238E27FC236}">
                  <a16:creationId xmlns:a16="http://schemas.microsoft.com/office/drawing/2014/main" id="{562734C7-5A30-C20B-9956-BF7D2C7029AA}"/>
                </a:ext>
              </a:extLst>
            </p:cNvPr>
            <p:cNvSpPr txBox="1">
              <a:spLocks noChangeArrowheads="1"/>
            </p:cNvSpPr>
            <p:nvPr/>
          </p:nvSpPr>
          <p:spPr bwMode="auto">
            <a:xfrm>
              <a:off x="6659252" y="3665059"/>
              <a:ext cx="1981200" cy="276999"/>
            </a:xfrm>
            <a:prstGeom prst="rect">
              <a:avLst/>
            </a:prstGeom>
            <a:noFill/>
            <a:ln w="9525">
              <a:noFill/>
              <a:miter lim="800000"/>
              <a:headEnd/>
              <a:tailEnd/>
            </a:ln>
          </p:spPr>
          <p:txBody>
            <a:bodyPr>
              <a:spAutoFit/>
            </a:bodyPr>
            <a:lstStyle/>
            <a:p>
              <a:r>
                <a:rPr lang="en-US" sz="1200"/>
                <a:t>Industrial Design</a:t>
              </a:r>
              <a:endParaRPr lang="en-GB" sz="1200"/>
            </a:p>
          </p:txBody>
        </p:sp>
        <p:sp>
          <p:nvSpPr>
            <p:cNvPr id="58" name="TextBox 70">
              <a:extLst>
                <a:ext uri="{FF2B5EF4-FFF2-40B4-BE49-F238E27FC236}">
                  <a16:creationId xmlns:a16="http://schemas.microsoft.com/office/drawing/2014/main" id="{7F83CF66-76F9-8717-E258-695D51060AF1}"/>
                </a:ext>
              </a:extLst>
            </p:cNvPr>
            <p:cNvSpPr txBox="1">
              <a:spLocks noChangeArrowheads="1"/>
            </p:cNvSpPr>
            <p:nvPr/>
          </p:nvSpPr>
          <p:spPr bwMode="auto">
            <a:xfrm>
              <a:off x="6651848" y="4061103"/>
              <a:ext cx="1981200" cy="276999"/>
            </a:xfrm>
            <a:prstGeom prst="rect">
              <a:avLst/>
            </a:prstGeom>
            <a:noFill/>
            <a:ln w="9525">
              <a:noFill/>
              <a:miter lim="800000"/>
              <a:headEnd/>
              <a:tailEnd/>
            </a:ln>
          </p:spPr>
          <p:txBody>
            <a:bodyPr>
              <a:spAutoFit/>
            </a:bodyPr>
            <a:lstStyle/>
            <a:p>
              <a:r>
                <a:rPr lang="en-US" sz="1200"/>
                <a:t>Film Industry </a:t>
              </a:r>
              <a:endParaRPr lang="en-GB" sz="1200"/>
            </a:p>
          </p:txBody>
        </p:sp>
        <p:cxnSp>
          <p:nvCxnSpPr>
            <p:cNvPr id="59" name="Straight Arrow Connector 58">
              <a:extLst>
                <a:ext uri="{FF2B5EF4-FFF2-40B4-BE49-F238E27FC236}">
                  <a16:creationId xmlns:a16="http://schemas.microsoft.com/office/drawing/2014/main" id="{F46D8ED8-4909-8896-DE90-0BFA0B02488D}"/>
                </a:ext>
              </a:extLst>
            </p:cNvPr>
            <p:cNvCxnSpPr>
              <a:stCxn id="55" idx="1"/>
            </p:cNvCxnSpPr>
            <p:nvPr/>
          </p:nvCxnSpPr>
          <p:spPr>
            <a:xfrm rot="10800000">
              <a:off x="5939172" y="3017397"/>
              <a:ext cx="712617" cy="4762"/>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36C5E4-633A-AB02-12BE-F95674C0FA92}"/>
                </a:ext>
              </a:extLst>
            </p:cNvPr>
            <p:cNvCxnSpPr/>
            <p:nvPr/>
          </p:nvCxnSpPr>
          <p:spPr>
            <a:xfrm rot="10800000">
              <a:off x="5939172" y="3407894"/>
              <a:ext cx="712617" cy="4762"/>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3B6D00D-B8D5-E596-7213-E4E17B944444}"/>
                </a:ext>
              </a:extLst>
            </p:cNvPr>
            <p:cNvCxnSpPr/>
            <p:nvPr/>
          </p:nvCxnSpPr>
          <p:spPr>
            <a:xfrm rot="10800000">
              <a:off x="5939172" y="3809502"/>
              <a:ext cx="712617" cy="4763"/>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D241982-DD22-13BB-99F4-C6B91EF50EC8}"/>
                </a:ext>
              </a:extLst>
            </p:cNvPr>
            <p:cNvCxnSpPr/>
            <p:nvPr/>
          </p:nvCxnSpPr>
          <p:spPr>
            <a:xfrm rot="10800000">
              <a:off x="5939172" y="4199999"/>
              <a:ext cx="712617" cy="4763"/>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grpSp>
      <p:grpSp>
        <p:nvGrpSpPr>
          <p:cNvPr id="63" name="Group 137">
            <a:extLst>
              <a:ext uri="{FF2B5EF4-FFF2-40B4-BE49-F238E27FC236}">
                <a16:creationId xmlns:a16="http://schemas.microsoft.com/office/drawing/2014/main" id="{F59AE643-D24D-6956-A7F3-65FFC95AB590}"/>
              </a:ext>
            </a:extLst>
          </p:cNvPr>
          <p:cNvGrpSpPr>
            <a:grpSpLocks/>
          </p:cNvGrpSpPr>
          <p:nvPr/>
        </p:nvGrpSpPr>
        <p:grpSpPr bwMode="auto">
          <a:xfrm>
            <a:off x="0" y="4274424"/>
            <a:ext cx="9144000" cy="1460500"/>
            <a:chOff x="539552" y="5157192"/>
            <a:chExt cx="8568952" cy="1459906"/>
          </a:xfrm>
        </p:grpSpPr>
        <p:sp>
          <p:nvSpPr>
            <p:cNvPr id="64" name="TextBox 63">
              <a:extLst>
                <a:ext uri="{FF2B5EF4-FFF2-40B4-BE49-F238E27FC236}">
                  <a16:creationId xmlns:a16="http://schemas.microsoft.com/office/drawing/2014/main" id="{E50CC82C-19EC-34BD-3410-7FCAD54B2E06}"/>
                </a:ext>
              </a:extLst>
            </p:cNvPr>
            <p:cNvSpPr txBox="1"/>
            <p:nvPr/>
          </p:nvSpPr>
          <p:spPr>
            <a:xfrm>
              <a:off x="2266997" y="5769718"/>
              <a:ext cx="2052928" cy="461774"/>
            </a:xfrm>
            <a:prstGeom prst="rect">
              <a:avLst/>
            </a:prstGeom>
            <a:noFill/>
            <a:ln>
              <a:solidFill>
                <a:schemeClr val="accent3">
                  <a:lumMod val="75000"/>
                </a:schemeClr>
              </a:solidFill>
            </a:ln>
          </p:spPr>
          <p:txBody>
            <a:bodyPr>
              <a:spAutoFit/>
            </a:bodyPr>
            <a:lstStyle/>
            <a:p>
              <a:pPr algn="ctr">
                <a:defRPr/>
              </a:pPr>
              <a:r>
                <a:rPr lang="en-US" sz="1200" dirty="0">
                  <a:latin typeface="Arial" charset="0"/>
                  <a:cs typeface="Arial" charset="0"/>
                </a:rPr>
                <a:t>Computer-Supported Cooperative Work (CSCW)</a:t>
              </a:r>
              <a:endParaRPr lang="en-GB" sz="1200" dirty="0">
                <a:latin typeface="Arial" charset="0"/>
                <a:cs typeface="Arial" charset="0"/>
              </a:endParaRPr>
            </a:p>
          </p:txBody>
        </p:sp>
        <p:sp>
          <p:nvSpPr>
            <p:cNvPr id="65" name="TextBox 64">
              <a:extLst>
                <a:ext uri="{FF2B5EF4-FFF2-40B4-BE49-F238E27FC236}">
                  <a16:creationId xmlns:a16="http://schemas.microsoft.com/office/drawing/2014/main" id="{23109EB4-6ED6-BB25-F474-ED1E90211F3A}"/>
                </a:ext>
              </a:extLst>
            </p:cNvPr>
            <p:cNvSpPr txBox="1"/>
            <p:nvPr/>
          </p:nvSpPr>
          <p:spPr>
            <a:xfrm>
              <a:off x="539552" y="5769718"/>
              <a:ext cx="1476584" cy="461774"/>
            </a:xfrm>
            <a:prstGeom prst="rect">
              <a:avLst/>
            </a:prstGeom>
            <a:noFill/>
            <a:ln>
              <a:solidFill>
                <a:schemeClr val="accent3">
                  <a:lumMod val="75000"/>
                </a:schemeClr>
              </a:solidFill>
            </a:ln>
          </p:spPr>
          <p:txBody>
            <a:bodyPr>
              <a:spAutoFit/>
            </a:bodyPr>
            <a:lstStyle/>
            <a:p>
              <a:pPr algn="ctr">
                <a:defRPr/>
              </a:pPr>
              <a:r>
                <a:rPr lang="en-US" sz="1200" dirty="0">
                  <a:latin typeface="Arial" charset="0"/>
                  <a:cs typeface="Arial" charset="0"/>
                </a:rPr>
                <a:t>Human Factors Engineering (HF)</a:t>
              </a:r>
              <a:endParaRPr lang="en-GB" sz="1200" dirty="0">
                <a:latin typeface="Arial" charset="0"/>
                <a:cs typeface="Arial" charset="0"/>
              </a:endParaRPr>
            </a:p>
          </p:txBody>
        </p:sp>
        <p:cxnSp>
          <p:nvCxnSpPr>
            <p:cNvPr id="66" name="Straight Connector 65">
              <a:extLst>
                <a:ext uri="{FF2B5EF4-FFF2-40B4-BE49-F238E27FC236}">
                  <a16:creationId xmlns:a16="http://schemas.microsoft.com/office/drawing/2014/main" id="{B03D6EA2-4514-56B7-D5B0-73104F76C293}"/>
                </a:ext>
              </a:extLst>
            </p:cNvPr>
            <p:cNvCxnSpPr/>
            <p:nvPr/>
          </p:nvCxnSpPr>
          <p:spPr>
            <a:xfrm>
              <a:off x="1511240" y="5625314"/>
              <a:ext cx="1979893" cy="0"/>
            </a:xfrm>
            <a:prstGeom prst="line">
              <a:avLst/>
            </a:prstGeom>
            <a:ln>
              <a:solidFill>
                <a:schemeClr val="accent3">
                  <a:lumMod val="50000"/>
                </a:schemeClr>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179583A-A16F-7F9B-8B39-BD6A557E27D3}"/>
                </a:ext>
              </a:extLst>
            </p:cNvPr>
            <p:cNvCxnSpPr/>
            <p:nvPr/>
          </p:nvCxnSpPr>
          <p:spPr>
            <a:xfrm rot="5400000" flipH="1" flipV="1">
              <a:off x="3258659" y="5391252"/>
              <a:ext cx="466535" cy="1588"/>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04A24CD-BED1-8B27-3666-2038D3773418}"/>
                </a:ext>
              </a:extLst>
            </p:cNvPr>
            <p:cNvSpPr txBox="1"/>
            <p:nvPr/>
          </p:nvSpPr>
          <p:spPr>
            <a:xfrm>
              <a:off x="4499338" y="5769718"/>
              <a:ext cx="1440066" cy="461774"/>
            </a:xfrm>
            <a:prstGeom prst="rect">
              <a:avLst/>
            </a:prstGeom>
            <a:solidFill>
              <a:schemeClr val="accent3">
                <a:lumMod val="20000"/>
                <a:lumOff val="80000"/>
              </a:schemeClr>
            </a:solidFill>
            <a:ln>
              <a:solidFill>
                <a:schemeClr val="accent3">
                  <a:lumMod val="75000"/>
                </a:schemeClr>
              </a:solidFill>
            </a:ln>
          </p:spPr>
          <p:txBody>
            <a:bodyPr>
              <a:spAutoFit/>
            </a:bodyPr>
            <a:lstStyle/>
            <a:p>
              <a:pPr algn="ctr">
                <a:defRPr/>
              </a:pPr>
              <a:r>
                <a:rPr lang="en-US" sz="1200" dirty="0">
                  <a:latin typeface="Arial" charset="0"/>
                  <a:cs typeface="Arial" charset="0"/>
                </a:rPr>
                <a:t>Human Computer Interaction (</a:t>
              </a:r>
              <a:r>
                <a:rPr lang="en-US" sz="1200" b="1" dirty="0">
                  <a:latin typeface="Arial" charset="0"/>
                  <a:cs typeface="Arial" charset="0"/>
                </a:rPr>
                <a:t>HCI</a:t>
              </a:r>
              <a:r>
                <a:rPr lang="en-US" sz="1200" dirty="0">
                  <a:latin typeface="Arial" charset="0"/>
                  <a:cs typeface="Arial" charset="0"/>
                </a:rPr>
                <a:t>)</a:t>
              </a:r>
              <a:endParaRPr lang="en-GB" sz="1200" dirty="0">
                <a:latin typeface="Arial" charset="0"/>
                <a:cs typeface="Arial" charset="0"/>
              </a:endParaRPr>
            </a:p>
          </p:txBody>
        </p:sp>
        <p:sp>
          <p:nvSpPr>
            <p:cNvPr id="69" name="TextBox 68">
              <a:extLst>
                <a:ext uri="{FF2B5EF4-FFF2-40B4-BE49-F238E27FC236}">
                  <a16:creationId xmlns:a16="http://schemas.microsoft.com/office/drawing/2014/main" id="{35CA6C4D-D481-41DB-BBE2-1635A9D1EDFB}"/>
                </a:ext>
              </a:extLst>
            </p:cNvPr>
            <p:cNvSpPr txBox="1"/>
            <p:nvPr/>
          </p:nvSpPr>
          <p:spPr>
            <a:xfrm>
              <a:off x="7847850" y="5776065"/>
              <a:ext cx="1260654" cy="461774"/>
            </a:xfrm>
            <a:prstGeom prst="rect">
              <a:avLst/>
            </a:prstGeom>
            <a:noFill/>
            <a:ln>
              <a:solidFill>
                <a:schemeClr val="accent3">
                  <a:lumMod val="75000"/>
                </a:schemeClr>
              </a:solidFill>
            </a:ln>
          </p:spPr>
          <p:txBody>
            <a:bodyPr>
              <a:spAutoFit/>
            </a:bodyPr>
            <a:lstStyle/>
            <a:p>
              <a:pPr algn="ctr">
                <a:defRPr/>
              </a:pPr>
              <a:r>
                <a:rPr lang="en-US" sz="1200" dirty="0">
                  <a:latin typeface="Arial" charset="0"/>
                  <a:cs typeface="Arial" charset="0"/>
                </a:rPr>
                <a:t>Information Systems (IS)</a:t>
              </a:r>
              <a:endParaRPr lang="en-GB" sz="1200" dirty="0">
                <a:latin typeface="Arial" charset="0"/>
                <a:cs typeface="Arial" charset="0"/>
              </a:endParaRPr>
            </a:p>
          </p:txBody>
        </p:sp>
        <p:sp>
          <p:nvSpPr>
            <p:cNvPr id="70" name="TextBox 69">
              <a:extLst>
                <a:ext uri="{FF2B5EF4-FFF2-40B4-BE49-F238E27FC236}">
                  <a16:creationId xmlns:a16="http://schemas.microsoft.com/office/drawing/2014/main" id="{A181D777-CE15-7C25-99F1-7D051784B1A7}"/>
                </a:ext>
              </a:extLst>
            </p:cNvPr>
            <p:cNvSpPr txBox="1"/>
            <p:nvPr/>
          </p:nvSpPr>
          <p:spPr>
            <a:xfrm>
              <a:off x="5975923" y="5771304"/>
              <a:ext cx="1763962" cy="461775"/>
            </a:xfrm>
            <a:prstGeom prst="rect">
              <a:avLst/>
            </a:prstGeom>
            <a:noFill/>
            <a:ln>
              <a:solidFill>
                <a:schemeClr val="accent3">
                  <a:lumMod val="75000"/>
                </a:schemeClr>
              </a:solidFill>
            </a:ln>
          </p:spPr>
          <p:txBody>
            <a:bodyPr>
              <a:spAutoFit/>
            </a:bodyPr>
            <a:lstStyle/>
            <a:p>
              <a:pPr algn="ctr">
                <a:defRPr/>
              </a:pPr>
              <a:r>
                <a:rPr lang="en-US" sz="1200" dirty="0">
                  <a:latin typeface="Arial" charset="0"/>
                  <a:cs typeface="Arial" charset="0"/>
                </a:rPr>
                <a:t>Cognitive Engineering /</a:t>
              </a:r>
            </a:p>
            <a:p>
              <a:pPr algn="ctr">
                <a:defRPr/>
              </a:pPr>
              <a:r>
                <a:rPr lang="en-US" sz="1200" dirty="0">
                  <a:latin typeface="Arial" charset="0"/>
                  <a:cs typeface="Arial" charset="0"/>
                </a:rPr>
                <a:t>Cognitive Ergonomics</a:t>
              </a:r>
              <a:endParaRPr lang="en-GB" sz="1200" dirty="0">
                <a:latin typeface="Arial" charset="0"/>
                <a:cs typeface="Arial" charset="0"/>
              </a:endParaRPr>
            </a:p>
          </p:txBody>
        </p:sp>
        <p:cxnSp>
          <p:nvCxnSpPr>
            <p:cNvPr id="71" name="Straight Connector 70">
              <a:extLst>
                <a:ext uri="{FF2B5EF4-FFF2-40B4-BE49-F238E27FC236}">
                  <a16:creationId xmlns:a16="http://schemas.microsoft.com/office/drawing/2014/main" id="{B6AFD62B-4935-4425-2F3C-7DEEAAEC966B}"/>
                </a:ext>
              </a:extLst>
            </p:cNvPr>
            <p:cNvCxnSpPr/>
            <p:nvPr/>
          </p:nvCxnSpPr>
          <p:spPr>
            <a:xfrm rot="10800000" flipV="1">
              <a:off x="1331826" y="5625314"/>
              <a:ext cx="179413" cy="144404"/>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C49657C-FDDC-6325-D0F8-B254315F2413}"/>
                </a:ext>
              </a:extLst>
            </p:cNvPr>
            <p:cNvCxnSpPr/>
            <p:nvPr/>
          </p:nvCxnSpPr>
          <p:spPr>
            <a:xfrm rot="5400000" flipH="1" flipV="1">
              <a:off x="3546077" y="5462661"/>
              <a:ext cx="612526" cy="1587"/>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A7643BA6-D9EF-210F-69F2-14E28481B6C5}"/>
                </a:ext>
              </a:extLst>
            </p:cNvPr>
            <p:cNvCxnSpPr/>
            <p:nvPr/>
          </p:nvCxnSpPr>
          <p:spPr>
            <a:xfrm rot="5400000" flipH="1" flipV="1">
              <a:off x="4301834" y="5462661"/>
              <a:ext cx="612526" cy="1587"/>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AEE5F31-875E-7608-F673-4624E1D53364}"/>
                </a:ext>
              </a:extLst>
            </p:cNvPr>
            <p:cNvCxnSpPr/>
            <p:nvPr/>
          </p:nvCxnSpPr>
          <p:spPr>
            <a:xfrm>
              <a:off x="4932787" y="5625314"/>
              <a:ext cx="1798893" cy="0"/>
            </a:xfrm>
            <a:prstGeom prst="line">
              <a:avLst/>
            </a:prstGeom>
            <a:ln>
              <a:solidFill>
                <a:schemeClr val="accent3">
                  <a:lumMod val="50000"/>
                </a:schemeClr>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5403D36F-0896-0820-F331-19FE8FC576F9}"/>
                </a:ext>
              </a:extLst>
            </p:cNvPr>
            <p:cNvCxnSpPr/>
            <p:nvPr/>
          </p:nvCxnSpPr>
          <p:spPr>
            <a:xfrm rot="5400000" flipH="1" flipV="1">
              <a:off x="4699519" y="5390460"/>
              <a:ext cx="466535" cy="0"/>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05F509A-E773-5A2C-DB6D-7EF132692FE1}"/>
                </a:ext>
              </a:extLst>
            </p:cNvPr>
            <p:cNvCxnSpPr/>
            <p:nvPr/>
          </p:nvCxnSpPr>
          <p:spPr>
            <a:xfrm>
              <a:off x="5256683" y="5480910"/>
              <a:ext cx="2988099" cy="0"/>
            </a:xfrm>
            <a:prstGeom prst="line">
              <a:avLst/>
            </a:prstGeom>
            <a:ln>
              <a:solidFill>
                <a:schemeClr val="accent3">
                  <a:lumMod val="50000"/>
                </a:schemeClr>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2AB8BB1-0D20-9D8A-F4A9-283EE7EDBEC8}"/>
                </a:ext>
              </a:extLst>
            </p:cNvPr>
            <p:cNvCxnSpPr/>
            <p:nvPr/>
          </p:nvCxnSpPr>
          <p:spPr>
            <a:xfrm rot="16200000" flipH="1">
              <a:off x="8100377" y="5625315"/>
              <a:ext cx="288807" cy="0"/>
            </a:xfrm>
            <a:prstGeom prst="line">
              <a:avLst/>
            </a:prstGeom>
            <a:ln>
              <a:solidFill>
                <a:schemeClr val="accent3">
                  <a:lumMod val="50000"/>
                </a:schemeClr>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AE408AE-4E6C-B15D-197F-F1370BEC29CF}"/>
                </a:ext>
              </a:extLst>
            </p:cNvPr>
            <p:cNvCxnSpPr/>
            <p:nvPr/>
          </p:nvCxnSpPr>
          <p:spPr>
            <a:xfrm rot="5400000" flipH="1" flipV="1">
              <a:off x="5094031" y="5318257"/>
              <a:ext cx="323718" cy="1587"/>
            </a:xfrm>
            <a:prstGeom prst="straightConnector1">
              <a:avLst/>
            </a:prstGeom>
            <a:ln>
              <a:solidFill>
                <a:schemeClr val="accent3">
                  <a:lumMod val="50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3F976C0-DE73-167C-F5D7-6ADB1BA016BC}"/>
                </a:ext>
              </a:extLst>
            </p:cNvPr>
            <p:cNvCxnSpPr/>
            <p:nvPr/>
          </p:nvCxnSpPr>
          <p:spPr>
            <a:xfrm rot="5400000">
              <a:off x="6659477" y="5697516"/>
              <a:ext cx="144404" cy="0"/>
            </a:xfrm>
            <a:prstGeom prst="line">
              <a:avLst/>
            </a:prstGeom>
            <a:ln>
              <a:solidFill>
                <a:schemeClr val="accent3">
                  <a:lumMod val="50000"/>
                </a:schemeClr>
              </a:solidFill>
              <a:tailEnd type="none" w="lg" len="med"/>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EFD15FD8-6C1E-5D8F-007D-59FF93F57994}"/>
                </a:ext>
              </a:extLst>
            </p:cNvPr>
            <p:cNvSpPr txBox="1"/>
            <p:nvPr/>
          </p:nvSpPr>
          <p:spPr>
            <a:xfrm>
              <a:off x="3275202" y="6309248"/>
              <a:ext cx="2210113" cy="307850"/>
            </a:xfrm>
            <a:prstGeom prst="rect">
              <a:avLst/>
            </a:prstGeom>
            <a:noFill/>
          </p:spPr>
          <p:txBody>
            <a:bodyPr>
              <a:spAutoFit/>
            </a:bodyPr>
            <a:lstStyle/>
            <a:p>
              <a:pPr algn="ctr">
                <a:defRPr/>
              </a:pPr>
              <a:r>
                <a:rPr lang="en-US" sz="1400" b="1" dirty="0">
                  <a:solidFill>
                    <a:schemeClr val="accent3">
                      <a:lumMod val="50000"/>
                    </a:schemeClr>
                  </a:solidFill>
                  <a:latin typeface="Arial" charset="0"/>
                  <a:cs typeface="Arial" charset="0"/>
                </a:rPr>
                <a:t>Interdisciplinary Fields</a:t>
              </a:r>
              <a:endParaRPr lang="en-GB" sz="1400" b="1" dirty="0">
                <a:solidFill>
                  <a:schemeClr val="accent3">
                    <a:lumMod val="50000"/>
                  </a:schemeClr>
                </a:solidFill>
                <a:latin typeface="Arial" charset="0"/>
                <a:cs typeface="Arial" charset="0"/>
              </a:endParaRPr>
            </a:p>
          </p:txBody>
        </p:sp>
      </p:grpSp>
    </p:spTree>
    <p:extLst>
      <p:ext uri="{BB962C8B-B14F-4D97-AF65-F5344CB8AC3E}">
        <p14:creationId xmlns:p14="http://schemas.microsoft.com/office/powerpoint/2010/main" val="25380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0"/>
                                        <p:tgtEl>
                                          <p:spTgt spid="7"/>
                                        </p:tgtEl>
                                      </p:cBhvr>
                                    </p:animEffect>
                                  </p:childTnLst>
                                </p:cTn>
                              </p:par>
                            </p:childTnLst>
                          </p:cTn>
                        </p:par>
                        <p:par>
                          <p:cTn id="8" fill="hold">
                            <p:stCondLst>
                              <p:cond delay="30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3000"/>
                                        <p:tgtEl>
                                          <p:spTgt spid="51"/>
                                        </p:tgtEl>
                                      </p:cBhvr>
                                    </p:animEffect>
                                  </p:childTnLst>
                                </p:cTn>
                              </p:par>
                            </p:childTnLst>
                          </p:cTn>
                        </p:par>
                        <p:par>
                          <p:cTn id="12" fill="hold">
                            <p:stCondLst>
                              <p:cond delay="6000"/>
                            </p:stCondLst>
                            <p:childTnLst>
                              <p:par>
                                <p:cTn id="13" presetID="10" presetClass="entr" presetSubtype="0" fill="hold" nodeType="after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3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996FD5EC-CA5A-B0BB-4C4B-5791D120EA90}"/>
              </a:ext>
            </a:extLst>
          </p:cNvPr>
          <p:cNvSpPr txBox="1"/>
          <p:nvPr/>
        </p:nvSpPr>
        <p:spPr>
          <a:xfrm>
            <a:off x="0" y="0"/>
            <a:ext cx="4572000" cy="523220"/>
          </a:xfrm>
          <a:prstGeom prst="rect">
            <a:avLst/>
          </a:prstGeom>
          <a:noFill/>
        </p:spPr>
        <p:txBody>
          <a:bodyPr wrap="square">
            <a:spAutoFit/>
          </a:bodyPr>
          <a:lstStyle/>
          <a:p>
            <a:r>
              <a:rPr lang="en-IN" sz="2800" dirty="0"/>
              <a:t>What is HCI?</a:t>
            </a:r>
          </a:p>
        </p:txBody>
      </p:sp>
      <p:sp>
        <p:nvSpPr>
          <p:cNvPr id="7" name="Content Placeholder 9">
            <a:extLst>
              <a:ext uri="{FF2B5EF4-FFF2-40B4-BE49-F238E27FC236}">
                <a16:creationId xmlns:a16="http://schemas.microsoft.com/office/drawing/2014/main" id="{3282529C-1ED4-08D0-910F-1D218D327DA9}"/>
              </a:ext>
            </a:extLst>
          </p:cNvPr>
          <p:cNvSpPr txBox="1">
            <a:spLocks/>
          </p:cNvSpPr>
          <p:nvPr/>
        </p:nvSpPr>
        <p:spPr>
          <a:xfrm>
            <a:off x="0" y="1149927"/>
            <a:ext cx="9144000" cy="4419600"/>
          </a:xfrm>
          <a:prstGeom prst="rect">
            <a:avLst/>
          </a:prstGeom>
        </p:spPr>
        <p:txBody>
          <a:bodyPr/>
          <a:lstStyle/>
          <a:p>
            <a:pPr fontAlgn="auto">
              <a:spcBef>
                <a:spcPts val="0"/>
              </a:spcBef>
              <a:spcAft>
                <a:spcPts val="0"/>
              </a:spcAft>
              <a:buClr>
                <a:schemeClr val="accent3">
                  <a:lumMod val="50000"/>
                </a:schemeClr>
              </a:buClr>
              <a:buFont typeface="Wingdings 2" pitchFamily="18" charset="2"/>
              <a:buChar char=""/>
              <a:defRPr/>
            </a:pPr>
            <a:r>
              <a:rPr lang="en-US" sz="2000" dirty="0">
                <a:latin typeface="+mn-lt"/>
                <a:cs typeface="Arial" charset="0"/>
              </a:rPr>
              <a:t>Human-Computer Interaction draws on the fields of computer science, psychology, cognitive science, and organizational and social sciences in order to understand how people use and experience interactive technology. </a:t>
            </a:r>
          </a:p>
          <a:p>
            <a:pPr fontAlgn="auto">
              <a:spcBef>
                <a:spcPts val="0"/>
              </a:spcBef>
              <a:spcAft>
                <a:spcPts val="0"/>
              </a:spcAft>
              <a:buClr>
                <a:schemeClr val="accent3">
                  <a:lumMod val="50000"/>
                </a:schemeClr>
              </a:buClr>
              <a:buFont typeface="Wingdings 2" pitchFamily="18" charset="2"/>
              <a:buChar char=""/>
              <a:defRPr/>
            </a:pPr>
            <a:endParaRPr lang="en-US" sz="2000" dirty="0">
              <a:latin typeface="+mn-lt"/>
              <a:cs typeface="Arial" charset="0"/>
            </a:endParaRPr>
          </a:p>
        </p:txBody>
      </p:sp>
      <p:pic>
        <p:nvPicPr>
          <p:cNvPr id="10" name="Picture 9">
            <a:extLst>
              <a:ext uri="{FF2B5EF4-FFF2-40B4-BE49-F238E27FC236}">
                <a16:creationId xmlns:a16="http://schemas.microsoft.com/office/drawing/2014/main" id="{04265785-34D0-AC85-C264-3758BF974F36}"/>
              </a:ext>
            </a:extLst>
          </p:cNvPr>
          <p:cNvPicPr>
            <a:picLocks noChangeAspect="1"/>
          </p:cNvPicPr>
          <p:nvPr/>
        </p:nvPicPr>
        <p:blipFill>
          <a:blip r:embed="rId3"/>
          <a:stretch>
            <a:fillRect/>
          </a:stretch>
        </p:blipFill>
        <p:spPr>
          <a:xfrm>
            <a:off x="-2" y="2284845"/>
            <a:ext cx="9143999" cy="3828668"/>
          </a:xfrm>
          <a:prstGeom prst="rect">
            <a:avLst/>
          </a:prstGeom>
        </p:spPr>
      </p:pic>
    </p:spTree>
    <p:extLst>
      <p:ext uri="{BB962C8B-B14F-4D97-AF65-F5344CB8AC3E}">
        <p14:creationId xmlns:p14="http://schemas.microsoft.com/office/powerpoint/2010/main" val="505518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C4646C71-FF90-E8F9-3483-A7CF0FD4A7CA}"/>
              </a:ext>
            </a:extLst>
          </p:cNvPr>
          <p:cNvSpPr txBox="1"/>
          <p:nvPr/>
        </p:nvSpPr>
        <p:spPr>
          <a:xfrm>
            <a:off x="0" y="124798"/>
            <a:ext cx="6705600" cy="954107"/>
          </a:xfrm>
          <a:prstGeom prst="rect">
            <a:avLst/>
          </a:prstGeom>
          <a:noFill/>
        </p:spPr>
        <p:txBody>
          <a:bodyPr wrap="square">
            <a:spAutoFit/>
          </a:bodyPr>
          <a:lstStyle/>
          <a:p>
            <a:r>
              <a:rPr lang="en-US" sz="2800" dirty="0"/>
              <a:t>View design as a form of communication between designers and the users.</a:t>
            </a:r>
          </a:p>
        </p:txBody>
      </p:sp>
      <p:pic>
        <p:nvPicPr>
          <p:cNvPr id="7" name="Picture 3" descr="1-5">
            <a:extLst>
              <a:ext uri="{FF2B5EF4-FFF2-40B4-BE49-F238E27FC236}">
                <a16:creationId xmlns:a16="http://schemas.microsoft.com/office/drawing/2014/main" id="{0B22DB9E-9222-A1A0-A272-99BA73B19FD6}"/>
              </a:ext>
            </a:extLst>
          </p:cNvPr>
          <p:cNvPicPr>
            <a:picLocks noChangeAspect="1" noChangeArrowheads="1"/>
          </p:cNvPicPr>
          <p:nvPr/>
        </p:nvPicPr>
        <p:blipFill>
          <a:blip r:embed="rId3" cstate="print"/>
          <a:srcRect/>
          <a:stretch>
            <a:fillRect/>
          </a:stretch>
        </p:blipFill>
        <p:spPr bwMode="auto">
          <a:xfrm>
            <a:off x="766619" y="1326166"/>
            <a:ext cx="6603422" cy="4580200"/>
          </a:xfrm>
          <a:prstGeom prst="rect">
            <a:avLst/>
          </a:prstGeom>
          <a:noFill/>
          <a:ln w="9525">
            <a:noFill/>
            <a:miter lim="800000"/>
            <a:headEnd/>
            <a:tailEnd/>
          </a:ln>
        </p:spPr>
      </p:pic>
      <p:sp>
        <p:nvSpPr>
          <p:cNvPr id="8" name="TextBox 7">
            <a:extLst>
              <a:ext uri="{FF2B5EF4-FFF2-40B4-BE49-F238E27FC236}">
                <a16:creationId xmlns:a16="http://schemas.microsoft.com/office/drawing/2014/main" id="{DFDBD238-9C61-280C-2BBD-8FF8383CDAC1}"/>
              </a:ext>
            </a:extLst>
          </p:cNvPr>
          <p:cNvSpPr txBox="1"/>
          <p:nvPr/>
        </p:nvSpPr>
        <p:spPr>
          <a:xfrm>
            <a:off x="49645" y="1966015"/>
            <a:ext cx="1835150" cy="585788"/>
          </a:xfrm>
          <a:prstGeom prst="rect">
            <a:avLst/>
          </a:prstGeom>
          <a:noFill/>
        </p:spPr>
        <p:txBody>
          <a:bodyPr>
            <a:spAutoFit/>
          </a:bodyPr>
          <a:lstStyle/>
          <a:p>
            <a:pPr algn="ctr">
              <a:defRPr/>
            </a:pPr>
            <a:r>
              <a:rPr lang="en-US" sz="1600" dirty="0">
                <a:solidFill>
                  <a:schemeClr val="accent3">
                    <a:lumMod val="50000"/>
                  </a:schemeClr>
                </a:solidFill>
                <a:latin typeface="Arial" charset="0"/>
                <a:cs typeface="Arial" charset="0"/>
              </a:rPr>
              <a:t>Different perspectives</a:t>
            </a:r>
            <a:endParaRPr lang="en-GB" sz="1600" dirty="0">
              <a:solidFill>
                <a:schemeClr val="accent3">
                  <a:lumMod val="50000"/>
                </a:schemeClr>
              </a:solidFill>
              <a:latin typeface="Arial" charset="0"/>
              <a:cs typeface="Arial" charset="0"/>
            </a:endParaRPr>
          </a:p>
        </p:txBody>
      </p:sp>
      <p:sp>
        <p:nvSpPr>
          <p:cNvPr id="9" name="TextBox 8">
            <a:extLst>
              <a:ext uri="{FF2B5EF4-FFF2-40B4-BE49-F238E27FC236}">
                <a16:creationId xmlns:a16="http://schemas.microsoft.com/office/drawing/2014/main" id="{3A37FBAF-EE94-3A4D-72F1-BA821BEEC444}"/>
              </a:ext>
            </a:extLst>
          </p:cNvPr>
          <p:cNvSpPr txBox="1"/>
          <p:nvPr/>
        </p:nvSpPr>
        <p:spPr>
          <a:xfrm>
            <a:off x="413039" y="3612405"/>
            <a:ext cx="1835150" cy="585787"/>
          </a:xfrm>
          <a:prstGeom prst="rect">
            <a:avLst/>
          </a:prstGeom>
          <a:noFill/>
        </p:spPr>
        <p:txBody>
          <a:bodyPr>
            <a:spAutoFit/>
          </a:bodyPr>
          <a:lstStyle/>
          <a:p>
            <a:pPr algn="ctr">
              <a:defRPr/>
            </a:pPr>
            <a:r>
              <a:rPr lang="en-US" sz="1600" dirty="0">
                <a:solidFill>
                  <a:schemeClr val="accent3">
                    <a:lumMod val="50000"/>
                  </a:schemeClr>
                </a:solidFill>
                <a:latin typeface="Arial" charset="0"/>
                <a:cs typeface="Arial" charset="0"/>
              </a:rPr>
              <a:t>Different people/ ~ backgrounds</a:t>
            </a:r>
            <a:endParaRPr lang="en-GB" sz="1600" dirty="0">
              <a:solidFill>
                <a:schemeClr val="accent3">
                  <a:lumMod val="50000"/>
                </a:schemeClr>
              </a:solidFill>
              <a:latin typeface="Arial" charset="0"/>
              <a:cs typeface="Arial" charset="0"/>
            </a:endParaRPr>
          </a:p>
        </p:txBody>
      </p:sp>
      <p:sp>
        <p:nvSpPr>
          <p:cNvPr id="10" name="TextBox 9">
            <a:extLst>
              <a:ext uri="{FF2B5EF4-FFF2-40B4-BE49-F238E27FC236}">
                <a16:creationId xmlns:a16="http://schemas.microsoft.com/office/drawing/2014/main" id="{572DCCF7-0F5D-79A6-7F91-6998D618F140}"/>
              </a:ext>
            </a:extLst>
          </p:cNvPr>
          <p:cNvSpPr txBox="1"/>
          <p:nvPr/>
        </p:nvSpPr>
        <p:spPr>
          <a:xfrm>
            <a:off x="6679912" y="2862552"/>
            <a:ext cx="2464088" cy="400050"/>
          </a:xfrm>
          <a:prstGeom prst="rect">
            <a:avLst/>
          </a:prstGeom>
          <a:noFill/>
        </p:spPr>
        <p:txBody>
          <a:bodyPr wrap="square">
            <a:spAutoFit/>
          </a:bodyPr>
          <a:lstStyle/>
          <a:p>
            <a:pPr algn="ctr">
              <a:defRPr/>
            </a:pPr>
            <a:r>
              <a:rPr lang="en-US" sz="2000" dirty="0">
                <a:solidFill>
                  <a:schemeClr val="accent3">
                    <a:lumMod val="50000"/>
                  </a:schemeClr>
                </a:solidFill>
                <a:latin typeface="Arial" charset="0"/>
                <a:cs typeface="Arial" charset="0"/>
                <a:sym typeface="Wingdings"/>
              </a:rPr>
              <a:t></a:t>
            </a:r>
            <a:r>
              <a:rPr lang="en-US" sz="1400" dirty="0">
                <a:solidFill>
                  <a:schemeClr val="accent3">
                    <a:lumMod val="50000"/>
                  </a:schemeClr>
                </a:solidFill>
                <a:latin typeface="Arial" charset="0"/>
                <a:cs typeface="Arial" charset="0"/>
                <a:sym typeface="Wingdings"/>
              </a:rPr>
              <a:t>  </a:t>
            </a:r>
            <a:r>
              <a:rPr lang="en-US" sz="1400" dirty="0">
                <a:solidFill>
                  <a:schemeClr val="accent3">
                    <a:lumMod val="50000"/>
                  </a:schemeClr>
                </a:solidFill>
                <a:latin typeface="Arial" charset="0"/>
                <a:cs typeface="Arial" charset="0"/>
              </a:rPr>
              <a:t>More ideas</a:t>
            </a:r>
            <a:endParaRPr lang="en-GB" sz="1400" dirty="0">
              <a:solidFill>
                <a:schemeClr val="accent3">
                  <a:lumMod val="50000"/>
                </a:schemeClr>
              </a:solidFill>
              <a:latin typeface="Arial" charset="0"/>
              <a:cs typeface="Arial" charset="0"/>
            </a:endParaRPr>
          </a:p>
        </p:txBody>
      </p:sp>
      <p:sp>
        <p:nvSpPr>
          <p:cNvPr id="11" name="TextBox 10">
            <a:extLst>
              <a:ext uri="{FF2B5EF4-FFF2-40B4-BE49-F238E27FC236}">
                <a16:creationId xmlns:a16="http://schemas.microsoft.com/office/drawing/2014/main" id="{55747DE5-C78E-0B86-84C1-B5819832E737}"/>
              </a:ext>
            </a:extLst>
          </p:cNvPr>
          <p:cNvSpPr txBox="1"/>
          <p:nvPr/>
        </p:nvSpPr>
        <p:spPr>
          <a:xfrm>
            <a:off x="6679912" y="3336709"/>
            <a:ext cx="2464088" cy="831850"/>
          </a:xfrm>
          <a:prstGeom prst="rect">
            <a:avLst/>
          </a:prstGeom>
          <a:noFill/>
        </p:spPr>
        <p:txBody>
          <a:bodyPr wrap="square">
            <a:spAutoFit/>
          </a:bodyPr>
          <a:lstStyle/>
          <a:p>
            <a:pPr algn="ctr">
              <a:defRPr/>
            </a:pPr>
            <a:r>
              <a:rPr lang="en-US" sz="2000" dirty="0">
                <a:solidFill>
                  <a:schemeClr val="accent3">
                    <a:lumMod val="50000"/>
                  </a:schemeClr>
                </a:solidFill>
                <a:latin typeface="Arial" charset="0"/>
                <a:cs typeface="Arial" charset="0"/>
                <a:sym typeface="Wingdings"/>
              </a:rPr>
              <a:t></a:t>
            </a:r>
            <a:r>
              <a:rPr lang="en-US" sz="1400" dirty="0">
                <a:solidFill>
                  <a:schemeClr val="accent3">
                    <a:lumMod val="50000"/>
                  </a:schemeClr>
                </a:solidFill>
                <a:latin typeface="Arial" charset="0"/>
                <a:cs typeface="Arial" charset="0"/>
                <a:sym typeface="Wingdings"/>
              </a:rPr>
              <a:t>  Challenge in communication and progressing forward</a:t>
            </a:r>
            <a:endParaRPr lang="en-GB" sz="1400" dirty="0">
              <a:solidFill>
                <a:schemeClr val="accent3">
                  <a:lumMod val="50000"/>
                </a:schemeClr>
              </a:solidFill>
              <a:latin typeface="Arial" charset="0"/>
              <a:cs typeface="Arial" charset="0"/>
            </a:endParaRPr>
          </a:p>
        </p:txBody>
      </p:sp>
    </p:spTree>
    <p:extLst>
      <p:ext uri="{BB962C8B-B14F-4D97-AF65-F5344CB8AC3E}">
        <p14:creationId xmlns:p14="http://schemas.microsoft.com/office/powerpoint/2010/main" val="1510566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12213206-05CB-D55B-ABE2-912B1A63E83A}"/>
              </a:ext>
            </a:extLst>
          </p:cNvPr>
          <p:cNvSpPr txBox="1"/>
          <p:nvPr/>
        </p:nvSpPr>
        <p:spPr>
          <a:xfrm>
            <a:off x="87745" y="0"/>
            <a:ext cx="4572000" cy="369332"/>
          </a:xfrm>
          <a:prstGeom prst="rect">
            <a:avLst/>
          </a:prstGeom>
          <a:noFill/>
        </p:spPr>
        <p:txBody>
          <a:bodyPr wrap="square">
            <a:spAutoFit/>
          </a:bodyPr>
          <a:lstStyle/>
          <a:p>
            <a:r>
              <a:rPr lang="en-US" dirty="0"/>
              <a:t>What do professionals do in the ID business?</a:t>
            </a:r>
          </a:p>
        </p:txBody>
      </p:sp>
      <p:sp>
        <p:nvSpPr>
          <p:cNvPr id="7" name="Content Placeholder 9">
            <a:extLst>
              <a:ext uri="{FF2B5EF4-FFF2-40B4-BE49-F238E27FC236}">
                <a16:creationId xmlns:a16="http://schemas.microsoft.com/office/drawing/2014/main" id="{4EC82624-5C8A-C566-6151-CD8A9E9B196E}"/>
              </a:ext>
            </a:extLst>
          </p:cNvPr>
          <p:cNvSpPr txBox="1">
            <a:spLocks/>
          </p:cNvSpPr>
          <p:nvPr/>
        </p:nvSpPr>
        <p:spPr>
          <a:xfrm>
            <a:off x="0" y="1011382"/>
            <a:ext cx="9144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interaction designers </a:t>
            </a:r>
            <a:r>
              <a:rPr lang="en-GB" sz="2400" dirty="0">
                <a:latin typeface="+mn-lt"/>
                <a:cs typeface="Arial" charset="0"/>
              </a:rPr>
              <a:t>- people involved in the design of all the interactive aspects of a product</a:t>
            </a: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usability engineers </a:t>
            </a:r>
            <a:r>
              <a:rPr lang="en-GB" sz="2400" dirty="0">
                <a:latin typeface="+mn-lt"/>
                <a:cs typeface="Arial" charset="0"/>
              </a:rPr>
              <a:t>- people who focus on evaluating products, using usability methods and principles</a:t>
            </a: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web designers </a:t>
            </a:r>
            <a:r>
              <a:rPr lang="en-GB" sz="2400" dirty="0">
                <a:latin typeface="+mn-lt"/>
                <a:cs typeface="Arial" charset="0"/>
              </a:rPr>
              <a:t>- people who develop and create the visual design of websites, such as layouts</a:t>
            </a: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information architects </a:t>
            </a:r>
            <a:r>
              <a:rPr lang="en-GB" sz="2400" dirty="0">
                <a:latin typeface="+mn-lt"/>
                <a:cs typeface="Arial" charset="0"/>
              </a:rPr>
              <a:t>- people who come up with ideas of how to plan and structure interactive products</a:t>
            </a: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user experience designers (UX)</a:t>
            </a:r>
            <a:r>
              <a:rPr lang="en-GB" sz="2400" dirty="0">
                <a:latin typeface="+mn-lt"/>
                <a:cs typeface="Arial" charset="0"/>
              </a:rPr>
              <a:t> - people who do all the above but who may also carry out field studies to inform the design of products</a:t>
            </a: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4238091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9C8C14AF-EB04-C08E-A780-12EC459A93B5}"/>
              </a:ext>
            </a:extLst>
          </p:cNvPr>
          <p:cNvSpPr txBox="1"/>
          <p:nvPr/>
        </p:nvSpPr>
        <p:spPr>
          <a:xfrm>
            <a:off x="87746" y="0"/>
            <a:ext cx="5906653" cy="461665"/>
          </a:xfrm>
          <a:prstGeom prst="rect">
            <a:avLst/>
          </a:prstGeom>
          <a:noFill/>
        </p:spPr>
        <p:txBody>
          <a:bodyPr wrap="square">
            <a:spAutoFit/>
          </a:bodyPr>
          <a:lstStyle/>
          <a:p>
            <a:r>
              <a:rPr lang="en-US" sz="2400" dirty="0"/>
              <a:t>What is involved in the process of ID?</a:t>
            </a:r>
          </a:p>
        </p:txBody>
      </p:sp>
      <p:sp>
        <p:nvSpPr>
          <p:cNvPr id="7" name="Content Placeholder 9">
            <a:extLst>
              <a:ext uri="{FF2B5EF4-FFF2-40B4-BE49-F238E27FC236}">
                <a16:creationId xmlns:a16="http://schemas.microsoft.com/office/drawing/2014/main" id="{427F59A9-38B4-65F4-3C26-D5D036549CEF}"/>
              </a:ext>
            </a:extLst>
          </p:cNvPr>
          <p:cNvSpPr txBox="1">
            <a:spLocks/>
          </p:cNvSpPr>
          <p:nvPr/>
        </p:nvSpPr>
        <p:spPr>
          <a:xfrm>
            <a:off x="256310" y="734291"/>
            <a:ext cx="4703618" cy="5186218"/>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000" b="1" dirty="0">
                <a:latin typeface="+mn-lt"/>
                <a:cs typeface="Arial" charset="0"/>
              </a:rPr>
              <a:t>Discover</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Identifying </a:t>
            </a:r>
            <a:r>
              <a:rPr lang="en-GB" sz="2000" dirty="0">
                <a:effectLst>
                  <a:outerShdw blurRad="38100" dist="38100" dir="2700000" algn="tl">
                    <a:srgbClr val="000000">
                      <a:alpha val="43137"/>
                    </a:srgbClr>
                  </a:outerShdw>
                </a:effectLst>
                <a:latin typeface="+mn-lt"/>
                <a:cs typeface="Arial" charset="0"/>
              </a:rPr>
              <a:t>needs</a:t>
            </a:r>
            <a:r>
              <a:rPr lang="en-GB" sz="2000" dirty="0">
                <a:latin typeface="+mn-lt"/>
                <a:cs typeface="Arial" charset="0"/>
              </a:rPr>
              <a:t> and establishing </a:t>
            </a:r>
            <a:r>
              <a:rPr lang="en-GB" sz="2000" dirty="0">
                <a:effectLst>
                  <a:outerShdw blurRad="38100" dist="38100" dir="2700000" algn="tl">
                    <a:srgbClr val="000000">
                      <a:alpha val="43137"/>
                    </a:srgbClr>
                  </a:outerShdw>
                </a:effectLst>
                <a:latin typeface="+mn-lt"/>
                <a:cs typeface="Arial" charset="0"/>
              </a:rPr>
              <a:t>requirements</a:t>
            </a:r>
            <a:r>
              <a:rPr lang="en-GB" sz="2000" dirty="0">
                <a:latin typeface="+mn-lt"/>
                <a:cs typeface="Arial" charset="0"/>
              </a:rPr>
              <a:t> for the user experience</a:t>
            </a:r>
          </a:p>
          <a:p>
            <a:pPr fontAlgn="auto">
              <a:spcBef>
                <a:spcPts val="0"/>
              </a:spcBef>
              <a:spcAft>
                <a:spcPts val="1200"/>
              </a:spcAft>
              <a:buClr>
                <a:schemeClr val="accent3">
                  <a:lumMod val="50000"/>
                </a:schemeClr>
              </a:buClr>
              <a:buFont typeface="Wingdings 2" pitchFamily="18" charset="2"/>
              <a:buChar char=""/>
              <a:defRPr/>
            </a:pPr>
            <a:r>
              <a:rPr lang="en-GB" sz="2000" b="1" dirty="0">
                <a:latin typeface="+mn-lt"/>
                <a:cs typeface="Arial" charset="0"/>
              </a:rPr>
              <a:t>Design</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Developing </a:t>
            </a:r>
            <a:r>
              <a:rPr lang="en-GB" sz="2000" dirty="0">
                <a:effectLst>
                  <a:outerShdw blurRad="38100" dist="38100" dir="2700000" algn="tl">
                    <a:srgbClr val="000000">
                      <a:alpha val="43137"/>
                    </a:srgbClr>
                  </a:outerShdw>
                </a:effectLst>
                <a:latin typeface="+mn-lt"/>
                <a:cs typeface="Arial" charset="0"/>
              </a:rPr>
              <a:t>alternative designs </a:t>
            </a:r>
            <a:r>
              <a:rPr lang="en-GB" sz="2000" dirty="0">
                <a:latin typeface="+mn-lt"/>
                <a:cs typeface="Arial" charset="0"/>
              </a:rPr>
              <a:t>to meet these</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Building interactive </a:t>
            </a:r>
            <a:r>
              <a:rPr lang="en-GB" sz="2000" dirty="0">
                <a:effectLst>
                  <a:outerShdw blurRad="38100" dist="38100" dir="2700000" algn="tl">
                    <a:srgbClr val="000000">
                      <a:alpha val="43137"/>
                    </a:srgbClr>
                  </a:outerShdw>
                </a:effectLst>
                <a:latin typeface="+mn-lt"/>
                <a:cs typeface="Arial" charset="0"/>
              </a:rPr>
              <a:t>prototypes</a:t>
            </a:r>
            <a:r>
              <a:rPr lang="en-GB" sz="2000" dirty="0">
                <a:latin typeface="+mn-lt"/>
                <a:cs typeface="Arial" charset="0"/>
              </a:rPr>
              <a:t> that can be communicated and assessed</a:t>
            </a:r>
          </a:p>
          <a:p>
            <a:pPr fontAlgn="auto">
              <a:spcBef>
                <a:spcPts val="0"/>
              </a:spcBef>
              <a:spcAft>
                <a:spcPts val="1200"/>
              </a:spcAft>
              <a:buClr>
                <a:schemeClr val="accent3">
                  <a:lumMod val="50000"/>
                </a:schemeClr>
              </a:buClr>
              <a:buFont typeface="Wingdings 2" pitchFamily="18" charset="2"/>
              <a:buChar char=""/>
              <a:defRPr/>
            </a:pPr>
            <a:r>
              <a:rPr lang="en-GB" sz="2000" b="1" dirty="0">
                <a:latin typeface="+mn-lt"/>
                <a:cs typeface="Arial" charset="0"/>
              </a:rPr>
              <a:t>Evaluate</a:t>
            </a:r>
            <a:r>
              <a:rPr lang="en-GB" sz="2000" dirty="0">
                <a:latin typeface="+mn-lt"/>
                <a:cs typeface="Arial" charset="0"/>
              </a:rPr>
              <a:t> </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Evaluating what is being built throughout the process and the user experience it offers</a:t>
            </a:r>
          </a:p>
        </p:txBody>
      </p:sp>
      <p:pic>
        <p:nvPicPr>
          <p:cNvPr id="9" name="Picture 8">
            <a:extLst>
              <a:ext uri="{FF2B5EF4-FFF2-40B4-BE49-F238E27FC236}">
                <a16:creationId xmlns:a16="http://schemas.microsoft.com/office/drawing/2014/main" id="{953BC45F-7988-3EE0-9030-6E8776465BC7}"/>
              </a:ext>
            </a:extLst>
          </p:cNvPr>
          <p:cNvPicPr>
            <a:picLocks noChangeAspect="1"/>
          </p:cNvPicPr>
          <p:nvPr/>
        </p:nvPicPr>
        <p:blipFill>
          <a:blip r:embed="rId3"/>
          <a:stretch>
            <a:fillRect/>
          </a:stretch>
        </p:blipFill>
        <p:spPr>
          <a:xfrm>
            <a:off x="4727779" y="1344746"/>
            <a:ext cx="4416222" cy="3706689"/>
          </a:xfrm>
          <a:prstGeom prst="rect">
            <a:avLst/>
          </a:prstGeom>
        </p:spPr>
      </p:pic>
    </p:spTree>
    <p:extLst>
      <p:ext uri="{BB962C8B-B14F-4D97-AF65-F5344CB8AC3E}">
        <p14:creationId xmlns:p14="http://schemas.microsoft.com/office/powerpoint/2010/main" val="31075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6A07485D-5513-6094-B1F1-9B52CEFC580A}"/>
              </a:ext>
            </a:extLst>
          </p:cNvPr>
          <p:cNvSpPr txBox="1"/>
          <p:nvPr/>
        </p:nvSpPr>
        <p:spPr>
          <a:xfrm>
            <a:off x="115454" y="124752"/>
            <a:ext cx="6543964" cy="523220"/>
          </a:xfrm>
          <a:prstGeom prst="rect">
            <a:avLst/>
          </a:prstGeom>
          <a:noFill/>
        </p:spPr>
        <p:txBody>
          <a:bodyPr wrap="square">
            <a:spAutoFit/>
          </a:bodyPr>
          <a:lstStyle/>
          <a:p>
            <a:r>
              <a:rPr lang="en-US" sz="2800" dirty="0"/>
              <a:t>Core Characteristics of Interaction Design</a:t>
            </a:r>
          </a:p>
        </p:txBody>
      </p:sp>
      <p:sp>
        <p:nvSpPr>
          <p:cNvPr id="7" name="Content Placeholder 9">
            <a:extLst>
              <a:ext uri="{FF2B5EF4-FFF2-40B4-BE49-F238E27FC236}">
                <a16:creationId xmlns:a16="http://schemas.microsoft.com/office/drawing/2014/main" id="{267CD352-3F49-7CAD-633F-3B89AEC63917}"/>
              </a:ext>
            </a:extLst>
          </p:cNvPr>
          <p:cNvSpPr txBox="1">
            <a:spLocks/>
          </p:cNvSpPr>
          <p:nvPr/>
        </p:nvSpPr>
        <p:spPr>
          <a:xfrm>
            <a:off x="0" y="1103745"/>
            <a:ext cx="9107054" cy="3846946"/>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Users</a:t>
            </a:r>
            <a:r>
              <a:rPr lang="en-GB" sz="2400" dirty="0">
                <a:latin typeface="+mn-lt"/>
                <a:cs typeface="Arial" charset="0"/>
              </a:rPr>
              <a:t> should be involved through the development of the project</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Specific </a:t>
            </a:r>
            <a:r>
              <a:rPr lang="en-GB" sz="2400" b="1" dirty="0">
                <a:latin typeface="+mn-lt"/>
                <a:cs typeface="Arial" charset="0"/>
              </a:rPr>
              <a:t>usability and user experience goals</a:t>
            </a:r>
            <a:r>
              <a:rPr lang="en-GB" sz="2400" dirty="0">
                <a:latin typeface="+mn-lt"/>
                <a:cs typeface="Arial" charset="0"/>
              </a:rPr>
              <a:t>  need to be identified, clearly documented and agreed at the beginning of the project</a:t>
            </a:r>
          </a:p>
          <a:p>
            <a:pPr fontAlgn="auto">
              <a:spcBef>
                <a:spcPts val="0"/>
              </a:spcBef>
              <a:spcAft>
                <a:spcPts val="1200"/>
              </a:spcAft>
              <a:buClr>
                <a:schemeClr val="accent3">
                  <a:lumMod val="50000"/>
                </a:schemeClr>
              </a:buClr>
              <a:buFont typeface="Wingdings 2" pitchFamily="18" charset="2"/>
              <a:buChar char=""/>
              <a:defRPr/>
            </a:pPr>
            <a:endParaRPr lang="en-GB" sz="2400" b="1"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Iteration</a:t>
            </a:r>
            <a:r>
              <a:rPr lang="en-GB" sz="2400" dirty="0">
                <a:latin typeface="+mn-lt"/>
                <a:cs typeface="Arial" charset="0"/>
              </a:rPr>
              <a:t> is needed through the core activities</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pic>
        <p:nvPicPr>
          <p:cNvPr id="8" name="Picture 2" descr="Things we do: Interactive products, usability testing, ethnography and interaction design">
            <a:hlinkClick r:id="rId3" tooltip="See what we do"/>
            <a:extLst>
              <a:ext uri="{FF2B5EF4-FFF2-40B4-BE49-F238E27FC236}">
                <a16:creationId xmlns:a16="http://schemas.microsoft.com/office/drawing/2014/main" id="{A062E444-ABB7-A01F-78FC-B0A6A5CCB37F}"/>
              </a:ext>
            </a:extLst>
          </p:cNvPr>
          <p:cNvPicPr>
            <a:picLocks noChangeAspect="1" noChangeArrowheads="1"/>
          </p:cNvPicPr>
          <p:nvPr/>
        </p:nvPicPr>
        <p:blipFill>
          <a:blip r:embed="rId4" cstate="print"/>
          <a:srcRect/>
          <a:stretch>
            <a:fillRect/>
          </a:stretch>
        </p:blipFill>
        <p:spPr bwMode="auto">
          <a:xfrm>
            <a:off x="2647011" y="4273179"/>
            <a:ext cx="3813031" cy="2266570"/>
          </a:xfrm>
          <a:prstGeom prst="rect">
            <a:avLst/>
          </a:prstGeom>
          <a:noFill/>
          <a:ln w="9525">
            <a:noFill/>
            <a:miter lim="800000"/>
            <a:headEnd/>
            <a:tailEnd/>
          </a:ln>
        </p:spPr>
      </p:pic>
    </p:spTree>
    <p:extLst>
      <p:ext uri="{BB962C8B-B14F-4D97-AF65-F5344CB8AC3E}">
        <p14:creationId xmlns:p14="http://schemas.microsoft.com/office/powerpoint/2010/main" val="588016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4DBEFF6E-5B81-A63D-6E53-BF6A6F859825}"/>
              </a:ext>
            </a:extLst>
          </p:cNvPr>
          <p:cNvSpPr txBox="1"/>
          <p:nvPr/>
        </p:nvSpPr>
        <p:spPr>
          <a:xfrm>
            <a:off x="0" y="0"/>
            <a:ext cx="4572000" cy="523220"/>
          </a:xfrm>
          <a:prstGeom prst="rect">
            <a:avLst/>
          </a:prstGeom>
          <a:noFill/>
        </p:spPr>
        <p:txBody>
          <a:bodyPr wrap="square">
            <a:spAutoFit/>
          </a:bodyPr>
          <a:lstStyle/>
          <a:p>
            <a:r>
              <a:rPr lang="en-US" sz="2800" dirty="0"/>
              <a:t>Why go to this length?</a:t>
            </a:r>
          </a:p>
        </p:txBody>
      </p:sp>
      <p:sp>
        <p:nvSpPr>
          <p:cNvPr id="7" name="Content Placeholder 9">
            <a:extLst>
              <a:ext uri="{FF2B5EF4-FFF2-40B4-BE49-F238E27FC236}">
                <a16:creationId xmlns:a16="http://schemas.microsoft.com/office/drawing/2014/main" id="{F9A1C99D-BE07-C9D6-5AA6-FD914C8F5461}"/>
              </a:ext>
            </a:extLst>
          </p:cNvPr>
          <p:cNvSpPr txBox="1">
            <a:spLocks/>
          </p:cNvSpPr>
          <p:nvPr/>
        </p:nvSpPr>
        <p:spPr>
          <a:xfrm>
            <a:off x="0" y="623455"/>
            <a:ext cx="9144000" cy="4419600"/>
          </a:xfrm>
          <a:prstGeom prst="rect">
            <a:avLst/>
          </a:prstGeom>
        </p:spPr>
        <p:txBody>
          <a:bodyPr/>
          <a:lstStyle/>
          <a:p>
            <a:pPr fontAlgn="auto">
              <a:spcBef>
                <a:spcPts val="0"/>
              </a:spcBef>
              <a:spcAft>
                <a:spcPts val="1200"/>
              </a:spcAft>
              <a:buClr>
                <a:schemeClr val="accent3">
                  <a:lumMod val="50000"/>
                </a:schemeClr>
              </a:buClr>
              <a:defRPr/>
            </a:pPr>
            <a:r>
              <a:rPr lang="en-GB" sz="2400" b="1" dirty="0">
                <a:latin typeface="+mn-lt"/>
                <a:cs typeface="Arial" charset="0"/>
              </a:rPr>
              <a:t>Help designers: </a:t>
            </a:r>
          </a:p>
          <a:p>
            <a:pPr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Understand </a:t>
            </a:r>
            <a:r>
              <a:rPr lang="en-GB" sz="2400" dirty="0">
                <a:latin typeface="+mn-lt"/>
                <a:cs typeface="Arial" charset="0"/>
              </a:rPr>
              <a:t> how to design interactive products that fit with what people want, need and may desire</a:t>
            </a:r>
          </a:p>
          <a:p>
            <a:pPr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Appreciate</a:t>
            </a:r>
            <a:r>
              <a:rPr lang="en-GB" sz="2400" dirty="0">
                <a:latin typeface="+mn-lt"/>
                <a:cs typeface="Arial" charset="0"/>
              </a:rPr>
              <a:t> that one size does not fit all</a:t>
            </a:r>
          </a:p>
          <a:p>
            <a:pPr fontAlgn="auto">
              <a:spcBef>
                <a:spcPts val="0"/>
              </a:spcBef>
              <a:spcAft>
                <a:spcPts val="1200"/>
              </a:spcAft>
              <a:buClr>
                <a:schemeClr val="accent3">
                  <a:lumMod val="50000"/>
                </a:schemeClr>
              </a:buClr>
              <a:defRPr/>
            </a:pPr>
            <a:r>
              <a:rPr lang="en-GB" sz="2400" dirty="0">
                <a:latin typeface="+mn-lt"/>
                <a:cs typeface="Arial" charset="0"/>
              </a:rPr>
              <a:t>	e.g., teenagers are very different to grown-ups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Identify any </a:t>
            </a:r>
            <a:r>
              <a:rPr lang="en-GB" sz="2400" dirty="0">
                <a:effectLst>
                  <a:outerShdw blurRad="38100" dist="38100" dir="2700000" algn="tl">
                    <a:srgbClr val="000000">
                      <a:alpha val="43137"/>
                    </a:srgbClr>
                  </a:outerShdw>
                </a:effectLst>
                <a:latin typeface="+mn-lt"/>
                <a:cs typeface="Arial" charset="0"/>
              </a:rPr>
              <a:t>incorrect assumptions </a:t>
            </a:r>
            <a:r>
              <a:rPr lang="en-GB" sz="2400" dirty="0">
                <a:latin typeface="+mn-lt"/>
                <a:cs typeface="Arial" charset="0"/>
              </a:rPr>
              <a:t>they may have about particular user groups</a:t>
            </a:r>
          </a:p>
          <a:p>
            <a:pPr fontAlgn="auto">
              <a:spcBef>
                <a:spcPts val="0"/>
              </a:spcBef>
              <a:spcAft>
                <a:spcPts val="1200"/>
              </a:spcAft>
              <a:buClr>
                <a:schemeClr val="accent3">
                  <a:lumMod val="50000"/>
                </a:schemeClr>
              </a:buClr>
              <a:defRPr/>
            </a:pPr>
            <a:r>
              <a:rPr lang="en-GB" sz="2400" dirty="0">
                <a:latin typeface="+mn-lt"/>
                <a:cs typeface="Arial" charset="0"/>
              </a:rPr>
              <a:t>	e.g., not all old people want or need big fonts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be aware of both </a:t>
            </a:r>
            <a:r>
              <a:rPr lang="en-GB" sz="2400" dirty="0">
                <a:effectLst>
                  <a:outerShdw blurRad="38100" dist="38100" dir="2700000" algn="tl">
                    <a:srgbClr val="000000">
                      <a:alpha val="43137"/>
                    </a:srgbClr>
                  </a:outerShdw>
                </a:effectLst>
                <a:latin typeface="+mn-lt"/>
                <a:cs typeface="Arial" charset="0"/>
              </a:rPr>
              <a:t>people’s</a:t>
            </a:r>
            <a:r>
              <a:rPr lang="en-GB" sz="2400" dirty="0">
                <a:latin typeface="+mn-lt"/>
                <a:cs typeface="Arial" charset="0"/>
              </a:rPr>
              <a:t> sensitivities and their </a:t>
            </a:r>
            <a:r>
              <a:rPr lang="en-GB" sz="2400" dirty="0">
                <a:effectLst>
                  <a:outerShdw blurRad="38100" dist="38100" dir="2700000" algn="tl">
                    <a:srgbClr val="000000">
                      <a:alpha val="43137"/>
                    </a:srgbClr>
                  </a:outerShdw>
                </a:effectLst>
                <a:latin typeface="+mn-lt"/>
                <a:cs typeface="Arial" charset="0"/>
              </a:rPr>
              <a:t>capabilities</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426225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8" name="TextBox 7">
            <a:extLst>
              <a:ext uri="{FF2B5EF4-FFF2-40B4-BE49-F238E27FC236}">
                <a16:creationId xmlns:a16="http://schemas.microsoft.com/office/drawing/2014/main" id="{CD8E0246-2C21-E16F-F970-C78E0EAD78FC}"/>
              </a:ext>
            </a:extLst>
          </p:cNvPr>
          <p:cNvSpPr txBox="1"/>
          <p:nvPr/>
        </p:nvSpPr>
        <p:spPr>
          <a:xfrm>
            <a:off x="0" y="0"/>
            <a:ext cx="4572000" cy="369332"/>
          </a:xfrm>
          <a:prstGeom prst="rect">
            <a:avLst/>
          </a:prstGeom>
          <a:noFill/>
        </p:spPr>
        <p:txBody>
          <a:bodyPr wrap="square">
            <a:spAutoFit/>
          </a:bodyPr>
          <a:lstStyle/>
          <a:p>
            <a:r>
              <a:rPr lang="en-IN" dirty="0"/>
              <a:t>Are Cultural Differences Important?</a:t>
            </a:r>
          </a:p>
        </p:txBody>
      </p:sp>
      <p:sp>
        <p:nvSpPr>
          <p:cNvPr id="9" name="Content Placeholder 9">
            <a:extLst>
              <a:ext uri="{FF2B5EF4-FFF2-40B4-BE49-F238E27FC236}">
                <a16:creationId xmlns:a16="http://schemas.microsoft.com/office/drawing/2014/main" id="{9952A727-03D9-6992-B49E-23E8746281D4}"/>
              </a:ext>
            </a:extLst>
          </p:cNvPr>
          <p:cNvSpPr txBox="1">
            <a:spLocks/>
          </p:cNvSpPr>
          <p:nvPr/>
        </p:nvSpPr>
        <p:spPr>
          <a:xfrm>
            <a:off x="0" y="521855"/>
            <a:ext cx="9144000" cy="2036618"/>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5/21/1960 versus 21/5/1960?</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Which should be used for international services and online forms?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Examples of websites that are reacted differently by people from different cultures?</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p:txBody>
      </p:sp>
      <p:pic>
        <p:nvPicPr>
          <p:cNvPr id="10" name="Picture 4" descr="http://newscafee.com/cafee/media/images/32(202).jpg">
            <a:hlinkClick r:id="rId4"/>
            <a:extLst>
              <a:ext uri="{FF2B5EF4-FFF2-40B4-BE49-F238E27FC236}">
                <a16:creationId xmlns:a16="http://schemas.microsoft.com/office/drawing/2014/main" id="{FDC8FF1B-9FB0-AE43-FD54-F31227FBE2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003875">
            <a:off x="443651" y="2558473"/>
            <a:ext cx="1929222" cy="12461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D37D310-8894-70DD-D69D-ED22E00B153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40665" y="3810799"/>
            <a:ext cx="1969335" cy="18984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6" name="Picture 2" descr="Flipkart-logo - Dherbal">
            <a:extLst>
              <a:ext uri="{FF2B5EF4-FFF2-40B4-BE49-F238E27FC236}">
                <a16:creationId xmlns:a16="http://schemas.microsoft.com/office/drawing/2014/main" id="{FF0B7A12-D325-BB85-B49D-998A717577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2514600"/>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une Mahanagar Parivahan Mahamandal Limited to set up 9 new bus shelters in  Pune Cantt limits | Pune News - Times of India">
            <a:extLst>
              <a:ext uri="{FF2B5EF4-FFF2-40B4-BE49-F238E27FC236}">
                <a16:creationId xmlns:a16="http://schemas.microsoft.com/office/drawing/2014/main" id="{3A5F0120-4A8B-9308-F066-2BE077B163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4529137"/>
            <a:ext cx="38100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oft Unveils Redesigned Windows Logo : The Two-Way : NPR">
            <a:extLst>
              <a:ext uri="{FF2B5EF4-FFF2-40B4-BE49-F238E27FC236}">
                <a16:creationId xmlns:a16="http://schemas.microsoft.com/office/drawing/2014/main" id="{D2E3CCE9-D868-CD3E-DEC9-CFB1DC9BB4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376" y="5230832"/>
            <a:ext cx="1499290" cy="14688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oogle png images | PNGWing">
            <a:extLst>
              <a:ext uri="{FF2B5EF4-FFF2-40B4-BE49-F238E27FC236}">
                <a16:creationId xmlns:a16="http://schemas.microsoft.com/office/drawing/2014/main" id="{31B652E8-17F9-69A4-D8F1-2FA18AD30E7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rot="1412344">
            <a:off x="6213374" y="2407915"/>
            <a:ext cx="1663327" cy="16271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56E0C5A-2208-CDA7-25F3-1E5FE6AC5E0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681333" y="4998763"/>
            <a:ext cx="1748376" cy="1766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89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8" name="TextBox 7">
            <a:extLst>
              <a:ext uri="{FF2B5EF4-FFF2-40B4-BE49-F238E27FC236}">
                <a16:creationId xmlns:a16="http://schemas.microsoft.com/office/drawing/2014/main" id="{0D844A10-712D-DE16-F89B-13437F088816}"/>
              </a:ext>
            </a:extLst>
          </p:cNvPr>
          <p:cNvSpPr txBox="1"/>
          <p:nvPr/>
        </p:nvSpPr>
        <p:spPr>
          <a:xfrm>
            <a:off x="133928" y="0"/>
            <a:ext cx="4572000" cy="523220"/>
          </a:xfrm>
          <a:prstGeom prst="rect">
            <a:avLst/>
          </a:prstGeom>
          <a:noFill/>
        </p:spPr>
        <p:txBody>
          <a:bodyPr wrap="square">
            <a:spAutoFit/>
          </a:bodyPr>
          <a:lstStyle/>
          <a:p>
            <a:r>
              <a:rPr lang="en-IN" sz="2800" dirty="0"/>
              <a:t>Virtual Agents, Avatars…</a:t>
            </a:r>
          </a:p>
        </p:txBody>
      </p:sp>
      <p:pic>
        <p:nvPicPr>
          <p:cNvPr id="9" name="Picture 6" descr="INTAgents.JPG">
            <a:extLst>
              <a:ext uri="{FF2B5EF4-FFF2-40B4-BE49-F238E27FC236}">
                <a16:creationId xmlns:a16="http://schemas.microsoft.com/office/drawing/2014/main" id="{53053627-AA8E-7151-119F-551BBACC903C}"/>
              </a:ext>
            </a:extLst>
          </p:cNvPr>
          <p:cNvPicPr>
            <a:picLocks noChangeAspect="1"/>
          </p:cNvPicPr>
          <p:nvPr/>
        </p:nvPicPr>
        <p:blipFill>
          <a:blip r:embed="rId3" cstate="print"/>
          <a:srcRect/>
          <a:stretch>
            <a:fillRect/>
          </a:stretch>
        </p:blipFill>
        <p:spPr bwMode="auto">
          <a:xfrm>
            <a:off x="0" y="1063770"/>
            <a:ext cx="7950921" cy="5375138"/>
          </a:xfrm>
          <a:prstGeom prst="rect">
            <a:avLst/>
          </a:prstGeom>
          <a:noFill/>
          <a:ln w="9525">
            <a:noFill/>
            <a:miter lim="800000"/>
            <a:headEnd/>
            <a:tailEnd/>
          </a:ln>
        </p:spPr>
      </p:pic>
    </p:spTree>
    <p:extLst>
      <p:ext uri="{BB962C8B-B14F-4D97-AF65-F5344CB8AC3E}">
        <p14:creationId xmlns:p14="http://schemas.microsoft.com/office/powerpoint/2010/main" val="317230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64B45D7D-A1D1-E7F6-3152-3933D26D8A35}"/>
              </a:ext>
            </a:extLst>
          </p:cNvPr>
          <p:cNvSpPr txBox="1"/>
          <p:nvPr/>
        </p:nvSpPr>
        <p:spPr>
          <a:xfrm>
            <a:off x="0" y="180171"/>
            <a:ext cx="5994400" cy="461665"/>
          </a:xfrm>
          <a:prstGeom prst="rect">
            <a:avLst/>
          </a:prstGeom>
          <a:noFill/>
        </p:spPr>
        <p:txBody>
          <a:bodyPr wrap="square">
            <a:spAutoFit/>
          </a:bodyPr>
          <a:lstStyle/>
          <a:p>
            <a:r>
              <a:rPr lang="en-US" sz="2400" dirty="0"/>
              <a:t>Elements of the User Experience (UX)</a:t>
            </a:r>
          </a:p>
        </p:txBody>
      </p:sp>
      <p:pic>
        <p:nvPicPr>
          <p:cNvPr id="10" name="Picture 2">
            <a:extLst>
              <a:ext uri="{FF2B5EF4-FFF2-40B4-BE49-F238E27FC236}">
                <a16:creationId xmlns:a16="http://schemas.microsoft.com/office/drawing/2014/main" id="{8F2FB4AB-10C4-18C6-8EB1-AA7C8630A051}"/>
              </a:ext>
            </a:extLst>
          </p:cNvPr>
          <p:cNvPicPr>
            <a:picLocks noChangeAspect="1" noChangeArrowheads="1"/>
          </p:cNvPicPr>
          <p:nvPr/>
        </p:nvPicPr>
        <p:blipFill>
          <a:blip r:embed="rId3" cstate="print"/>
          <a:srcRect/>
          <a:stretch>
            <a:fillRect/>
          </a:stretch>
        </p:blipFill>
        <p:spPr bwMode="auto">
          <a:xfrm>
            <a:off x="83129" y="1313704"/>
            <a:ext cx="9060872" cy="4546570"/>
          </a:xfrm>
          <a:prstGeom prst="rect">
            <a:avLst/>
          </a:prstGeom>
          <a:noFill/>
          <a:ln w="9525">
            <a:noFill/>
            <a:miter lim="800000"/>
            <a:headEnd/>
            <a:tailEnd/>
          </a:ln>
        </p:spPr>
      </p:pic>
    </p:spTree>
    <p:extLst>
      <p:ext uri="{BB962C8B-B14F-4D97-AF65-F5344CB8AC3E}">
        <p14:creationId xmlns:p14="http://schemas.microsoft.com/office/powerpoint/2010/main" val="2785964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2F98CD3C-49D3-AF0D-E43B-E3C529110D9C}"/>
              </a:ext>
            </a:extLst>
          </p:cNvPr>
          <p:cNvSpPr txBox="1"/>
          <p:nvPr/>
        </p:nvSpPr>
        <p:spPr>
          <a:xfrm>
            <a:off x="0" y="0"/>
            <a:ext cx="4572000" cy="523220"/>
          </a:xfrm>
          <a:prstGeom prst="rect">
            <a:avLst/>
          </a:prstGeom>
          <a:noFill/>
        </p:spPr>
        <p:txBody>
          <a:bodyPr wrap="square">
            <a:spAutoFit/>
          </a:bodyPr>
          <a:lstStyle/>
          <a:p>
            <a:r>
              <a:rPr lang="en-IN" sz="2800" dirty="0"/>
              <a:t>Usability Goals</a:t>
            </a:r>
          </a:p>
        </p:txBody>
      </p:sp>
      <p:sp>
        <p:nvSpPr>
          <p:cNvPr id="8" name="Content Placeholder 9">
            <a:extLst>
              <a:ext uri="{FF2B5EF4-FFF2-40B4-BE49-F238E27FC236}">
                <a16:creationId xmlns:a16="http://schemas.microsoft.com/office/drawing/2014/main" id="{F21CE005-DD12-7FC5-9493-82F1D26DD018}"/>
              </a:ext>
            </a:extLst>
          </p:cNvPr>
          <p:cNvSpPr txBox="1">
            <a:spLocks/>
          </p:cNvSpPr>
          <p:nvPr/>
        </p:nvSpPr>
        <p:spPr>
          <a:xfrm>
            <a:off x="-1" y="757743"/>
            <a:ext cx="2733965" cy="464553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Effective to use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Efficient to use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Safe to use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Have good utility</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Easy to learn</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Easy to remember how to use</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
        <p:nvSpPr>
          <p:cNvPr id="9" name="Content Placeholder 9">
            <a:extLst>
              <a:ext uri="{FF2B5EF4-FFF2-40B4-BE49-F238E27FC236}">
                <a16:creationId xmlns:a16="http://schemas.microsoft.com/office/drawing/2014/main" id="{1B12EC93-DCBF-DBD1-1672-C1EC5C836205}"/>
              </a:ext>
            </a:extLst>
          </p:cNvPr>
          <p:cNvSpPr txBox="1">
            <a:spLocks/>
          </p:cNvSpPr>
          <p:nvPr/>
        </p:nvSpPr>
        <p:spPr>
          <a:xfrm>
            <a:off x="2946400" y="-1"/>
            <a:ext cx="6197600" cy="5865091"/>
          </a:xfrm>
          <a:prstGeom prst="rect">
            <a:avLst/>
          </a:prstGeom>
          <a:solidFill>
            <a:schemeClr val="accent1">
              <a:lumMod val="20000"/>
              <a:lumOff val="80000"/>
            </a:schemeClr>
          </a:solidFill>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Effectiveness</a:t>
            </a:r>
            <a:r>
              <a:rPr lang="en-GB" sz="2400" dirty="0">
                <a:latin typeface="+mn-lt"/>
                <a:cs typeface="Arial" charset="0"/>
              </a:rPr>
              <a:t>: refers to how good a product is at doing what it is supposed to do. (the </a:t>
            </a:r>
            <a:r>
              <a:rPr lang="en-GB" sz="2400" b="1" dirty="0">
                <a:effectLst>
                  <a:outerShdw blurRad="38100" dist="38100" dir="2700000" algn="tl">
                    <a:srgbClr val="000000">
                      <a:alpha val="43137"/>
                    </a:srgbClr>
                  </a:outerShdw>
                </a:effectLst>
                <a:latin typeface="+mn-lt"/>
                <a:cs typeface="Arial" charset="0"/>
              </a:rPr>
              <a:t>expected result</a:t>
            </a:r>
            <a:r>
              <a:rPr lang="en-GB" sz="2400" dirty="0">
                <a:latin typeface="+mn-lt"/>
                <a:cs typeface="Arial" charset="0"/>
              </a:rPr>
              <a:t>)</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Is the product capable of allowing people to learn, carry out their work effectively, access the info they need, or buy the goods they want?</a:t>
            </a: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Efficiency</a:t>
            </a:r>
            <a:r>
              <a:rPr lang="en-GB" sz="2400" dirty="0">
                <a:latin typeface="+mn-lt"/>
                <a:cs typeface="Arial" charset="0"/>
              </a:rPr>
              <a:t>: refers to the way a product support users in carrying their common tasks with the least waste of </a:t>
            </a:r>
            <a:r>
              <a:rPr lang="en-GB" sz="2400" b="1" dirty="0">
                <a:effectLst>
                  <a:outerShdw blurRad="38100" dist="38100" dir="2700000" algn="tl">
                    <a:srgbClr val="000000">
                      <a:alpha val="43137"/>
                    </a:srgbClr>
                  </a:outerShdw>
                </a:effectLst>
                <a:latin typeface="+mn-lt"/>
                <a:cs typeface="Arial" charset="0"/>
              </a:rPr>
              <a:t>time and effort</a:t>
            </a:r>
            <a:r>
              <a:rPr lang="en-GB" sz="2400" dirty="0">
                <a:latin typeface="+mn-lt"/>
                <a:cs typeface="Arial" charset="0"/>
              </a:rPr>
              <a:t>.             (ex: online shopping, one-click option)</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Once users have learned how to use a product to carry out their tasks, can they sustain a high level of productivity? </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pic>
        <p:nvPicPr>
          <p:cNvPr id="10" name="Picture 2" descr="url">
            <a:extLst>
              <a:ext uri="{FF2B5EF4-FFF2-40B4-BE49-F238E27FC236}">
                <a16:creationId xmlns:a16="http://schemas.microsoft.com/office/drawing/2014/main" id="{13A61C82-9B02-E8BC-2721-8A06881F0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71" y="4313826"/>
            <a:ext cx="2760059" cy="147600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59C2AED-7A4B-3FA7-ADFF-BA9774B95B8C}"/>
              </a:ext>
            </a:extLst>
          </p:cNvPr>
          <p:cNvSpPr txBox="1"/>
          <p:nvPr/>
        </p:nvSpPr>
        <p:spPr>
          <a:xfrm>
            <a:off x="93170" y="5899880"/>
            <a:ext cx="7831629" cy="707886"/>
          </a:xfrm>
          <a:prstGeom prst="rect">
            <a:avLst/>
          </a:prstGeom>
          <a:noFill/>
        </p:spPr>
        <p:txBody>
          <a:bodyPr wrap="square">
            <a:spAutoFit/>
          </a:bodyPr>
          <a:lstStyle/>
          <a:p>
            <a:r>
              <a:rPr lang="en-US" sz="2000" dirty="0">
                <a:solidFill>
                  <a:schemeClr val="accent3">
                    <a:lumMod val="75000"/>
                  </a:schemeClr>
                </a:solidFill>
              </a:rPr>
              <a:t>Being </a:t>
            </a:r>
            <a:r>
              <a:rPr lang="en-US" sz="2000" dirty="0">
                <a:solidFill>
                  <a:schemeClr val="accent3">
                    <a:lumMod val="75000"/>
                  </a:schemeClr>
                </a:solidFill>
                <a:effectLst>
                  <a:outerShdw blurRad="38100" dist="38100" dir="2700000" algn="tl">
                    <a:srgbClr val="000000">
                      <a:alpha val="43137"/>
                    </a:srgbClr>
                  </a:outerShdw>
                </a:effectLst>
              </a:rPr>
              <a:t>effective</a:t>
            </a:r>
            <a:r>
              <a:rPr lang="en-US" sz="2000" dirty="0">
                <a:solidFill>
                  <a:schemeClr val="accent3">
                    <a:lumMod val="75000"/>
                  </a:schemeClr>
                </a:solidFill>
              </a:rPr>
              <a:t> is about doing the right things, while being </a:t>
            </a:r>
            <a:r>
              <a:rPr lang="en-US" sz="2000" dirty="0">
                <a:solidFill>
                  <a:schemeClr val="accent3">
                    <a:lumMod val="75000"/>
                  </a:schemeClr>
                </a:solidFill>
                <a:effectLst>
                  <a:outerShdw blurRad="38100" dist="38100" dir="2700000" algn="tl">
                    <a:srgbClr val="000000">
                      <a:alpha val="43137"/>
                    </a:srgbClr>
                  </a:outerShdw>
                </a:effectLst>
              </a:rPr>
              <a:t>efficient</a:t>
            </a:r>
            <a:r>
              <a:rPr lang="en-US" sz="2000" dirty="0">
                <a:solidFill>
                  <a:schemeClr val="accent3">
                    <a:lumMod val="75000"/>
                  </a:schemeClr>
                </a:solidFill>
              </a:rPr>
              <a:t> is about doing the things in the right manner.. </a:t>
            </a:r>
            <a:endParaRPr lang="en-IN" sz="2000" dirty="0"/>
          </a:p>
        </p:txBody>
      </p:sp>
    </p:spTree>
    <p:extLst>
      <p:ext uri="{BB962C8B-B14F-4D97-AF65-F5344CB8AC3E}">
        <p14:creationId xmlns:p14="http://schemas.microsoft.com/office/powerpoint/2010/main" val="3389598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852AC2E8-341E-8ACB-B151-AD58754A930C}"/>
              </a:ext>
            </a:extLst>
          </p:cNvPr>
          <p:cNvSpPr txBox="1">
            <a:spLocks/>
          </p:cNvSpPr>
          <p:nvPr/>
        </p:nvSpPr>
        <p:spPr>
          <a:xfrm>
            <a:off x="64655" y="1041884"/>
            <a:ext cx="9079345" cy="5816116"/>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Safety</a:t>
            </a:r>
            <a:r>
              <a:rPr lang="en-GB" sz="2400" dirty="0">
                <a:latin typeface="+mn-lt"/>
                <a:cs typeface="Arial" charset="0"/>
              </a:rPr>
              <a:t>: involves protecting the user from dangerous conditions and undesirable situations.</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what is the range of </a:t>
            </a:r>
            <a:r>
              <a:rPr lang="en-GB" sz="2400" b="1" dirty="0">
                <a:effectLst>
                  <a:outerShdw blurRad="38100" dist="38100" dir="2700000" algn="tl">
                    <a:srgbClr val="000000">
                      <a:alpha val="43137"/>
                    </a:srgbClr>
                  </a:outerShdw>
                </a:effectLst>
                <a:latin typeface="+mn-lt"/>
                <a:cs typeface="Arial" charset="0"/>
              </a:rPr>
              <a:t>errors</a:t>
            </a:r>
            <a:r>
              <a:rPr lang="en-GB" sz="2400" dirty="0">
                <a:effectLst>
                  <a:outerShdw blurRad="38100" dist="38100" dir="2700000" algn="tl">
                    <a:srgbClr val="000000">
                      <a:alpha val="43137"/>
                    </a:srgbClr>
                  </a:outerShdw>
                </a:effectLst>
                <a:latin typeface="+mn-lt"/>
                <a:cs typeface="Arial" charset="0"/>
              </a:rPr>
              <a:t> that are possible using the product and what measures are there to permit users to recover easily from them?</a:t>
            </a:r>
          </a:p>
          <a:p>
            <a:pPr lvl="1" fontAlgn="auto">
              <a:spcBef>
                <a:spcPts val="0"/>
              </a:spcBef>
              <a:spcAft>
                <a:spcPts val="1200"/>
              </a:spcAft>
              <a:buClr>
                <a:schemeClr val="accent3">
                  <a:lumMod val="50000"/>
                </a:schemeClr>
              </a:buClr>
              <a:buFont typeface="Wingdings 2" pitchFamily="18" charset="2"/>
              <a:buChar char=""/>
              <a:defRPr/>
            </a:pPr>
            <a:endParaRPr lang="en-GB" sz="2400" dirty="0">
              <a:effectLst>
                <a:outerShdw blurRad="38100" dist="38100" dir="2700000" algn="tl">
                  <a:srgbClr val="000000">
                    <a:alpha val="43137"/>
                  </a:srgbClr>
                </a:outerShdw>
              </a:effectLst>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Utility</a:t>
            </a:r>
            <a:r>
              <a:rPr lang="en-GB" sz="2400" dirty="0">
                <a:latin typeface="+mn-lt"/>
                <a:cs typeface="Arial" charset="0"/>
              </a:rPr>
              <a:t>: refers to the extent to which the product provides the right kind of functionality so that users can do what they need or want to do. (ex: drawing tools)</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Does the product provide an appropriate set of functions that will enable users to carry out all their tasks in the way they want to do them?  </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157106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64FAAD0E-A601-06CC-4DFE-6744CB5DF22B}"/>
              </a:ext>
            </a:extLst>
          </p:cNvPr>
          <p:cNvSpPr txBox="1">
            <a:spLocks/>
          </p:cNvSpPr>
          <p:nvPr/>
        </p:nvSpPr>
        <p:spPr>
          <a:xfrm>
            <a:off x="0" y="1041884"/>
            <a:ext cx="9144000" cy="5816116"/>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Learnability</a:t>
            </a:r>
            <a:r>
              <a:rPr lang="en-GB" sz="2400" dirty="0">
                <a:latin typeface="+mn-lt"/>
                <a:cs typeface="Arial" charset="0"/>
              </a:rPr>
              <a:t>: refers to how easy a system is to learn to use.</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is it possible for the user to work out how to use the product by exploring the interface and trying out certain actions? How hard will it be to learn the whole set of functions in this way?</a:t>
            </a:r>
          </a:p>
          <a:p>
            <a:pPr lvl="1" fontAlgn="auto">
              <a:spcBef>
                <a:spcPts val="0"/>
              </a:spcBef>
              <a:spcAft>
                <a:spcPts val="1200"/>
              </a:spcAft>
              <a:buClr>
                <a:schemeClr val="accent3">
                  <a:lumMod val="50000"/>
                </a:schemeClr>
              </a:buClr>
              <a:buFont typeface="Wingdings 2" pitchFamily="18" charset="2"/>
              <a:buChar char=""/>
              <a:defRPr/>
            </a:pPr>
            <a:endParaRPr lang="en-GB" sz="2400" dirty="0">
              <a:effectLst>
                <a:outerShdw blurRad="38100" dist="38100" dir="2700000" algn="tl">
                  <a:srgbClr val="000000">
                    <a:alpha val="43137"/>
                  </a:srgbClr>
                </a:outerShdw>
              </a:effectLst>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b="1" dirty="0">
                <a:latin typeface="+mn-lt"/>
                <a:cs typeface="Arial" charset="0"/>
              </a:rPr>
              <a:t>Memorability</a:t>
            </a:r>
            <a:r>
              <a:rPr lang="en-GB" sz="2400" dirty="0">
                <a:latin typeface="+mn-lt"/>
                <a:cs typeface="Arial" charset="0"/>
              </a:rPr>
              <a:t>: refers to how easy a product is to remember how to use, once learned. </a:t>
            </a:r>
          </a:p>
          <a:p>
            <a:pPr lvl="1" fontAlgn="auto">
              <a:spcBef>
                <a:spcPts val="0"/>
              </a:spcBef>
              <a:spcAft>
                <a:spcPts val="1200"/>
              </a:spcAft>
              <a:buClr>
                <a:schemeClr val="accent3">
                  <a:lumMod val="50000"/>
                </a:schemeClr>
              </a:buClr>
              <a:buFont typeface="Wingdings 2" pitchFamily="18" charset="2"/>
              <a:buChar char=""/>
              <a:defRPr/>
            </a:pPr>
            <a:r>
              <a:rPr lang="en-GB" sz="2400" dirty="0">
                <a:effectLst>
                  <a:outerShdw blurRad="38100" dist="38100" dir="2700000" algn="tl">
                    <a:srgbClr val="000000">
                      <a:alpha val="43137"/>
                    </a:srgbClr>
                  </a:outerShdw>
                </a:effectLst>
                <a:latin typeface="+mn-lt"/>
                <a:cs typeface="Arial" charset="0"/>
              </a:rPr>
              <a:t>Q: what kinds of interface support have been provided to help users remember how to carry out tasks, especially for products and operations they use infrequently?</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3119326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0344F014-45BB-5BBF-C4AC-73E1454FC0C9}"/>
              </a:ext>
            </a:extLst>
          </p:cNvPr>
          <p:cNvSpPr txBox="1"/>
          <p:nvPr/>
        </p:nvSpPr>
        <p:spPr>
          <a:xfrm>
            <a:off x="0" y="87806"/>
            <a:ext cx="4572000" cy="523220"/>
          </a:xfrm>
          <a:prstGeom prst="rect">
            <a:avLst/>
          </a:prstGeom>
          <a:noFill/>
        </p:spPr>
        <p:txBody>
          <a:bodyPr wrap="square">
            <a:spAutoFit/>
          </a:bodyPr>
          <a:lstStyle/>
          <a:p>
            <a:r>
              <a:rPr lang="en-IN" sz="2800" b="1" dirty="0"/>
              <a:t>User Experience (UX) Goals</a:t>
            </a:r>
          </a:p>
        </p:txBody>
      </p:sp>
      <p:sp>
        <p:nvSpPr>
          <p:cNvPr id="8" name="Content Placeholder 9">
            <a:extLst>
              <a:ext uri="{FF2B5EF4-FFF2-40B4-BE49-F238E27FC236}">
                <a16:creationId xmlns:a16="http://schemas.microsoft.com/office/drawing/2014/main" id="{03F5B90C-85B3-65AD-9770-4C33B9CB37BE}"/>
              </a:ext>
            </a:extLst>
          </p:cNvPr>
          <p:cNvSpPr txBox="1">
            <a:spLocks/>
          </p:cNvSpPr>
          <p:nvPr/>
        </p:nvSpPr>
        <p:spPr>
          <a:xfrm>
            <a:off x="190500" y="1316182"/>
            <a:ext cx="8763000" cy="4419600"/>
          </a:xfrm>
          <a:prstGeom prst="rect">
            <a:avLst/>
          </a:prstGeom>
        </p:spPr>
        <p:txBody>
          <a:bodyPr/>
          <a:lstStyle/>
          <a:p>
            <a:pPr fontAlgn="auto">
              <a:spcBef>
                <a:spcPts val="0"/>
              </a:spcBef>
              <a:spcAft>
                <a:spcPts val="0"/>
              </a:spcAft>
              <a:buClr>
                <a:schemeClr val="accent3">
                  <a:lumMod val="50000"/>
                </a:schemeClr>
              </a:buClr>
              <a:defRPr/>
            </a:pPr>
            <a:r>
              <a:rPr lang="en-GB" sz="2400" dirty="0">
                <a:latin typeface="Arial" charset="0"/>
                <a:cs typeface="Arial" charset="0"/>
                <a:sym typeface="Wingdings"/>
              </a:rPr>
              <a:t></a:t>
            </a:r>
            <a:r>
              <a:rPr lang="en-GB" sz="2400" dirty="0">
                <a:latin typeface="Arial" charset="0"/>
                <a:cs typeface="Arial" charset="0"/>
              </a:rPr>
              <a:t> 	</a:t>
            </a:r>
            <a:r>
              <a:rPr lang="en-GB" sz="2400" dirty="0">
                <a:latin typeface="+mn-lt"/>
                <a:cs typeface="Arial" charset="0"/>
              </a:rPr>
              <a:t>satisfying		</a:t>
            </a:r>
            <a:r>
              <a:rPr lang="en-GB" sz="2400" dirty="0">
                <a:latin typeface="Arial" charset="0"/>
                <a:cs typeface="Arial" charset="0"/>
                <a:sym typeface="Wingdings"/>
              </a:rPr>
              <a:t> </a:t>
            </a:r>
            <a:r>
              <a:rPr lang="en-GB" sz="2400" dirty="0">
                <a:latin typeface="+mn-lt"/>
                <a:cs typeface="Arial" charset="0"/>
              </a:rPr>
              <a:t> aesthetically pleasing</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enjoyable	 	</a:t>
            </a:r>
            <a:r>
              <a:rPr lang="en-GB" sz="2400" dirty="0">
                <a:latin typeface="Arial" charset="0"/>
                <a:cs typeface="Arial" charset="0"/>
                <a:sym typeface="Wingdings"/>
              </a:rPr>
              <a:t> </a:t>
            </a:r>
            <a:r>
              <a:rPr lang="en-GB" sz="2400" dirty="0">
                <a:latin typeface="+mn-lt"/>
                <a:cs typeface="Arial" charset="0"/>
              </a:rPr>
              <a:t> supportive of creativity</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engaging		</a:t>
            </a:r>
            <a:r>
              <a:rPr lang="en-GB" sz="2400" dirty="0">
                <a:latin typeface="Arial" charset="0"/>
                <a:cs typeface="Arial" charset="0"/>
                <a:sym typeface="Wingdings"/>
              </a:rPr>
              <a:t> </a:t>
            </a:r>
            <a:r>
              <a:rPr lang="en-GB" sz="2400" dirty="0">
                <a:latin typeface="Arial" charset="0"/>
                <a:cs typeface="Arial" charset="0"/>
              </a:rPr>
              <a:t> challenging</a:t>
            </a:r>
            <a:endParaRPr lang="en-GB" sz="2400" strike="sngStrike" dirty="0">
              <a:latin typeface="+mn-lt"/>
              <a:cs typeface="Arial" charset="0"/>
            </a:endParaRP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pleasurable		</a:t>
            </a:r>
            <a:r>
              <a:rPr lang="en-GB" sz="2400" dirty="0">
                <a:latin typeface="Arial" charset="0"/>
                <a:cs typeface="Arial" charset="0"/>
                <a:sym typeface="Wingdings"/>
              </a:rPr>
              <a:t> </a:t>
            </a:r>
            <a:r>
              <a:rPr lang="en-GB" sz="2400" dirty="0">
                <a:latin typeface="+mn-lt"/>
                <a:cs typeface="Arial" charset="0"/>
              </a:rPr>
              <a:t> rewarding</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exciting		</a:t>
            </a:r>
            <a:r>
              <a:rPr lang="en-GB" sz="2400" dirty="0">
                <a:latin typeface="Arial" charset="0"/>
                <a:cs typeface="Arial" charset="0"/>
                <a:sym typeface="Wingdings"/>
              </a:rPr>
              <a:t> </a:t>
            </a:r>
            <a:r>
              <a:rPr lang="en-GB" sz="2400" dirty="0">
                <a:latin typeface="+mn-lt"/>
                <a:cs typeface="Arial" charset="0"/>
              </a:rPr>
              <a:t> fun</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entertaining		</a:t>
            </a:r>
            <a:r>
              <a:rPr lang="en-GB" sz="2400" dirty="0">
                <a:latin typeface="Arial" charset="0"/>
                <a:cs typeface="Arial" charset="0"/>
                <a:sym typeface="Wingdings"/>
              </a:rPr>
              <a:t> </a:t>
            </a:r>
            <a:r>
              <a:rPr lang="en-GB" sz="2400" dirty="0">
                <a:latin typeface="+mn-lt"/>
                <a:cs typeface="Arial" charset="0"/>
              </a:rPr>
              <a:t> provocative</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helpful			</a:t>
            </a:r>
            <a:r>
              <a:rPr lang="en-GB" sz="2400" dirty="0">
                <a:latin typeface="Arial" charset="0"/>
                <a:cs typeface="Arial" charset="0"/>
                <a:sym typeface="Wingdings"/>
              </a:rPr>
              <a:t>  </a:t>
            </a:r>
            <a:r>
              <a:rPr lang="en-GB" sz="2400" dirty="0">
                <a:latin typeface="+mn-lt"/>
                <a:cs typeface="Arial" charset="0"/>
              </a:rPr>
              <a:t>surprising</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motivating		</a:t>
            </a:r>
            <a:r>
              <a:rPr lang="en-GB" sz="2400" dirty="0">
                <a:latin typeface="Arial" charset="0"/>
                <a:cs typeface="Arial" charset="0"/>
                <a:sym typeface="Wingdings"/>
              </a:rPr>
              <a:t>  </a:t>
            </a:r>
            <a:r>
              <a:rPr lang="en-GB" sz="2400" dirty="0">
                <a:latin typeface="+mn-lt"/>
                <a:cs typeface="Arial" charset="0"/>
              </a:rPr>
              <a:t>enhancing sociability</a:t>
            </a:r>
          </a:p>
          <a:p>
            <a:pPr fontAlgn="auto">
              <a:spcBef>
                <a:spcPts val="0"/>
              </a:spcBef>
              <a:spcAft>
                <a:spcPts val="0"/>
              </a:spcAft>
              <a:buClr>
                <a:schemeClr val="accent3">
                  <a:lumMod val="50000"/>
                </a:schemeClr>
              </a:buClr>
              <a:defRPr/>
            </a:pPr>
            <a:r>
              <a:rPr lang="en-GB" sz="2400" dirty="0">
                <a:latin typeface="Arial" charset="0"/>
                <a:cs typeface="Arial" charset="0"/>
                <a:sym typeface="Wingdings"/>
              </a:rPr>
              <a:t> </a:t>
            </a:r>
            <a:r>
              <a:rPr lang="en-GB" sz="2400" dirty="0">
                <a:latin typeface="+mn-lt"/>
                <a:cs typeface="Arial" charset="0"/>
              </a:rPr>
              <a:t>	emotionally fulfilling	</a:t>
            </a:r>
          </a:p>
          <a:p>
            <a:pPr fontAlgn="auto">
              <a:spcBef>
                <a:spcPts val="0"/>
              </a:spcBef>
              <a:spcAft>
                <a:spcPts val="0"/>
              </a:spcAft>
              <a:buClr>
                <a:schemeClr val="accent3">
                  <a:lumMod val="50000"/>
                </a:schemeClr>
              </a:buClr>
              <a:defRPr/>
            </a:pPr>
            <a:endParaRPr lang="en-GB" sz="2400" dirty="0">
              <a:latin typeface="+mn-lt"/>
              <a:cs typeface="Arial" charset="0"/>
            </a:endParaRPr>
          </a:p>
          <a:p>
            <a:pPr fontAlgn="auto">
              <a:spcBef>
                <a:spcPts val="0"/>
              </a:spcBef>
              <a:spcAft>
                <a:spcPts val="0"/>
              </a:spcAft>
              <a:buClr>
                <a:schemeClr val="accent3">
                  <a:lumMod val="50000"/>
                </a:schemeClr>
              </a:buClr>
              <a:defRPr/>
            </a:pPr>
            <a:r>
              <a:rPr lang="en-GB" sz="2400" dirty="0">
                <a:solidFill>
                  <a:schemeClr val="accent1">
                    <a:lumMod val="50000"/>
                  </a:schemeClr>
                </a:solidFill>
                <a:latin typeface="Arial" charset="0"/>
                <a:cs typeface="Arial" charset="0"/>
                <a:sym typeface="Wingdings"/>
              </a:rPr>
              <a:t></a:t>
            </a:r>
            <a:r>
              <a:rPr lang="en-GB" sz="2400" dirty="0">
                <a:solidFill>
                  <a:schemeClr val="accent1">
                    <a:lumMod val="50000"/>
                  </a:schemeClr>
                </a:solidFill>
                <a:latin typeface="+mn-lt"/>
                <a:cs typeface="Arial" charset="0"/>
              </a:rPr>
              <a:t> 	boring			</a:t>
            </a:r>
            <a:r>
              <a:rPr lang="en-GB" sz="2400" dirty="0">
                <a:solidFill>
                  <a:schemeClr val="accent1">
                    <a:lumMod val="50000"/>
                  </a:schemeClr>
                </a:solidFill>
                <a:latin typeface="Arial" charset="0"/>
                <a:cs typeface="Arial" charset="0"/>
                <a:sym typeface="Wingdings"/>
              </a:rPr>
              <a:t></a:t>
            </a:r>
            <a:r>
              <a:rPr lang="en-GB" sz="2400" dirty="0">
                <a:solidFill>
                  <a:schemeClr val="accent1">
                    <a:lumMod val="50000"/>
                  </a:schemeClr>
                </a:solidFill>
                <a:latin typeface="+mn-lt"/>
                <a:cs typeface="Arial" charset="0"/>
              </a:rPr>
              <a:t> annoying</a:t>
            </a:r>
          </a:p>
          <a:p>
            <a:pPr fontAlgn="auto">
              <a:spcBef>
                <a:spcPts val="0"/>
              </a:spcBef>
              <a:spcAft>
                <a:spcPts val="0"/>
              </a:spcAft>
              <a:buClr>
                <a:schemeClr val="accent3">
                  <a:lumMod val="50000"/>
                </a:schemeClr>
              </a:buClr>
              <a:defRPr/>
            </a:pPr>
            <a:r>
              <a:rPr lang="en-GB" sz="2400" dirty="0">
                <a:solidFill>
                  <a:schemeClr val="accent1">
                    <a:lumMod val="50000"/>
                  </a:schemeClr>
                </a:solidFill>
                <a:latin typeface="Arial" charset="0"/>
                <a:cs typeface="Arial" charset="0"/>
                <a:sym typeface="Wingdings"/>
              </a:rPr>
              <a:t></a:t>
            </a:r>
            <a:r>
              <a:rPr lang="en-GB" sz="2400" dirty="0">
                <a:solidFill>
                  <a:schemeClr val="accent1">
                    <a:lumMod val="50000"/>
                  </a:schemeClr>
                </a:solidFill>
                <a:latin typeface="+mn-lt"/>
                <a:cs typeface="Arial" charset="0"/>
              </a:rPr>
              <a:t>	frustrating		</a:t>
            </a:r>
            <a:r>
              <a:rPr lang="en-GB" sz="2400" dirty="0">
                <a:solidFill>
                  <a:schemeClr val="accent1">
                    <a:lumMod val="50000"/>
                  </a:schemeClr>
                </a:solidFill>
                <a:latin typeface="Arial" charset="0"/>
                <a:cs typeface="Arial" charset="0"/>
                <a:sym typeface="Wingdings"/>
              </a:rPr>
              <a:t> </a:t>
            </a:r>
            <a:r>
              <a:rPr lang="en-GB" sz="2400" dirty="0">
                <a:solidFill>
                  <a:schemeClr val="accent1">
                    <a:lumMod val="50000"/>
                  </a:schemeClr>
                </a:solidFill>
                <a:latin typeface="+mn-lt"/>
                <a:cs typeface="Arial" charset="0"/>
              </a:rPr>
              <a:t>cutesy</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2287506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D92DB572-01DB-42D6-E781-AA39E3712A7C}"/>
              </a:ext>
            </a:extLst>
          </p:cNvPr>
          <p:cNvSpPr txBox="1"/>
          <p:nvPr/>
        </p:nvSpPr>
        <p:spPr>
          <a:xfrm>
            <a:off x="0" y="0"/>
            <a:ext cx="4572000" cy="369332"/>
          </a:xfrm>
          <a:prstGeom prst="rect">
            <a:avLst/>
          </a:prstGeom>
          <a:noFill/>
        </p:spPr>
        <p:txBody>
          <a:bodyPr wrap="square">
            <a:spAutoFit/>
          </a:bodyPr>
          <a:lstStyle/>
          <a:p>
            <a:r>
              <a:rPr lang="en-IN" dirty="0"/>
              <a:t>Usability &amp; UX Goals</a:t>
            </a:r>
          </a:p>
        </p:txBody>
      </p:sp>
      <p:sp>
        <p:nvSpPr>
          <p:cNvPr id="8" name="Content Placeholder 9">
            <a:extLst>
              <a:ext uri="{FF2B5EF4-FFF2-40B4-BE49-F238E27FC236}">
                <a16:creationId xmlns:a16="http://schemas.microsoft.com/office/drawing/2014/main" id="{F0177BC3-F70D-F529-81B8-E3B154F3F940}"/>
              </a:ext>
            </a:extLst>
          </p:cNvPr>
          <p:cNvSpPr txBox="1">
            <a:spLocks/>
          </p:cNvSpPr>
          <p:nvPr/>
        </p:nvSpPr>
        <p:spPr>
          <a:xfrm>
            <a:off x="0" y="1036843"/>
            <a:ext cx="9144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Selecting terms to convey a </a:t>
            </a:r>
            <a:r>
              <a:rPr lang="en-GB" sz="2400" dirty="0">
                <a:effectLst>
                  <a:outerShdw blurRad="38100" dist="38100" dir="2700000" algn="tl">
                    <a:srgbClr val="000000">
                      <a:alpha val="43137"/>
                    </a:srgbClr>
                  </a:outerShdw>
                </a:effectLst>
                <a:latin typeface="+mn-lt"/>
                <a:cs typeface="Arial" charset="0"/>
              </a:rPr>
              <a:t>person’s feelings</a:t>
            </a:r>
            <a:r>
              <a:rPr lang="en-GB" sz="2400" dirty="0">
                <a:latin typeface="+mn-lt"/>
                <a:cs typeface="Arial" charset="0"/>
              </a:rPr>
              <a:t>, </a:t>
            </a:r>
            <a:r>
              <a:rPr lang="en-GB" sz="2400" dirty="0">
                <a:effectLst>
                  <a:outerShdw blurRad="38100" dist="38100" dir="2700000" algn="tl">
                    <a:srgbClr val="000000">
                      <a:alpha val="43137"/>
                    </a:srgbClr>
                  </a:outerShdw>
                </a:effectLst>
                <a:latin typeface="+mn-lt"/>
                <a:cs typeface="Arial" charset="0"/>
              </a:rPr>
              <a:t>emotions</a:t>
            </a:r>
            <a:r>
              <a:rPr lang="en-GB" sz="2400" dirty="0">
                <a:latin typeface="+mn-lt"/>
                <a:cs typeface="Arial" charset="0"/>
              </a:rPr>
              <a:t>, etc., can help designers understand the multifaceted nature of the user experience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How do </a:t>
            </a:r>
            <a:r>
              <a:rPr lang="en-GB" sz="2400" dirty="0">
                <a:effectLst>
                  <a:outerShdw blurRad="38100" dist="38100" dir="2700000" algn="tl">
                    <a:srgbClr val="000000">
                      <a:alpha val="43137"/>
                    </a:srgbClr>
                  </a:outerShdw>
                </a:effectLst>
                <a:latin typeface="+mn-lt"/>
                <a:cs typeface="Arial" charset="0"/>
              </a:rPr>
              <a:t>usability goals </a:t>
            </a:r>
            <a:r>
              <a:rPr lang="en-GB" sz="2400" dirty="0">
                <a:latin typeface="+mn-lt"/>
                <a:cs typeface="Arial" charset="0"/>
              </a:rPr>
              <a:t>differ from </a:t>
            </a:r>
            <a:r>
              <a:rPr lang="en-GB" sz="2400" dirty="0">
                <a:effectLst>
                  <a:outerShdw blurRad="38100" dist="38100" dir="2700000" algn="tl">
                    <a:srgbClr val="000000">
                      <a:alpha val="43137"/>
                    </a:srgbClr>
                  </a:outerShdw>
                </a:effectLst>
                <a:latin typeface="+mn-lt"/>
                <a:cs typeface="Arial" charset="0"/>
              </a:rPr>
              <a:t>user experience </a:t>
            </a:r>
            <a:r>
              <a:rPr lang="en-GB" sz="2400" dirty="0">
                <a:latin typeface="+mn-lt"/>
                <a:cs typeface="Arial" charset="0"/>
              </a:rPr>
              <a:t>goals?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Are there </a:t>
            </a:r>
            <a:r>
              <a:rPr lang="en-GB" sz="2400" dirty="0">
                <a:effectLst>
                  <a:outerShdw blurRad="38100" dist="38100" dir="2700000" algn="tl">
                    <a:srgbClr val="000000">
                      <a:alpha val="43137"/>
                    </a:srgbClr>
                  </a:outerShdw>
                </a:effectLst>
                <a:latin typeface="+mn-lt"/>
                <a:cs typeface="Arial" charset="0"/>
              </a:rPr>
              <a:t>trade-offs</a:t>
            </a:r>
            <a:r>
              <a:rPr lang="en-GB" sz="2400" dirty="0">
                <a:latin typeface="+mn-lt"/>
                <a:cs typeface="Arial" charset="0"/>
              </a:rPr>
              <a:t> between the two kinds of goals?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e.g. can a product be both fun and safe?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How easy is it to measure usability versus user experience goals?</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873157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1739E60F-3EF9-1761-A691-9A0EE330818F}"/>
              </a:ext>
            </a:extLst>
          </p:cNvPr>
          <p:cNvSpPr txBox="1">
            <a:spLocks/>
          </p:cNvSpPr>
          <p:nvPr/>
        </p:nvSpPr>
        <p:spPr>
          <a:xfrm>
            <a:off x="0" y="1030676"/>
            <a:ext cx="8871528" cy="5564088"/>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Ex: when considering how </a:t>
            </a:r>
            <a:r>
              <a:rPr lang="en-GB" sz="2400" b="1" dirty="0">
                <a:latin typeface="+mn-lt"/>
                <a:cs typeface="Arial" charset="0"/>
              </a:rPr>
              <a:t>engaging</a:t>
            </a:r>
            <a:r>
              <a:rPr lang="en-GB" sz="2400" dirty="0">
                <a:latin typeface="+mn-lt"/>
                <a:cs typeface="Arial" charset="0"/>
              </a:rPr>
              <a:t> an interactive virtual agent is for an online store, one can ask:</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Q: How long do users interact with the virtual sales agent? Do they suspend their disbelief when typing in questions?</a:t>
            </a: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Ex: to consider the effect of its </a:t>
            </a:r>
            <a:r>
              <a:rPr lang="en-GB" sz="2400" b="1" dirty="0">
                <a:latin typeface="+mn-lt"/>
                <a:cs typeface="Arial" charset="0"/>
              </a:rPr>
              <a:t>appeal</a:t>
            </a:r>
            <a:r>
              <a:rPr lang="en-GB" sz="2400" dirty="0">
                <a:latin typeface="+mn-lt"/>
                <a:cs typeface="Arial" charset="0"/>
              </a:rPr>
              <a:t> one can ask:</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Q: What is the user’s immediate response to the agent’s appearance? Is it one of mockery, dismay, or enjoyment? Do they smile, laugh, or scoff?   </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3237601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1" descr="Usability und User Experience">
            <a:extLst>
              <a:ext uri="{FF2B5EF4-FFF2-40B4-BE49-F238E27FC236}">
                <a16:creationId xmlns:a16="http://schemas.microsoft.com/office/drawing/2014/main" id="{96B45E19-1AA6-B9A7-F18D-DD76767EAAB6}"/>
              </a:ext>
            </a:extLst>
          </p:cNvPr>
          <p:cNvPicPr>
            <a:picLocks noChangeAspect="1" noChangeArrowheads="1"/>
          </p:cNvPicPr>
          <p:nvPr/>
        </p:nvPicPr>
        <p:blipFill>
          <a:blip r:embed="rId3" cstate="print"/>
          <a:srcRect/>
          <a:stretch>
            <a:fillRect/>
          </a:stretch>
        </p:blipFill>
        <p:spPr bwMode="auto">
          <a:xfrm>
            <a:off x="0" y="0"/>
            <a:ext cx="4156364" cy="1824860"/>
          </a:xfrm>
          <a:prstGeom prst="rect">
            <a:avLst/>
          </a:prstGeom>
          <a:noFill/>
        </p:spPr>
      </p:pic>
      <p:graphicFrame>
        <p:nvGraphicFramePr>
          <p:cNvPr id="5" name="Diagram 4">
            <a:extLst>
              <a:ext uri="{FF2B5EF4-FFF2-40B4-BE49-F238E27FC236}">
                <a16:creationId xmlns:a16="http://schemas.microsoft.com/office/drawing/2014/main" id="{5286A54E-3374-89E6-508C-9BD433107BB1}"/>
              </a:ext>
            </a:extLst>
          </p:cNvPr>
          <p:cNvGraphicFramePr/>
          <p:nvPr>
            <p:extLst>
              <p:ext uri="{D42A27DB-BD31-4B8C-83A1-F6EECF244321}">
                <p14:modId xmlns:p14="http://schemas.microsoft.com/office/powerpoint/2010/main" val="38850942"/>
              </p:ext>
            </p:extLst>
          </p:nvPr>
        </p:nvGraphicFramePr>
        <p:xfrm>
          <a:off x="1967345" y="1644134"/>
          <a:ext cx="7033784" cy="2179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2" descr="http://pelorous.totallyplc.com/media_manager/public/122/blog-posts/usability-vs-UX2.jpg">
            <a:hlinkClick r:id="rId9"/>
            <a:extLst>
              <a:ext uri="{FF2B5EF4-FFF2-40B4-BE49-F238E27FC236}">
                <a16:creationId xmlns:a16="http://schemas.microsoft.com/office/drawing/2014/main" id="{938C1A84-3FB3-8CA7-7A8D-544728EE5A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562" y="4249854"/>
            <a:ext cx="9027438" cy="2436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798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6CDE1E88-5883-43B9-835A-2EB0EF0AC0A2}"/>
              </a:ext>
            </a:extLst>
          </p:cNvPr>
          <p:cNvSpPr txBox="1"/>
          <p:nvPr/>
        </p:nvSpPr>
        <p:spPr>
          <a:xfrm>
            <a:off x="96982" y="78570"/>
            <a:ext cx="4572000" cy="461665"/>
          </a:xfrm>
          <a:prstGeom prst="rect">
            <a:avLst/>
          </a:prstGeom>
          <a:noFill/>
        </p:spPr>
        <p:txBody>
          <a:bodyPr wrap="square">
            <a:spAutoFit/>
          </a:bodyPr>
          <a:lstStyle/>
          <a:p>
            <a:r>
              <a:rPr lang="en-IN" sz="2400" dirty="0"/>
              <a:t>Design Principles</a:t>
            </a:r>
          </a:p>
        </p:txBody>
      </p:sp>
      <p:sp>
        <p:nvSpPr>
          <p:cNvPr id="8" name="Content Placeholder 9">
            <a:extLst>
              <a:ext uri="{FF2B5EF4-FFF2-40B4-BE49-F238E27FC236}">
                <a16:creationId xmlns:a16="http://schemas.microsoft.com/office/drawing/2014/main" id="{FA19A45E-DB2F-44A9-9E8B-328424229FDF}"/>
              </a:ext>
            </a:extLst>
          </p:cNvPr>
          <p:cNvSpPr txBox="1">
            <a:spLocks/>
          </p:cNvSpPr>
          <p:nvPr/>
        </p:nvSpPr>
        <p:spPr>
          <a:xfrm>
            <a:off x="-73892" y="1015953"/>
            <a:ext cx="9217891" cy="2683164"/>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Generalizable abstractions for thinking about different aspects of design</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The do’s and don’ts of interaction design</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What to provide and what not to provide at the interface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Derived from a mix of theory-based knowledge, experience and common-sense</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457545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10B11743-99B5-C16B-A191-F52F5B604693}"/>
              </a:ext>
            </a:extLst>
          </p:cNvPr>
          <p:cNvSpPr txBox="1"/>
          <p:nvPr/>
        </p:nvSpPr>
        <p:spPr>
          <a:xfrm>
            <a:off x="0" y="0"/>
            <a:ext cx="4572000" cy="461665"/>
          </a:xfrm>
          <a:prstGeom prst="rect">
            <a:avLst/>
          </a:prstGeom>
          <a:noFill/>
        </p:spPr>
        <p:txBody>
          <a:bodyPr wrap="square">
            <a:spAutoFit/>
          </a:bodyPr>
          <a:lstStyle/>
          <a:p>
            <a:r>
              <a:rPr lang="en-IN" sz="2400" dirty="0"/>
              <a:t>Design Principles</a:t>
            </a:r>
          </a:p>
        </p:txBody>
      </p:sp>
      <p:sp>
        <p:nvSpPr>
          <p:cNvPr id="8" name="Content Placeholder 9">
            <a:extLst>
              <a:ext uri="{FF2B5EF4-FFF2-40B4-BE49-F238E27FC236}">
                <a16:creationId xmlns:a16="http://schemas.microsoft.com/office/drawing/2014/main" id="{15C39858-1191-8CC4-E0E6-F27D4E2600E2}"/>
              </a:ext>
            </a:extLst>
          </p:cNvPr>
          <p:cNvSpPr txBox="1">
            <a:spLocks/>
          </p:cNvSpPr>
          <p:nvPr/>
        </p:nvSpPr>
        <p:spPr>
          <a:xfrm>
            <a:off x="0" y="641927"/>
            <a:ext cx="8763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3200" b="1" dirty="0">
                <a:latin typeface="+mn-lt"/>
                <a:cs typeface="Arial" charset="0"/>
              </a:rPr>
              <a:t>Visibility</a:t>
            </a:r>
            <a:r>
              <a:rPr lang="en-GB" sz="3200" dirty="0">
                <a:latin typeface="+mn-lt"/>
                <a:cs typeface="Arial" charset="0"/>
              </a:rPr>
              <a:t>: </a:t>
            </a:r>
            <a:r>
              <a:rPr lang="en-US" sz="3200" dirty="0"/>
              <a:t>can I see it?</a:t>
            </a:r>
          </a:p>
          <a:p>
            <a:pPr fontAlgn="auto">
              <a:spcBef>
                <a:spcPts val="0"/>
              </a:spcBef>
              <a:spcAft>
                <a:spcPts val="1200"/>
              </a:spcAft>
              <a:buClr>
                <a:schemeClr val="accent3">
                  <a:lumMod val="50000"/>
                </a:schemeClr>
              </a:buClr>
              <a:buFont typeface="Wingdings 2" pitchFamily="18" charset="2"/>
              <a:buChar char=""/>
              <a:defRPr/>
            </a:pPr>
            <a:r>
              <a:rPr lang="en-US" sz="3200" b="1" dirty="0">
                <a:latin typeface="+mn-lt"/>
                <a:cs typeface="Arial" charset="0"/>
              </a:rPr>
              <a:t>Affordance</a:t>
            </a:r>
            <a:r>
              <a:rPr lang="en-US" sz="3200" dirty="0"/>
              <a:t>: how do I use it?</a:t>
            </a: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3200" b="1" dirty="0">
                <a:latin typeface="+mn-lt"/>
                <a:cs typeface="Arial" charset="0"/>
              </a:rPr>
              <a:t>Consistency</a:t>
            </a:r>
            <a:r>
              <a:rPr lang="en-GB" sz="3200" dirty="0">
                <a:latin typeface="+mn-lt"/>
                <a:cs typeface="Arial" charset="0"/>
              </a:rPr>
              <a:t>: </a:t>
            </a:r>
            <a:r>
              <a:rPr lang="en-US" sz="3200" dirty="0"/>
              <a:t>I think I have seen this before!</a:t>
            </a: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3200" b="1" dirty="0">
                <a:latin typeface="+mn-lt"/>
                <a:cs typeface="Arial" charset="0"/>
              </a:rPr>
              <a:t>Feedback</a:t>
            </a:r>
            <a:r>
              <a:rPr lang="en-GB" sz="3200" dirty="0">
                <a:latin typeface="+mn-lt"/>
                <a:cs typeface="Arial" charset="0"/>
              </a:rPr>
              <a:t>: </a:t>
            </a:r>
            <a:r>
              <a:rPr lang="en-US" sz="3200" dirty="0"/>
              <a:t>what is it doing now?</a:t>
            </a: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3200" b="1" dirty="0">
                <a:latin typeface="+mn-lt"/>
                <a:cs typeface="Arial" charset="0"/>
              </a:rPr>
              <a:t>Constraints</a:t>
            </a:r>
            <a:r>
              <a:rPr lang="en-GB" sz="3200" dirty="0">
                <a:latin typeface="+mn-lt"/>
                <a:cs typeface="Arial" charset="0"/>
              </a:rPr>
              <a:t>: </a:t>
            </a:r>
            <a:r>
              <a:rPr lang="en-US" sz="3200" dirty="0"/>
              <a:t>why can’t I do that?</a:t>
            </a:r>
            <a:endParaRPr lang="en-GB" sz="3200" dirty="0">
              <a:latin typeface="+mn-lt"/>
              <a:cs typeface="Arial" charset="0"/>
            </a:endParaRPr>
          </a:p>
          <a:p>
            <a:pPr fontAlgn="auto">
              <a:spcBef>
                <a:spcPts val="0"/>
              </a:spcBef>
              <a:spcAft>
                <a:spcPts val="1200"/>
              </a:spcAft>
              <a:buClr>
                <a:schemeClr val="accent3">
                  <a:lumMod val="50000"/>
                </a:schemeClr>
              </a:buCl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3200" dirty="0">
              <a:latin typeface="+mn-lt"/>
              <a:cs typeface="Arial" charset="0"/>
            </a:endParaRPr>
          </a:p>
          <a:p>
            <a:pPr fontAlgn="auto">
              <a:spcBef>
                <a:spcPts val="0"/>
              </a:spcBef>
              <a:spcAft>
                <a:spcPts val="1200"/>
              </a:spcAft>
              <a:buClr>
                <a:schemeClr val="accent3">
                  <a:lumMod val="50000"/>
                </a:schemeClr>
              </a:buClr>
              <a:defRPr/>
            </a:pPr>
            <a:endParaRPr lang="en-US" sz="3200" dirty="0">
              <a:latin typeface="+mn-lt"/>
              <a:cs typeface="Arial" charset="0"/>
            </a:endParaRPr>
          </a:p>
          <a:p>
            <a:pPr fontAlgn="auto">
              <a:spcBef>
                <a:spcPts val="0"/>
              </a:spcBef>
              <a:spcAft>
                <a:spcPts val="1200"/>
              </a:spcAft>
              <a:buClr>
                <a:schemeClr val="accent3">
                  <a:lumMod val="50000"/>
                </a:schemeClr>
              </a:buClr>
              <a:defRPr/>
            </a:pPr>
            <a:endParaRPr lang="en-US" sz="3200" dirty="0">
              <a:latin typeface="+mn-lt"/>
              <a:cs typeface="Arial" charset="0"/>
            </a:endParaRPr>
          </a:p>
          <a:p>
            <a:pPr fontAlgn="auto">
              <a:spcBef>
                <a:spcPts val="0"/>
              </a:spcBef>
              <a:spcAft>
                <a:spcPts val="1200"/>
              </a:spcAft>
              <a:buClr>
                <a:schemeClr val="accent3">
                  <a:lumMod val="50000"/>
                </a:schemeClr>
              </a:buClr>
              <a:defRPr/>
            </a:pPr>
            <a:endParaRPr lang="en-US" sz="3200" dirty="0">
              <a:latin typeface="+mn-lt"/>
              <a:cs typeface="Arial" charset="0"/>
            </a:endParaRPr>
          </a:p>
          <a:p>
            <a:pPr fontAlgn="auto">
              <a:spcBef>
                <a:spcPts val="0"/>
              </a:spcBef>
              <a:spcAft>
                <a:spcPts val="1200"/>
              </a:spcAft>
              <a:buClr>
                <a:schemeClr val="accent3">
                  <a:lumMod val="50000"/>
                </a:schemeClr>
              </a:buClr>
              <a:defRPr/>
            </a:pPr>
            <a:endParaRPr lang="en-US" sz="3200" dirty="0">
              <a:latin typeface="+mn-lt"/>
              <a:cs typeface="Arial" charset="0"/>
            </a:endParaRPr>
          </a:p>
          <a:p>
            <a:pPr fontAlgn="auto">
              <a:spcBef>
                <a:spcPts val="0"/>
              </a:spcBef>
              <a:spcAft>
                <a:spcPts val="1200"/>
              </a:spcAft>
              <a:buClr>
                <a:schemeClr val="accent3">
                  <a:lumMod val="50000"/>
                </a:schemeClr>
              </a:buClr>
              <a:defRPr/>
            </a:pPr>
            <a:endParaRPr lang="en-US" sz="28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32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3200" dirty="0">
              <a:latin typeface="+mn-lt"/>
              <a:cs typeface="Arial" charset="0"/>
            </a:endParaRPr>
          </a:p>
        </p:txBody>
      </p:sp>
      <p:pic>
        <p:nvPicPr>
          <p:cNvPr id="10" name="Picture 9">
            <a:extLst>
              <a:ext uri="{FF2B5EF4-FFF2-40B4-BE49-F238E27FC236}">
                <a16:creationId xmlns:a16="http://schemas.microsoft.com/office/drawing/2014/main" id="{62663368-0A05-328A-EC31-4A1A92A9FB98}"/>
              </a:ext>
            </a:extLst>
          </p:cNvPr>
          <p:cNvPicPr>
            <a:picLocks noChangeAspect="1"/>
          </p:cNvPicPr>
          <p:nvPr/>
        </p:nvPicPr>
        <p:blipFill>
          <a:blip r:embed="rId3"/>
          <a:stretch>
            <a:fillRect/>
          </a:stretch>
        </p:blipFill>
        <p:spPr>
          <a:xfrm>
            <a:off x="295875" y="4178148"/>
            <a:ext cx="7230586" cy="2268419"/>
          </a:xfrm>
          <a:prstGeom prst="rect">
            <a:avLst/>
          </a:prstGeom>
        </p:spPr>
      </p:pic>
    </p:spTree>
    <p:extLst>
      <p:ext uri="{BB962C8B-B14F-4D97-AF65-F5344CB8AC3E}">
        <p14:creationId xmlns:p14="http://schemas.microsoft.com/office/powerpoint/2010/main" val="3175448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619"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584087F7-B843-7DC0-B2A3-68BD6A7251B5}"/>
              </a:ext>
            </a:extLst>
          </p:cNvPr>
          <p:cNvSpPr txBox="1">
            <a:spLocks/>
          </p:cNvSpPr>
          <p:nvPr/>
        </p:nvSpPr>
        <p:spPr>
          <a:xfrm>
            <a:off x="-131620" y="729231"/>
            <a:ext cx="9275620" cy="1881848"/>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US" sz="2400" dirty="0"/>
              <a:t>One of the most important design principles is visibility.</a:t>
            </a:r>
            <a:br>
              <a:rPr lang="en-US" sz="2400" dirty="0"/>
            </a:br>
            <a:r>
              <a:rPr lang="en-US" sz="2400" dirty="0"/>
              <a:t>Is achieved by placing the </a:t>
            </a:r>
            <a:r>
              <a:rPr lang="en-US" sz="2400" dirty="0">
                <a:effectLst>
                  <a:outerShdw blurRad="38100" dist="38100" dir="2700000" algn="tl">
                    <a:srgbClr val="000000">
                      <a:alpha val="43137"/>
                    </a:srgbClr>
                  </a:outerShdw>
                </a:effectLst>
              </a:rPr>
              <a:t>controls</a:t>
            </a:r>
            <a:r>
              <a:rPr lang="en-US" sz="2400" dirty="0"/>
              <a:t> in a highly visible location.</a:t>
            </a:r>
          </a:p>
          <a:p>
            <a:pPr fontAlgn="auto">
              <a:spcBef>
                <a:spcPts val="0"/>
              </a:spcBef>
              <a:spcAft>
                <a:spcPts val="1200"/>
              </a:spcAft>
              <a:buClr>
                <a:schemeClr val="accent3">
                  <a:lumMod val="50000"/>
                </a:schemeClr>
              </a:buClr>
              <a:buFont typeface="Wingdings 2" pitchFamily="18" charset="2"/>
              <a:buChar char=""/>
              <a:defRPr/>
            </a:pPr>
            <a:r>
              <a:rPr lang="en-US" sz="2400" dirty="0"/>
              <a:t>Designing for visibility means that just by looking, users can see the possibilities for action. </a:t>
            </a:r>
          </a:p>
        </p:txBody>
      </p:sp>
      <p:sp>
        <p:nvSpPr>
          <p:cNvPr id="8" name="TextBox 7">
            <a:extLst>
              <a:ext uri="{FF2B5EF4-FFF2-40B4-BE49-F238E27FC236}">
                <a16:creationId xmlns:a16="http://schemas.microsoft.com/office/drawing/2014/main" id="{EB725E3D-FFA8-A576-7651-CC1CF81E5798}"/>
              </a:ext>
            </a:extLst>
          </p:cNvPr>
          <p:cNvSpPr txBox="1"/>
          <p:nvPr/>
        </p:nvSpPr>
        <p:spPr>
          <a:xfrm>
            <a:off x="131618" y="0"/>
            <a:ext cx="6315364" cy="523220"/>
          </a:xfrm>
          <a:prstGeom prst="rect">
            <a:avLst/>
          </a:prstGeom>
          <a:noFill/>
        </p:spPr>
        <p:txBody>
          <a:bodyPr wrap="square">
            <a:spAutoFit/>
          </a:bodyPr>
          <a:lstStyle/>
          <a:p>
            <a:r>
              <a:rPr lang="en-IN" sz="2800" dirty="0"/>
              <a:t>Design Principles Visibility </a:t>
            </a:r>
          </a:p>
        </p:txBody>
      </p:sp>
      <p:pic>
        <p:nvPicPr>
          <p:cNvPr id="11" name="Picture 2">
            <a:extLst>
              <a:ext uri="{FF2B5EF4-FFF2-40B4-BE49-F238E27FC236}">
                <a16:creationId xmlns:a16="http://schemas.microsoft.com/office/drawing/2014/main" id="{9BDEEDA5-0F2A-1826-4137-3570C598A4E9}"/>
              </a:ext>
            </a:extLst>
          </p:cNvPr>
          <p:cNvPicPr>
            <a:picLocks noChangeAspect="1" noChangeArrowheads="1"/>
          </p:cNvPicPr>
          <p:nvPr/>
        </p:nvPicPr>
        <p:blipFill>
          <a:blip r:embed="rId3" cstate="print"/>
          <a:srcRect t="14629" b="4704"/>
          <a:stretch>
            <a:fillRect/>
          </a:stretch>
        </p:blipFill>
        <p:spPr bwMode="auto">
          <a:xfrm>
            <a:off x="-131620" y="2817090"/>
            <a:ext cx="9275619" cy="4040909"/>
          </a:xfrm>
          <a:prstGeom prst="rect">
            <a:avLst/>
          </a:prstGeom>
          <a:noFill/>
          <a:ln w="9525">
            <a:noFill/>
            <a:miter lim="800000"/>
            <a:headEnd/>
            <a:tailEnd/>
          </a:ln>
        </p:spPr>
      </p:pic>
    </p:spTree>
    <p:extLst>
      <p:ext uri="{BB962C8B-B14F-4D97-AF65-F5344CB8AC3E}">
        <p14:creationId xmlns:p14="http://schemas.microsoft.com/office/powerpoint/2010/main" val="1805176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2">
            <a:extLst>
              <a:ext uri="{FF2B5EF4-FFF2-40B4-BE49-F238E27FC236}">
                <a16:creationId xmlns:a16="http://schemas.microsoft.com/office/drawing/2014/main" id="{7840BB29-1688-E70C-8DE8-3ED977B02925}"/>
              </a:ext>
            </a:extLst>
          </p:cNvPr>
          <p:cNvPicPr>
            <a:picLocks noChangeAspect="1" noChangeArrowheads="1"/>
          </p:cNvPicPr>
          <p:nvPr/>
        </p:nvPicPr>
        <p:blipFill>
          <a:blip r:embed="rId3" cstate="print"/>
          <a:srcRect t="18388"/>
          <a:stretch>
            <a:fillRect/>
          </a:stretch>
        </p:blipFill>
        <p:spPr bwMode="auto">
          <a:xfrm>
            <a:off x="0" y="925945"/>
            <a:ext cx="9144000" cy="5792282"/>
          </a:xfrm>
          <a:prstGeom prst="rect">
            <a:avLst/>
          </a:prstGeom>
          <a:noFill/>
          <a:ln w="9525">
            <a:noFill/>
            <a:miter lim="800000"/>
            <a:headEnd/>
            <a:tailEnd/>
          </a:ln>
        </p:spPr>
      </p:pic>
      <p:sp>
        <p:nvSpPr>
          <p:cNvPr id="5" name="TextBox 4">
            <a:extLst>
              <a:ext uri="{FF2B5EF4-FFF2-40B4-BE49-F238E27FC236}">
                <a16:creationId xmlns:a16="http://schemas.microsoft.com/office/drawing/2014/main" id="{BB0CA920-19C8-F85E-FFD6-969CB4D99FB7}"/>
              </a:ext>
            </a:extLst>
          </p:cNvPr>
          <p:cNvSpPr txBox="1"/>
          <p:nvPr/>
        </p:nvSpPr>
        <p:spPr>
          <a:xfrm>
            <a:off x="131618" y="0"/>
            <a:ext cx="6315364" cy="523220"/>
          </a:xfrm>
          <a:prstGeom prst="rect">
            <a:avLst/>
          </a:prstGeom>
          <a:noFill/>
        </p:spPr>
        <p:txBody>
          <a:bodyPr wrap="square">
            <a:spAutoFit/>
          </a:bodyPr>
          <a:lstStyle/>
          <a:p>
            <a:r>
              <a:rPr lang="en-IN" sz="2800" dirty="0"/>
              <a:t>Design Principles Visibility </a:t>
            </a:r>
          </a:p>
        </p:txBody>
      </p:sp>
    </p:spTree>
    <p:extLst>
      <p:ext uri="{BB962C8B-B14F-4D97-AF65-F5344CB8AC3E}">
        <p14:creationId xmlns:p14="http://schemas.microsoft.com/office/powerpoint/2010/main" val="3473994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2" descr="http://idyeah.com/blog/wp-content/uploads/2011/03/05inf62.gif">
            <a:extLst>
              <a:ext uri="{FF2B5EF4-FFF2-40B4-BE49-F238E27FC236}">
                <a16:creationId xmlns:a16="http://schemas.microsoft.com/office/drawing/2014/main" id="{FA1CAFE8-C919-6D5C-E73A-6D2721485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30226"/>
            <a:ext cx="7675418" cy="58026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9A4C780-0D00-B7C9-8B57-5B150B4222BE}"/>
              </a:ext>
            </a:extLst>
          </p:cNvPr>
          <p:cNvSpPr txBox="1"/>
          <p:nvPr/>
        </p:nvSpPr>
        <p:spPr>
          <a:xfrm>
            <a:off x="131618" y="0"/>
            <a:ext cx="6315364" cy="523220"/>
          </a:xfrm>
          <a:prstGeom prst="rect">
            <a:avLst/>
          </a:prstGeom>
          <a:noFill/>
        </p:spPr>
        <p:txBody>
          <a:bodyPr wrap="square">
            <a:spAutoFit/>
          </a:bodyPr>
          <a:lstStyle/>
          <a:p>
            <a:r>
              <a:rPr lang="en-IN" sz="2800" dirty="0"/>
              <a:t>Design Principles Visibility </a:t>
            </a:r>
          </a:p>
        </p:txBody>
      </p:sp>
    </p:spTree>
    <p:extLst>
      <p:ext uri="{BB962C8B-B14F-4D97-AF65-F5344CB8AC3E}">
        <p14:creationId xmlns:p14="http://schemas.microsoft.com/office/powerpoint/2010/main" val="2221731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5" name="Picture 2">
            <a:extLst>
              <a:ext uri="{FF2B5EF4-FFF2-40B4-BE49-F238E27FC236}">
                <a16:creationId xmlns:a16="http://schemas.microsoft.com/office/drawing/2014/main" id="{25C3DE54-C2FC-FC58-574D-4648C0F192DD}"/>
              </a:ext>
            </a:extLst>
          </p:cNvPr>
          <p:cNvPicPr>
            <a:picLocks noChangeAspect="1" noChangeArrowheads="1"/>
          </p:cNvPicPr>
          <p:nvPr/>
        </p:nvPicPr>
        <p:blipFill>
          <a:blip r:embed="rId3" cstate="print"/>
          <a:srcRect/>
          <a:stretch>
            <a:fillRect/>
          </a:stretch>
        </p:blipFill>
        <p:spPr bwMode="auto">
          <a:xfrm>
            <a:off x="0" y="0"/>
            <a:ext cx="9144000" cy="6705600"/>
          </a:xfrm>
          <a:prstGeom prst="rect">
            <a:avLst/>
          </a:prstGeom>
          <a:noFill/>
          <a:ln w="9525">
            <a:noFill/>
            <a:miter lim="800000"/>
            <a:headEnd/>
            <a:tailEnd/>
          </a:ln>
        </p:spPr>
      </p:pic>
      <p:pic>
        <p:nvPicPr>
          <p:cNvPr id="6" name="Picture 3">
            <a:extLst>
              <a:ext uri="{FF2B5EF4-FFF2-40B4-BE49-F238E27FC236}">
                <a16:creationId xmlns:a16="http://schemas.microsoft.com/office/drawing/2014/main" id="{9AE65F3B-7300-342F-E718-7A3FFBB436B6}"/>
              </a:ext>
            </a:extLst>
          </p:cNvPr>
          <p:cNvPicPr>
            <a:picLocks noChangeAspect="1" noChangeArrowheads="1"/>
          </p:cNvPicPr>
          <p:nvPr/>
        </p:nvPicPr>
        <p:blipFill>
          <a:blip r:embed="rId4" cstate="print"/>
          <a:srcRect/>
          <a:stretch>
            <a:fillRect/>
          </a:stretch>
        </p:blipFill>
        <p:spPr bwMode="auto">
          <a:xfrm>
            <a:off x="296916" y="3717032"/>
            <a:ext cx="1881850" cy="2473288"/>
          </a:xfrm>
          <a:prstGeom prst="rect">
            <a:avLst/>
          </a:prstGeom>
          <a:noFill/>
          <a:ln w="9525">
            <a:noFill/>
            <a:miter lim="800000"/>
            <a:headEnd/>
            <a:tailEnd/>
          </a:ln>
        </p:spPr>
      </p:pic>
      <p:pic>
        <p:nvPicPr>
          <p:cNvPr id="7" name="Picture 2" descr="صورة مقص">
            <a:extLst>
              <a:ext uri="{FF2B5EF4-FFF2-40B4-BE49-F238E27FC236}">
                <a16:creationId xmlns:a16="http://schemas.microsoft.com/office/drawing/2014/main" id="{B60C58FE-78B6-034D-2010-A49EE09A2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3425" y="5011051"/>
            <a:ext cx="2802339" cy="1408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55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2">
            <a:extLst>
              <a:ext uri="{FF2B5EF4-FFF2-40B4-BE49-F238E27FC236}">
                <a16:creationId xmlns:a16="http://schemas.microsoft.com/office/drawing/2014/main" id="{F48DDF93-6B76-847C-0B3A-928BB732152A}"/>
              </a:ext>
            </a:extLst>
          </p:cNvPr>
          <p:cNvPicPr>
            <a:picLocks noChangeAspect="1" noChangeArrowheads="1"/>
          </p:cNvPicPr>
          <p:nvPr/>
        </p:nvPicPr>
        <p:blipFill>
          <a:blip r:embed="rId3" cstate="print"/>
          <a:srcRect/>
          <a:stretch>
            <a:fillRect/>
          </a:stretch>
        </p:blipFill>
        <p:spPr bwMode="auto">
          <a:xfrm>
            <a:off x="100013" y="76200"/>
            <a:ext cx="8943975" cy="6705600"/>
          </a:xfrm>
          <a:prstGeom prst="rect">
            <a:avLst/>
          </a:prstGeom>
          <a:noFill/>
          <a:ln w="9525">
            <a:noFill/>
            <a:miter lim="800000"/>
            <a:headEnd/>
            <a:tailEnd/>
          </a:ln>
        </p:spPr>
      </p:pic>
    </p:spTree>
    <p:extLst>
      <p:ext uri="{BB962C8B-B14F-4D97-AF65-F5344CB8AC3E}">
        <p14:creationId xmlns:p14="http://schemas.microsoft.com/office/powerpoint/2010/main" val="1927269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1D27AD16-561E-1808-FA48-9A13279433B7}"/>
              </a:ext>
            </a:extLst>
          </p:cNvPr>
          <p:cNvSpPr txBox="1">
            <a:spLocks/>
          </p:cNvSpPr>
          <p:nvPr/>
        </p:nvSpPr>
        <p:spPr>
          <a:xfrm>
            <a:off x="196272" y="811080"/>
            <a:ext cx="8855364" cy="2941085"/>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Sending information back to the user about what has been done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Includes sound, highlighting, animation and combinations of these</a:t>
            </a: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
        <p:nvSpPr>
          <p:cNvPr id="8" name="TextBox 7">
            <a:extLst>
              <a:ext uri="{FF2B5EF4-FFF2-40B4-BE49-F238E27FC236}">
                <a16:creationId xmlns:a16="http://schemas.microsoft.com/office/drawing/2014/main" id="{67425859-2DE7-2CD7-3203-D8FA33104EC8}"/>
              </a:ext>
            </a:extLst>
          </p:cNvPr>
          <p:cNvSpPr txBox="1"/>
          <p:nvPr/>
        </p:nvSpPr>
        <p:spPr>
          <a:xfrm>
            <a:off x="0" y="0"/>
            <a:ext cx="5384800" cy="461665"/>
          </a:xfrm>
          <a:prstGeom prst="rect">
            <a:avLst/>
          </a:prstGeom>
          <a:noFill/>
        </p:spPr>
        <p:txBody>
          <a:bodyPr wrap="square">
            <a:spAutoFit/>
          </a:bodyPr>
          <a:lstStyle/>
          <a:p>
            <a:r>
              <a:rPr lang="en-IN" sz="2400" dirty="0"/>
              <a:t>Design Principles Feedback </a:t>
            </a:r>
          </a:p>
        </p:txBody>
      </p:sp>
      <p:pic>
        <p:nvPicPr>
          <p:cNvPr id="2050" name="Picture 2" descr="6 Customer Feedback Types And How To Make The Most Of Them | Blog |  involve.me | involve.me">
            <a:extLst>
              <a:ext uri="{FF2B5EF4-FFF2-40B4-BE49-F238E27FC236}">
                <a16:creationId xmlns:a16="http://schemas.microsoft.com/office/drawing/2014/main" id="{6D718DAE-D0EF-CA4C-C4BD-841C87B3D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27" y="2376054"/>
            <a:ext cx="6289964" cy="3302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384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2">
            <a:extLst>
              <a:ext uri="{FF2B5EF4-FFF2-40B4-BE49-F238E27FC236}">
                <a16:creationId xmlns:a16="http://schemas.microsoft.com/office/drawing/2014/main" id="{086E3365-C65C-6819-0324-08CF8D622A5C}"/>
              </a:ext>
            </a:extLst>
          </p:cNvPr>
          <p:cNvPicPr>
            <a:picLocks noChangeAspect="1" noChangeArrowheads="1"/>
          </p:cNvPicPr>
          <p:nvPr/>
        </p:nvPicPr>
        <p:blipFill>
          <a:blip r:embed="rId3" cstate="print"/>
          <a:srcRect/>
          <a:stretch>
            <a:fillRect/>
          </a:stretch>
        </p:blipFill>
        <p:spPr bwMode="auto">
          <a:xfrm>
            <a:off x="0" y="0"/>
            <a:ext cx="9144000" cy="6705600"/>
          </a:xfrm>
          <a:prstGeom prst="rect">
            <a:avLst/>
          </a:prstGeom>
          <a:noFill/>
          <a:ln w="9525">
            <a:noFill/>
            <a:miter lim="800000"/>
            <a:headEnd/>
            <a:tailEnd/>
          </a:ln>
        </p:spPr>
      </p:pic>
      <p:sp>
        <p:nvSpPr>
          <p:cNvPr id="5" name="Rectangle 4">
            <a:extLst>
              <a:ext uri="{FF2B5EF4-FFF2-40B4-BE49-F238E27FC236}">
                <a16:creationId xmlns:a16="http://schemas.microsoft.com/office/drawing/2014/main" id="{C96F703C-4239-295B-A763-CFDA713C9235}"/>
              </a:ext>
            </a:extLst>
          </p:cNvPr>
          <p:cNvSpPr/>
          <p:nvPr/>
        </p:nvSpPr>
        <p:spPr>
          <a:xfrm>
            <a:off x="106384" y="915436"/>
            <a:ext cx="8889834" cy="400110"/>
          </a:xfrm>
          <a:prstGeom prst="rect">
            <a:avLst/>
          </a:prstGeom>
          <a:solidFill>
            <a:schemeClr val="bg1"/>
          </a:solidFill>
        </p:spPr>
        <p:txBody>
          <a:bodyPr wrap="square">
            <a:spAutoFit/>
          </a:bodyPr>
          <a:lstStyle/>
          <a:p>
            <a:r>
              <a:rPr lang="en-US" sz="2000" b="1" dirty="0"/>
              <a:t>The properties of an object that limit the ways in which it can be used </a:t>
            </a:r>
          </a:p>
        </p:txBody>
      </p:sp>
      <p:pic>
        <p:nvPicPr>
          <p:cNvPr id="6" name="Picture 4" descr="http://2.bp.blogspot.com/_iYk3qDEMeqQ/TESlCNjLLlI/AAAAAAAAAC8/tN4nT87J_eQ/s320/CONSTRAINTS.jpg">
            <a:extLst>
              <a:ext uri="{FF2B5EF4-FFF2-40B4-BE49-F238E27FC236}">
                <a16:creationId xmlns:a16="http://schemas.microsoft.com/office/drawing/2014/main" id="{B89B50C5-2CDD-C15B-BD2B-3FA6E6258324}"/>
              </a:ext>
            </a:extLst>
          </p:cNvPr>
          <p:cNvPicPr>
            <a:picLocks noChangeAspect="1" noChangeArrowheads="1"/>
          </p:cNvPicPr>
          <p:nvPr/>
        </p:nvPicPr>
        <p:blipFill>
          <a:blip r:embed="rId4" cstate="print"/>
          <a:srcRect/>
          <a:stretch>
            <a:fillRect/>
          </a:stretch>
        </p:blipFill>
        <p:spPr bwMode="auto">
          <a:xfrm>
            <a:off x="2537889" y="2032145"/>
            <a:ext cx="1774875" cy="1583830"/>
          </a:xfrm>
          <a:prstGeom prst="rect">
            <a:avLst/>
          </a:prstGeom>
          <a:noFill/>
        </p:spPr>
      </p:pic>
    </p:spTree>
    <p:extLst>
      <p:ext uri="{BB962C8B-B14F-4D97-AF65-F5344CB8AC3E}">
        <p14:creationId xmlns:p14="http://schemas.microsoft.com/office/powerpoint/2010/main" val="4195777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pic>
        <p:nvPicPr>
          <p:cNvPr id="2" name="Picture 2">
            <a:extLst>
              <a:ext uri="{FF2B5EF4-FFF2-40B4-BE49-F238E27FC236}">
                <a16:creationId xmlns:a16="http://schemas.microsoft.com/office/drawing/2014/main" id="{9F7514B0-920A-729B-581B-244B6E007D4F}"/>
              </a:ext>
            </a:extLst>
          </p:cNvPr>
          <p:cNvPicPr>
            <a:picLocks noChangeAspect="1" noChangeArrowheads="1"/>
          </p:cNvPicPr>
          <p:nvPr/>
        </p:nvPicPr>
        <p:blipFill>
          <a:blip r:embed="rId3" cstate="print"/>
          <a:srcRect/>
          <a:stretch>
            <a:fillRect/>
          </a:stretch>
        </p:blipFill>
        <p:spPr bwMode="auto">
          <a:xfrm>
            <a:off x="100013" y="76200"/>
            <a:ext cx="8943975" cy="6705600"/>
          </a:xfrm>
          <a:prstGeom prst="rect">
            <a:avLst/>
          </a:prstGeom>
          <a:noFill/>
          <a:ln w="9525">
            <a:noFill/>
            <a:miter lim="800000"/>
            <a:headEnd/>
            <a:tailEnd/>
          </a:ln>
        </p:spPr>
      </p:pic>
    </p:spTree>
    <p:extLst>
      <p:ext uri="{BB962C8B-B14F-4D97-AF65-F5344CB8AC3E}">
        <p14:creationId xmlns:p14="http://schemas.microsoft.com/office/powerpoint/2010/main" val="1744173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1409615B-19CB-A2E0-0EF3-90781E6A832E}"/>
              </a:ext>
            </a:extLst>
          </p:cNvPr>
          <p:cNvSpPr txBox="1"/>
          <p:nvPr/>
        </p:nvSpPr>
        <p:spPr>
          <a:xfrm>
            <a:off x="0" y="0"/>
            <a:ext cx="4572000" cy="461665"/>
          </a:xfrm>
          <a:prstGeom prst="rect">
            <a:avLst/>
          </a:prstGeom>
          <a:noFill/>
        </p:spPr>
        <p:txBody>
          <a:bodyPr wrap="square">
            <a:spAutoFit/>
          </a:bodyPr>
          <a:lstStyle/>
          <a:p>
            <a:r>
              <a:rPr lang="en-IN" sz="2400" b="1" dirty="0"/>
              <a:t>Design Principles Consistency</a:t>
            </a:r>
          </a:p>
        </p:txBody>
      </p:sp>
      <p:sp>
        <p:nvSpPr>
          <p:cNvPr id="8" name="Content Placeholder 9">
            <a:extLst>
              <a:ext uri="{FF2B5EF4-FFF2-40B4-BE49-F238E27FC236}">
                <a16:creationId xmlns:a16="http://schemas.microsoft.com/office/drawing/2014/main" id="{A6EAB5B6-4D84-F1A4-1664-D2E8351D6B6A}"/>
              </a:ext>
            </a:extLst>
          </p:cNvPr>
          <p:cNvSpPr txBox="1">
            <a:spLocks/>
          </p:cNvSpPr>
          <p:nvPr/>
        </p:nvSpPr>
        <p:spPr>
          <a:xfrm>
            <a:off x="0" y="734291"/>
            <a:ext cx="9144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Design interfaces to have similar </a:t>
            </a:r>
            <a:r>
              <a:rPr lang="en-GB" sz="2400" b="1" dirty="0">
                <a:latin typeface="+mn-lt"/>
                <a:cs typeface="Arial" charset="0"/>
              </a:rPr>
              <a:t>operations</a:t>
            </a:r>
            <a:r>
              <a:rPr lang="en-GB" sz="2400" dirty="0">
                <a:latin typeface="+mn-lt"/>
                <a:cs typeface="Arial" charset="0"/>
              </a:rPr>
              <a:t> and use similar </a:t>
            </a:r>
            <a:r>
              <a:rPr lang="en-GB" sz="2400" b="1" dirty="0">
                <a:latin typeface="+mn-lt"/>
                <a:cs typeface="Arial" charset="0"/>
              </a:rPr>
              <a:t>elements</a:t>
            </a:r>
            <a:r>
              <a:rPr lang="en-GB" sz="2400" dirty="0">
                <a:latin typeface="+mn-lt"/>
                <a:cs typeface="Arial" charset="0"/>
              </a:rPr>
              <a:t> for similar </a:t>
            </a:r>
            <a:r>
              <a:rPr lang="en-GB" sz="2400" b="1" dirty="0">
                <a:latin typeface="+mn-lt"/>
                <a:cs typeface="Arial" charset="0"/>
              </a:rPr>
              <a:t>tasks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For example:</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always use ctrl key plus first initial of the command for an operation – </a:t>
            </a:r>
            <a:r>
              <a:rPr lang="en-GB" sz="2400" dirty="0" err="1">
                <a:latin typeface="+mn-lt"/>
                <a:cs typeface="Arial" charset="0"/>
              </a:rPr>
              <a:t>ctrl+C</a:t>
            </a:r>
            <a:r>
              <a:rPr lang="en-GB" sz="2400" dirty="0">
                <a:latin typeface="+mn-lt"/>
                <a:cs typeface="Arial" charset="0"/>
              </a:rPr>
              <a:t>, </a:t>
            </a:r>
            <a:r>
              <a:rPr lang="en-GB" sz="2400" dirty="0" err="1">
                <a:latin typeface="+mn-lt"/>
                <a:cs typeface="Arial" charset="0"/>
              </a:rPr>
              <a:t>ctrl+S</a:t>
            </a:r>
            <a:r>
              <a:rPr lang="en-GB" sz="2400" dirty="0">
                <a:latin typeface="+mn-lt"/>
                <a:cs typeface="Arial" charset="0"/>
              </a:rPr>
              <a:t>, </a:t>
            </a:r>
            <a:r>
              <a:rPr lang="en-GB" sz="2400" dirty="0" err="1">
                <a:latin typeface="+mn-lt"/>
                <a:cs typeface="Arial" charset="0"/>
              </a:rPr>
              <a:t>ctrl+O</a:t>
            </a: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Main benefit is consistent interfaces are </a:t>
            </a:r>
            <a:r>
              <a:rPr lang="en-GB" sz="2400" b="1" dirty="0">
                <a:latin typeface="+mn-lt"/>
                <a:cs typeface="Arial" charset="0"/>
              </a:rPr>
              <a:t>easier to learn and use</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367398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7" name="TextBox 6">
            <a:extLst>
              <a:ext uri="{FF2B5EF4-FFF2-40B4-BE49-F238E27FC236}">
                <a16:creationId xmlns:a16="http://schemas.microsoft.com/office/drawing/2014/main" id="{1409615B-19CB-A2E0-0EF3-90781E6A832E}"/>
              </a:ext>
            </a:extLst>
          </p:cNvPr>
          <p:cNvSpPr txBox="1"/>
          <p:nvPr/>
        </p:nvSpPr>
        <p:spPr>
          <a:xfrm>
            <a:off x="0" y="0"/>
            <a:ext cx="4572000" cy="461665"/>
          </a:xfrm>
          <a:prstGeom prst="rect">
            <a:avLst/>
          </a:prstGeom>
          <a:noFill/>
        </p:spPr>
        <p:txBody>
          <a:bodyPr wrap="square">
            <a:spAutoFit/>
          </a:bodyPr>
          <a:lstStyle/>
          <a:p>
            <a:r>
              <a:rPr lang="en-IN" sz="2400" b="1" dirty="0"/>
              <a:t>Design Principles Consistency</a:t>
            </a:r>
          </a:p>
        </p:txBody>
      </p:sp>
      <p:sp>
        <p:nvSpPr>
          <p:cNvPr id="2" name="Content Placeholder 9">
            <a:extLst>
              <a:ext uri="{FF2B5EF4-FFF2-40B4-BE49-F238E27FC236}">
                <a16:creationId xmlns:a16="http://schemas.microsoft.com/office/drawing/2014/main" id="{5E48B52E-648F-EACC-DD09-584AE1B5DB1B}"/>
              </a:ext>
            </a:extLst>
          </p:cNvPr>
          <p:cNvSpPr txBox="1">
            <a:spLocks/>
          </p:cNvSpPr>
          <p:nvPr/>
        </p:nvSpPr>
        <p:spPr>
          <a:xfrm>
            <a:off x="0" y="1036843"/>
            <a:ext cx="914400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What happens if there is more than one command starting with the same letter?</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e.g. save, spelling, select, style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Have to find other initials or combinations of keys, thereby </a:t>
            </a:r>
            <a:r>
              <a:rPr lang="en-GB" sz="2400" b="1" dirty="0">
                <a:latin typeface="+mn-lt"/>
                <a:cs typeface="Arial" charset="0"/>
              </a:rPr>
              <a:t>breaking the consistency rule</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e.g. </a:t>
            </a:r>
            <a:r>
              <a:rPr lang="en-GB" sz="2400" dirty="0" err="1">
                <a:latin typeface="+mn-lt"/>
                <a:cs typeface="Arial" charset="0"/>
              </a:rPr>
              <a:t>ctrl+S</a:t>
            </a:r>
            <a:r>
              <a:rPr lang="en-GB" sz="2400" dirty="0">
                <a:latin typeface="+mn-lt"/>
                <a:cs typeface="Arial" charset="0"/>
              </a:rPr>
              <a:t>, </a:t>
            </a:r>
            <a:r>
              <a:rPr lang="en-GB" sz="2400" dirty="0" err="1">
                <a:latin typeface="+mn-lt"/>
                <a:cs typeface="Arial" charset="0"/>
              </a:rPr>
              <a:t>ctrl+Sp</a:t>
            </a:r>
            <a:r>
              <a:rPr lang="en-GB" sz="2400" dirty="0">
                <a:latin typeface="+mn-lt"/>
                <a:cs typeface="Arial" charset="0"/>
              </a:rPr>
              <a:t>, </a:t>
            </a:r>
            <a:r>
              <a:rPr lang="en-GB" sz="2400" dirty="0" err="1">
                <a:latin typeface="+mn-lt"/>
                <a:cs typeface="Arial" charset="0"/>
              </a:rPr>
              <a:t>ctrl+shift+L</a:t>
            </a: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Increases </a:t>
            </a:r>
            <a:r>
              <a:rPr lang="en-GB" sz="2400" b="1" dirty="0">
                <a:latin typeface="+mn-lt"/>
                <a:cs typeface="Arial" charset="0"/>
              </a:rPr>
              <a:t>learning burden </a:t>
            </a:r>
            <a:r>
              <a:rPr lang="en-GB" sz="2400" dirty="0">
                <a:latin typeface="+mn-lt"/>
                <a:cs typeface="Arial" charset="0"/>
              </a:rPr>
              <a:t>on user, making them more prone to </a:t>
            </a:r>
            <a:r>
              <a:rPr lang="en-GB" sz="2400" b="1" dirty="0">
                <a:latin typeface="+mn-lt"/>
                <a:cs typeface="Arial" charset="0"/>
              </a:rPr>
              <a:t>errors</a:t>
            </a:r>
            <a:r>
              <a:rPr lang="en-GB" sz="2400" dirty="0">
                <a:latin typeface="+mn-lt"/>
                <a:cs typeface="Arial" charset="0"/>
              </a:rPr>
              <a:t> </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spTree>
    <p:extLst>
      <p:ext uri="{BB962C8B-B14F-4D97-AF65-F5344CB8AC3E}">
        <p14:creationId xmlns:p14="http://schemas.microsoft.com/office/powerpoint/2010/main" val="701252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Content Placeholder 9">
            <a:extLst>
              <a:ext uri="{FF2B5EF4-FFF2-40B4-BE49-F238E27FC236}">
                <a16:creationId xmlns:a16="http://schemas.microsoft.com/office/drawing/2014/main" id="{62ACE499-F2BC-A083-E450-9DEED990C61E}"/>
              </a:ext>
            </a:extLst>
          </p:cNvPr>
          <p:cNvSpPr txBox="1">
            <a:spLocks/>
          </p:cNvSpPr>
          <p:nvPr/>
        </p:nvSpPr>
        <p:spPr>
          <a:xfrm>
            <a:off x="168275" y="1316182"/>
            <a:ext cx="880745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000" b="1" dirty="0">
                <a:latin typeface="+mn-lt"/>
                <a:cs typeface="Arial" charset="0"/>
              </a:rPr>
              <a:t>Internal consistency </a:t>
            </a:r>
            <a:r>
              <a:rPr lang="en-GB" sz="2000" dirty="0">
                <a:latin typeface="+mn-lt"/>
                <a:cs typeface="Arial" charset="0"/>
              </a:rPr>
              <a:t>refers to designing operations to behave the same within an application</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Difficult to achieve with complex interfaces</a:t>
            </a:r>
          </a:p>
          <a:p>
            <a:pPr fontAlgn="auto">
              <a:spcBef>
                <a:spcPts val="0"/>
              </a:spcBef>
              <a:spcAft>
                <a:spcPts val="1200"/>
              </a:spcAft>
              <a:buClr>
                <a:schemeClr val="accent3">
                  <a:lumMod val="50000"/>
                </a:schemeClr>
              </a:buClr>
              <a:buFont typeface="Wingdings 2" pitchFamily="18" charset="2"/>
              <a:buChar char=""/>
              <a:defRPr/>
            </a:pPr>
            <a:r>
              <a:rPr lang="en-GB" sz="2000" b="1" dirty="0">
                <a:latin typeface="+mn-lt"/>
                <a:cs typeface="Arial" charset="0"/>
              </a:rPr>
              <a:t>External consistency </a:t>
            </a:r>
            <a:r>
              <a:rPr lang="en-GB" sz="2000" dirty="0">
                <a:latin typeface="+mn-lt"/>
                <a:cs typeface="Arial" charset="0"/>
              </a:rPr>
              <a:t>refers to designing operations, interfaces, etc., to be the same across applications and devices</a:t>
            </a:r>
          </a:p>
          <a:p>
            <a:pPr lvl="1" fontAlgn="auto">
              <a:spcBef>
                <a:spcPts val="0"/>
              </a:spcBef>
              <a:spcAft>
                <a:spcPts val="1200"/>
              </a:spcAft>
              <a:buClr>
                <a:schemeClr val="accent3">
                  <a:lumMod val="50000"/>
                </a:schemeClr>
              </a:buClr>
              <a:buFont typeface="Wingdings 2" pitchFamily="18" charset="2"/>
              <a:buChar char=""/>
              <a:defRPr/>
            </a:pPr>
            <a:r>
              <a:rPr lang="en-GB" sz="2000" dirty="0">
                <a:latin typeface="+mn-lt"/>
                <a:cs typeface="Arial" charset="0"/>
              </a:rPr>
              <a:t>Very rarely the case, based on different designer’s preference</a:t>
            </a:r>
          </a:p>
          <a:p>
            <a:pPr fontAlgn="auto">
              <a:spcBef>
                <a:spcPts val="0"/>
              </a:spcBef>
              <a:spcAft>
                <a:spcPts val="1200"/>
              </a:spcAft>
              <a:buClr>
                <a:schemeClr val="accent3">
                  <a:lumMod val="50000"/>
                </a:schemeClr>
              </a:buCl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000" dirty="0">
              <a:latin typeface="+mn-lt"/>
              <a:cs typeface="Arial" charset="0"/>
            </a:endParaRPr>
          </a:p>
          <a:p>
            <a:pPr fontAlgn="auto">
              <a:spcBef>
                <a:spcPts val="0"/>
              </a:spcBef>
              <a:spcAft>
                <a:spcPts val="1200"/>
              </a:spcAft>
              <a:buClr>
                <a:schemeClr val="accent3">
                  <a:lumMod val="50000"/>
                </a:schemeClr>
              </a:buClr>
              <a:defRPr/>
            </a:pPr>
            <a:endParaRPr lang="en-US" sz="2000" dirty="0">
              <a:latin typeface="+mn-lt"/>
              <a:cs typeface="Arial" charset="0"/>
            </a:endParaRPr>
          </a:p>
          <a:p>
            <a:pPr fontAlgn="auto">
              <a:spcBef>
                <a:spcPts val="0"/>
              </a:spcBef>
              <a:spcAft>
                <a:spcPts val="1200"/>
              </a:spcAft>
              <a:buClr>
                <a:schemeClr val="accent3">
                  <a:lumMod val="50000"/>
                </a:schemeClr>
              </a:buClr>
              <a:defRPr/>
            </a:pPr>
            <a:endParaRPr lang="en-US" sz="2000" dirty="0">
              <a:latin typeface="+mn-lt"/>
              <a:cs typeface="Arial" charset="0"/>
            </a:endParaRPr>
          </a:p>
          <a:p>
            <a:pPr fontAlgn="auto">
              <a:spcBef>
                <a:spcPts val="0"/>
              </a:spcBef>
              <a:spcAft>
                <a:spcPts val="1200"/>
              </a:spcAft>
              <a:buClr>
                <a:schemeClr val="accent3">
                  <a:lumMod val="50000"/>
                </a:schemeClr>
              </a:buClr>
              <a:defRPr/>
            </a:pPr>
            <a:endParaRPr lang="en-US" sz="2000" dirty="0">
              <a:latin typeface="+mn-lt"/>
              <a:cs typeface="Arial" charset="0"/>
            </a:endParaRPr>
          </a:p>
          <a:p>
            <a:pPr fontAlgn="auto">
              <a:spcBef>
                <a:spcPts val="0"/>
              </a:spcBef>
              <a:spcAft>
                <a:spcPts val="1200"/>
              </a:spcAft>
              <a:buClr>
                <a:schemeClr val="accent3">
                  <a:lumMod val="50000"/>
                </a:schemeClr>
              </a:buClr>
              <a:defRPr/>
            </a:pPr>
            <a:endParaRPr lang="en-US" sz="2000" dirty="0">
              <a:latin typeface="+mn-lt"/>
              <a:cs typeface="Arial" charset="0"/>
            </a:endParaRPr>
          </a:p>
          <a:p>
            <a:pPr fontAlgn="auto">
              <a:spcBef>
                <a:spcPts val="0"/>
              </a:spcBef>
              <a:spcAft>
                <a:spcPts val="1200"/>
              </a:spcAft>
              <a:buClr>
                <a:schemeClr val="accent3">
                  <a:lumMod val="50000"/>
                </a:schemeClr>
              </a:buClr>
              <a:defRPr/>
            </a:pPr>
            <a:endParaRPr lang="en-US"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0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000" dirty="0">
              <a:latin typeface="+mn-lt"/>
              <a:cs typeface="Arial" charset="0"/>
            </a:endParaRPr>
          </a:p>
        </p:txBody>
      </p:sp>
      <p:pic>
        <p:nvPicPr>
          <p:cNvPr id="5" name="Picture 2">
            <a:extLst>
              <a:ext uri="{FF2B5EF4-FFF2-40B4-BE49-F238E27FC236}">
                <a16:creationId xmlns:a16="http://schemas.microsoft.com/office/drawing/2014/main" id="{766F9D35-FE31-1205-73DC-ECA0F5F3E801}"/>
              </a:ext>
            </a:extLst>
          </p:cNvPr>
          <p:cNvPicPr>
            <a:picLocks noChangeAspect="1" noChangeArrowheads="1"/>
          </p:cNvPicPr>
          <p:nvPr/>
        </p:nvPicPr>
        <p:blipFill>
          <a:blip r:embed="rId3" cstate="print"/>
          <a:srcRect/>
          <a:stretch>
            <a:fillRect/>
          </a:stretch>
        </p:blipFill>
        <p:spPr bwMode="auto">
          <a:xfrm>
            <a:off x="358775" y="4618038"/>
            <a:ext cx="1797050" cy="2051050"/>
          </a:xfrm>
          <a:prstGeom prst="rect">
            <a:avLst/>
          </a:prstGeom>
          <a:noFill/>
          <a:ln w="9525">
            <a:noFill/>
            <a:miter lim="800000"/>
            <a:headEnd/>
            <a:tailEnd/>
          </a:ln>
        </p:spPr>
      </p:pic>
      <p:pic>
        <p:nvPicPr>
          <p:cNvPr id="6" name="Picture 6" descr="http://store.aramedia.com/shopimages/products/normal/kbarabic.jpg">
            <a:extLst>
              <a:ext uri="{FF2B5EF4-FFF2-40B4-BE49-F238E27FC236}">
                <a16:creationId xmlns:a16="http://schemas.microsoft.com/office/drawing/2014/main" id="{C36CC324-272B-0539-F87A-7CC913BC6906}"/>
              </a:ext>
            </a:extLst>
          </p:cNvPr>
          <p:cNvPicPr>
            <a:picLocks noChangeAspect="1" noChangeArrowheads="1"/>
          </p:cNvPicPr>
          <p:nvPr/>
        </p:nvPicPr>
        <p:blipFill>
          <a:blip r:embed="rId4" cstate="print"/>
          <a:srcRect l="81000" t="7745"/>
          <a:stretch>
            <a:fillRect/>
          </a:stretch>
        </p:blipFill>
        <p:spPr bwMode="auto">
          <a:xfrm>
            <a:off x="2339975" y="4581525"/>
            <a:ext cx="1260475" cy="2132013"/>
          </a:xfrm>
          <a:prstGeom prst="rect">
            <a:avLst/>
          </a:prstGeom>
          <a:noFill/>
          <a:ln w="9525">
            <a:noFill/>
            <a:miter lim="800000"/>
            <a:headEnd/>
            <a:tailEnd/>
          </a:ln>
        </p:spPr>
      </p:pic>
      <p:pic>
        <p:nvPicPr>
          <p:cNvPr id="7" name="Picture 4" descr="http://img.alibaba.com/img/imagerepos/we/ny/wenyifei/1262069648244_hz_myalibaba_web18_4759.jpg">
            <a:extLst>
              <a:ext uri="{FF2B5EF4-FFF2-40B4-BE49-F238E27FC236}">
                <a16:creationId xmlns:a16="http://schemas.microsoft.com/office/drawing/2014/main" id="{958E68FA-B911-1005-2DE4-900B31E87F13}"/>
              </a:ext>
            </a:extLst>
          </p:cNvPr>
          <p:cNvPicPr>
            <a:picLocks noChangeAspect="1" noChangeArrowheads="1"/>
          </p:cNvPicPr>
          <p:nvPr/>
        </p:nvPicPr>
        <p:blipFill>
          <a:blip r:embed="rId5" cstate="print"/>
          <a:srcRect l="13580" t="17300" r="9877" b="10271"/>
          <a:stretch>
            <a:fillRect/>
          </a:stretch>
        </p:blipFill>
        <p:spPr bwMode="auto">
          <a:xfrm>
            <a:off x="4464050" y="4652963"/>
            <a:ext cx="2808288" cy="1993900"/>
          </a:xfrm>
          <a:prstGeom prst="rect">
            <a:avLst/>
          </a:prstGeom>
          <a:noFill/>
          <a:ln w="9525">
            <a:noFill/>
            <a:miter lim="800000"/>
            <a:headEnd/>
            <a:tailEnd/>
          </a:ln>
        </p:spPr>
      </p:pic>
      <p:pic>
        <p:nvPicPr>
          <p:cNvPr id="8" name="Picture 8" descr="http://cdn.overstock.com/images/products/etilize/images/250/1012993062.jpg">
            <a:extLst>
              <a:ext uri="{FF2B5EF4-FFF2-40B4-BE49-F238E27FC236}">
                <a16:creationId xmlns:a16="http://schemas.microsoft.com/office/drawing/2014/main" id="{E0E4BBC6-F4BD-B6E0-DB63-3C53612258B7}"/>
              </a:ext>
            </a:extLst>
          </p:cNvPr>
          <p:cNvPicPr>
            <a:picLocks noChangeAspect="1" noChangeArrowheads="1"/>
          </p:cNvPicPr>
          <p:nvPr/>
        </p:nvPicPr>
        <p:blipFill>
          <a:blip r:embed="rId6" cstate="print"/>
          <a:srcRect l="14815" r="11111"/>
          <a:stretch>
            <a:fillRect/>
          </a:stretch>
        </p:blipFill>
        <p:spPr bwMode="auto">
          <a:xfrm>
            <a:off x="7200900" y="4508500"/>
            <a:ext cx="1600200" cy="2160588"/>
          </a:xfrm>
          <a:prstGeom prst="rect">
            <a:avLst/>
          </a:prstGeom>
          <a:noFill/>
          <a:ln w="9525">
            <a:noFill/>
            <a:miter lim="800000"/>
            <a:headEnd/>
            <a:tailEnd/>
          </a:ln>
        </p:spPr>
      </p:pic>
      <p:sp>
        <p:nvSpPr>
          <p:cNvPr id="12" name="TextBox 11">
            <a:extLst>
              <a:ext uri="{FF2B5EF4-FFF2-40B4-BE49-F238E27FC236}">
                <a16:creationId xmlns:a16="http://schemas.microsoft.com/office/drawing/2014/main" id="{9ABCB06F-CD39-2D11-2F74-24D0C91727F8}"/>
              </a:ext>
            </a:extLst>
          </p:cNvPr>
          <p:cNvSpPr txBox="1"/>
          <p:nvPr/>
        </p:nvSpPr>
        <p:spPr>
          <a:xfrm>
            <a:off x="60325" y="297881"/>
            <a:ext cx="6672984" cy="400110"/>
          </a:xfrm>
          <a:prstGeom prst="rect">
            <a:avLst/>
          </a:prstGeom>
          <a:noFill/>
        </p:spPr>
        <p:txBody>
          <a:bodyPr wrap="square">
            <a:spAutoFit/>
          </a:bodyPr>
          <a:lstStyle/>
          <a:p>
            <a:r>
              <a:rPr lang="en-IN" sz="2000" dirty="0"/>
              <a:t>Design Principles Consistency (Internal Vs External)</a:t>
            </a:r>
          </a:p>
        </p:txBody>
      </p:sp>
    </p:spTree>
    <p:extLst>
      <p:ext uri="{BB962C8B-B14F-4D97-AF65-F5344CB8AC3E}">
        <p14:creationId xmlns:p14="http://schemas.microsoft.com/office/powerpoint/2010/main" val="2089537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7" name="TextBox 6">
            <a:extLst>
              <a:ext uri="{FF2B5EF4-FFF2-40B4-BE49-F238E27FC236}">
                <a16:creationId xmlns:a16="http://schemas.microsoft.com/office/drawing/2014/main" id="{3D024B80-389E-5810-23B2-CBA26BC4FB63}"/>
              </a:ext>
            </a:extLst>
          </p:cNvPr>
          <p:cNvSpPr txBox="1"/>
          <p:nvPr/>
        </p:nvSpPr>
        <p:spPr>
          <a:xfrm>
            <a:off x="0" y="0"/>
            <a:ext cx="4572000" cy="523220"/>
          </a:xfrm>
          <a:prstGeom prst="rect">
            <a:avLst/>
          </a:prstGeom>
          <a:noFill/>
        </p:spPr>
        <p:txBody>
          <a:bodyPr wrap="square">
            <a:spAutoFit/>
          </a:bodyPr>
          <a:lstStyle/>
          <a:p>
            <a:r>
              <a:rPr lang="en-IN" sz="2800" dirty="0"/>
              <a:t>Design Principles Constraints</a:t>
            </a:r>
          </a:p>
        </p:txBody>
      </p:sp>
      <p:sp>
        <p:nvSpPr>
          <p:cNvPr id="8" name="Content Placeholder 9">
            <a:extLst>
              <a:ext uri="{FF2B5EF4-FFF2-40B4-BE49-F238E27FC236}">
                <a16:creationId xmlns:a16="http://schemas.microsoft.com/office/drawing/2014/main" id="{ECB28B64-CFB2-827F-2B1E-70243A6A75EC}"/>
              </a:ext>
            </a:extLst>
          </p:cNvPr>
          <p:cNvSpPr txBox="1">
            <a:spLocks/>
          </p:cNvSpPr>
          <p:nvPr/>
        </p:nvSpPr>
        <p:spPr>
          <a:xfrm>
            <a:off x="108527" y="798946"/>
            <a:ext cx="4019550" cy="4419600"/>
          </a:xfrm>
          <a:prstGeom prst="rect">
            <a:avLst/>
          </a:prstGeom>
        </p:spPr>
        <p:txBody>
          <a:bodyPr/>
          <a:lstStyle/>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Restricting the possible actions that can be performed</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Helps prevent user from selecting incorrect options</a:t>
            </a:r>
          </a:p>
          <a:p>
            <a:pPr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Physical objects can be designed to constrain things</a:t>
            </a:r>
          </a:p>
          <a:p>
            <a:pPr lvl="1" fontAlgn="auto">
              <a:spcBef>
                <a:spcPts val="0"/>
              </a:spcBef>
              <a:spcAft>
                <a:spcPts val="1200"/>
              </a:spcAft>
              <a:buClr>
                <a:schemeClr val="accent3">
                  <a:lumMod val="50000"/>
                </a:schemeClr>
              </a:buClr>
              <a:buFont typeface="Wingdings 2" pitchFamily="18" charset="2"/>
              <a:buChar char=""/>
              <a:defRPr/>
            </a:pPr>
            <a:r>
              <a:rPr lang="en-GB" sz="2400" dirty="0">
                <a:latin typeface="+mn-lt"/>
                <a:cs typeface="Arial" charset="0"/>
              </a:rPr>
              <a:t>e.g. only one way you can insert a key into a lock</a:t>
            </a:r>
          </a:p>
          <a:p>
            <a:pPr fontAlgn="auto">
              <a:spcBef>
                <a:spcPts val="0"/>
              </a:spcBef>
              <a:spcAft>
                <a:spcPts val="1200"/>
              </a:spcAft>
              <a:buClr>
                <a:schemeClr val="accent3">
                  <a:lumMod val="50000"/>
                </a:schemeClr>
              </a:buCl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lvl="1"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GB"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defRPr/>
            </a:pPr>
            <a:endParaRPr lang="en-US" sz="2000" i="1" dirty="0">
              <a:solidFill>
                <a:schemeClr val="accent3">
                  <a:lumMod val="50000"/>
                </a:schemeClr>
              </a:solidFill>
              <a:latin typeface="+mn-lt"/>
              <a:cs typeface="Arial" charset="0"/>
            </a:endParaRPr>
          </a:p>
          <a:p>
            <a:pPr fontAlgn="auto">
              <a:spcBef>
                <a:spcPts val="0"/>
              </a:spcBef>
              <a:spcAft>
                <a:spcPts val="1200"/>
              </a:spcAft>
              <a:buClr>
                <a:schemeClr val="accent3">
                  <a:lumMod val="50000"/>
                </a:schemeClr>
              </a:buClr>
              <a:defRPr/>
            </a:pPr>
            <a:endParaRPr lang="en-US" sz="2400" dirty="0">
              <a:latin typeface="+mn-lt"/>
              <a:cs typeface="Arial" charset="0"/>
            </a:endParaRPr>
          </a:p>
          <a:p>
            <a:pPr fontAlgn="auto">
              <a:spcBef>
                <a:spcPts val="0"/>
              </a:spcBef>
              <a:spcAft>
                <a:spcPts val="1200"/>
              </a:spcAft>
              <a:buClr>
                <a:schemeClr val="accent3">
                  <a:lumMod val="50000"/>
                </a:schemeClr>
              </a:buClr>
              <a:buFont typeface="Wingdings 2" pitchFamily="18" charset="2"/>
              <a:buChar char=""/>
              <a:defRPr/>
            </a:pPr>
            <a:endParaRPr lang="en-US" sz="2400" dirty="0">
              <a:latin typeface="+mn-lt"/>
              <a:cs typeface="Arial" charset="0"/>
            </a:endParaRPr>
          </a:p>
        </p:txBody>
      </p:sp>
      <p:pic>
        <p:nvPicPr>
          <p:cNvPr id="3074" name="Picture 2" descr="Styling Disabled Form Fields">
            <a:extLst>
              <a:ext uri="{FF2B5EF4-FFF2-40B4-BE49-F238E27FC236}">
                <a16:creationId xmlns:a16="http://schemas.microsoft.com/office/drawing/2014/main" id="{4C64912E-6F59-CE75-42B3-8715C9846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951" y="1249507"/>
            <a:ext cx="4448175" cy="47910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CF5B93-3B1C-5A7D-2F9F-935024FF8236}"/>
              </a:ext>
            </a:extLst>
          </p:cNvPr>
          <p:cNvSpPr txBox="1"/>
          <p:nvPr/>
        </p:nvSpPr>
        <p:spPr>
          <a:xfrm>
            <a:off x="283874" y="4756881"/>
            <a:ext cx="3724708" cy="923330"/>
          </a:xfrm>
          <a:prstGeom prst="rect">
            <a:avLst/>
          </a:prstGeom>
          <a:noFill/>
        </p:spPr>
        <p:txBody>
          <a:bodyPr wrap="square">
            <a:spAutoFit/>
          </a:bodyPr>
          <a:lstStyle/>
          <a:p>
            <a:r>
              <a:rPr lang="en-US" dirty="0"/>
              <a:t>Restricting the possible actions that can be performed</a:t>
            </a:r>
          </a:p>
          <a:p>
            <a:endParaRPr lang="en-US" dirty="0"/>
          </a:p>
        </p:txBody>
      </p:sp>
    </p:spTree>
    <p:extLst>
      <p:ext uri="{BB962C8B-B14F-4D97-AF65-F5344CB8AC3E}">
        <p14:creationId xmlns:p14="http://schemas.microsoft.com/office/powerpoint/2010/main" val="1768241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5" name="TextBox 4">
            <a:extLst>
              <a:ext uri="{FF2B5EF4-FFF2-40B4-BE49-F238E27FC236}">
                <a16:creationId xmlns:a16="http://schemas.microsoft.com/office/drawing/2014/main" id="{2EFF5F09-ABA7-D047-F80A-2CBA7A5F50A5}"/>
              </a:ext>
            </a:extLst>
          </p:cNvPr>
          <p:cNvSpPr txBox="1"/>
          <p:nvPr/>
        </p:nvSpPr>
        <p:spPr>
          <a:xfrm>
            <a:off x="175491" y="180170"/>
            <a:ext cx="4636654" cy="461665"/>
          </a:xfrm>
          <a:prstGeom prst="rect">
            <a:avLst/>
          </a:prstGeom>
          <a:noFill/>
        </p:spPr>
        <p:txBody>
          <a:bodyPr wrap="square">
            <a:spAutoFit/>
          </a:bodyPr>
          <a:lstStyle/>
          <a:p>
            <a:r>
              <a:rPr lang="en-IN" sz="2400" dirty="0"/>
              <a:t>Usability Principles</a:t>
            </a:r>
          </a:p>
        </p:txBody>
      </p:sp>
      <p:pic>
        <p:nvPicPr>
          <p:cNvPr id="6" name="Picture 5">
            <a:extLst>
              <a:ext uri="{FF2B5EF4-FFF2-40B4-BE49-F238E27FC236}">
                <a16:creationId xmlns:a16="http://schemas.microsoft.com/office/drawing/2014/main" id="{517556DD-34A3-9C00-F731-8F9DD820697D}"/>
              </a:ext>
            </a:extLst>
          </p:cNvPr>
          <p:cNvPicPr>
            <a:picLocks noChangeAspect="1"/>
          </p:cNvPicPr>
          <p:nvPr/>
        </p:nvPicPr>
        <p:blipFill>
          <a:blip r:embed="rId3"/>
          <a:stretch>
            <a:fillRect/>
          </a:stretch>
        </p:blipFill>
        <p:spPr>
          <a:xfrm>
            <a:off x="175491" y="1009217"/>
            <a:ext cx="4785775" cy="4474852"/>
          </a:xfrm>
          <a:prstGeom prst="rect">
            <a:avLst/>
          </a:prstGeom>
        </p:spPr>
      </p:pic>
    </p:spTree>
    <p:extLst>
      <p:ext uri="{BB962C8B-B14F-4D97-AF65-F5344CB8AC3E}">
        <p14:creationId xmlns:p14="http://schemas.microsoft.com/office/powerpoint/2010/main" val="2834923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90" y="0"/>
            <a:ext cx="9144001" cy="6858000"/>
          </a:xfrm>
          <a:prstGeom prst="rect">
            <a:avLst/>
          </a:prstGeom>
        </p:spPr>
      </p:pic>
      <p:sp>
        <p:nvSpPr>
          <p:cNvPr id="6" name="TextBox 5">
            <a:extLst>
              <a:ext uri="{FF2B5EF4-FFF2-40B4-BE49-F238E27FC236}">
                <a16:creationId xmlns:a16="http://schemas.microsoft.com/office/drawing/2014/main" id="{9063EA43-65BE-35B9-B1F9-9D6031514CB4}"/>
              </a:ext>
            </a:extLst>
          </p:cNvPr>
          <p:cNvSpPr txBox="1"/>
          <p:nvPr/>
        </p:nvSpPr>
        <p:spPr>
          <a:xfrm>
            <a:off x="0" y="309527"/>
            <a:ext cx="6507019" cy="830997"/>
          </a:xfrm>
          <a:prstGeom prst="rect">
            <a:avLst/>
          </a:prstGeom>
          <a:noFill/>
        </p:spPr>
        <p:txBody>
          <a:bodyPr wrap="square">
            <a:spAutoFit/>
          </a:bodyPr>
          <a:lstStyle/>
          <a:p>
            <a:pPr algn="ctr"/>
            <a:r>
              <a:rPr lang="en-US" sz="2400" b="1" dirty="0">
                <a:effectLst/>
                <a:latin typeface="TT Norms Pro"/>
              </a:rPr>
              <a:t>The Meaning of Design: What Design Is and Why It’s Important</a:t>
            </a:r>
          </a:p>
        </p:txBody>
      </p:sp>
      <p:sp>
        <p:nvSpPr>
          <p:cNvPr id="8" name="TextBox 7">
            <a:extLst>
              <a:ext uri="{FF2B5EF4-FFF2-40B4-BE49-F238E27FC236}">
                <a16:creationId xmlns:a16="http://schemas.microsoft.com/office/drawing/2014/main" id="{3E3DE70D-CD4F-9DA9-78DE-F3541FB7B9D5}"/>
              </a:ext>
            </a:extLst>
          </p:cNvPr>
          <p:cNvSpPr txBox="1"/>
          <p:nvPr/>
        </p:nvSpPr>
        <p:spPr>
          <a:xfrm>
            <a:off x="0" y="1905506"/>
            <a:ext cx="9144000" cy="3046988"/>
          </a:xfrm>
          <a:prstGeom prst="rect">
            <a:avLst/>
          </a:prstGeom>
          <a:noFill/>
        </p:spPr>
        <p:txBody>
          <a:bodyPr wrap="square">
            <a:spAutoFit/>
          </a:bodyPr>
          <a:lstStyle/>
          <a:p>
            <a:r>
              <a:rPr lang="en-US" sz="2400" b="0" i="0" dirty="0">
                <a:solidFill>
                  <a:srgbClr val="1F1F2F"/>
                </a:solidFill>
                <a:effectLst/>
                <a:latin typeface="TT Norms Pro"/>
              </a:rPr>
              <a:t>What is design? Most people think that design is about making things look pretty – a decoration. Art. But design is as much an art as it is a science. </a:t>
            </a:r>
          </a:p>
          <a:p>
            <a:endParaRPr lang="en-US" sz="2400" dirty="0">
              <a:solidFill>
                <a:srgbClr val="1F1F2F"/>
              </a:solidFill>
              <a:latin typeface="TT Norms Pro"/>
            </a:endParaRPr>
          </a:p>
          <a:p>
            <a:r>
              <a:rPr lang="en-US" sz="2400" b="0" i="0" dirty="0">
                <a:solidFill>
                  <a:srgbClr val="1F1F2F"/>
                </a:solidFill>
                <a:effectLst/>
                <a:latin typeface="TT Norms Pro"/>
              </a:rPr>
              <a:t>Cold and calculated process. Sometimes the detriment of pretty. Yet, the design is not allowed to fail. Design is for everyone and no one in particular. Website and mobile app design, as well as design in general, is a complex yet subtle process, it’s more than making things pretty</a:t>
            </a:r>
            <a:endParaRPr lang="en-IN" sz="2400" dirty="0"/>
          </a:p>
        </p:txBody>
      </p:sp>
      <p:sp>
        <p:nvSpPr>
          <p:cNvPr id="3" name="TextBox 2">
            <a:extLst>
              <a:ext uri="{FF2B5EF4-FFF2-40B4-BE49-F238E27FC236}">
                <a16:creationId xmlns:a16="http://schemas.microsoft.com/office/drawing/2014/main" id="{88EC1085-B611-A424-F64B-19D997AACA5C}"/>
              </a:ext>
            </a:extLst>
          </p:cNvPr>
          <p:cNvSpPr txBox="1"/>
          <p:nvPr/>
        </p:nvSpPr>
        <p:spPr>
          <a:xfrm>
            <a:off x="73890" y="5489748"/>
            <a:ext cx="9144001" cy="1200329"/>
          </a:xfrm>
          <a:prstGeom prst="rect">
            <a:avLst/>
          </a:prstGeom>
          <a:solidFill>
            <a:schemeClr val="accent2">
              <a:lumMod val="20000"/>
              <a:lumOff val="80000"/>
            </a:schemeClr>
          </a:solidFill>
        </p:spPr>
        <p:txBody>
          <a:bodyPr wrap="square">
            <a:spAutoFit/>
          </a:bodyPr>
          <a:lstStyle/>
          <a:p>
            <a:r>
              <a:rPr lang="en-US" sz="2400" b="0" i="1" dirty="0">
                <a:solidFill>
                  <a:srgbClr val="1F1F2F"/>
                </a:solidFill>
                <a:effectLst/>
                <a:latin typeface="TT Norms Pro"/>
              </a:rPr>
              <a:t>Design is a plan for arranging elements in such a way as best to accomplish a particular purpose.” </a:t>
            </a:r>
          </a:p>
          <a:p>
            <a:r>
              <a:rPr lang="en-US" sz="2400" dirty="0"/>
              <a:t>	-</a:t>
            </a:r>
            <a:r>
              <a:rPr lang="en-US" i="1" dirty="0"/>
              <a:t>Charles Eames, American designer, architect, and filmmaker</a:t>
            </a:r>
            <a:endParaRPr lang="en-IN" sz="2400" i="1" dirty="0"/>
          </a:p>
        </p:txBody>
      </p:sp>
    </p:spTree>
    <p:extLst>
      <p:ext uri="{BB962C8B-B14F-4D97-AF65-F5344CB8AC3E}">
        <p14:creationId xmlns:p14="http://schemas.microsoft.com/office/powerpoint/2010/main" val="3312106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44001" cy="6858000"/>
          </a:xfrm>
          <a:prstGeom prst="rect">
            <a:avLst/>
          </a:prstGeom>
        </p:spPr>
      </p:pic>
      <p:pic>
        <p:nvPicPr>
          <p:cNvPr id="1026" name="Picture 2" descr="What design means">
            <a:extLst>
              <a:ext uri="{FF2B5EF4-FFF2-40B4-BE49-F238E27FC236}">
                <a16:creationId xmlns:a16="http://schemas.microsoft.com/office/drawing/2014/main" id="{9B0E05A5-3817-CA5E-F8B0-2A5D47606A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3043" y="0"/>
            <a:ext cx="4120957" cy="30907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3B6F59-0F1A-BE43-3B08-4AFDA2A8DE00}"/>
              </a:ext>
            </a:extLst>
          </p:cNvPr>
          <p:cNvSpPr txBox="1"/>
          <p:nvPr/>
        </p:nvSpPr>
        <p:spPr>
          <a:xfrm>
            <a:off x="-1" y="43730"/>
            <a:ext cx="5023043" cy="3046988"/>
          </a:xfrm>
          <a:prstGeom prst="rect">
            <a:avLst/>
          </a:prstGeom>
          <a:noFill/>
        </p:spPr>
        <p:txBody>
          <a:bodyPr wrap="square">
            <a:spAutoFit/>
          </a:bodyPr>
          <a:lstStyle/>
          <a:p>
            <a:r>
              <a:rPr lang="en-US" sz="2400" b="0" i="0" dirty="0">
                <a:solidFill>
                  <a:srgbClr val="1F1F2F"/>
                </a:solidFill>
                <a:effectLst/>
                <a:latin typeface="TT Norms Pro"/>
              </a:rPr>
              <a:t>Meanwhile, the meaning of design depends on the context and can also mean a variety of other things. Design is the </a:t>
            </a:r>
            <a:r>
              <a:rPr lang="en-US" sz="2400" b="1" i="0" dirty="0">
                <a:solidFill>
                  <a:srgbClr val="1F1F2F"/>
                </a:solidFill>
                <a:effectLst/>
                <a:latin typeface="TT Norms Pro"/>
              </a:rPr>
              <a:t>creation</a:t>
            </a:r>
            <a:r>
              <a:rPr lang="en-US" sz="2400" b="0" i="0" dirty="0">
                <a:solidFill>
                  <a:srgbClr val="1F1F2F"/>
                </a:solidFill>
                <a:effectLst/>
                <a:latin typeface="TT Norms Pro"/>
              </a:rPr>
              <a:t> of an experience. It’s also the </a:t>
            </a:r>
            <a:r>
              <a:rPr lang="en-US" sz="2400" b="1" i="0" dirty="0">
                <a:solidFill>
                  <a:srgbClr val="1F1F2F"/>
                </a:solidFill>
                <a:effectLst/>
                <a:latin typeface="TT Norms Pro"/>
              </a:rPr>
              <a:t>process</a:t>
            </a:r>
            <a:r>
              <a:rPr lang="en-US" sz="2400" b="0" i="0" dirty="0">
                <a:solidFill>
                  <a:srgbClr val="1F1F2F"/>
                </a:solidFill>
                <a:effectLst/>
                <a:latin typeface="TT Norms Pro"/>
              </a:rPr>
              <a:t> of the said creation and how well it’s organized. On top of that, design is the </a:t>
            </a:r>
            <a:r>
              <a:rPr lang="en-US" sz="2400" b="1" i="0" dirty="0">
                <a:solidFill>
                  <a:srgbClr val="1F1F2F"/>
                </a:solidFill>
                <a:effectLst/>
                <a:latin typeface="TT Norms Pro"/>
              </a:rPr>
              <a:t>result</a:t>
            </a:r>
            <a:r>
              <a:rPr lang="en-US" sz="2400" b="0" i="0" dirty="0">
                <a:solidFill>
                  <a:srgbClr val="1F1F2F"/>
                </a:solidFill>
                <a:effectLst/>
                <a:latin typeface="TT Norms Pro"/>
              </a:rPr>
              <a:t>, i.e. the things we see, hear, and feel.</a:t>
            </a:r>
            <a:endParaRPr lang="en-IN" sz="2400" dirty="0"/>
          </a:p>
        </p:txBody>
      </p:sp>
      <p:sp>
        <p:nvSpPr>
          <p:cNvPr id="6" name="TextBox 5">
            <a:extLst>
              <a:ext uri="{FF2B5EF4-FFF2-40B4-BE49-F238E27FC236}">
                <a16:creationId xmlns:a16="http://schemas.microsoft.com/office/drawing/2014/main" id="{FC109EE2-1C70-6DE9-8159-972927567638}"/>
              </a:ext>
            </a:extLst>
          </p:cNvPr>
          <p:cNvSpPr txBox="1"/>
          <p:nvPr/>
        </p:nvSpPr>
        <p:spPr>
          <a:xfrm>
            <a:off x="-1" y="3134448"/>
            <a:ext cx="9144000" cy="923330"/>
          </a:xfrm>
          <a:prstGeom prst="rect">
            <a:avLst/>
          </a:prstGeom>
          <a:noFill/>
        </p:spPr>
        <p:txBody>
          <a:bodyPr wrap="square">
            <a:spAutoFit/>
          </a:bodyPr>
          <a:lstStyle/>
          <a:p>
            <a:pPr algn="l"/>
            <a:r>
              <a:rPr lang="en-US" b="1" dirty="0">
                <a:solidFill>
                  <a:srgbClr val="1F1F2F"/>
                </a:solidFill>
                <a:effectLst/>
                <a:latin typeface="TT Norms Pro"/>
              </a:rPr>
              <a:t>The purpose of design</a:t>
            </a:r>
            <a:endParaRPr lang="en-US" b="0" dirty="0">
              <a:solidFill>
                <a:srgbClr val="1F1F2F"/>
              </a:solidFill>
              <a:effectLst/>
              <a:latin typeface="TT Norms Pro"/>
            </a:endParaRPr>
          </a:p>
          <a:p>
            <a:pPr algn="l"/>
            <a:r>
              <a:rPr lang="en-US" b="0" i="0" dirty="0">
                <a:solidFill>
                  <a:srgbClr val="1F1F2F"/>
                </a:solidFill>
                <a:effectLst/>
                <a:latin typeface="TT Norms Pro"/>
              </a:rPr>
              <a:t>Every type of design exists to solve problems. To see the problem and find a solution, designers rely on data. So the toolset of the designer is based on research, not prettification.</a:t>
            </a:r>
          </a:p>
        </p:txBody>
      </p:sp>
      <p:sp>
        <p:nvSpPr>
          <p:cNvPr id="8" name="TextBox 7">
            <a:extLst>
              <a:ext uri="{FF2B5EF4-FFF2-40B4-BE49-F238E27FC236}">
                <a16:creationId xmlns:a16="http://schemas.microsoft.com/office/drawing/2014/main" id="{C02B0BA9-50FE-3637-0695-B76FD364B37F}"/>
              </a:ext>
            </a:extLst>
          </p:cNvPr>
          <p:cNvSpPr txBox="1"/>
          <p:nvPr/>
        </p:nvSpPr>
        <p:spPr>
          <a:xfrm>
            <a:off x="0" y="4030289"/>
            <a:ext cx="4622800" cy="369332"/>
          </a:xfrm>
          <a:prstGeom prst="rect">
            <a:avLst/>
          </a:prstGeom>
          <a:noFill/>
        </p:spPr>
        <p:txBody>
          <a:bodyPr wrap="square">
            <a:spAutoFit/>
          </a:bodyPr>
          <a:lstStyle/>
          <a:p>
            <a:pPr algn="l"/>
            <a:r>
              <a:rPr lang="en-IN" b="1" dirty="0">
                <a:solidFill>
                  <a:srgbClr val="1F1F2F"/>
                </a:solidFill>
                <a:effectLst/>
                <a:latin typeface="TT Norms Pro"/>
              </a:rPr>
              <a:t>User interface design</a:t>
            </a:r>
            <a:endParaRPr lang="en-IN" b="0" dirty="0">
              <a:solidFill>
                <a:srgbClr val="1F1F2F"/>
              </a:solidFill>
              <a:effectLst/>
              <a:latin typeface="TT Norms Pro"/>
            </a:endParaRPr>
          </a:p>
        </p:txBody>
      </p:sp>
      <p:sp>
        <p:nvSpPr>
          <p:cNvPr id="12" name="TextBox 11">
            <a:extLst>
              <a:ext uri="{FF2B5EF4-FFF2-40B4-BE49-F238E27FC236}">
                <a16:creationId xmlns:a16="http://schemas.microsoft.com/office/drawing/2014/main" id="{B5419634-8E4D-6EBD-1FE1-88023FDB036E}"/>
              </a:ext>
            </a:extLst>
          </p:cNvPr>
          <p:cNvSpPr txBox="1"/>
          <p:nvPr/>
        </p:nvSpPr>
        <p:spPr>
          <a:xfrm>
            <a:off x="1" y="4402794"/>
            <a:ext cx="9144000" cy="2031325"/>
          </a:xfrm>
          <a:prstGeom prst="rect">
            <a:avLst/>
          </a:prstGeom>
          <a:noFill/>
        </p:spPr>
        <p:txBody>
          <a:bodyPr wrap="square">
            <a:spAutoFit/>
          </a:bodyPr>
          <a:lstStyle/>
          <a:p>
            <a:r>
              <a:rPr lang="en-US" dirty="0"/>
              <a:t>A user interface is the main touchpoint of a designed product and a user. The UI design is about providing a user with the simplest and most efficient way to interact with a product. In that sense, a designer has to be well aware of the following three concepts of user interface design:</a:t>
            </a:r>
          </a:p>
          <a:p>
            <a:endParaRPr lang="en-US" dirty="0"/>
          </a:p>
          <a:p>
            <a:r>
              <a:rPr lang="en-US" dirty="0"/>
              <a:t>Condition or where the UI exists.</a:t>
            </a:r>
          </a:p>
          <a:p>
            <a:r>
              <a:rPr lang="en-US" dirty="0"/>
              <a:t>Content or what the UI looks like.</a:t>
            </a:r>
          </a:p>
          <a:p>
            <a:r>
              <a:rPr lang="en-US" dirty="0"/>
              <a:t>Context or who operates the UI.</a:t>
            </a:r>
            <a:endParaRPr lang="en-IN" dirty="0"/>
          </a:p>
        </p:txBody>
      </p:sp>
    </p:spTree>
    <p:extLst>
      <p:ext uri="{BB962C8B-B14F-4D97-AF65-F5344CB8AC3E}">
        <p14:creationId xmlns:p14="http://schemas.microsoft.com/office/powerpoint/2010/main" val="3130517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4714C42-9052-03E1-7579-E097C649FD7F}"/>
              </a:ext>
            </a:extLst>
          </p:cNvPr>
          <p:cNvSpPr txBox="1"/>
          <p:nvPr/>
        </p:nvSpPr>
        <p:spPr>
          <a:xfrm>
            <a:off x="-1" y="134035"/>
            <a:ext cx="5809673" cy="369332"/>
          </a:xfrm>
          <a:prstGeom prst="rect">
            <a:avLst/>
          </a:prstGeom>
          <a:noFill/>
        </p:spPr>
        <p:txBody>
          <a:bodyPr wrap="square">
            <a:spAutoFit/>
          </a:bodyPr>
          <a:lstStyle/>
          <a:p>
            <a:r>
              <a:rPr lang="en-US" b="1" i="0" dirty="0">
                <a:solidFill>
                  <a:srgbClr val="1F1F2F"/>
                </a:solidFill>
                <a:effectLst/>
                <a:latin typeface="TT Norms Pro"/>
              </a:rPr>
              <a:t>Why UX design is important and what makes good design:</a:t>
            </a:r>
            <a:endParaRPr lang="en-IN" dirty="0"/>
          </a:p>
        </p:txBody>
      </p:sp>
      <p:sp>
        <p:nvSpPr>
          <p:cNvPr id="6" name="TextBox 5">
            <a:extLst>
              <a:ext uri="{FF2B5EF4-FFF2-40B4-BE49-F238E27FC236}">
                <a16:creationId xmlns:a16="http://schemas.microsoft.com/office/drawing/2014/main" id="{34092459-2C9D-CDA6-0F29-9070266D5BFC}"/>
              </a:ext>
            </a:extLst>
          </p:cNvPr>
          <p:cNvSpPr txBox="1"/>
          <p:nvPr/>
        </p:nvSpPr>
        <p:spPr>
          <a:xfrm>
            <a:off x="230909" y="1197459"/>
            <a:ext cx="8913091" cy="4247317"/>
          </a:xfrm>
          <a:prstGeom prst="rect">
            <a:avLst/>
          </a:prstGeom>
          <a:noFill/>
        </p:spPr>
        <p:txBody>
          <a:bodyPr wrap="square">
            <a:spAutoFit/>
          </a:bodyPr>
          <a:lstStyle/>
          <a:p>
            <a:pPr algn="l">
              <a:buFont typeface="Arial" panose="020B0604020202020204" pitchFamily="34" charset="0"/>
              <a:buChar char="•"/>
            </a:pPr>
            <a:r>
              <a:rPr lang="en-US" b="1" i="0" dirty="0">
                <a:solidFill>
                  <a:srgbClr val="1F1F2F"/>
                </a:solidFill>
                <a:effectLst/>
                <a:latin typeface="TT Norms Pro"/>
              </a:rPr>
              <a:t>Good design will crack you up.</a:t>
            </a:r>
            <a:r>
              <a:rPr lang="en-US" b="0" i="0" dirty="0">
                <a:solidFill>
                  <a:srgbClr val="1F1F2F"/>
                </a:solidFill>
                <a:effectLst/>
                <a:latin typeface="TT Norms Pro"/>
              </a:rPr>
              <a:t> User satisfaction is no longer a goal. It’s a default every design solution should be in line with. However, the fun and delight are the goals. The hard sell times are past. Modern design seduces and brings pleasure.</a:t>
            </a:r>
          </a:p>
          <a:p>
            <a:pPr algn="l">
              <a:buFont typeface="Arial" panose="020B0604020202020204" pitchFamily="34" charset="0"/>
              <a:buChar char="•"/>
            </a:pPr>
            <a:r>
              <a:rPr lang="en-US" b="1" i="0" dirty="0">
                <a:solidFill>
                  <a:srgbClr val="1F1F2F"/>
                </a:solidFill>
                <a:effectLst/>
                <a:latin typeface="TT Norms Pro"/>
              </a:rPr>
              <a:t>Good design will eat your money and make you feel good about it.</a:t>
            </a:r>
            <a:r>
              <a:rPr lang="en-US" b="0" i="0" dirty="0">
                <a:solidFill>
                  <a:srgbClr val="1F1F2F"/>
                </a:solidFill>
                <a:effectLst/>
                <a:latin typeface="TT Norms Pro"/>
              </a:rPr>
              <a:t> Practical value is only a part of what people are willing to pay for. Another part is happiness. If your design makes people feel good, they will forgive you for technical issues and bad updates. How to make them happy? Be genuine and honest about your work. Listen. Change.</a:t>
            </a:r>
          </a:p>
          <a:p>
            <a:pPr algn="l">
              <a:buFont typeface="Arial" panose="020B0604020202020204" pitchFamily="34" charset="0"/>
              <a:buChar char="•"/>
            </a:pPr>
            <a:r>
              <a:rPr lang="en-US" b="1" i="0" dirty="0">
                <a:solidFill>
                  <a:srgbClr val="1F1F2F"/>
                </a:solidFill>
                <a:effectLst/>
                <a:latin typeface="TT Norms Pro"/>
              </a:rPr>
              <a:t>Good design feels like a person.</a:t>
            </a:r>
            <a:r>
              <a:rPr lang="en-US" b="0" i="0" dirty="0">
                <a:solidFill>
                  <a:srgbClr val="1F1F2F"/>
                </a:solidFill>
                <a:effectLst/>
                <a:latin typeface="TT Norms Pro"/>
              </a:rPr>
              <a:t> For people to care, they have to empathize with something. If a product is designed in a way that favors everything, it favors nothing. You make a social impact by having a strong distinctive voice, promoting the right kind of values, and identifying with your audience. No matter what type of business you do, there has to be a human side to it.</a:t>
            </a:r>
          </a:p>
          <a:p>
            <a:pPr algn="l">
              <a:buFont typeface="Arial" panose="020B0604020202020204" pitchFamily="34" charset="0"/>
              <a:buChar char="•"/>
            </a:pPr>
            <a:r>
              <a:rPr lang="en-US" b="1" i="0" dirty="0">
                <a:solidFill>
                  <a:srgbClr val="1F1F2F"/>
                </a:solidFill>
                <a:effectLst/>
                <a:latin typeface="TT Norms Pro"/>
              </a:rPr>
              <a:t>Good design has meaning.</a:t>
            </a:r>
            <a:r>
              <a:rPr lang="en-US" b="0" i="0" dirty="0">
                <a:solidFill>
                  <a:srgbClr val="1F1F2F"/>
                </a:solidFill>
                <a:effectLst/>
                <a:latin typeface="TT Norms Pro"/>
              </a:rPr>
              <a:t> Meaning connects people with objects. If that connection is meaningful, it will stay for years. The design should empower people to establish the connections they need to feel free, capable, and Enlighted.</a:t>
            </a:r>
          </a:p>
        </p:txBody>
      </p:sp>
    </p:spTree>
    <p:extLst>
      <p:ext uri="{BB962C8B-B14F-4D97-AF65-F5344CB8AC3E}">
        <p14:creationId xmlns:p14="http://schemas.microsoft.com/office/powerpoint/2010/main" val="29271221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44001" cy="6858000"/>
          </a:xfrm>
          <a:prstGeom prst="rect">
            <a:avLst/>
          </a:prstGeom>
        </p:spPr>
      </p:pic>
      <p:pic>
        <p:nvPicPr>
          <p:cNvPr id="2050" name="Picture 2" descr="RGB CMYK shadows">
            <a:extLst>
              <a:ext uri="{FF2B5EF4-FFF2-40B4-BE49-F238E27FC236}">
                <a16:creationId xmlns:a16="http://schemas.microsoft.com/office/drawing/2014/main" id="{E46729E9-52F1-7813-0CEA-B29AD43B3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4207" y="-1"/>
            <a:ext cx="6009793" cy="450734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8D5206-BEDD-CC91-5C7C-B12FDB36B9EC}"/>
              </a:ext>
            </a:extLst>
          </p:cNvPr>
          <p:cNvSpPr txBox="1"/>
          <p:nvPr/>
        </p:nvSpPr>
        <p:spPr>
          <a:xfrm>
            <a:off x="0" y="0"/>
            <a:ext cx="4572000" cy="523220"/>
          </a:xfrm>
          <a:prstGeom prst="rect">
            <a:avLst/>
          </a:prstGeom>
          <a:noFill/>
        </p:spPr>
        <p:txBody>
          <a:bodyPr wrap="square">
            <a:spAutoFit/>
          </a:bodyPr>
          <a:lstStyle/>
          <a:p>
            <a:pPr algn="l"/>
            <a:r>
              <a:rPr lang="en-IN" sz="2800" b="0" dirty="0" err="1">
                <a:solidFill>
                  <a:srgbClr val="1F1F2F"/>
                </a:solidFill>
                <a:effectLst/>
                <a:latin typeface="TT Norms Pro"/>
              </a:rPr>
              <a:t>Color</a:t>
            </a:r>
            <a:r>
              <a:rPr lang="en-IN" sz="2800" b="0" dirty="0">
                <a:solidFill>
                  <a:srgbClr val="1F1F2F"/>
                </a:solidFill>
                <a:effectLst/>
                <a:latin typeface="TT Norms Pro"/>
              </a:rPr>
              <a:t> in design</a:t>
            </a:r>
          </a:p>
        </p:txBody>
      </p:sp>
      <p:sp>
        <p:nvSpPr>
          <p:cNvPr id="6" name="TextBox 5">
            <a:extLst>
              <a:ext uri="{FF2B5EF4-FFF2-40B4-BE49-F238E27FC236}">
                <a16:creationId xmlns:a16="http://schemas.microsoft.com/office/drawing/2014/main" id="{765396B5-5583-57CA-B77E-58CDE0BF3108}"/>
              </a:ext>
            </a:extLst>
          </p:cNvPr>
          <p:cNvSpPr txBox="1"/>
          <p:nvPr/>
        </p:nvSpPr>
        <p:spPr>
          <a:xfrm>
            <a:off x="109681" y="4745080"/>
            <a:ext cx="8924636" cy="1631216"/>
          </a:xfrm>
          <a:prstGeom prst="rect">
            <a:avLst/>
          </a:prstGeom>
          <a:noFill/>
        </p:spPr>
        <p:txBody>
          <a:bodyPr wrap="square">
            <a:spAutoFit/>
          </a:bodyPr>
          <a:lstStyle/>
          <a:p>
            <a:r>
              <a:rPr lang="en-US" sz="2000" b="0" i="0" dirty="0">
                <a:solidFill>
                  <a:srgbClr val="1F1F2F"/>
                </a:solidFill>
                <a:effectLst/>
                <a:latin typeface="TT Norms Pro"/>
              </a:rPr>
              <a:t>What most people and, sadly, many designers know about color does not do it enough justice. Color is the first thing we’d notice but the last we’d understand. Colors can’t be explained and described unless seen. They can’t be changed but can be learned and used. This is how nature communicates with you, and that is why color is so important in design. </a:t>
            </a:r>
            <a:endParaRPr lang="en-IN" sz="2000" dirty="0"/>
          </a:p>
        </p:txBody>
      </p:sp>
      <p:sp>
        <p:nvSpPr>
          <p:cNvPr id="8" name="TextBox 7">
            <a:extLst>
              <a:ext uri="{FF2B5EF4-FFF2-40B4-BE49-F238E27FC236}">
                <a16:creationId xmlns:a16="http://schemas.microsoft.com/office/drawing/2014/main" id="{3096AFE5-563C-72C4-EBC3-6D5EEAF01567}"/>
              </a:ext>
            </a:extLst>
          </p:cNvPr>
          <p:cNvSpPr txBox="1"/>
          <p:nvPr/>
        </p:nvSpPr>
        <p:spPr>
          <a:xfrm>
            <a:off x="109681" y="937644"/>
            <a:ext cx="2698174" cy="1477328"/>
          </a:xfrm>
          <a:prstGeom prst="rect">
            <a:avLst/>
          </a:prstGeom>
          <a:noFill/>
        </p:spPr>
        <p:txBody>
          <a:bodyPr wrap="square">
            <a:spAutoFit/>
          </a:bodyPr>
          <a:lstStyle/>
          <a:p>
            <a:pPr algn="ctr"/>
            <a:r>
              <a:rPr lang="en-US" b="1" i="1" dirty="0">
                <a:solidFill>
                  <a:srgbClr val="1F1F2F"/>
                </a:solidFill>
                <a:effectLst/>
                <a:latin typeface="TT Norms Pro"/>
              </a:rPr>
              <a:t>Colors are powerful symbols by which you live or die; they’re worth paying attention to.”</a:t>
            </a:r>
            <a:endParaRPr lang="en-US" b="0" i="0" dirty="0">
              <a:solidFill>
                <a:srgbClr val="1F1F2F"/>
              </a:solidFill>
              <a:effectLst/>
              <a:latin typeface="TT Norms Pro"/>
            </a:endParaRPr>
          </a:p>
          <a:p>
            <a:pPr algn="ctr"/>
            <a:r>
              <a:rPr lang="en-US" b="0" i="1" dirty="0">
                <a:solidFill>
                  <a:srgbClr val="1F1F2F"/>
                </a:solidFill>
                <a:effectLst/>
                <a:latin typeface="TT Norms Pro"/>
              </a:rPr>
              <a:t>– Ben Hersh</a:t>
            </a:r>
            <a:endParaRPr lang="en-US" b="0" i="0" dirty="0">
              <a:solidFill>
                <a:srgbClr val="1F1F2F"/>
              </a:solidFill>
              <a:effectLst/>
              <a:latin typeface="TT Norms Pro"/>
            </a:endParaRPr>
          </a:p>
        </p:txBody>
      </p:sp>
      <p:pic>
        <p:nvPicPr>
          <p:cNvPr id="2052" name="Picture 4" descr="Color in design">
            <a:extLst>
              <a:ext uri="{FF2B5EF4-FFF2-40B4-BE49-F238E27FC236}">
                <a16:creationId xmlns:a16="http://schemas.microsoft.com/office/drawing/2014/main" id="{A39CD667-E2F8-05F2-5042-539E9A5F6B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7013" y="2414972"/>
            <a:ext cx="2840181" cy="2130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294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53" y="0"/>
            <a:ext cx="9206826" cy="6858000"/>
          </a:xfrm>
          <a:prstGeom prst="rect">
            <a:avLst/>
          </a:prstGeom>
        </p:spPr>
      </p:pic>
      <p:sp>
        <p:nvSpPr>
          <p:cNvPr id="3" name="TextBox 2">
            <a:extLst>
              <a:ext uri="{FF2B5EF4-FFF2-40B4-BE49-F238E27FC236}">
                <a16:creationId xmlns:a16="http://schemas.microsoft.com/office/drawing/2014/main" id="{16B09F2A-8282-0FC0-1F13-F7FC6657AA68}"/>
              </a:ext>
            </a:extLst>
          </p:cNvPr>
          <p:cNvSpPr txBox="1"/>
          <p:nvPr/>
        </p:nvSpPr>
        <p:spPr>
          <a:xfrm>
            <a:off x="0" y="87806"/>
            <a:ext cx="4572000" cy="369332"/>
          </a:xfrm>
          <a:prstGeom prst="rect">
            <a:avLst/>
          </a:prstGeom>
          <a:noFill/>
        </p:spPr>
        <p:txBody>
          <a:bodyPr wrap="square">
            <a:spAutoFit/>
          </a:bodyPr>
          <a:lstStyle/>
          <a:p>
            <a:pPr algn="l"/>
            <a:r>
              <a:rPr lang="en-IN" b="0" dirty="0">
                <a:solidFill>
                  <a:srgbClr val="1F1F2F"/>
                </a:solidFill>
                <a:effectLst/>
                <a:latin typeface="TT Norms Pro"/>
              </a:rPr>
              <a:t>Animation in design</a:t>
            </a:r>
          </a:p>
        </p:txBody>
      </p:sp>
      <p:pic>
        <p:nvPicPr>
          <p:cNvPr id="3078" name="Picture 6" descr="Submit button animation">
            <a:extLst>
              <a:ext uri="{FF2B5EF4-FFF2-40B4-BE49-F238E27FC236}">
                <a16:creationId xmlns:a16="http://schemas.microsoft.com/office/drawing/2014/main" id="{8BD772DF-E773-B37D-40F6-E1015A8D28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65755">
            <a:off x="1094418" y="2119111"/>
            <a:ext cx="3819873" cy="286490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il warning icon animation">
            <a:extLst>
              <a:ext uri="{FF2B5EF4-FFF2-40B4-BE49-F238E27FC236}">
                <a16:creationId xmlns:a16="http://schemas.microsoft.com/office/drawing/2014/main" id="{51B9F6BC-9D47-9D0F-E4B2-563C874844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4" y="4424218"/>
            <a:ext cx="4373418" cy="24337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1D38D96-A110-8E89-3441-15EA41877DFB}"/>
              </a:ext>
            </a:extLst>
          </p:cNvPr>
          <p:cNvSpPr txBox="1"/>
          <p:nvPr/>
        </p:nvSpPr>
        <p:spPr>
          <a:xfrm>
            <a:off x="-13854" y="374600"/>
            <a:ext cx="4599708" cy="2308324"/>
          </a:xfrm>
          <a:prstGeom prst="rect">
            <a:avLst/>
          </a:prstGeom>
          <a:noFill/>
        </p:spPr>
        <p:txBody>
          <a:bodyPr wrap="square">
            <a:spAutoFit/>
          </a:bodyPr>
          <a:lstStyle/>
          <a:p>
            <a:pPr algn="l">
              <a:buFont typeface="Arial" panose="020B0604020202020204" pitchFamily="34" charset="0"/>
              <a:buChar char="•"/>
            </a:pPr>
            <a:r>
              <a:rPr lang="en-US" b="1" i="0" dirty="0">
                <a:solidFill>
                  <a:srgbClr val="1F1F2F"/>
                </a:solidFill>
                <a:effectLst/>
                <a:latin typeface="TT Norms Pro"/>
              </a:rPr>
              <a:t>Illustrative.</a:t>
            </a:r>
            <a:r>
              <a:rPr lang="en-US" b="0" i="0" dirty="0">
                <a:solidFill>
                  <a:srgbClr val="1F1F2F"/>
                </a:solidFill>
                <a:effectLst/>
                <a:latin typeface="TT Norms Pro"/>
              </a:rPr>
              <a:t> It can demonstrate the functionality or help understand it better.</a:t>
            </a:r>
          </a:p>
          <a:p>
            <a:pPr algn="l">
              <a:buFont typeface="Arial" panose="020B0604020202020204" pitchFamily="34" charset="0"/>
              <a:buChar char="•"/>
            </a:pPr>
            <a:r>
              <a:rPr lang="en-US" b="1" i="0" dirty="0">
                <a:solidFill>
                  <a:srgbClr val="1F1F2F"/>
                </a:solidFill>
                <a:effectLst/>
                <a:latin typeface="TT Norms Pro"/>
              </a:rPr>
              <a:t>Amusing.</a:t>
            </a:r>
            <a:r>
              <a:rPr lang="en-US" b="0" i="0" dirty="0">
                <a:solidFill>
                  <a:srgbClr val="1F1F2F"/>
                </a:solidFill>
                <a:effectLst/>
                <a:latin typeface="TT Norms Pro"/>
              </a:rPr>
              <a:t> Value can be expressed in many ways. Positivity is one of them.</a:t>
            </a:r>
          </a:p>
          <a:p>
            <a:pPr algn="l">
              <a:buFont typeface="Arial" panose="020B0604020202020204" pitchFamily="34" charset="0"/>
              <a:buChar char="•"/>
            </a:pPr>
            <a:r>
              <a:rPr lang="en-US" b="1" i="0" dirty="0">
                <a:solidFill>
                  <a:srgbClr val="1F1F2F"/>
                </a:solidFill>
                <a:effectLst/>
                <a:latin typeface="TT Norms Pro"/>
              </a:rPr>
              <a:t>Familiar.</a:t>
            </a:r>
            <a:r>
              <a:rPr lang="en-US" b="0" i="0" dirty="0">
                <a:solidFill>
                  <a:srgbClr val="1F1F2F"/>
                </a:solidFill>
                <a:effectLst/>
                <a:latin typeface="TT Norms Pro"/>
              </a:rPr>
              <a:t> We expect certain reactions from certain actions. Animation familiarizes.</a:t>
            </a:r>
          </a:p>
          <a:p>
            <a:pPr algn="l">
              <a:buFont typeface="Arial" panose="020B0604020202020204" pitchFamily="34" charset="0"/>
              <a:buChar char="•"/>
            </a:pPr>
            <a:r>
              <a:rPr lang="en-US" b="1" i="0" dirty="0">
                <a:solidFill>
                  <a:srgbClr val="1F1F2F"/>
                </a:solidFill>
                <a:effectLst/>
                <a:latin typeface="TT Norms Pro"/>
              </a:rPr>
              <a:t>Engaging.</a:t>
            </a:r>
            <a:r>
              <a:rPr lang="en-US" b="0" i="0" dirty="0">
                <a:solidFill>
                  <a:srgbClr val="1F1F2F"/>
                </a:solidFill>
                <a:effectLst/>
                <a:latin typeface="TT Norms Pro"/>
              </a:rPr>
              <a:t> We tend to follow patterns and animation is a great source of those.</a:t>
            </a:r>
          </a:p>
        </p:txBody>
      </p:sp>
      <p:pic>
        <p:nvPicPr>
          <p:cNvPr id="3080" name="Picture 8" descr="Google pixel animation">
            <a:extLst>
              <a:ext uri="{FF2B5EF4-FFF2-40B4-BE49-F238E27FC236}">
                <a16:creationId xmlns:a16="http://schemas.microsoft.com/office/drawing/2014/main" id="{D17FEF76-BCAB-2BDD-9DEA-F913272A8D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5965" y="3537070"/>
            <a:ext cx="4735659" cy="319145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059B69A-E602-2809-6345-E2A070C08B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8881" y="129473"/>
            <a:ext cx="4694092" cy="3520569"/>
          </a:xfrm>
          <a:prstGeom prst="rect">
            <a:avLst/>
          </a:prstGeom>
        </p:spPr>
      </p:pic>
    </p:spTree>
    <p:extLst>
      <p:ext uri="{BB962C8B-B14F-4D97-AF65-F5344CB8AC3E}">
        <p14:creationId xmlns:p14="http://schemas.microsoft.com/office/powerpoint/2010/main" val="26523636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 y="0"/>
            <a:ext cx="9144001" cy="6858000"/>
          </a:xfrm>
          <a:prstGeom prst="rect">
            <a:avLst/>
          </a:prstGeom>
        </p:spPr>
      </p:pic>
      <p:sp>
        <p:nvSpPr>
          <p:cNvPr id="3" name="TextBox 2">
            <a:extLst>
              <a:ext uri="{FF2B5EF4-FFF2-40B4-BE49-F238E27FC236}">
                <a16:creationId xmlns:a16="http://schemas.microsoft.com/office/drawing/2014/main" id="{FA05BF27-DA0B-B2FB-CB15-D1A13032AD9C}"/>
              </a:ext>
            </a:extLst>
          </p:cNvPr>
          <p:cNvSpPr txBox="1"/>
          <p:nvPr/>
        </p:nvSpPr>
        <p:spPr>
          <a:xfrm>
            <a:off x="-1" y="106279"/>
            <a:ext cx="6077527" cy="461665"/>
          </a:xfrm>
          <a:prstGeom prst="rect">
            <a:avLst/>
          </a:prstGeom>
          <a:noFill/>
        </p:spPr>
        <p:txBody>
          <a:bodyPr wrap="square">
            <a:spAutoFit/>
          </a:bodyPr>
          <a:lstStyle/>
          <a:p>
            <a:r>
              <a:rPr lang="en-US" sz="2400" dirty="0">
                <a:solidFill>
                  <a:srgbClr val="000000"/>
                </a:solidFill>
                <a:effectLst/>
                <a:latin typeface="Times New Roman" panose="02020603050405020304" pitchFamily="18" charset="0"/>
                <a:ea typeface="Times New Roman" panose="02020603050405020304" pitchFamily="18" charset="0"/>
              </a:rPr>
              <a:t>Design thinking and wicked problems</a:t>
            </a:r>
            <a:endParaRPr lang="en-IN" sz="2400" dirty="0"/>
          </a:p>
        </p:txBody>
      </p:sp>
      <p:sp>
        <p:nvSpPr>
          <p:cNvPr id="5" name="TextBox 4">
            <a:extLst>
              <a:ext uri="{FF2B5EF4-FFF2-40B4-BE49-F238E27FC236}">
                <a16:creationId xmlns:a16="http://schemas.microsoft.com/office/drawing/2014/main" id="{1D7CCA21-F96F-95CB-0760-EEE2CCB060F1}"/>
              </a:ext>
            </a:extLst>
          </p:cNvPr>
          <p:cNvSpPr txBox="1"/>
          <p:nvPr/>
        </p:nvSpPr>
        <p:spPr>
          <a:xfrm>
            <a:off x="165222" y="937874"/>
            <a:ext cx="5814292" cy="2246769"/>
          </a:xfrm>
          <a:prstGeom prst="rect">
            <a:avLst/>
          </a:prstGeom>
          <a:noFill/>
        </p:spPr>
        <p:txBody>
          <a:bodyPr wrap="square">
            <a:spAutoFit/>
          </a:bodyPr>
          <a:lstStyle/>
          <a:p>
            <a:r>
              <a:rPr lang="en-US" sz="2000" b="0" i="0" dirty="0">
                <a:solidFill>
                  <a:srgbClr val="3A3A3A"/>
                </a:solidFill>
                <a:effectLst/>
                <a:latin typeface="-apple-system"/>
              </a:rPr>
              <a:t>Every day, we are confronted with problems–small and large scale. Design thinking provides a systematic approach to solving these problems. Formally, design thinking refers to the diverse and interrelated approaches, techniques, and tricks to scientifically addressing the problems we face individually and collectively.</a:t>
            </a:r>
            <a:endParaRPr lang="en-IN" sz="2000" dirty="0"/>
          </a:p>
        </p:txBody>
      </p:sp>
      <p:pic>
        <p:nvPicPr>
          <p:cNvPr id="1026" name="Picture 2" descr="blackboard with light bulb">
            <a:extLst>
              <a:ext uri="{FF2B5EF4-FFF2-40B4-BE49-F238E27FC236}">
                <a16:creationId xmlns:a16="http://schemas.microsoft.com/office/drawing/2014/main" id="{62C43B0F-81E0-C467-AA6B-5AA3BC1B99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1633" y="0"/>
            <a:ext cx="3072366" cy="21351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D242D9-7C7C-DCE3-9AD5-2F1EE7BF29BA}"/>
              </a:ext>
            </a:extLst>
          </p:cNvPr>
          <p:cNvSpPr txBox="1"/>
          <p:nvPr/>
        </p:nvSpPr>
        <p:spPr>
          <a:xfrm>
            <a:off x="165222" y="3238745"/>
            <a:ext cx="8978778" cy="646331"/>
          </a:xfrm>
          <a:prstGeom prst="rect">
            <a:avLst/>
          </a:prstGeom>
          <a:noFill/>
        </p:spPr>
        <p:txBody>
          <a:bodyPr wrap="square">
            <a:spAutoFit/>
          </a:bodyPr>
          <a:lstStyle/>
          <a:p>
            <a:r>
              <a:rPr lang="en-US" b="0" i="0" dirty="0">
                <a:solidFill>
                  <a:srgbClr val="2B2B2B"/>
                </a:solidFill>
                <a:effectLst/>
                <a:latin typeface="Merriweather" panose="020F0502020204030204" pitchFamily="2" charset="0"/>
              </a:rPr>
              <a:t>The term “wicked problem” was first coined by Horst </a:t>
            </a:r>
            <a:r>
              <a:rPr lang="en-US" b="0" i="0" dirty="0" err="1">
                <a:solidFill>
                  <a:srgbClr val="2B2B2B"/>
                </a:solidFill>
                <a:effectLst/>
                <a:latin typeface="Merriweather" panose="020F0502020204030204" pitchFamily="2" charset="0"/>
              </a:rPr>
              <a:t>Rittel</a:t>
            </a:r>
            <a:r>
              <a:rPr lang="en-US" b="0" i="0" dirty="0">
                <a:solidFill>
                  <a:srgbClr val="2B2B2B"/>
                </a:solidFill>
                <a:effectLst/>
                <a:latin typeface="Merriweather" panose="020F0502020204030204" pitchFamily="2" charset="0"/>
              </a:rPr>
              <a:t>, design theorist and professor of design methodology at the Ulm School of Design, Germany.</a:t>
            </a:r>
            <a:endParaRPr lang="en-IN" dirty="0"/>
          </a:p>
        </p:txBody>
      </p:sp>
      <p:sp>
        <p:nvSpPr>
          <p:cNvPr id="9" name="TextBox 8">
            <a:extLst>
              <a:ext uri="{FF2B5EF4-FFF2-40B4-BE49-F238E27FC236}">
                <a16:creationId xmlns:a16="http://schemas.microsoft.com/office/drawing/2014/main" id="{5A11C5DC-966A-B07C-0559-15CC6C020997}"/>
              </a:ext>
            </a:extLst>
          </p:cNvPr>
          <p:cNvSpPr txBox="1"/>
          <p:nvPr/>
        </p:nvSpPr>
        <p:spPr>
          <a:xfrm>
            <a:off x="161117" y="4688475"/>
            <a:ext cx="8978777" cy="1200329"/>
          </a:xfrm>
          <a:prstGeom prst="rect">
            <a:avLst/>
          </a:prstGeom>
          <a:noFill/>
        </p:spPr>
        <p:txBody>
          <a:bodyPr wrap="square">
            <a:spAutoFit/>
          </a:bodyPr>
          <a:lstStyle/>
          <a:p>
            <a:r>
              <a:rPr lang="en-US" sz="2400" b="0" i="0" dirty="0">
                <a:solidFill>
                  <a:srgbClr val="3A3A3A"/>
                </a:solidFill>
                <a:effectLst/>
                <a:latin typeface="-apple-system"/>
              </a:rPr>
              <a:t>In 1973, design theorists Horst </a:t>
            </a:r>
            <a:r>
              <a:rPr lang="en-US" sz="2400" b="0" i="0" dirty="0" err="1">
                <a:solidFill>
                  <a:srgbClr val="3A3A3A"/>
                </a:solidFill>
                <a:effectLst/>
                <a:latin typeface="-apple-system"/>
              </a:rPr>
              <a:t>Rittel</a:t>
            </a:r>
            <a:r>
              <a:rPr lang="en-US" sz="2400" b="0" i="0" dirty="0">
                <a:solidFill>
                  <a:srgbClr val="3A3A3A"/>
                </a:solidFill>
                <a:effectLst/>
                <a:latin typeface="-apple-system"/>
              </a:rPr>
              <a:t> and Melvin M. Webber used the term “wicked problem” to refer to problems that are difficult to define and inherently unsolvable. </a:t>
            </a:r>
            <a:endParaRPr lang="en-IN" sz="2400" dirty="0"/>
          </a:p>
        </p:txBody>
      </p:sp>
    </p:spTree>
    <p:extLst>
      <p:ext uri="{BB962C8B-B14F-4D97-AF65-F5344CB8AC3E}">
        <p14:creationId xmlns:p14="http://schemas.microsoft.com/office/powerpoint/2010/main" val="26572861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FF395F21-A786-67F5-ECB7-664C676B1062}"/>
              </a:ext>
            </a:extLst>
          </p:cNvPr>
          <p:cNvSpPr txBox="1"/>
          <p:nvPr/>
        </p:nvSpPr>
        <p:spPr>
          <a:xfrm>
            <a:off x="55417" y="799881"/>
            <a:ext cx="9088583" cy="3416320"/>
          </a:xfrm>
          <a:prstGeom prst="rect">
            <a:avLst/>
          </a:prstGeom>
          <a:noFill/>
        </p:spPr>
        <p:txBody>
          <a:bodyPr wrap="square">
            <a:spAutoFit/>
          </a:bodyPr>
          <a:lstStyle/>
          <a:p>
            <a:pPr algn="l">
              <a:buFont typeface="Arial" panose="020B0604020202020204" pitchFamily="34" charset="0"/>
              <a:buChar char="•"/>
            </a:pPr>
            <a:r>
              <a:rPr lang="en-US" b="0" i="0" dirty="0">
                <a:solidFill>
                  <a:srgbClr val="3A3A3A"/>
                </a:solidFill>
                <a:effectLst/>
                <a:latin typeface="-apple-system"/>
              </a:rPr>
              <a:t>A lack of definitive formulation.</a:t>
            </a:r>
          </a:p>
          <a:p>
            <a:pPr algn="l">
              <a:buFont typeface="Arial" panose="020B0604020202020204" pitchFamily="34" charset="0"/>
              <a:buChar char="•"/>
            </a:pPr>
            <a:r>
              <a:rPr lang="en-US" b="0" i="0" dirty="0">
                <a:solidFill>
                  <a:srgbClr val="3A3A3A"/>
                </a:solidFill>
                <a:effectLst/>
                <a:latin typeface="-apple-system"/>
              </a:rPr>
              <a:t>No stopping rule that determines when a solution has been found.</a:t>
            </a:r>
          </a:p>
          <a:p>
            <a:pPr algn="l">
              <a:buFont typeface="Arial" panose="020B0604020202020204" pitchFamily="34" charset="0"/>
              <a:buChar char="•"/>
            </a:pPr>
            <a:r>
              <a:rPr lang="en-US" b="0" i="0" dirty="0">
                <a:solidFill>
                  <a:srgbClr val="3A3A3A"/>
                </a:solidFill>
                <a:effectLst/>
                <a:latin typeface="-apple-system"/>
              </a:rPr>
              <a:t>Good or bad solutions rather than true or false solutions.</a:t>
            </a:r>
          </a:p>
          <a:p>
            <a:pPr algn="l">
              <a:buFont typeface="Arial" panose="020B0604020202020204" pitchFamily="34" charset="0"/>
              <a:buChar char="•"/>
            </a:pPr>
            <a:r>
              <a:rPr lang="en-US" b="0" i="0" dirty="0">
                <a:solidFill>
                  <a:srgbClr val="3A3A3A"/>
                </a:solidFill>
                <a:effectLst/>
                <a:latin typeface="-apple-system"/>
              </a:rPr>
              <a:t>Lack of immediate and ultimate tests of solutions.</a:t>
            </a:r>
          </a:p>
          <a:p>
            <a:pPr algn="l">
              <a:buFont typeface="Arial" panose="020B0604020202020204" pitchFamily="34" charset="0"/>
              <a:buChar char="•"/>
            </a:pPr>
            <a:r>
              <a:rPr lang="en-US" b="0" i="0" dirty="0">
                <a:solidFill>
                  <a:srgbClr val="3A3A3A"/>
                </a:solidFill>
                <a:effectLst/>
                <a:latin typeface="-apple-system"/>
              </a:rPr>
              <a:t>Solutions are “one-shot” operations rather than trial and error.</a:t>
            </a:r>
          </a:p>
          <a:p>
            <a:pPr algn="l">
              <a:buFont typeface="Arial" panose="020B0604020202020204" pitchFamily="34" charset="0"/>
              <a:buChar char="•"/>
            </a:pPr>
            <a:r>
              <a:rPr lang="en-US" b="0" i="0" dirty="0">
                <a:solidFill>
                  <a:srgbClr val="3A3A3A"/>
                </a:solidFill>
                <a:effectLst/>
                <a:latin typeface="-apple-system"/>
              </a:rPr>
              <a:t>Lack of criteria that indicate all solutions have been identified.</a:t>
            </a:r>
          </a:p>
          <a:p>
            <a:pPr algn="l">
              <a:buFont typeface="Arial" panose="020B0604020202020204" pitchFamily="34" charset="0"/>
              <a:buChar char="•"/>
            </a:pPr>
            <a:r>
              <a:rPr lang="en-US" b="0" i="0" dirty="0">
                <a:solidFill>
                  <a:srgbClr val="3A3A3A"/>
                </a:solidFill>
                <a:effectLst/>
                <a:latin typeface="-apple-system"/>
              </a:rPr>
              <a:t>The uniqueness of every wicked problem.</a:t>
            </a:r>
          </a:p>
          <a:p>
            <a:pPr algn="l">
              <a:buFont typeface="Arial" panose="020B0604020202020204" pitchFamily="34" charset="0"/>
              <a:buChar char="•"/>
            </a:pPr>
            <a:r>
              <a:rPr lang="en-US" b="0" i="0" dirty="0">
                <a:solidFill>
                  <a:srgbClr val="3A3A3A"/>
                </a:solidFill>
                <a:effectLst/>
                <a:latin typeface="-apple-system"/>
              </a:rPr>
              <a:t>Any wicked problem could be viewed as a symptom of another problem.</a:t>
            </a:r>
          </a:p>
          <a:p>
            <a:pPr algn="l">
              <a:buFont typeface="Arial" panose="020B0604020202020204" pitchFamily="34" charset="0"/>
              <a:buChar char="•"/>
            </a:pPr>
            <a:r>
              <a:rPr lang="en-US" b="0" i="0" dirty="0">
                <a:solidFill>
                  <a:srgbClr val="3A3A3A"/>
                </a:solidFill>
                <a:effectLst/>
                <a:latin typeface="-apple-system"/>
              </a:rPr>
              <a:t>Any discrepancies in wicked problem can be explained in multiple ways.</a:t>
            </a:r>
          </a:p>
          <a:p>
            <a:pPr algn="l">
              <a:buFont typeface="Arial" panose="020B0604020202020204" pitchFamily="34" charset="0"/>
              <a:buChar char="•"/>
            </a:pPr>
            <a:r>
              <a:rPr lang="en-US" b="0" i="0" dirty="0">
                <a:solidFill>
                  <a:srgbClr val="3A3A3A"/>
                </a:solidFill>
                <a:effectLst/>
                <a:latin typeface="-apple-system"/>
              </a:rPr>
              <a:t>Planners have no right to be wrong in that they are responsible for outcomes that result from the actions they take.</a:t>
            </a:r>
          </a:p>
          <a:p>
            <a:pPr algn="l"/>
            <a:r>
              <a:rPr lang="en-US" b="0" i="0" dirty="0">
                <a:solidFill>
                  <a:srgbClr val="3A3A3A"/>
                </a:solidFill>
                <a:effectLst/>
                <a:latin typeface="-apple-system"/>
              </a:rPr>
              <a:t> </a:t>
            </a:r>
          </a:p>
        </p:txBody>
      </p:sp>
      <p:sp>
        <p:nvSpPr>
          <p:cNvPr id="8" name="TextBox 7">
            <a:extLst>
              <a:ext uri="{FF2B5EF4-FFF2-40B4-BE49-F238E27FC236}">
                <a16:creationId xmlns:a16="http://schemas.microsoft.com/office/drawing/2014/main" id="{7FF212E6-F53C-3851-E2C1-5F451E34B294}"/>
              </a:ext>
            </a:extLst>
          </p:cNvPr>
          <p:cNvSpPr txBox="1"/>
          <p:nvPr/>
        </p:nvSpPr>
        <p:spPr>
          <a:xfrm>
            <a:off x="0" y="4493782"/>
            <a:ext cx="9144000" cy="1200329"/>
          </a:xfrm>
          <a:prstGeom prst="rect">
            <a:avLst/>
          </a:prstGeom>
          <a:noFill/>
        </p:spPr>
        <p:txBody>
          <a:bodyPr wrap="square">
            <a:spAutoFit/>
          </a:bodyPr>
          <a:lstStyle/>
          <a:p>
            <a:pPr algn="l"/>
            <a:r>
              <a:rPr lang="en-US" b="0" i="0" dirty="0">
                <a:solidFill>
                  <a:srgbClr val="3A3A3A"/>
                </a:solidFill>
                <a:effectLst/>
                <a:latin typeface="-apple-system"/>
              </a:rPr>
              <a:t>Examples of wicked problems that have been addressed in scholarly literature include poverty, urban renewal, school curriculum design, education, environmental and natural resources policy.</a:t>
            </a:r>
          </a:p>
          <a:p>
            <a:pPr algn="l"/>
            <a:r>
              <a:rPr lang="en-US" b="0" i="0" dirty="0">
                <a:solidFill>
                  <a:srgbClr val="3A3A3A"/>
                </a:solidFill>
                <a:effectLst/>
                <a:latin typeface="-apple-system"/>
              </a:rPr>
              <a:t> </a:t>
            </a:r>
          </a:p>
        </p:txBody>
      </p:sp>
      <p:sp>
        <p:nvSpPr>
          <p:cNvPr id="10" name="TextBox 9">
            <a:extLst>
              <a:ext uri="{FF2B5EF4-FFF2-40B4-BE49-F238E27FC236}">
                <a16:creationId xmlns:a16="http://schemas.microsoft.com/office/drawing/2014/main" id="{003E66A2-7CD6-C14D-F076-9A384F3E1AD0}"/>
              </a:ext>
            </a:extLst>
          </p:cNvPr>
          <p:cNvSpPr txBox="1"/>
          <p:nvPr/>
        </p:nvSpPr>
        <p:spPr>
          <a:xfrm>
            <a:off x="212436" y="153550"/>
            <a:ext cx="6761019" cy="369332"/>
          </a:xfrm>
          <a:prstGeom prst="rect">
            <a:avLst/>
          </a:prstGeom>
          <a:noFill/>
        </p:spPr>
        <p:txBody>
          <a:bodyPr wrap="square">
            <a:spAutoFit/>
          </a:bodyPr>
          <a:lstStyle/>
          <a:p>
            <a:r>
              <a:rPr lang="en-US" sz="1800" b="1" i="0" dirty="0">
                <a:solidFill>
                  <a:srgbClr val="3A3A3A"/>
                </a:solidFill>
                <a:effectLst/>
                <a:latin typeface="-apple-system"/>
              </a:rPr>
              <a:t>They suggested the following 10 characteristics of wicked problems:</a:t>
            </a:r>
            <a:endParaRPr lang="en-IN" b="1" dirty="0"/>
          </a:p>
        </p:txBody>
      </p:sp>
    </p:spTree>
    <p:extLst>
      <p:ext uri="{BB962C8B-B14F-4D97-AF65-F5344CB8AC3E}">
        <p14:creationId xmlns:p14="http://schemas.microsoft.com/office/powerpoint/2010/main" val="25571656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6" name="TextBox 5">
            <a:extLst>
              <a:ext uri="{FF2B5EF4-FFF2-40B4-BE49-F238E27FC236}">
                <a16:creationId xmlns:a16="http://schemas.microsoft.com/office/drawing/2014/main" id="{25E0B4D3-FF94-9F09-AACA-38039D796D29}"/>
              </a:ext>
            </a:extLst>
          </p:cNvPr>
          <p:cNvSpPr txBox="1"/>
          <p:nvPr/>
        </p:nvSpPr>
        <p:spPr>
          <a:xfrm>
            <a:off x="0" y="779191"/>
            <a:ext cx="9144000" cy="5909310"/>
          </a:xfrm>
          <a:prstGeom prst="rect">
            <a:avLst/>
          </a:prstGeom>
          <a:noFill/>
        </p:spPr>
        <p:txBody>
          <a:bodyPr wrap="square">
            <a:spAutoFit/>
          </a:bodyPr>
          <a:lstStyle/>
          <a:p>
            <a:pPr algn="l"/>
            <a:r>
              <a:rPr lang="en-IN" b="0" i="0" dirty="0">
                <a:solidFill>
                  <a:srgbClr val="0E1633"/>
                </a:solidFill>
                <a:effectLst/>
                <a:latin typeface="var(--ds-font__dinpro--cond)"/>
              </a:rPr>
              <a:t> </a:t>
            </a:r>
            <a:r>
              <a:rPr lang="en-IN" b="1" i="0" dirty="0">
                <a:solidFill>
                  <a:srgbClr val="0E1633"/>
                </a:solidFill>
                <a:effectLst/>
                <a:latin typeface="var(--ds-font__dinpro--cond)"/>
              </a:rPr>
              <a:t>Global heating</a:t>
            </a:r>
          </a:p>
          <a:p>
            <a:pPr algn="l"/>
            <a:r>
              <a:rPr lang="en-US" b="1" i="0" dirty="0">
                <a:solidFill>
                  <a:srgbClr val="0E1633"/>
                </a:solidFill>
                <a:effectLst/>
                <a:latin typeface="var(--ds-font__dinpro--cond)"/>
              </a:rPr>
              <a:t>Is it unique and / or novel?</a:t>
            </a:r>
          </a:p>
          <a:p>
            <a:pPr algn="l"/>
            <a:r>
              <a:rPr lang="en-US" b="0" i="0" dirty="0">
                <a:effectLst/>
                <a:latin typeface="TradeGothic"/>
              </a:rPr>
              <a:t>Yes—it is unique in the sense that we don’t face any problems similar to global heating as a whole. However, it has been talked about since at least the 1980s, so it is no longer a novel problem.</a:t>
            </a:r>
          </a:p>
          <a:p>
            <a:pPr algn="l"/>
            <a:r>
              <a:rPr lang="en-US" b="1" i="0" dirty="0">
                <a:solidFill>
                  <a:srgbClr val="0E1633"/>
                </a:solidFill>
                <a:effectLst/>
                <a:latin typeface="var(--ds-font__dinpro--cond)"/>
              </a:rPr>
              <a:t>Is it difficult or impossible to solve?</a:t>
            </a:r>
          </a:p>
          <a:p>
            <a:pPr algn="l"/>
            <a:r>
              <a:rPr lang="en-US" b="0" i="0" dirty="0">
                <a:effectLst/>
                <a:latin typeface="TradeGothic"/>
              </a:rPr>
              <a:t>Yes—it is certainly difficult to solve. Whether or not it is impossible to solve remains to be seen.</a:t>
            </a:r>
          </a:p>
          <a:p>
            <a:pPr algn="l"/>
            <a:r>
              <a:rPr lang="en-US" b="1" i="0" dirty="0">
                <a:solidFill>
                  <a:srgbClr val="0E1633"/>
                </a:solidFill>
                <a:effectLst/>
                <a:latin typeface="var(--ds-font__dinpro--cond)"/>
              </a:rPr>
              <a:t>Is it characterized by incomplete factors and / or complex interdependencies?</a:t>
            </a:r>
          </a:p>
          <a:p>
            <a:pPr algn="l"/>
            <a:r>
              <a:rPr lang="en-US" b="0" i="0" dirty="0">
                <a:effectLst/>
                <a:latin typeface="TradeGothic"/>
              </a:rPr>
              <a:t>Yes—an example of an incomplete factor is the potential unavailability of reliable data about how much any country has reduced its CO</a:t>
            </a:r>
            <a:r>
              <a:rPr lang="en-US" b="0" i="0" baseline="-25000" dirty="0">
                <a:effectLst/>
                <a:latin typeface="TradeGothic"/>
              </a:rPr>
              <a:t>2</a:t>
            </a:r>
            <a:r>
              <a:rPr lang="en-US" b="0" i="0" dirty="0">
                <a:effectLst/>
                <a:latin typeface="TradeGothic"/>
              </a:rPr>
              <a:t> emissions, due to the political, economic, and social pressure to show significant reductions.</a:t>
            </a:r>
          </a:p>
          <a:p>
            <a:pPr algn="l"/>
            <a:r>
              <a:rPr lang="en-US" b="1" i="0" dirty="0">
                <a:solidFill>
                  <a:srgbClr val="0E1633"/>
                </a:solidFill>
                <a:effectLst/>
                <a:latin typeface="var(--ds-font__dinpro--cond)"/>
              </a:rPr>
              <a:t>Is it subject to contradictory evidence?</a:t>
            </a:r>
          </a:p>
          <a:p>
            <a:pPr algn="l"/>
            <a:r>
              <a:rPr lang="en-US" b="0" i="0" dirty="0">
                <a:effectLst/>
                <a:latin typeface="TradeGothic"/>
              </a:rPr>
              <a:t>The scientific consensus that the climate is warming and this is being caused by humans is not subject to contradictory evidence to any significant degree—as of 2019, </a:t>
            </a:r>
            <a:r>
              <a:rPr lang="en-US" b="1" i="0" u="none" strike="noStrike" dirty="0">
                <a:effectLst/>
                <a:latin typeface="TradeGothic"/>
              </a:rPr>
              <a:t>99% of the scientific evidence supported it</a:t>
            </a:r>
            <a:r>
              <a:rPr lang="en-US" b="0" i="0" dirty="0">
                <a:effectLst/>
                <a:latin typeface="TradeGothic"/>
              </a:rPr>
              <a:t>.</a:t>
            </a:r>
          </a:p>
          <a:p>
            <a:pPr algn="l"/>
            <a:r>
              <a:rPr lang="en-US" b="1" i="0" dirty="0">
                <a:solidFill>
                  <a:srgbClr val="0E1633"/>
                </a:solidFill>
                <a:effectLst/>
                <a:latin typeface="var(--ds-font__dinpro--cond)"/>
              </a:rPr>
              <a:t>Is it dependent on multiple stakeholders with different interests?</a:t>
            </a:r>
          </a:p>
          <a:p>
            <a:pPr algn="l"/>
            <a:r>
              <a:rPr lang="en-US" b="0" i="0" dirty="0">
                <a:effectLst/>
                <a:latin typeface="TradeGothic"/>
              </a:rPr>
              <a:t>Yes—not only do individual nations, groups of nations, industries, and unions have different interests, each of those contains multiple stakeholders with different agendas and interests, such as political parties, lobby groups, think-tanks, big business, etc.</a:t>
            </a:r>
          </a:p>
          <a:p>
            <a:pPr algn="l"/>
            <a:r>
              <a:rPr lang="en-US" b="1" i="0" dirty="0">
                <a:solidFill>
                  <a:srgbClr val="0E1633"/>
                </a:solidFill>
                <a:effectLst/>
                <a:latin typeface="var(--ds-font__dinpro--cond)"/>
              </a:rPr>
              <a:t>Is it a wicked problem?</a:t>
            </a:r>
          </a:p>
          <a:p>
            <a:pPr algn="l"/>
            <a:r>
              <a:rPr lang="en-US" b="0" i="0" dirty="0">
                <a:effectLst/>
                <a:latin typeface="TradeGothic"/>
              </a:rPr>
              <a:t>Yes—global heating clearly meets four of the five criteria to be classified as a wicked problem.</a:t>
            </a:r>
          </a:p>
        </p:txBody>
      </p:sp>
      <p:sp>
        <p:nvSpPr>
          <p:cNvPr id="3" name="TextBox 2">
            <a:extLst>
              <a:ext uri="{FF2B5EF4-FFF2-40B4-BE49-F238E27FC236}">
                <a16:creationId xmlns:a16="http://schemas.microsoft.com/office/drawing/2014/main" id="{96571167-2A4C-2DC1-8489-D4D793D539E1}"/>
              </a:ext>
            </a:extLst>
          </p:cNvPr>
          <p:cNvSpPr txBox="1"/>
          <p:nvPr/>
        </p:nvSpPr>
        <p:spPr>
          <a:xfrm>
            <a:off x="0" y="20264"/>
            <a:ext cx="4636654" cy="461665"/>
          </a:xfrm>
          <a:prstGeom prst="rect">
            <a:avLst/>
          </a:prstGeom>
          <a:noFill/>
        </p:spPr>
        <p:txBody>
          <a:bodyPr wrap="square">
            <a:spAutoFit/>
          </a:bodyPr>
          <a:lstStyle/>
          <a:p>
            <a:pPr algn="l"/>
            <a:r>
              <a:rPr lang="en-IN" sz="2400" b="1" i="0" dirty="0">
                <a:solidFill>
                  <a:srgbClr val="0E1633"/>
                </a:solidFill>
                <a:effectLst/>
                <a:latin typeface="var(--ds-font__dinpro--cond)"/>
              </a:rPr>
              <a:t>Examples of wicked problems</a:t>
            </a:r>
          </a:p>
        </p:txBody>
      </p:sp>
    </p:spTree>
    <p:extLst>
      <p:ext uri="{BB962C8B-B14F-4D97-AF65-F5344CB8AC3E}">
        <p14:creationId xmlns:p14="http://schemas.microsoft.com/office/powerpoint/2010/main" val="10089871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C3B118E-9ECF-9002-342F-F98610D4F5BD}"/>
              </a:ext>
            </a:extLst>
          </p:cNvPr>
          <p:cNvSpPr txBox="1"/>
          <p:nvPr/>
        </p:nvSpPr>
        <p:spPr>
          <a:xfrm>
            <a:off x="92362" y="975464"/>
            <a:ext cx="9051637" cy="4524315"/>
          </a:xfrm>
          <a:prstGeom prst="rect">
            <a:avLst/>
          </a:prstGeom>
          <a:noFill/>
        </p:spPr>
        <p:txBody>
          <a:bodyPr wrap="square">
            <a:spAutoFit/>
          </a:bodyPr>
          <a:lstStyle/>
          <a:p>
            <a:pPr algn="l"/>
            <a:r>
              <a:rPr lang="en-US" b="1" i="0" dirty="0">
                <a:solidFill>
                  <a:srgbClr val="24505C"/>
                </a:solidFill>
                <a:effectLst/>
                <a:latin typeface="inherit"/>
              </a:rPr>
              <a:t>What are some examples of wicked problems?</a:t>
            </a:r>
          </a:p>
          <a:p>
            <a:pPr algn="l"/>
            <a:r>
              <a:rPr lang="en-US" b="0" i="0" dirty="0">
                <a:solidFill>
                  <a:srgbClr val="555555"/>
                </a:solidFill>
                <a:effectLst/>
                <a:latin typeface="Open Sans" panose="020B0606030504020204" pitchFamily="34" charset="0"/>
              </a:rPr>
              <a:t>Some examples of wicked problems are earthquakes, death, disease, and economic problems. Political instability and floods are also good examples.</a:t>
            </a:r>
          </a:p>
          <a:p>
            <a:pPr algn="l"/>
            <a:r>
              <a:rPr lang="en-US" b="1" i="0" dirty="0">
                <a:solidFill>
                  <a:srgbClr val="24505C"/>
                </a:solidFill>
                <a:effectLst/>
                <a:latin typeface="inherit"/>
              </a:rPr>
              <a:t>What is an example of a tame problem?</a:t>
            </a:r>
          </a:p>
          <a:p>
            <a:pPr algn="l"/>
            <a:r>
              <a:rPr lang="en-US" b="0" i="0" dirty="0">
                <a:solidFill>
                  <a:srgbClr val="555555"/>
                </a:solidFill>
                <a:effectLst/>
                <a:latin typeface="Open Sans" panose="020B0606030504020204" pitchFamily="34" charset="0"/>
              </a:rPr>
              <a:t>An example of a tame problem is a printer running out of paper. The solution would be to add more paper to the machine.</a:t>
            </a:r>
          </a:p>
          <a:p>
            <a:pPr algn="l"/>
            <a:r>
              <a:rPr lang="en-US" b="1" i="0" dirty="0">
                <a:solidFill>
                  <a:srgbClr val="24505C"/>
                </a:solidFill>
                <a:effectLst/>
                <a:latin typeface="inherit"/>
              </a:rPr>
              <a:t>Can wicked problems be solved?</a:t>
            </a:r>
          </a:p>
          <a:p>
            <a:pPr algn="l"/>
            <a:r>
              <a:rPr lang="en-US" b="0" i="0" dirty="0">
                <a:solidFill>
                  <a:srgbClr val="555555"/>
                </a:solidFill>
                <a:effectLst/>
                <a:latin typeface="Open Sans" panose="020B0606030504020204" pitchFamily="34" charset="0"/>
              </a:rPr>
              <a:t>Wicked problems cannot be solved. It is very difficult to understand a wicked problem and formulate a solution to solve the problem.</a:t>
            </a:r>
          </a:p>
          <a:p>
            <a:pPr algn="l"/>
            <a:r>
              <a:rPr lang="en-US" b="1" i="0" dirty="0">
                <a:solidFill>
                  <a:srgbClr val="24505C"/>
                </a:solidFill>
                <a:effectLst/>
                <a:latin typeface="inherit"/>
              </a:rPr>
              <a:t>Is homelessness a wicked problem?</a:t>
            </a:r>
          </a:p>
          <a:p>
            <a:pPr algn="l"/>
            <a:r>
              <a:rPr lang="en-US" b="1" i="0" dirty="0">
                <a:solidFill>
                  <a:srgbClr val="FF0000"/>
                </a:solidFill>
                <a:effectLst/>
                <a:latin typeface="inherit"/>
              </a:rPr>
              <a:t>Definition of homelessness</a:t>
            </a:r>
          </a:p>
          <a:p>
            <a:pPr algn="l"/>
            <a:r>
              <a:rPr lang="en-US" b="1" i="0" dirty="0">
                <a:solidFill>
                  <a:srgbClr val="FF0000"/>
                </a:solidFill>
                <a:effectLst/>
                <a:latin typeface="inherit"/>
              </a:rPr>
              <a:t>Experiencing homelessness means not having stable, safe and adequate housing, nor the means and ability of obtaining it.</a:t>
            </a:r>
          </a:p>
          <a:p>
            <a:pPr algn="l"/>
            <a:r>
              <a:rPr lang="en-US" b="0" i="0" dirty="0">
                <a:solidFill>
                  <a:srgbClr val="555555"/>
                </a:solidFill>
                <a:effectLst/>
                <a:latin typeface="Open Sans" panose="020B0606030504020204" pitchFamily="34" charset="0"/>
              </a:rPr>
              <a:t>Homelessness is a wicked problem. This is because it is very difficult to understand why it happens and to determine a suitable solution to end it and prevent it from happening.</a:t>
            </a:r>
          </a:p>
        </p:txBody>
      </p:sp>
    </p:spTree>
    <p:extLst>
      <p:ext uri="{BB962C8B-B14F-4D97-AF65-F5344CB8AC3E}">
        <p14:creationId xmlns:p14="http://schemas.microsoft.com/office/powerpoint/2010/main" val="30317929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6" name="TextBox 5">
            <a:extLst>
              <a:ext uri="{FF2B5EF4-FFF2-40B4-BE49-F238E27FC236}">
                <a16:creationId xmlns:a16="http://schemas.microsoft.com/office/drawing/2014/main" id="{BE703C4C-8D10-5BBB-E717-1A86E0DE76F0}"/>
              </a:ext>
            </a:extLst>
          </p:cNvPr>
          <p:cNvSpPr txBox="1"/>
          <p:nvPr/>
        </p:nvSpPr>
        <p:spPr>
          <a:xfrm>
            <a:off x="-2" y="1350282"/>
            <a:ext cx="9144002" cy="4143891"/>
          </a:xfrm>
          <a:prstGeom prst="rect">
            <a:avLst/>
          </a:prstGeom>
          <a:noFill/>
        </p:spPr>
        <p:txBody>
          <a:bodyPr wrap="square">
            <a:spAutoFit/>
          </a:bodyPr>
          <a:lstStyle/>
          <a:p>
            <a:pPr marL="457200" marR="63500" indent="-457200" algn="just">
              <a:lnSpc>
                <a:spcPct val="114000"/>
              </a:lnSpc>
              <a:spcBef>
                <a:spcPts val="275"/>
              </a:spcBef>
              <a:spcAft>
                <a:spcPts val="0"/>
              </a:spcAft>
              <a:buFont typeface="Arial" panose="020B0604020202020204" pitchFamily="34" charset="0"/>
              <a:buChar char="•"/>
            </a:pPr>
            <a:r>
              <a:rPr lang="en-US" sz="3200" b="1" dirty="0">
                <a:solidFill>
                  <a:srgbClr val="FF0000"/>
                </a:solidFill>
                <a:effectLst/>
              </a:rPr>
              <a:t>Exercise and Case Study – </a:t>
            </a:r>
          </a:p>
          <a:p>
            <a:pPr marL="457200" marR="63500" indent="-457200" algn="just">
              <a:lnSpc>
                <a:spcPct val="114000"/>
              </a:lnSpc>
              <a:spcBef>
                <a:spcPts val="275"/>
              </a:spcBef>
              <a:spcAft>
                <a:spcPts val="0"/>
              </a:spcAft>
              <a:buFont typeface="Arial" panose="020B0604020202020204" pitchFamily="34" charset="0"/>
              <a:buChar char="•"/>
            </a:pPr>
            <a:r>
              <a:rPr lang="en-US" sz="3200" b="1" dirty="0">
                <a:effectLst/>
              </a:rPr>
              <a:t>Identify problems around us requiring design solutions Or problems solved using design.</a:t>
            </a:r>
          </a:p>
          <a:p>
            <a:pPr marL="457200" marR="63500" indent="-457200" algn="just">
              <a:lnSpc>
                <a:spcPct val="114000"/>
              </a:lnSpc>
              <a:spcBef>
                <a:spcPts val="275"/>
              </a:spcBef>
              <a:spcAft>
                <a:spcPts val="0"/>
              </a:spcAft>
              <a:buFont typeface="Arial" panose="020B0604020202020204" pitchFamily="34" charset="0"/>
              <a:buChar char="•"/>
            </a:pPr>
            <a:endParaRPr lang="en-US" sz="3200" b="1" dirty="0">
              <a:latin typeface="Calibri" panose="020F0502020204030204" pitchFamily="34" charset="0"/>
              <a:ea typeface="Calibri" panose="020F0502020204030204" pitchFamily="34" charset="0"/>
            </a:endParaRPr>
          </a:p>
          <a:p>
            <a:pPr marL="457200" marR="63500" indent="-457200" algn="just">
              <a:lnSpc>
                <a:spcPct val="114000"/>
              </a:lnSpc>
              <a:spcBef>
                <a:spcPts val="275"/>
              </a:spcBef>
              <a:spcAft>
                <a:spcPts val="0"/>
              </a:spcAft>
              <a:buFont typeface="Arial" panose="020B0604020202020204" pitchFamily="34" charset="0"/>
              <a:buChar char="•"/>
            </a:pPr>
            <a:r>
              <a:rPr lang="en-US" sz="3200" b="1" dirty="0">
                <a:solidFill>
                  <a:srgbClr val="FF0000"/>
                </a:solidFill>
                <a:effectLst/>
                <a:latin typeface="Calibri" panose="020F0502020204030204" pitchFamily="34" charset="0"/>
                <a:ea typeface="Calibri" panose="020F0502020204030204" pitchFamily="34" charset="0"/>
              </a:rPr>
              <a:t>Task</a:t>
            </a:r>
          </a:p>
          <a:p>
            <a:pPr marL="457200" marR="63500" indent="-457200" algn="just">
              <a:lnSpc>
                <a:spcPct val="114000"/>
              </a:lnSpc>
              <a:spcBef>
                <a:spcPts val="275"/>
              </a:spcBef>
              <a:spcAft>
                <a:spcPts val="0"/>
              </a:spcAft>
              <a:buFont typeface="Arial" panose="020B0604020202020204" pitchFamily="34" charset="0"/>
              <a:buChar char="•"/>
            </a:pPr>
            <a:r>
              <a:rPr lang="en-US" sz="3200" b="1" dirty="0">
                <a:effectLst/>
                <a:latin typeface="Calibri" panose="020F0502020204030204" pitchFamily="34" charset="0"/>
                <a:ea typeface="Calibri" panose="020F0502020204030204" pitchFamily="34" charset="0"/>
              </a:rPr>
              <a:t>Visit to </a:t>
            </a:r>
            <a:r>
              <a:rPr lang="en-US" sz="3200" b="1" dirty="0">
                <a:latin typeface="Calibri" panose="020F0502020204030204" pitchFamily="34" charset="0"/>
                <a:ea typeface="Calibri" panose="020F0502020204030204" pitchFamily="34" charset="0"/>
              </a:rPr>
              <a:t>Nearby 3 different Bank ATM. Identify Problems in USER Interface and Discuss Solution</a:t>
            </a:r>
            <a:endParaRPr lang="en-IN" sz="2800" b="1"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35984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3A4BDC-365C-8445-2CA0-C11C87A82C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1" cy="6858000"/>
          </a:xfrm>
          <a:prstGeom prst="rect">
            <a:avLst/>
          </a:prstGeom>
        </p:spPr>
      </p:pic>
      <p:sp>
        <p:nvSpPr>
          <p:cNvPr id="3" name="TextBox 2">
            <a:extLst>
              <a:ext uri="{FF2B5EF4-FFF2-40B4-BE49-F238E27FC236}">
                <a16:creationId xmlns:a16="http://schemas.microsoft.com/office/drawing/2014/main" id="{B7F5AD4A-20F4-3083-F11A-D3193CA25083}"/>
              </a:ext>
            </a:extLst>
          </p:cNvPr>
          <p:cNvSpPr txBox="1"/>
          <p:nvPr/>
        </p:nvSpPr>
        <p:spPr>
          <a:xfrm>
            <a:off x="2286000" y="3246643"/>
            <a:ext cx="4572000" cy="369332"/>
          </a:xfrm>
          <a:prstGeom prst="rect">
            <a:avLst/>
          </a:prstGeom>
          <a:noFill/>
        </p:spPr>
        <p:txBody>
          <a:bodyPr wrap="square">
            <a:spAutoFit/>
          </a:bodyPr>
          <a:lstStyle/>
          <a:p>
            <a:pPr eaLnBrk="1" fontAlgn="auto" hangingPunct="1">
              <a:spcAft>
                <a:spcPts val="0"/>
              </a:spcAft>
              <a:buFont typeface="Arial" pitchFamily="34" charset="0"/>
              <a:buNone/>
              <a:defRPr/>
            </a:pPr>
            <a:r>
              <a:rPr lang="en-US" sz="1800" dirty="0">
                <a:solidFill>
                  <a:schemeClr val="bg1"/>
                </a:solidFill>
              </a:rPr>
              <a:t>Virtual Agents, Avatars, ..</a:t>
            </a:r>
          </a:p>
        </p:txBody>
      </p:sp>
      <p:sp>
        <p:nvSpPr>
          <p:cNvPr id="2" name="TextBox 1">
            <a:extLst>
              <a:ext uri="{FF2B5EF4-FFF2-40B4-BE49-F238E27FC236}">
                <a16:creationId xmlns:a16="http://schemas.microsoft.com/office/drawing/2014/main" id="{359B0561-3470-C904-D59A-7DC4A5A7851E}"/>
              </a:ext>
            </a:extLst>
          </p:cNvPr>
          <p:cNvSpPr txBox="1"/>
          <p:nvPr/>
        </p:nvSpPr>
        <p:spPr>
          <a:xfrm>
            <a:off x="0" y="2484582"/>
            <a:ext cx="9143999" cy="769441"/>
          </a:xfrm>
          <a:prstGeom prst="rect">
            <a:avLst/>
          </a:prstGeom>
          <a:solidFill>
            <a:schemeClr val="accent4">
              <a:lumMod val="60000"/>
              <a:lumOff val="40000"/>
            </a:schemeClr>
          </a:solidFill>
        </p:spPr>
        <p:txBody>
          <a:bodyPr wrap="square" rtlCol="0">
            <a:spAutoFit/>
          </a:bodyPr>
          <a:lstStyle/>
          <a:p>
            <a:r>
              <a:rPr lang="en-US" sz="4400" b="1" dirty="0"/>
              <a:t>THANK YOU</a:t>
            </a:r>
            <a:endParaRPr lang="en-IN" sz="4400" b="1" dirty="0"/>
          </a:p>
        </p:txBody>
      </p:sp>
    </p:spTree>
    <p:extLst>
      <p:ext uri="{BB962C8B-B14F-4D97-AF65-F5344CB8AC3E}">
        <p14:creationId xmlns:p14="http://schemas.microsoft.com/office/powerpoint/2010/main" val="25033645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7551</TotalTime>
  <Words>4090</Words>
  <Application>Microsoft Office PowerPoint</Application>
  <PresentationFormat>On-screen Show (4:3)</PresentationFormat>
  <Paragraphs>574</Paragraphs>
  <Slides>60</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60</vt:i4>
      </vt:variant>
    </vt:vector>
  </HeadingPairs>
  <TitlesOfParts>
    <vt:vector size="76" baseType="lpstr">
      <vt:lpstr>Adobe Caslon Pro</vt:lpstr>
      <vt:lpstr>-apple-system</vt:lpstr>
      <vt:lpstr>Arial</vt:lpstr>
      <vt:lpstr>Calibri</vt:lpstr>
      <vt:lpstr>Calibri Light</vt:lpstr>
      <vt:lpstr>Cambria</vt:lpstr>
      <vt:lpstr>inherit</vt:lpstr>
      <vt:lpstr>Merriweather</vt:lpstr>
      <vt:lpstr>Open Sans</vt:lpstr>
      <vt:lpstr>sohne</vt:lpstr>
      <vt:lpstr>Times New Roman</vt:lpstr>
      <vt:lpstr>TradeGothic</vt:lpstr>
      <vt:lpstr>TT Norms Pro</vt:lpstr>
      <vt:lpstr>var(--ds-font__dinpro--cond)</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 School of Engineering</dc:title>
  <dc:creator>User</dc:creator>
  <cp:lastModifiedBy>Amit Uttarkar</cp:lastModifiedBy>
  <cp:revision>863</cp:revision>
  <cp:lastPrinted>2019-04-12T07:48:19Z</cp:lastPrinted>
  <dcterms:created xsi:type="dcterms:W3CDTF">2018-03-07T17:43:46Z</dcterms:created>
  <dcterms:modified xsi:type="dcterms:W3CDTF">2024-06-18T05:34:06Z</dcterms:modified>
</cp:coreProperties>
</file>