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20.jpg" ContentType="image/jpg"/>
  <Override PartName="/ppt/media/image21.jpg" ContentType="image/jpg"/>
  <Override PartName="/ppt/media/image22.jpg" ContentType="image/jpg"/>
  <Override PartName="/ppt/media/image24.jpg" ContentType="image/jpg"/>
  <Override PartName="/ppt/media/image26.jpg" ContentType="image/jpg"/>
  <Override PartName="/ppt/media/image28.jpg" ContentType="image/jpg"/>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8"/>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322"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23" r:id="rId60"/>
    <p:sldId id="315" r:id="rId61"/>
    <p:sldId id="316" r:id="rId62"/>
    <p:sldId id="317" r:id="rId63"/>
    <p:sldId id="318" r:id="rId64"/>
    <p:sldId id="319" r:id="rId65"/>
    <p:sldId id="320" r:id="rId66"/>
    <p:sldId id="321" r:id="rId67"/>
  </p:sldIdLst>
  <p:sldSz cx="9144000" cy="6858000" type="screen4x3"/>
  <p:notesSz cx="6888163" cy="100187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9" roundtripDataSignature="AMtx7mihlFcprp0guwPqa2GojArTjb2b4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84871" cy="502676"/>
          </a:xfrm>
          <a:prstGeom prst="rect">
            <a:avLst/>
          </a:prstGeom>
          <a:noFill/>
          <a:ln>
            <a:noFill/>
          </a:ln>
        </p:spPr>
        <p:txBody>
          <a:bodyPr spcFirstLastPara="1" wrap="square" lIns="96600" tIns="48300" rIns="96600" bIns="48300" anchor="t"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01698" y="0"/>
            <a:ext cx="2984871" cy="502676"/>
          </a:xfrm>
          <a:prstGeom prst="rect">
            <a:avLst/>
          </a:prstGeom>
          <a:noFill/>
          <a:ln>
            <a:noFill/>
          </a:ln>
        </p:spPr>
        <p:txBody>
          <a:bodyPr spcFirstLastPara="1" wrap="square" lIns="96600" tIns="48300" rIns="96600" bIns="48300" anchor="t" anchorCtr="0">
            <a:noAutofit/>
          </a:bodyPr>
          <a:lstStyle>
            <a:lvl1pPr marR="0" lvl="0" algn="r"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516039"/>
            <a:ext cx="2984871" cy="502674"/>
          </a:xfrm>
          <a:prstGeom prst="rect">
            <a:avLst/>
          </a:prstGeom>
          <a:noFill/>
          <a:ln>
            <a:noFill/>
          </a:ln>
        </p:spPr>
        <p:txBody>
          <a:bodyPr spcFirstLastPara="1" wrap="square" lIns="96600" tIns="48300" rIns="96600" bIns="48300" anchor="b"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01698" y="9516039"/>
            <a:ext cx="2984871" cy="502674"/>
          </a:xfrm>
          <a:prstGeom prst="rect">
            <a:avLst/>
          </a:prstGeom>
          <a:noFill/>
          <a:ln>
            <a:noFill/>
          </a:ln>
        </p:spPr>
        <p:txBody>
          <a:bodyPr spcFirstLastPara="1" wrap="square" lIns="96600" tIns="48300" rIns="96600" bIns="48300"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585659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1: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 name="Google Shape;67;p1: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68" name="Google Shape;68;p1:notes"/>
          <p:cNvSpPr txBox="1">
            <a:spLocks noGrp="1"/>
          </p:cNvSpPr>
          <p:nvPr>
            <p:ph type="sldNum" idx="12"/>
          </p:nvPr>
        </p:nvSpPr>
        <p:spPr>
          <a:xfrm>
            <a:off x="3901698" y="9516039"/>
            <a:ext cx="2984871" cy="502674"/>
          </a:xfrm>
          <a:prstGeom prst="rect">
            <a:avLst/>
          </a:prstGeom>
          <a:noFill/>
          <a:ln>
            <a:noFill/>
          </a:ln>
        </p:spPr>
        <p:txBody>
          <a:bodyPr spcFirstLastPara="1" wrap="square" lIns="96600" tIns="48300" rIns="96600" bIns="483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extLst>
      <p:ext uri="{BB962C8B-B14F-4D97-AF65-F5344CB8AC3E}">
        <p14:creationId xmlns:p14="http://schemas.microsoft.com/office/powerpoint/2010/main" val="3675873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3:notes"/>
          <p:cNvSpPr txBox="1">
            <a:spLocks noGrp="1"/>
          </p:cNvSpPr>
          <p:nvPr>
            <p:ph type="body" idx="1"/>
          </p:nvPr>
        </p:nvSpPr>
        <p:spPr>
          <a:xfrm>
            <a:off x="688817" y="4821506"/>
            <a:ext cx="5510530" cy="3944868"/>
          </a:xfrm>
          <a:prstGeom prst="rect">
            <a:avLst/>
          </a:prstGeom>
        </p:spPr>
        <p:txBody>
          <a:bodyPr spcFirstLastPara="1" wrap="square" lIns="96600" tIns="48300" rIns="96600" bIns="48300" anchor="t" anchorCtr="0">
            <a:noAutofit/>
          </a:bodyPr>
          <a:lstStyle/>
          <a:p>
            <a:pPr marL="0" lvl="0" indent="0" algn="l" rtl="0">
              <a:spcBef>
                <a:spcPts val="0"/>
              </a:spcBef>
              <a:spcAft>
                <a:spcPts val="0"/>
              </a:spcAft>
              <a:buNone/>
            </a:pPr>
            <a:endParaRPr/>
          </a:p>
        </p:txBody>
      </p:sp>
      <p:sp>
        <p:nvSpPr>
          <p:cNvPr id="82" name="Google Shape;82;p3: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81011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4: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88" name="Google Shape;88;p4:notes"/>
          <p:cNvSpPr>
            <a:spLocks noGrp="1" noRot="1" noChangeAspect="1"/>
          </p:cNvSpPr>
          <p:nvPr>
            <p:ph type="sldImg" idx="2"/>
          </p:nvPr>
        </p:nvSpPr>
        <p:spPr>
          <a:xfrm>
            <a:off x="1190625" y="1252538"/>
            <a:ext cx="4506913"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06186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8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4"/>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8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8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8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1"/>
        <p:cNvGrpSpPr/>
        <p:nvPr/>
      </p:nvGrpSpPr>
      <p:grpSpPr>
        <a:xfrm>
          <a:off x="0" y="0"/>
          <a:ext cx="0" cy="0"/>
          <a:chOff x="0" y="0"/>
          <a:chExt cx="0" cy="0"/>
        </a:xfrm>
      </p:grpSpPr>
      <p:sp>
        <p:nvSpPr>
          <p:cNvPr id="22" name="Google Shape;22;p88"/>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8"/>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4" name="Google Shape;24;p88"/>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88"/>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6" name="Google Shape;26;p88"/>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8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8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8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8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8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8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8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5"/>
        <p:cNvGrpSpPr/>
        <p:nvPr/>
      </p:nvGrpSpPr>
      <p:grpSpPr>
        <a:xfrm>
          <a:off x="0" y="0"/>
          <a:ext cx="0" cy="0"/>
          <a:chOff x="0" y="0"/>
          <a:chExt cx="0" cy="0"/>
        </a:xfrm>
      </p:grpSpPr>
      <p:sp>
        <p:nvSpPr>
          <p:cNvPr id="36" name="Google Shape;36;p9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9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9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9"/>
        <p:cNvGrpSpPr/>
        <p:nvPr/>
      </p:nvGrpSpPr>
      <p:grpSpPr>
        <a:xfrm>
          <a:off x="0" y="0"/>
          <a:ext cx="0" cy="0"/>
          <a:chOff x="0" y="0"/>
          <a:chExt cx="0" cy="0"/>
        </a:xfrm>
      </p:grpSpPr>
      <p:sp>
        <p:nvSpPr>
          <p:cNvPr id="40" name="Google Shape;40;p91"/>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91"/>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2" name="Google Shape;42;p91"/>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3" name="Google Shape;43;p9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9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9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6"/>
        <p:cNvGrpSpPr/>
        <p:nvPr/>
      </p:nvGrpSpPr>
      <p:grpSpPr>
        <a:xfrm>
          <a:off x="0" y="0"/>
          <a:ext cx="0" cy="0"/>
          <a:chOff x="0" y="0"/>
          <a:chExt cx="0" cy="0"/>
        </a:xfrm>
      </p:grpSpPr>
      <p:sp>
        <p:nvSpPr>
          <p:cNvPr id="47" name="Google Shape;47;p92"/>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92"/>
          <p:cNvSpPr>
            <a:spLocks noGrp="1"/>
          </p:cNvSpPr>
          <p:nvPr>
            <p:ph type="pic" idx="2"/>
          </p:nvPr>
        </p:nvSpPr>
        <p:spPr>
          <a:xfrm>
            <a:off x="3887391" y="987426"/>
            <a:ext cx="4629150" cy="4873625"/>
          </a:xfrm>
          <a:prstGeom prst="rect">
            <a:avLst/>
          </a:prstGeom>
          <a:noFill/>
          <a:ln>
            <a:noFill/>
          </a:ln>
        </p:spPr>
      </p:sp>
      <p:sp>
        <p:nvSpPr>
          <p:cNvPr id="49" name="Google Shape;49;p92"/>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0" name="Google Shape;50;p9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9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3"/>
        <p:cNvGrpSpPr/>
        <p:nvPr/>
      </p:nvGrpSpPr>
      <p:grpSpPr>
        <a:xfrm>
          <a:off x="0" y="0"/>
          <a:ext cx="0" cy="0"/>
          <a:chOff x="0" y="0"/>
          <a:chExt cx="0" cy="0"/>
        </a:xfrm>
      </p:grpSpPr>
      <p:sp>
        <p:nvSpPr>
          <p:cNvPr id="54" name="Google Shape;54;p93"/>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93"/>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9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9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9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9"/>
        <p:cNvGrpSpPr/>
        <p:nvPr/>
      </p:nvGrpSpPr>
      <p:grpSpPr>
        <a:xfrm>
          <a:off x="0" y="0"/>
          <a:ext cx="0" cy="0"/>
          <a:chOff x="0" y="0"/>
          <a:chExt cx="0" cy="0"/>
        </a:xfrm>
      </p:grpSpPr>
      <p:sp>
        <p:nvSpPr>
          <p:cNvPr id="60" name="Google Shape;60;p94"/>
          <p:cNvSpPr txBox="1">
            <a:spLocks noGrp="1"/>
          </p:cNvSpPr>
          <p:nvPr>
            <p:ph type="title"/>
          </p:nvPr>
        </p:nvSpPr>
        <p:spPr>
          <a:xfrm rot="5400000">
            <a:off x="4623593" y="2285206"/>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94"/>
          <p:cNvSpPr txBox="1">
            <a:spLocks noGrp="1"/>
          </p:cNvSpPr>
          <p:nvPr>
            <p:ph type="body" idx="1"/>
          </p:nvPr>
        </p:nvSpPr>
        <p:spPr>
          <a:xfrm rot="5400000">
            <a:off x="623093"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9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0">
            <a:alphaModFix/>
          </a:blip>
          <a:stretch>
            <a:fillRect/>
          </a:stretch>
        </a:blipFill>
        <a:effectLst/>
      </p:bgPr>
    </p:bg>
    <p:spTree>
      <p:nvGrpSpPr>
        <p:cNvPr id="1" name="Shape 9"/>
        <p:cNvGrpSpPr/>
        <p:nvPr/>
      </p:nvGrpSpPr>
      <p:grpSpPr>
        <a:xfrm>
          <a:off x="0" y="0"/>
          <a:ext cx="0" cy="0"/>
          <a:chOff x="0" y="0"/>
          <a:chExt cx="0" cy="0"/>
        </a:xfrm>
      </p:grpSpPr>
      <p:sp>
        <p:nvSpPr>
          <p:cNvPr id="10" name="Google Shape;10;p83"/>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83"/>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8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8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8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71" name="Google Shape;71;p1"/>
          <p:cNvPicPr preferRelativeResize="0">
            <a:picLocks noGrp="1"/>
          </p:cNvPicPr>
          <p:nvPr>
            <p:ph type="body" idx="1"/>
          </p:nvPr>
        </p:nvPicPr>
        <p:blipFill rotWithShape="1">
          <a:blip r:embed="rId3">
            <a:alphaModFix/>
          </a:blip>
          <a:srcRect/>
          <a:stretch/>
        </p:blipFill>
        <p:spPr>
          <a:xfrm>
            <a:off x="0" y="0"/>
            <a:ext cx="9144000" cy="6858000"/>
          </a:xfrm>
          <a:prstGeom prst="rect">
            <a:avLst/>
          </a:prstGeom>
          <a:noFill/>
          <a:ln>
            <a:noFill/>
          </a:ln>
        </p:spPr>
      </p:pic>
      <p:pic>
        <p:nvPicPr>
          <p:cNvPr id="72" name="Google Shape;72;p1"/>
          <p:cNvPicPr preferRelativeResize="0"/>
          <p:nvPr/>
        </p:nvPicPr>
        <p:blipFill rotWithShape="1">
          <a:blip r:embed="rId4">
            <a:alphaModFix/>
          </a:blip>
          <a:srcRect/>
          <a:stretch/>
        </p:blipFill>
        <p:spPr>
          <a:xfrm>
            <a:off x="354842" y="123715"/>
            <a:ext cx="5950424" cy="831628"/>
          </a:xfrm>
          <a:prstGeom prst="rect">
            <a:avLst/>
          </a:prstGeom>
          <a:noFill/>
          <a:ln>
            <a:noFill/>
          </a:ln>
        </p:spPr>
      </p:pic>
      <p:sp>
        <p:nvSpPr>
          <p:cNvPr id="73" name="Google Shape;73;p1"/>
          <p:cNvSpPr txBox="1"/>
          <p:nvPr/>
        </p:nvSpPr>
        <p:spPr>
          <a:xfrm>
            <a:off x="1287262" y="166260"/>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74" name="Google Shape;74;p1"/>
          <p:cNvSpPr/>
          <p:nvPr/>
        </p:nvSpPr>
        <p:spPr>
          <a:xfrm>
            <a:off x="197794" y="1322773"/>
            <a:ext cx="1775534" cy="1828800"/>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5" name="Google Shape;75;p1"/>
          <p:cNvSpPr txBox="1"/>
          <p:nvPr/>
        </p:nvSpPr>
        <p:spPr>
          <a:xfrm>
            <a:off x="450376" y="1460311"/>
            <a:ext cx="833878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6" name="Google Shape;76;p1"/>
          <p:cNvSpPr/>
          <p:nvPr/>
        </p:nvSpPr>
        <p:spPr>
          <a:xfrm>
            <a:off x="4250437" y="3244334"/>
            <a:ext cx="64312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mbria"/>
                <a:ea typeface="Cambria"/>
                <a:cs typeface="Cambria"/>
                <a:sym typeface="Cambria"/>
              </a:rPr>
              <a:t>PLD </a:t>
            </a:r>
            <a:endParaRPr sz="1800" b="0" i="0" u="none" strike="noStrike" cap="none">
              <a:solidFill>
                <a:schemeClr val="dk1"/>
              </a:solidFill>
              <a:latin typeface="Calibri"/>
              <a:ea typeface="Calibri"/>
              <a:cs typeface="Calibri"/>
              <a:sym typeface="Calibri"/>
            </a:endParaRPr>
          </a:p>
        </p:txBody>
      </p:sp>
      <p:sp>
        <p:nvSpPr>
          <p:cNvPr id="77" name="Google Shape;77;p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
        <p:nvSpPr>
          <p:cNvPr id="78" name="Google Shape;78;p1"/>
          <p:cNvSpPr txBox="1"/>
          <p:nvPr/>
        </p:nvSpPr>
        <p:spPr>
          <a:xfrm>
            <a:off x="628650" y="1320476"/>
            <a:ext cx="7648500" cy="267761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Times New Roman"/>
                <a:ea typeface="Times New Roman"/>
                <a:cs typeface="Times New Roman"/>
                <a:sym typeface="Times New Roman"/>
              </a:rPr>
              <a:t>Third Year Engineering</a:t>
            </a:r>
            <a:endParaRPr sz="2800" b="1"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CC00CC"/>
                </a:solidFill>
                <a:latin typeface="Times New Roman"/>
                <a:ea typeface="Times New Roman"/>
                <a:cs typeface="Times New Roman"/>
                <a:sym typeface="Times New Roman"/>
              </a:rPr>
              <a:t>21BTCS502-Database Management System</a:t>
            </a:r>
            <a:endParaRPr sz="28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Arial"/>
                <a:ea typeface="Arial"/>
                <a:cs typeface="Arial"/>
                <a:sym typeface="Arial"/>
              </a:rPr>
              <a:t/>
            </a:r>
            <a:br>
              <a:rPr lang="en-US" sz="2800" b="0" i="0" u="none" strike="noStrike" cap="none">
                <a:solidFill>
                  <a:srgbClr val="000000"/>
                </a:solidFill>
                <a:latin typeface="Arial"/>
                <a:ea typeface="Arial"/>
                <a:cs typeface="Arial"/>
                <a:sym typeface="Arial"/>
              </a:rPr>
            </a:br>
            <a:r>
              <a:rPr lang="en-US" sz="2800" b="1" i="0" u="none" strike="noStrike" cap="none">
                <a:solidFill>
                  <a:srgbClr val="FF0000"/>
                </a:solidFill>
                <a:latin typeface="Times New Roman"/>
                <a:ea typeface="Times New Roman"/>
                <a:cs typeface="Times New Roman"/>
                <a:sym typeface="Times New Roman"/>
              </a:rPr>
              <a:t>Class - T.Y. (Division-)</a:t>
            </a:r>
            <a:endParaRPr sz="2800" b="1" i="0"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FF0000"/>
                </a:solidFill>
                <a:latin typeface="Times New Roman"/>
                <a:ea typeface="Times New Roman"/>
                <a:cs typeface="Times New Roman"/>
                <a:sym typeface="Times New Roman"/>
              </a:rPr>
              <a:t> </a:t>
            </a:r>
            <a:endParaRPr sz="2800" b="1" i="0" u="none" strike="noStrike" cap="none">
              <a:solidFill>
                <a:srgbClr val="FF0000"/>
              </a:solidFill>
              <a:latin typeface="Times New Roman"/>
              <a:ea typeface="Times New Roman"/>
              <a:cs typeface="Times New Roman"/>
              <a:sym typeface="Times New Roman"/>
            </a:endParaRPr>
          </a:p>
        </p:txBody>
      </p:sp>
      <p:sp>
        <p:nvSpPr>
          <p:cNvPr id="79" name="Google Shape;79;p1"/>
          <p:cNvSpPr txBox="1"/>
          <p:nvPr/>
        </p:nvSpPr>
        <p:spPr>
          <a:xfrm>
            <a:off x="2128800" y="4616127"/>
            <a:ext cx="4648200" cy="13849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rgbClr val="CC00CC"/>
                </a:solidFill>
                <a:latin typeface="Times New Roman"/>
                <a:ea typeface="Times New Roman"/>
                <a:cs typeface="Times New Roman"/>
                <a:sym typeface="Times New Roman"/>
              </a:rPr>
              <a:t>AY </a:t>
            </a:r>
            <a:r>
              <a:rPr lang="en-US" sz="2800" b="0" i="0" u="none" strike="noStrike" cap="none" dirty="0" smtClean="0">
                <a:solidFill>
                  <a:srgbClr val="CC00CC"/>
                </a:solidFill>
                <a:latin typeface="Times New Roman"/>
                <a:ea typeface="Times New Roman"/>
                <a:cs typeface="Times New Roman"/>
                <a:sym typeface="Times New Roman"/>
              </a:rPr>
              <a:t>2024-2025     </a:t>
            </a:r>
            <a:endParaRPr dirty="0"/>
          </a:p>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dirty="0">
                <a:solidFill>
                  <a:srgbClr val="CC00CC"/>
                </a:solidFill>
                <a:latin typeface="Times New Roman"/>
                <a:ea typeface="Times New Roman"/>
                <a:cs typeface="Times New Roman"/>
                <a:sym typeface="Times New Roman"/>
              </a:rPr>
              <a:t>SEM-I</a:t>
            </a:r>
            <a:endParaRPr sz="28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
            </a:r>
            <a:br>
              <a:rPr lang="en-US" sz="1400" b="0" i="0" u="none" strike="noStrike" cap="none" dirty="0">
                <a:solidFill>
                  <a:srgbClr val="000000"/>
                </a:solidFill>
                <a:latin typeface="Arial"/>
                <a:ea typeface="Arial"/>
                <a:cs typeface="Arial"/>
                <a:sym typeface="Arial"/>
              </a:rPr>
            </a:br>
            <a:endParaRPr sz="1400" b="0" i="0" u="none" strike="noStrike" cap="none" dirty="0">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
        <p:nvSpPr>
          <p:cNvPr id="85" name="Google Shape;85;p3"/>
          <p:cNvSpPr txBox="1"/>
          <p:nvPr/>
        </p:nvSpPr>
        <p:spPr>
          <a:xfrm>
            <a:off x="565180" y="2594825"/>
            <a:ext cx="7551000" cy="13849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dirty="0">
                <a:solidFill>
                  <a:srgbClr val="000000"/>
                </a:solidFill>
                <a:latin typeface="Times New Roman"/>
                <a:ea typeface="Times New Roman"/>
                <a:cs typeface="Times New Roman"/>
                <a:sym typeface="Times New Roman"/>
              </a:rPr>
              <a:t>Unit – </a:t>
            </a:r>
            <a:r>
              <a:rPr lang="en-US" sz="2800" b="1" i="0" u="none" strike="noStrike" cap="none" dirty="0" smtClean="0">
                <a:solidFill>
                  <a:srgbClr val="000000"/>
                </a:solidFill>
                <a:latin typeface="Times New Roman"/>
                <a:ea typeface="Times New Roman"/>
                <a:cs typeface="Times New Roman"/>
                <a:sym typeface="Times New Roman"/>
              </a:rPr>
              <a:t>IV </a:t>
            </a:r>
            <a:endParaRPr dirty="0"/>
          </a:p>
          <a:p>
            <a:pPr lvl="0" algn="ctr">
              <a:buSzPts val="2800"/>
            </a:pPr>
            <a:endParaRPr lang="en-IN" sz="2800" b="1" dirty="0">
              <a:latin typeface="Times New Roman"/>
              <a:ea typeface="Times New Roman"/>
              <a:cs typeface="Times New Roman"/>
              <a:sym typeface="Times New Roman"/>
            </a:endParaRPr>
          </a:p>
          <a:p>
            <a:pPr lvl="0" algn="ctr">
              <a:buSzPts val="2800"/>
            </a:pPr>
            <a:r>
              <a:rPr lang="en-IN" sz="2800" b="1" dirty="0" smtClean="0">
                <a:latin typeface="Times New Roman"/>
                <a:ea typeface="Times New Roman"/>
                <a:cs typeface="Times New Roman"/>
              </a:rPr>
              <a:t>ADVANCE </a:t>
            </a:r>
            <a:r>
              <a:rPr lang="en-IN" sz="2800" b="1" dirty="0">
                <a:latin typeface="Times New Roman"/>
                <a:ea typeface="Times New Roman"/>
                <a:cs typeface="Times New Roman"/>
              </a:rPr>
              <a:t>CONCEPTS OF DATABASES</a:t>
            </a:r>
            <a:endParaRPr sz="2800" b="1" dirty="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91" name="Google Shape;91;p4"/>
          <p:cNvPicPr preferRelativeResize="0">
            <a:picLocks noGrp="1"/>
          </p:cNvPicPr>
          <p:nvPr>
            <p:ph type="body" idx="1"/>
          </p:nvPr>
        </p:nvPicPr>
        <p:blipFill rotWithShape="1">
          <a:blip r:embed="rId3">
            <a:alphaModFix/>
          </a:blip>
          <a:srcRect/>
          <a:stretch/>
        </p:blipFill>
        <p:spPr>
          <a:xfrm>
            <a:off x="0" y="0"/>
            <a:ext cx="9144000" cy="6858000"/>
          </a:xfrm>
          <a:prstGeom prst="rect">
            <a:avLst/>
          </a:prstGeom>
          <a:noFill/>
          <a:ln>
            <a:noFill/>
          </a:ln>
        </p:spPr>
      </p:pic>
      <p:pic>
        <p:nvPicPr>
          <p:cNvPr id="92" name="Google Shape;92;p4"/>
          <p:cNvPicPr preferRelativeResize="0"/>
          <p:nvPr/>
        </p:nvPicPr>
        <p:blipFill rotWithShape="1">
          <a:blip r:embed="rId4">
            <a:alphaModFix/>
          </a:blip>
          <a:srcRect/>
          <a:stretch/>
        </p:blipFill>
        <p:spPr>
          <a:xfrm>
            <a:off x="354842" y="123715"/>
            <a:ext cx="5950424" cy="831628"/>
          </a:xfrm>
          <a:prstGeom prst="rect">
            <a:avLst/>
          </a:prstGeom>
          <a:noFill/>
          <a:ln>
            <a:noFill/>
          </a:ln>
        </p:spPr>
      </p:pic>
      <p:sp>
        <p:nvSpPr>
          <p:cNvPr id="93" name="Google Shape;93;p4"/>
          <p:cNvSpPr txBox="1"/>
          <p:nvPr/>
        </p:nvSpPr>
        <p:spPr>
          <a:xfrm>
            <a:off x="1287262" y="166260"/>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400" b="0" i="0" u="none" strike="noStrike" cap="none">
              <a:solidFill>
                <a:srgbClr val="000000"/>
              </a:solidFill>
              <a:latin typeface="Arial"/>
              <a:ea typeface="Arial"/>
              <a:cs typeface="Arial"/>
              <a:sym typeface="Arial"/>
            </a:endParaRPr>
          </a:p>
        </p:txBody>
      </p:sp>
      <p:sp>
        <p:nvSpPr>
          <p:cNvPr id="94" name="Google Shape;94;p4"/>
          <p:cNvSpPr/>
          <p:nvPr/>
        </p:nvSpPr>
        <p:spPr>
          <a:xfrm>
            <a:off x="197794" y="1322773"/>
            <a:ext cx="1775534" cy="1828800"/>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5" name="Google Shape;95;p4"/>
          <p:cNvSpPr txBox="1"/>
          <p:nvPr/>
        </p:nvSpPr>
        <p:spPr>
          <a:xfrm>
            <a:off x="450376" y="1501254"/>
            <a:ext cx="833878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6" name="Google Shape;96;p4"/>
          <p:cNvSpPr/>
          <p:nvPr/>
        </p:nvSpPr>
        <p:spPr>
          <a:xfrm>
            <a:off x="4250437" y="3244334"/>
            <a:ext cx="64312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mbria"/>
                <a:ea typeface="Cambria"/>
                <a:cs typeface="Cambria"/>
                <a:sym typeface="Cambria"/>
              </a:rPr>
              <a:t>PLD </a:t>
            </a:r>
            <a:endParaRPr sz="1800" b="0" i="0" u="none" strike="noStrike" cap="none">
              <a:solidFill>
                <a:schemeClr val="dk1"/>
              </a:solidFill>
              <a:latin typeface="Calibri"/>
              <a:ea typeface="Calibri"/>
              <a:cs typeface="Calibri"/>
              <a:sym typeface="Calibri"/>
            </a:endParaRPr>
          </a:p>
        </p:txBody>
      </p:sp>
      <p:sp>
        <p:nvSpPr>
          <p:cNvPr id="97" name="Google Shape;97;p4"/>
          <p:cNvSpPr txBox="1"/>
          <p:nvPr/>
        </p:nvSpPr>
        <p:spPr>
          <a:xfrm>
            <a:off x="497728" y="1067776"/>
            <a:ext cx="8338800" cy="5485424"/>
          </a:xfrm>
          <a:prstGeom prst="rect">
            <a:avLst/>
          </a:prstGeom>
          <a:noFill/>
          <a:ln>
            <a:noFill/>
          </a:ln>
        </p:spPr>
        <p:txBody>
          <a:bodyPr spcFirstLastPara="1" wrap="square" lIns="91425" tIns="45700" rIns="91425" bIns="45700" anchor="t" anchorCtr="0">
            <a:normAutofit lnSpcReduction="10000"/>
          </a:bodyPr>
          <a:lstStyle/>
          <a:p>
            <a:pPr marL="228600" marR="0" lvl="0" indent="-228600" algn="l" rtl="0">
              <a:lnSpc>
                <a:spcPct val="80000"/>
              </a:lnSpc>
              <a:spcBef>
                <a:spcPts val="0"/>
              </a:spcBef>
              <a:spcAft>
                <a:spcPts val="0"/>
              </a:spcAft>
              <a:buClr>
                <a:srgbClr val="000000"/>
              </a:buClr>
              <a:buSzPts val="3200"/>
              <a:buFont typeface="Arial"/>
              <a:buNone/>
            </a:pPr>
            <a:r>
              <a:rPr lang="en-US" sz="3200" b="1" i="0" u="none" strike="noStrike" cap="none" dirty="0">
                <a:solidFill>
                  <a:srgbClr val="C00000"/>
                </a:solidFill>
                <a:latin typeface="Times New Roman"/>
                <a:ea typeface="Times New Roman"/>
                <a:cs typeface="Times New Roman"/>
                <a:sym typeface="Times New Roman"/>
              </a:rPr>
              <a:t> 	Syllabus</a:t>
            </a:r>
            <a:endParaRPr sz="3200" b="1" i="0" u="none" strike="noStrike" cap="none" dirty="0">
              <a:solidFill>
                <a:srgbClr val="C00000"/>
              </a:solidFill>
              <a:latin typeface="Times New Roman"/>
              <a:ea typeface="Times New Roman"/>
              <a:cs typeface="Times New Roman"/>
              <a:sym typeface="Times New Roman"/>
            </a:endParaRPr>
          </a:p>
          <a:p>
            <a:pPr marL="457200" lvl="0" indent="-374650" algn="just">
              <a:lnSpc>
                <a:spcPct val="150000"/>
              </a:lnSpc>
              <a:buClr>
                <a:srgbClr val="0070C0"/>
              </a:buClr>
              <a:buSzPts val="2300"/>
              <a:buFont typeface="Times New Roman"/>
              <a:buChar char="●"/>
            </a:pPr>
            <a:r>
              <a:rPr lang="en-IN" sz="2300" b="1" dirty="0" smtClean="0">
                <a:solidFill>
                  <a:srgbClr val="0070C0"/>
                </a:solidFill>
                <a:latin typeface="Times New Roman"/>
                <a:ea typeface="Times New Roman"/>
                <a:cs typeface="Times New Roman"/>
              </a:rPr>
              <a:t>Database </a:t>
            </a:r>
            <a:r>
              <a:rPr lang="en-IN" sz="2300" b="1" dirty="0">
                <a:solidFill>
                  <a:srgbClr val="0070C0"/>
                </a:solidFill>
                <a:latin typeface="Times New Roman"/>
                <a:ea typeface="Times New Roman"/>
                <a:cs typeface="Times New Roman"/>
              </a:rPr>
              <a:t>Architectures: Centralized and </a:t>
            </a:r>
            <a:r>
              <a:rPr lang="en-IN" sz="2300" b="1" dirty="0" err="1">
                <a:solidFill>
                  <a:srgbClr val="0070C0"/>
                </a:solidFill>
                <a:latin typeface="Times New Roman"/>
                <a:ea typeface="Times New Roman"/>
                <a:cs typeface="Times New Roman"/>
              </a:rPr>
              <a:t>ClientServer</a:t>
            </a:r>
            <a:r>
              <a:rPr lang="en-IN" sz="2300" b="1" dirty="0">
                <a:solidFill>
                  <a:srgbClr val="0070C0"/>
                </a:solidFill>
                <a:latin typeface="Times New Roman"/>
                <a:ea typeface="Times New Roman"/>
                <a:cs typeface="Times New Roman"/>
              </a:rPr>
              <a:t> Architectures, </a:t>
            </a:r>
          </a:p>
          <a:p>
            <a:pPr marL="457200" indent="-374650" algn="just">
              <a:lnSpc>
                <a:spcPct val="150000"/>
              </a:lnSpc>
              <a:buClr>
                <a:srgbClr val="0070C0"/>
              </a:buClr>
              <a:buSzPts val="2300"/>
              <a:buFont typeface="Times New Roman"/>
              <a:buChar char="●"/>
            </a:pPr>
            <a:r>
              <a:rPr lang="en-IN" sz="2300" b="1" dirty="0" smtClean="0">
                <a:solidFill>
                  <a:srgbClr val="0070C0"/>
                </a:solidFill>
                <a:latin typeface="Times New Roman"/>
                <a:ea typeface="Times New Roman"/>
                <a:cs typeface="Times New Roman"/>
              </a:rPr>
              <a:t>Database </a:t>
            </a:r>
            <a:r>
              <a:rPr lang="en-IN" sz="2300" b="1" dirty="0">
                <a:solidFill>
                  <a:srgbClr val="0070C0"/>
                </a:solidFill>
                <a:latin typeface="Times New Roman"/>
                <a:ea typeface="Times New Roman"/>
                <a:cs typeface="Times New Roman"/>
              </a:rPr>
              <a:t>Connectivity using Java/Python with SQL and NoSQL databases. </a:t>
            </a:r>
            <a:endParaRPr lang="en-IN" sz="2300" b="1" dirty="0" smtClean="0">
              <a:solidFill>
                <a:srgbClr val="0070C0"/>
              </a:solidFill>
              <a:latin typeface="Times New Roman"/>
              <a:ea typeface="Times New Roman"/>
              <a:cs typeface="Times New Roman"/>
            </a:endParaRPr>
          </a:p>
          <a:p>
            <a:pPr marL="457200" indent="-374650" algn="just">
              <a:lnSpc>
                <a:spcPct val="150000"/>
              </a:lnSpc>
              <a:buClr>
                <a:srgbClr val="0070C0"/>
              </a:buClr>
              <a:buSzPts val="2300"/>
              <a:buFont typeface="Times New Roman"/>
              <a:buChar char="●"/>
            </a:pPr>
            <a:r>
              <a:rPr lang="en-IN" sz="2300" b="1" dirty="0" smtClean="0">
                <a:solidFill>
                  <a:srgbClr val="0070C0"/>
                </a:solidFill>
                <a:latin typeface="Times New Roman"/>
                <a:ea typeface="Times New Roman"/>
                <a:cs typeface="Times New Roman"/>
              </a:rPr>
              <a:t>Introduction </a:t>
            </a:r>
            <a:r>
              <a:rPr lang="en-IN" sz="2300" b="1" dirty="0">
                <a:solidFill>
                  <a:srgbClr val="0070C0"/>
                </a:solidFill>
                <a:latin typeface="Times New Roman"/>
                <a:ea typeface="Times New Roman"/>
                <a:cs typeface="Times New Roman"/>
              </a:rPr>
              <a:t>to Parallel Databases, Architecture of Parallel Databases. </a:t>
            </a:r>
            <a:endParaRPr lang="en-IN" sz="2300" b="1" dirty="0" smtClean="0">
              <a:solidFill>
                <a:srgbClr val="0070C0"/>
              </a:solidFill>
              <a:latin typeface="Times New Roman"/>
              <a:ea typeface="Times New Roman"/>
              <a:cs typeface="Times New Roman"/>
            </a:endParaRPr>
          </a:p>
          <a:p>
            <a:pPr marL="457200" indent="-374650" algn="just">
              <a:lnSpc>
                <a:spcPct val="150000"/>
              </a:lnSpc>
              <a:buClr>
                <a:srgbClr val="0070C0"/>
              </a:buClr>
              <a:buSzPts val="2300"/>
              <a:buFont typeface="Times New Roman"/>
              <a:buChar char="●"/>
            </a:pPr>
            <a:r>
              <a:rPr lang="en-IN" sz="2300" b="1" dirty="0" smtClean="0">
                <a:solidFill>
                  <a:srgbClr val="0070C0"/>
                </a:solidFill>
                <a:latin typeface="Times New Roman"/>
                <a:ea typeface="Times New Roman"/>
                <a:cs typeface="Times New Roman"/>
              </a:rPr>
              <a:t>Introduction </a:t>
            </a:r>
            <a:r>
              <a:rPr lang="en-IN" sz="2300" b="1" dirty="0">
                <a:solidFill>
                  <a:srgbClr val="0070C0"/>
                </a:solidFill>
                <a:latin typeface="Times New Roman"/>
                <a:ea typeface="Times New Roman"/>
                <a:cs typeface="Times New Roman"/>
              </a:rPr>
              <a:t>to Distributed Databases, Distributed Transactions. </a:t>
            </a:r>
            <a:endParaRPr lang="en-IN" sz="2300" b="1" dirty="0" smtClean="0">
              <a:solidFill>
                <a:srgbClr val="0070C0"/>
              </a:solidFill>
              <a:latin typeface="Times New Roman"/>
              <a:ea typeface="Times New Roman"/>
              <a:cs typeface="Times New Roman"/>
            </a:endParaRPr>
          </a:p>
          <a:p>
            <a:pPr marL="457200" indent="-374650" algn="just">
              <a:lnSpc>
                <a:spcPct val="150000"/>
              </a:lnSpc>
              <a:buClr>
                <a:srgbClr val="0070C0"/>
              </a:buClr>
              <a:buSzPts val="2300"/>
              <a:buFont typeface="Times New Roman"/>
              <a:buChar char="●"/>
            </a:pPr>
            <a:r>
              <a:rPr lang="en-IN" sz="2300" b="1" dirty="0" smtClean="0">
                <a:solidFill>
                  <a:srgbClr val="0070C0"/>
                </a:solidFill>
                <a:latin typeface="Times New Roman"/>
                <a:ea typeface="Times New Roman"/>
                <a:cs typeface="Times New Roman"/>
              </a:rPr>
              <a:t>2PC</a:t>
            </a:r>
            <a:r>
              <a:rPr lang="en-IN" sz="2300" b="1" dirty="0">
                <a:solidFill>
                  <a:srgbClr val="0070C0"/>
                </a:solidFill>
                <a:latin typeface="Times New Roman"/>
                <a:ea typeface="Times New Roman"/>
                <a:cs typeface="Times New Roman"/>
              </a:rPr>
              <a:t>, 3PC </a:t>
            </a:r>
            <a:r>
              <a:rPr lang="en-IN" sz="2300" b="1" dirty="0" smtClean="0">
                <a:solidFill>
                  <a:srgbClr val="0070C0"/>
                </a:solidFill>
                <a:latin typeface="Times New Roman"/>
                <a:ea typeface="Times New Roman"/>
                <a:cs typeface="Times New Roman"/>
              </a:rPr>
              <a:t>protocols </a:t>
            </a:r>
          </a:p>
          <a:p>
            <a:pPr marL="457200" indent="-374650" algn="just">
              <a:lnSpc>
                <a:spcPct val="150000"/>
              </a:lnSpc>
              <a:buClr>
                <a:srgbClr val="0070C0"/>
              </a:buClr>
              <a:buSzPts val="2300"/>
              <a:buFont typeface="Times New Roman"/>
              <a:buChar char="●"/>
            </a:pPr>
            <a:r>
              <a:rPr lang="en-IN" sz="2300" b="1" dirty="0" smtClean="0">
                <a:solidFill>
                  <a:srgbClr val="0070C0"/>
                </a:solidFill>
                <a:latin typeface="Times New Roman"/>
                <a:ea typeface="Times New Roman"/>
                <a:cs typeface="Times New Roman"/>
              </a:rPr>
              <a:t>Introduction </a:t>
            </a:r>
            <a:r>
              <a:rPr lang="en-IN" sz="2300" b="1" dirty="0">
                <a:solidFill>
                  <a:srgbClr val="0070C0"/>
                </a:solidFill>
                <a:latin typeface="Times New Roman"/>
                <a:ea typeface="Times New Roman"/>
                <a:cs typeface="Times New Roman"/>
              </a:rPr>
              <a:t>to Data Mining and clustering.</a:t>
            </a:r>
            <a:endParaRPr lang="en-US" sz="2300" b="1" dirty="0">
              <a:solidFill>
                <a:srgbClr val="0070C0"/>
              </a:solidFill>
              <a:latin typeface="Times New Roman"/>
              <a:ea typeface="Times New Roman"/>
              <a:cs typeface="Times New Roman"/>
            </a:endParaRPr>
          </a:p>
          <a:p>
            <a:pPr marL="457200" marR="0" lvl="0" indent="-374650" algn="just" rtl="0">
              <a:lnSpc>
                <a:spcPct val="150000"/>
              </a:lnSpc>
              <a:spcBef>
                <a:spcPts val="0"/>
              </a:spcBef>
              <a:spcAft>
                <a:spcPts val="0"/>
              </a:spcAft>
              <a:buClr>
                <a:srgbClr val="0070C0"/>
              </a:buClr>
              <a:buSzPts val="2300"/>
              <a:buFont typeface="Times New Roman"/>
              <a:buChar char="●"/>
            </a:pPr>
            <a:endParaRPr sz="2300" b="1" i="0" u="none" strike="noStrike" cap="none" dirty="0">
              <a:solidFill>
                <a:srgbClr val="0070C0"/>
              </a:solidFill>
              <a:latin typeface="Times New Roman"/>
              <a:ea typeface="Times New Roman"/>
              <a:cs typeface="Times New Roman"/>
              <a:sym typeface="Times New Roman"/>
            </a:endParaRPr>
          </a:p>
        </p:txBody>
      </p:sp>
      <p:sp>
        <p:nvSpPr>
          <p:cNvPr id="98" name="Google Shape;98;p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108" y="1177635"/>
            <a:ext cx="7772400" cy="595747"/>
          </a:xfrm>
        </p:spPr>
        <p:txBody>
          <a:bodyPr>
            <a:normAutofit fontScale="90000"/>
          </a:bodyPr>
          <a:lstStyle/>
          <a:p>
            <a:r>
              <a:rPr lang="en-US" sz="3600" b="1" dirty="0">
                <a:latin typeface="Times New Roman" panose="02020603050405020304" pitchFamily="18" charset="0"/>
                <a:cs typeface="Times New Roman" panose="02020603050405020304" pitchFamily="18" charset="0"/>
              </a:rPr>
              <a:t>Centralized Systems</a:t>
            </a:r>
            <a:r>
              <a:rPr lang="en-US" b="1" dirty="0">
                <a:latin typeface="Arial" pitchFamily="34" charset="0"/>
                <a:cs typeface="Arial" pitchFamily="34" charset="0"/>
              </a:rPr>
              <a:t/>
            </a:r>
            <a:br>
              <a:rPr lang="en-US" b="1" dirty="0">
                <a:latin typeface="Arial" pitchFamily="34" charset="0"/>
                <a:cs typeface="Arial" pitchFamily="34" charset="0"/>
              </a:rPr>
            </a:br>
            <a:endParaRPr lang="en-US" dirty="0"/>
          </a:p>
        </p:txBody>
      </p:sp>
      <p:sp>
        <p:nvSpPr>
          <p:cNvPr id="4" name="TextBox 3">
            <a:extLst>
              <a:ext uri="{FF2B5EF4-FFF2-40B4-BE49-F238E27FC236}">
                <a16:creationId xmlns="" xmlns:a16="http://schemas.microsoft.com/office/drawing/2014/main" id="{95D227E3-2307-813A-7055-17AB638D90EC}"/>
              </a:ext>
            </a:extLst>
          </p:cNvPr>
          <p:cNvSpPr txBox="1"/>
          <p:nvPr/>
        </p:nvSpPr>
        <p:spPr>
          <a:xfrm>
            <a:off x="110835" y="1405749"/>
            <a:ext cx="8908473" cy="2893100"/>
          </a:xfrm>
          <a:prstGeom prst="rect">
            <a:avLst/>
          </a:prstGeom>
          <a:noFill/>
        </p:spPr>
        <p:txBody>
          <a:bodyPr wrap="square" rtlCol="0">
            <a:spAutoFit/>
          </a:bodyPr>
          <a:lstStyle/>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centralized database is basically a type of database that is stored, located as well as maintained at a single location only. </a:t>
            </a: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type of database is modified and managed from that location itself. This location is thus mainly any database system or a centralized computer system</a:t>
            </a:r>
          </a:p>
          <a:p>
            <a:endParaRPr lang="en-IN" dirty="0"/>
          </a:p>
        </p:txBody>
      </p:sp>
      <p:pic>
        <p:nvPicPr>
          <p:cNvPr id="1026" name="Picture 2" descr="Lightbox">
            <a:extLst>
              <a:ext uri="{FF2B5EF4-FFF2-40B4-BE49-F238E27FC236}">
                <a16:creationId xmlns="" xmlns:a16="http://schemas.microsoft.com/office/drawing/2014/main" id="{F313C768-D7F1-262C-841A-24518F0595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5237" y="3621740"/>
            <a:ext cx="6477000" cy="2992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9809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0945" y="969818"/>
            <a:ext cx="8742219" cy="5202382"/>
          </a:xfrm>
        </p:spPr>
        <p:txBody>
          <a:bodyPr>
            <a:noAutofit/>
          </a:bodyPr>
          <a:lstStyle/>
          <a:p>
            <a:r>
              <a:rPr lang="en-US" sz="2400" b="1" u="sng" dirty="0">
                <a:latin typeface="Times New Roman" panose="02020603050405020304" pitchFamily="18" charset="0"/>
                <a:cs typeface="Times New Roman" panose="02020603050405020304" pitchFamily="18" charset="0"/>
              </a:rPr>
              <a:t>Advantages: </a:t>
            </a:r>
            <a:r>
              <a:rPr lang="en-US" sz="2400" b="1" u="sng" dirty="0" smtClean="0">
                <a:latin typeface="Times New Roman" panose="02020603050405020304" pitchFamily="18" charset="0"/>
                <a:cs typeface="Times New Roman" panose="02020603050405020304" pitchFamily="18" charset="0"/>
              </a:rPr>
              <a:t/>
            </a:r>
            <a:br>
              <a:rPr lang="en-US" sz="2400" b="1" u="sng"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Since </a:t>
            </a:r>
            <a:r>
              <a:rPr lang="en-US" sz="2400" dirty="0">
                <a:latin typeface="Times New Roman" panose="02020603050405020304" pitchFamily="18" charset="0"/>
                <a:cs typeface="Times New Roman" panose="02020603050405020304" pitchFamily="18" charset="0"/>
              </a:rPr>
              <a:t>all data is stored at a single location only thus it is easier to access and coordinate data.</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centralized database has very minimal data redundancy since all data is stored in a single place.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It is cheaper in comparison to all other databases available.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b="1" u="sng" dirty="0">
                <a:latin typeface="Times New Roman" panose="02020603050405020304" pitchFamily="18" charset="0"/>
                <a:cs typeface="Times New Roman" panose="02020603050405020304" pitchFamily="18" charset="0"/>
              </a:rPr>
              <a:t>Disadvantages:</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data traffic in the case of a centralized database is more.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If any kind of system failure occurs in the centralized system then the entire data will be destroyed.</a:t>
            </a:r>
          </a:p>
        </p:txBody>
      </p:sp>
    </p:spTree>
    <p:extLst>
      <p:ext uri="{BB962C8B-B14F-4D97-AF65-F5344CB8AC3E}">
        <p14:creationId xmlns:p14="http://schemas.microsoft.com/office/powerpoint/2010/main" val="2688246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425" y="900663"/>
            <a:ext cx="7886700" cy="1325563"/>
          </a:xfrm>
        </p:spPr>
        <p:txBody>
          <a:bodyPr/>
          <a:lstStyle/>
          <a:p>
            <a:r>
              <a:rPr lang="en-US" b="1" spc="229" dirty="0">
                <a:solidFill>
                  <a:srgbClr val="1F497C"/>
                </a:solidFill>
                <a:latin typeface="Times New Roman" panose="02020603050405020304" pitchFamily="18" charset="0"/>
                <a:cs typeface="Times New Roman" panose="02020603050405020304" pitchFamily="18" charset="0"/>
              </a:rPr>
              <a:t>Client-Server</a:t>
            </a:r>
            <a:r>
              <a:rPr lang="en-US" b="1" spc="15" dirty="0">
                <a:solidFill>
                  <a:srgbClr val="1F497C"/>
                </a:solidFill>
                <a:latin typeface="Times New Roman" panose="02020603050405020304" pitchFamily="18" charset="0"/>
                <a:cs typeface="Times New Roman" panose="02020603050405020304" pitchFamily="18" charset="0"/>
              </a:rPr>
              <a:t> </a:t>
            </a:r>
            <a:r>
              <a:rPr lang="en-US" b="1" spc="395" dirty="0">
                <a:solidFill>
                  <a:srgbClr val="1F497C"/>
                </a:solidFill>
                <a:latin typeface="Times New Roman" panose="02020603050405020304" pitchFamily="18" charset="0"/>
                <a:cs typeface="Times New Roman" panose="02020603050405020304" pitchFamily="18" charset="0"/>
              </a:rPr>
              <a:t>Systems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452063" y="1981200"/>
            <a:ext cx="7772400" cy="4008438"/>
          </a:xfrm>
        </p:spPr>
        <p:txBody>
          <a:bodyPr/>
          <a:lstStyle/>
          <a:p>
            <a:r>
              <a:rPr lang="en-US" sz="1800" spc="120" dirty="0">
                <a:latin typeface="Times New Roman" panose="02020603050405020304" pitchFamily="18" charset="0"/>
                <a:cs typeface="Times New Roman" pitchFamily="18" charset="0"/>
              </a:rPr>
              <a:t>Server</a:t>
            </a:r>
            <a:r>
              <a:rPr lang="en-US" sz="1800" spc="50" dirty="0">
                <a:latin typeface="Times New Roman" pitchFamily="18" charset="0"/>
                <a:cs typeface="Times New Roman" pitchFamily="18" charset="0"/>
              </a:rPr>
              <a:t> </a:t>
            </a:r>
            <a:r>
              <a:rPr lang="en-US" sz="1800" spc="150" dirty="0">
                <a:latin typeface="Times New Roman" pitchFamily="18" charset="0"/>
                <a:cs typeface="Times New Roman" pitchFamily="18" charset="0"/>
              </a:rPr>
              <a:t>systems</a:t>
            </a:r>
            <a:r>
              <a:rPr lang="en-US" sz="1800" spc="55" dirty="0">
                <a:latin typeface="Times New Roman" pitchFamily="18" charset="0"/>
                <a:cs typeface="Times New Roman" pitchFamily="18" charset="0"/>
              </a:rPr>
              <a:t> </a:t>
            </a:r>
            <a:r>
              <a:rPr lang="en-US" sz="1800" spc="75" dirty="0">
                <a:latin typeface="Times New Roman" pitchFamily="18" charset="0"/>
                <a:cs typeface="Times New Roman" pitchFamily="18" charset="0"/>
              </a:rPr>
              <a:t>satisfy</a:t>
            </a:r>
            <a:r>
              <a:rPr lang="en-US" sz="1800" spc="35" dirty="0">
                <a:latin typeface="Times New Roman" pitchFamily="18" charset="0"/>
                <a:cs typeface="Times New Roman" pitchFamily="18" charset="0"/>
              </a:rPr>
              <a:t> </a:t>
            </a:r>
            <a:r>
              <a:rPr lang="en-US" sz="1800" spc="150" dirty="0">
                <a:latin typeface="Times New Roman" pitchFamily="18" charset="0"/>
                <a:cs typeface="Times New Roman" pitchFamily="18" charset="0"/>
              </a:rPr>
              <a:t>requests</a:t>
            </a:r>
            <a:r>
              <a:rPr lang="en-US" sz="1800" spc="35" dirty="0">
                <a:latin typeface="Times New Roman" pitchFamily="18" charset="0"/>
                <a:cs typeface="Times New Roman" pitchFamily="18" charset="0"/>
              </a:rPr>
              <a:t> </a:t>
            </a:r>
            <a:r>
              <a:rPr lang="en-US" sz="1800" spc="145" dirty="0">
                <a:latin typeface="Times New Roman" pitchFamily="18" charset="0"/>
                <a:cs typeface="Times New Roman" pitchFamily="18" charset="0"/>
              </a:rPr>
              <a:t>generated</a:t>
            </a:r>
            <a:r>
              <a:rPr lang="en-US" sz="1800" spc="45" dirty="0">
                <a:latin typeface="Times New Roman" pitchFamily="18" charset="0"/>
                <a:cs typeface="Times New Roman" pitchFamily="18" charset="0"/>
              </a:rPr>
              <a:t> </a:t>
            </a:r>
            <a:r>
              <a:rPr lang="en-US" sz="1800" spc="120" dirty="0">
                <a:latin typeface="Times New Roman" pitchFamily="18" charset="0"/>
                <a:cs typeface="Times New Roman" pitchFamily="18" charset="0"/>
              </a:rPr>
              <a:t>at</a:t>
            </a:r>
            <a:r>
              <a:rPr lang="en-US" sz="1800" spc="65" dirty="0">
                <a:latin typeface="Times New Roman" pitchFamily="18" charset="0"/>
                <a:cs typeface="Times New Roman" pitchFamily="18" charset="0"/>
              </a:rPr>
              <a:t> </a:t>
            </a:r>
            <a:r>
              <a:rPr lang="en-US" sz="1800" spc="50" dirty="0">
                <a:latin typeface="Times New Roman" pitchFamily="18" charset="0"/>
                <a:cs typeface="Times New Roman" pitchFamily="18" charset="0"/>
              </a:rPr>
              <a:t>client</a:t>
            </a:r>
            <a:r>
              <a:rPr lang="en-US" sz="1800" spc="40" dirty="0">
                <a:latin typeface="Times New Roman" pitchFamily="18" charset="0"/>
                <a:cs typeface="Times New Roman" pitchFamily="18" charset="0"/>
              </a:rPr>
              <a:t> </a:t>
            </a:r>
            <a:r>
              <a:rPr lang="en-US" sz="1800" spc="140" dirty="0">
                <a:latin typeface="Times New Roman" pitchFamily="18" charset="0"/>
                <a:cs typeface="Times New Roman" pitchFamily="18" charset="0"/>
              </a:rPr>
              <a:t>systems,</a:t>
            </a:r>
            <a:r>
              <a:rPr lang="en-US" sz="1800" spc="60" dirty="0">
                <a:latin typeface="Times New Roman" pitchFamily="18" charset="0"/>
                <a:cs typeface="Times New Roman" pitchFamily="18" charset="0"/>
              </a:rPr>
              <a:t> </a:t>
            </a:r>
            <a:r>
              <a:rPr lang="en-US" sz="1800" spc="145" dirty="0">
                <a:latin typeface="Times New Roman" pitchFamily="18" charset="0"/>
                <a:cs typeface="Times New Roman" pitchFamily="18" charset="0"/>
              </a:rPr>
              <a:t>whose</a:t>
            </a:r>
            <a:r>
              <a:rPr lang="en-US" sz="1800" spc="45" dirty="0">
                <a:latin typeface="Times New Roman" pitchFamily="18" charset="0"/>
                <a:cs typeface="Times New Roman" pitchFamily="18" charset="0"/>
              </a:rPr>
              <a:t> </a:t>
            </a:r>
            <a:r>
              <a:rPr lang="en-US" sz="1800" spc="120" dirty="0">
                <a:latin typeface="Times New Roman" pitchFamily="18" charset="0"/>
                <a:cs typeface="Times New Roman" pitchFamily="18" charset="0"/>
              </a:rPr>
              <a:t>general  </a:t>
            </a:r>
            <a:r>
              <a:rPr lang="en-US" sz="1800" spc="95" dirty="0">
                <a:latin typeface="Times New Roman" pitchFamily="18" charset="0"/>
                <a:cs typeface="Times New Roman" pitchFamily="18" charset="0"/>
              </a:rPr>
              <a:t>structure </a:t>
            </a:r>
            <a:r>
              <a:rPr lang="en-US" sz="1800" spc="60" dirty="0">
                <a:latin typeface="Times New Roman" pitchFamily="18" charset="0"/>
                <a:cs typeface="Times New Roman" pitchFamily="18" charset="0"/>
              </a:rPr>
              <a:t>is </a:t>
            </a:r>
            <a:r>
              <a:rPr lang="en-US" sz="1800" spc="125" dirty="0">
                <a:latin typeface="Times New Roman" pitchFamily="18" charset="0"/>
                <a:cs typeface="Times New Roman" pitchFamily="18" charset="0"/>
              </a:rPr>
              <a:t>shown</a:t>
            </a:r>
            <a:r>
              <a:rPr lang="en-US" sz="1800" spc="-25" dirty="0">
                <a:latin typeface="Times New Roman" pitchFamily="18" charset="0"/>
                <a:cs typeface="Times New Roman" pitchFamily="18" charset="0"/>
              </a:rPr>
              <a:t> </a:t>
            </a:r>
            <a:r>
              <a:rPr lang="en-US" sz="1800" spc="65" dirty="0">
                <a:latin typeface="Times New Roman" pitchFamily="18" charset="0"/>
                <a:cs typeface="Times New Roman" pitchFamily="18" charset="0"/>
              </a:rPr>
              <a:t>below:</a:t>
            </a:r>
            <a:endParaRPr lang="en-US" sz="1800" dirty="0">
              <a:latin typeface="Times New Roman" pitchFamily="18" charset="0"/>
              <a:cs typeface="Times New Roman"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object 5"/>
          <p:cNvSpPr/>
          <p:nvPr/>
        </p:nvSpPr>
        <p:spPr>
          <a:xfrm>
            <a:off x="237401" y="3274085"/>
            <a:ext cx="8851392" cy="1140030"/>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 name="object 7"/>
          <p:cNvSpPr/>
          <p:nvPr/>
        </p:nvSpPr>
        <p:spPr>
          <a:xfrm>
            <a:off x="237401" y="4384368"/>
            <a:ext cx="8851392" cy="141731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4039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279842"/>
            <a:ext cx="7772400" cy="244158"/>
          </a:xfrm>
        </p:spPr>
        <p:txBody>
          <a:bodyPr>
            <a:normAutofit fontScale="90000"/>
          </a:bodyPr>
          <a:lstStyle/>
          <a:p>
            <a:r>
              <a:rPr lang="en-US" b="1" dirty="0"/>
              <a:t>Client-Server Systems</a:t>
            </a:r>
            <a:br>
              <a:rPr lang="en-US" b="1" dirty="0"/>
            </a:br>
            <a:endParaRPr lang="en-US" dirty="0"/>
          </a:p>
        </p:txBody>
      </p:sp>
      <p:sp>
        <p:nvSpPr>
          <p:cNvPr id="3" name="Content Placeholder 2"/>
          <p:cNvSpPr>
            <a:spLocks noGrp="1"/>
          </p:cNvSpPr>
          <p:nvPr>
            <p:ph sz="quarter" idx="1"/>
          </p:nvPr>
        </p:nvSpPr>
        <p:spPr>
          <a:xfrm>
            <a:off x="0" y="955342"/>
            <a:ext cx="8686800" cy="5064457"/>
          </a:xfrm>
        </p:spPr>
        <p:txBody>
          <a:bodyPr>
            <a:normAutofit/>
          </a:bodyPr>
          <a:lstStyle/>
          <a:p>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Database </a:t>
            </a:r>
            <a:r>
              <a:rPr lang="en-US" sz="2000" dirty="0">
                <a:latin typeface="Times New Roman" pitchFamily="18" charset="0"/>
                <a:cs typeface="Times New Roman" pitchFamily="18" charset="0"/>
              </a:rPr>
              <a:t>functionality can be divided into:</a:t>
            </a:r>
          </a:p>
          <a:p>
            <a:pPr algn="just"/>
            <a:r>
              <a:rPr lang="en-US" sz="2000" dirty="0">
                <a:latin typeface="Times New Roman" pitchFamily="18" charset="0"/>
                <a:cs typeface="Times New Roman" pitchFamily="18" charset="0"/>
              </a:rPr>
              <a:t>Back-end: manages access structures, query evaluation and optimization, concurrency control and recovery.</a:t>
            </a:r>
          </a:p>
          <a:p>
            <a:pPr algn="just"/>
            <a:r>
              <a:rPr lang="en-US" sz="2000" dirty="0">
                <a:latin typeface="Times New Roman" pitchFamily="18" charset="0"/>
                <a:cs typeface="Times New Roman" pitchFamily="18" charset="0"/>
              </a:rPr>
              <a:t>Front-end: consists of tools such as forms, report-writers, and graphical user interface facilities.</a:t>
            </a:r>
          </a:p>
          <a:p>
            <a:pPr algn="just"/>
            <a:r>
              <a:rPr lang="en-US" sz="2000" dirty="0">
                <a:latin typeface="Times New Roman" pitchFamily="18" charset="0"/>
                <a:cs typeface="Times New Roman" pitchFamily="18" charset="0"/>
              </a:rPr>
              <a:t>The interface between the front-end and the back-end is through SQL or</a:t>
            </a:r>
          </a:p>
          <a:p>
            <a:pPr marL="0" indent="0" algn="just">
              <a:buNone/>
            </a:pPr>
            <a:r>
              <a:rPr lang="en-US" sz="2000" dirty="0">
                <a:latin typeface="Times New Roman" pitchFamily="18" charset="0"/>
                <a:cs typeface="Times New Roman" pitchFamily="18" charset="0"/>
              </a:rPr>
              <a:t>     through an application program interface.</a:t>
            </a:r>
          </a:p>
        </p:txBody>
      </p:sp>
      <p:sp>
        <p:nvSpPr>
          <p:cNvPr id="4" name="object 5"/>
          <p:cNvSpPr/>
          <p:nvPr/>
        </p:nvSpPr>
        <p:spPr>
          <a:xfrm>
            <a:off x="1327245" y="4129950"/>
            <a:ext cx="6032310" cy="2483892"/>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50548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7874" y="1122219"/>
            <a:ext cx="8458200" cy="5016758"/>
          </a:xfrm>
          <a:prstGeom prst="rect">
            <a:avLst/>
          </a:prstGeom>
        </p:spPr>
        <p:txBody>
          <a:bodyPr wrap="square">
            <a:spAutoFit/>
          </a:bodyPr>
          <a:lstStyle/>
          <a:p>
            <a:r>
              <a:rPr lang="en-US" sz="3600" b="1" dirty="0">
                <a:latin typeface="Arial" pitchFamily="34" charset="0"/>
                <a:cs typeface="Arial" pitchFamily="34" charset="0"/>
              </a:rPr>
              <a:t>Client-Server Systems</a:t>
            </a:r>
          </a:p>
          <a:p>
            <a:endParaRPr lang="en-US" sz="2800" dirty="0">
              <a:latin typeface="Arial" pitchFamily="34" charset="0"/>
              <a:cs typeface="Arial" pitchFamily="34" charset="0"/>
            </a:endParaRPr>
          </a:p>
          <a:p>
            <a:pPr algn="just"/>
            <a:r>
              <a:rPr lang="en-US" sz="2800" dirty="0">
                <a:latin typeface="Arial" pitchFamily="34" charset="0"/>
                <a:cs typeface="Arial" pitchFamily="34" charset="0"/>
              </a:rPr>
              <a:t>● </a:t>
            </a:r>
            <a:r>
              <a:rPr lang="en-US" sz="3200" dirty="0">
                <a:latin typeface="Times New Roman" pitchFamily="18" charset="0"/>
                <a:cs typeface="Times New Roman" pitchFamily="18" charset="0"/>
              </a:rPr>
              <a:t>Advantages of replacing mainframes with networks of workstations or personal computers connected to back-end server machines.</a:t>
            </a:r>
          </a:p>
          <a:p>
            <a:pPr algn="just"/>
            <a:r>
              <a:rPr lang="en-US" sz="3200" dirty="0">
                <a:latin typeface="Times New Roman" pitchFamily="18" charset="0"/>
                <a:cs typeface="Times New Roman" pitchFamily="18" charset="0"/>
              </a:rPr>
              <a:t>● Better functionality for the cost</a:t>
            </a:r>
          </a:p>
          <a:p>
            <a:pPr algn="just"/>
            <a:r>
              <a:rPr lang="en-US" sz="3200" dirty="0">
                <a:latin typeface="Times New Roman" pitchFamily="18" charset="0"/>
                <a:cs typeface="Times New Roman" pitchFamily="18" charset="0"/>
              </a:rPr>
              <a:t>● Flexibility in locating resources and expanding facilities</a:t>
            </a:r>
          </a:p>
          <a:p>
            <a:pPr algn="just"/>
            <a:r>
              <a:rPr lang="en-US" sz="3200" dirty="0">
                <a:latin typeface="Times New Roman" pitchFamily="18" charset="0"/>
                <a:cs typeface="Times New Roman" pitchFamily="18" charset="0"/>
              </a:rPr>
              <a:t>● Better user interfaces</a:t>
            </a:r>
          </a:p>
          <a:p>
            <a:pPr algn="just"/>
            <a:r>
              <a:rPr lang="en-US" sz="3200" dirty="0">
                <a:latin typeface="Times New Roman" pitchFamily="18" charset="0"/>
                <a:cs typeface="Times New Roman" pitchFamily="18" charset="0"/>
              </a:rPr>
              <a:t>● Easier maintenance</a:t>
            </a:r>
          </a:p>
        </p:txBody>
      </p:sp>
    </p:spTree>
    <p:extLst>
      <p:ext uri="{BB962C8B-B14F-4D97-AF65-F5344CB8AC3E}">
        <p14:creationId xmlns:p14="http://schemas.microsoft.com/office/powerpoint/2010/main" val="1880382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1295400"/>
            <a:ext cx="8153400" cy="3046988"/>
          </a:xfrm>
          <a:prstGeom prst="rect">
            <a:avLst/>
          </a:prstGeom>
        </p:spPr>
        <p:txBody>
          <a:bodyPr wrap="square">
            <a:spAutoFit/>
          </a:bodyPr>
          <a:lstStyle/>
          <a:p>
            <a:r>
              <a:rPr lang="en-US" sz="2400" b="1" dirty="0">
                <a:latin typeface="Times New Roman" pitchFamily="18" charset="0"/>
                <a:cs typeface="Times New Roman" pitchFamily="18" charset="0"/>
              </a:rPr>
              <a:t>Server System Architecture</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Server systems can be broadly categorized into two kinds:</a:t>
            </a:r>
          </a:p>
          <a:p>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Transaction servers: </a:t>
            </a:r>
            <a:r>
              <a:rPr lang="en-US" sz="2400" dirty="0">
                <a:latin typeface="Times New Roman" pitchFamily="18" charset="0"/>
                <a:cs typeface="Times New Roman" pitchFamily="18" charset="0"/>
              </a:rPr>
              <a:t>which are widely used in relational database systems. </a:t>
            </a: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Data servers:</a:t>
            </a:r>
            <a:r>
              <a:rPr lang="en-US" sz="2400" dirty="0">
                <a:latin typeface="Times New Roman" pitchFamily="18" charset="0"/>
                <a:cs typeface="Times New Roman" pitchFamily="18" charset="0"/>
              </a:rPr>
              <a:t> used in object-oriented database systems</a:t>
            </a:r>
          </a:p>
        </p:txBody>
      </p:sp>
    </p:spTree>
    <p:extLst>
      <p:ext uri="{BB962C8B-B14F-4D97-AF65-F5344CB8AC3E}">
        <p14:creationId xmlns:p14="http://schemas.microsoft.com/office/powerpoint/2010/main" val="3816937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0836" y="615721"/>
            <a:ext cx="9033163" cy="4524315"/>
          </a:xfrm>
          <a:prstGeom prst="rect">
            <a:avLst/>
          </a:prstGeom>
        </p:spPr>
        <p:txBody>
          <a:bodyPr wrap="square">
            <a:spAutoFit/>
          </a:bodyPr>
          <a:lstStyle/>
          <a:p>
            <a:r>
              <a:rPr lang="en-US" sz="2400" b="1" dirty="0">
                <a:latin typeface="Times New Roman" pitchFamily="18" charset="0"/>
                <a:cs typeface="Times New Roman" pitchFamily="18" charset="0"/>
              </a:rPr>
              <a:t>Transaction Servers</a:t>
            </a:r>
          </a:p>
          <a:p>
            <a:pPr algn="just"/>
            <a:r>
              <a:rPr lang="en-US" sz="2400" dirty="0">
                <a:latin typeface="Times New Roman" pitchFamily="18" charset="0"/>
                <a:cs typeface="Times New Roman" pitchFamily="18" charset="0"/>
              </a:rPr>
              <a:t>● Also called query server systems or SQL server systems.</a:t>
            </a:r>
          </a:p>
          <a:p>
            <a:pPr algn="just"/>
            <a:r>
              <a:rPr lang="en-US" sz="2400" dirty="0">
                <a:latin typeface="Times New Roman" pitchFamily="18" charset="0"/>
                <a:cs typeface="Times New Roman" pitchFamily="18" charset="0"/>
              </a:rPr>
              <a:t>● Clients send requests to the server</a:t>
            </a:r>
          </a:p>
          <a:p>
            <a:pPr algn="just"/>
            <a:r>
              <a:rPr lang="en-US" sz="2400" dirty="0">
                <a:latin typeface="Times New Roman" pitchFamily="18" charset="0"/>
                <a:cs typeface="Times New Roman" pitchFamily="18" charset="0"/>
              </a:rPr>
              <a:t>● Transactions are executed at the server and  results are shipped back to the client.</a:t>
            </a:r>
          </a:p>
          <a:p>
            <a:pPr algn="just"/>
            <a:r>
              <a:rPr lang="en-US" sz="2400" dirty="0">
                <a:latin typeface="Times New Roman" pitchFamily="18" charset="0"/>
                <a:cs typeface="Times New Roman" pitchFamily="18" charset="0"/>
              </a:rPr>
              <a:t>● Requests are specified in SQL, and communicated to the server through a remote procedure call (RPC) mechanism.</a:t>
            </a:r>
          </a:p>
          <a:p>
            <a:pPr algn="just"/>
            <a:r>
              <a:rPr lang="en-US" sz="2400" dirty="0">
                <a:latin typeface="Times New Roman" pitchFamily="18" charset="0"/>
                <a:cs typeface="Times New Roman" pitchFamily="18" charset="0"/>
              </a:rPr>
              <a:t>● Transactional RPC allows many RPC calls to form a transaction.</a:t>
            </a:r>
          </a:p>
          <a:p>
            <a:pPr algn="just"/>
            <a:r>
              <a:rPr lang="en-US" sz="2400" dirty="0">
                <a:latin typeface="Times New Roman" pitchFamily="18" charset="0"/>
                <a:cs typeface="Times New Roman" pitchFamily="18" charset="0"/>
              </a:rPr>
              <a:t>● Open Database Connectivity (ODBC) is a C language application program interface standard from Microsoft for connecting to a server, sending SQL requests, and receiving results.</a:t>
            </a:r>
          </a:p>
          <a:p>
            <a:pPr algn="just"/>
            <a:r>
              <a:rPr lang="en-US" sz="2400" dirty="0">
                <a:latin typeface="Times New Roman" pitchFamily="18" charset="0"/>
                <a:cs typeface="Times New Roman" pitchFamily="18" charset="0"/>
              </a:rPr>
              <a:t>● JDBC standard is similar to ODBC, for Java</a:t>
            </a:r>
          </a:p>
        </p:txBody>
      </p:sp>
      <p:pic>
        <p:nvPicPr>
          <p:cNvPr id="1026" name="Picture 2" descr="Lightbox">
            <a:extLst>
              <a:ext uri="{FF2B5EF4-FFF2-40B4-BE49-F238E27FC236}">
                <a16:creationId xmlns="" xmlns:a16="http://schemas.microsoft.com/office/drawing/2014/main" id="{5B4CFF51-8DE3-591E-55DB-EC3C009663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837" y="5140036"/>
            <a:ext cx="7391400" cy="152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839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a:spLocks noGrp="1"/>
          </p:cNvSpPr>
          <p:nvPr>
            <p:ph type="title"/>
          </p:nvPr>
        </p:nvSpPr>
        <p:spPr>
          <a:xfrm>
            <a:off x="0" y="1197010"/>
            <a:ext cx="2944091" cy="1504898"/>
          </a:xfrm>
          <a:prstGeom prst="rect">
            <a:avLst/>
          </a:prstGeom>
        </p:spPr>
        <p:txBody>
          <a:bodyPr vert="horz" wrap="square" lIns="0" tIns="14604" rIns="0" bIns="0" rtlCol="0">
            <a:spAutoFit/>
          </a:bodyPr>
          <a:lstStyle/>
          <a:p>
            <a:pPr marL="12700">
              <a:lnSpc>
                <a:spcPct val="100000"/>
              </a:lnSpc>
              <a:spcBef>
                <a:spcPts val="114"/>
              </a:spcBef>
            </a:pPr>
            <a:r>
              <a:rPr sz="3200" b="1" spc="285" dirty="0">
                <a:solidFill>
                  <a:srgbClr val="1F497C"/>
                </a:solidFill>
                <a:latin typeface="Times New Roman" panose="02020603050405020304" pitchFamily="18" charset="0"/>
                <a:cs typeface="Times New Roman" panose="02020603050405020304" pitchFamily="18" charset="0"/>
              </a:rPr>
              <a:t>Transaction </a:t>
            </a:r>
            <a:r>
              <a:rPr sz="3200" b="1" spc="360" dirty="0">
                <a:solidFill>
                  <a:srgbClr val="1F497C"/>
                </a:solidFill>
                <a:latin typeface="Times New Roman" panose="02020603050405020304" pitchFamily="18" charset="0"/>
                <a:cs typeface="Times New Roman" panose="02020603050405020304" pitchFamily="18" charset="0"/>
              </a:rPr>
              <a:t>System</a:t>
            </a:r>
            <a:r>
              <a:rPr sz="3200" b="1" spc="-125" dirty="0">
                <a:solidFill>
                  <a:srgbClr val="1F497C"/>
                </a:solidFill>
                <a:latin typeface="Times New Roman" panose="02020603050405020304" pitchFamily="18" charset="0"/>
                <a:cs typeface="Times New Roman" panose="02020603050405020304" pitchFamily="18" charset="0"/>
              </a:rPr>
              <a:t> </a:t>
            </a:r>
            <a:r>
              <a:rPr sz="3200" b="1" spc="434" dirty="0">
                <a:solidFill>
                  <a:srgbClr val="1F497C"/>
                </a:solidFill>
                <a:latin typeface="Times New Roman" panose="02020603050405020304" pitchFamily="18" charset="0"/>
                <a:cs typeface="Times New Roman" panose="02020603050405020304" pitchFamily="18" charset="0"/>
              </a:rPr>
              <a:t>Processes</a:t>
            </a:r>
            <a:endParaRPr sz="3200" b="1" dirty="0">
              <a:latin typeface="Times New Roman" panose="02020603050405020304" pitchFamily="18" charset="0"/>
              <a:cs typeface="Times New Roman" panose="02020603050405020304" pitchFamily="18" charset="0"/>
            </a:endParaRPr>
          </a:p>
        </p:txBody>
      </p:sp>
      <p:sp>
        <p:nvSpPr>
          <p:cNvPr id="6" name="object 3"/>
          <p:cNvSpPr/>
          <p:nvPr/>
        </p:nvSpPr>
        <p:spPr>
          <a:xfrm>
            <a:off x="2667000" y="1127760"/>
            <a:ext cx="4297680" cy="2225040"/>
          </a:xfrm>
          <a:prstGeom prst="rect">
            <a:avLst/>
          </a:prstGeom>
          <a:blipFill>
            <a:blip r:embed="rId2" cstate="print"/>
            <a:stretch>
              <a:fillRect/>
            </a:stretch>
          </a:blipFill>
        </p:spPr>
        <p:txBody>
          <a:bodyPr wrap="square" lIns="0" tIns="0" rIns="0" bIns="0" rtlCol="0"/>
          <a:lstStyle/>
          <a:p>
            <a:endParaRPr/>
          </a:p>
        </p:txBody>
      </p:sp>
      <p:sp>
        <p:nvSpPr>
          <p:cNvPr id="7" name="object 5"/>
          <p:cNvSpPr/>
          <p:nvPr/>
        </p:nvSpPr>
        <p:spPr>
          <a:xfrm>
            <a:off x="2667000" y="3352800"/>
            <a:ext cx="4297680" cy="2971800"/>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756660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0" y="851495"/>
            <a:ext cx="8305800" cy="630942"/>
          </a:xfrm>
          <a:prstGeom prst="rect">
            <a:avLst/>
          </a:prstGeom>
        </p:spPr>
        <p:txBody>
          <a:bodyPr wrap="square">
            <a:spAutoFit/>
          </a:bodyPr>
          <a:lstStyle/>
          <a:p>
            <a:r>
              <a:rPr lang="en-US" sz="3200" b="1" dirty="0">
                <a:latin typeface="Arial" pitchFamily="34" charset="0"/>
                <a:cs typeface="Arial" pitchFamily="34" charset="0"/>
              </a:rPr>
              <a:t>Transaction Server Process Structure</a:t>
            </a:r>
          </a:p>
        </p:txBody>
      </p:sp>
      <p:sp>
        <p:nvSpPr>
          <p:cNvPr id="6" name="object 4"/>
          <p:cNvSpPr txBox="1"/>
          <p:nvPr/>
        </p:nvSpPr>
        <p:spPr>
          <a:xfrm>
            <a:off x="-1" y="1482437"/>
            <a:ext cx="8977745" cy="5080878"/>
          </a:xfrm>
          <a:prstGeom prst="rect">
            <a:avLst/>
          </a:prstGeom>
          <a:ln>
            <a:solidFill>
              <a:schemeClr val="accent1"/>
            </a:solidFill>
          </a:ln>
        </p:spPr>
        <p:txBody>
          <a:bodyPr vert="horz" wrap="square" lIns="0" tIns="10160" rIns="0" bIns="0" rtlCol="0">
            <a:spAutoFit/>
          </a:bodyPr>
          <a:lstStyle/>
          <a:p>
            <a:pPr marL="390525" marR="10795" indent="-377825">
              <a:lnSpc>
                <a:spcPct val="102099"/>
              </a:lnSpc>
              <a:spcBef>
                <a:spcPts val="80"/>
              </a:spcBef>
              <a:buClr>
                <a:srgbClr val="1F497C"/>
              </a:buClr>
              <a:buSzPct val="89743"/>
              <a:buChar char="●"/>
              <a:tabLst>
                <a:tab pos="390525" algn="l"/>
                <a:tab pos="391160" algn="l"/>
              </a:tabLst>
            </a:pPr>
            <a:r>
              <a:rPr sz="2000" spc="-90" dirty="0">
                <a:latin typeface="Times New Roman" pitchFamily="18" charset="0"/>
                <a:cs typeface="Times New Roman" pitchFamily="18" charset="0"/>
              </a:rPr>
              <a:t>A </a:t>
            </a:r>
            <a:r>
              <a:rPr sz="2000" spc="40" dirty="0">
                <a:latin typeface="Times New Roman" pitchFamily="18" charset="0"/>
                <a:cs typeface="Times New Roman" pitchFamily="18" charset="0"/>
              </a:rPr>
              <a:t>typical </a:t>
            </a:r>
            <a:r>
              <a:rPr sz="2000" spc="105" dirty="0">
                <a:latin typeface="Times New Roman" pitchFamily="18" charset="0"/>
                <a:cs typeface="Times New Roman" pitchFamily="18" charset="0"/>
              </a:rPr>
              <a:t>transaction </a:t>
            </a:r>
            <a:r>
              <a:rPr sz="2000" spc="125" dirty="0">
                <a:latin typeface="Times New Roman" pitchFamily="18" charset="0"/>
                <a:cs typeface="Times New Roman" pitchFamily="18" charset="0"/>
              </a:rPr>
              <a:t>server </a:t>
            </a:r>
            <a:r>
              <a:rPr sz="2000" spc="120" dirty="0">
                <a:latin typeface="Times New Roman" pitchFamily="18" charset="0"/>
                <a:cs typeface="Times New Roman" pitchFamily="18" charset="0"/>
              </a:rPr>
              <a:t>consists </a:t>
            </a:r>
            <a:r>
              <a:rPr sz="2000" spc="15" dirty="0">
                <a:latin typeface="Times New Roman" pitchFamily="18" charset="0"/>
                <a:cs typeface="Times New Roman" pitchFamily="18" charset="0"/>
              </a:rPr>
              <a:t>of </a:t>
            </a:r>
            <a:r>
              <a:rPr sz="2000" spc="40" dirty="0">
                <a:latin typeface="Times New Roman" pitchFamily="18" charset="0"/>
                <a:cs typeface="Times New Roman" pitchFamily="18" charset="0"/>
              </a:rPr>
              <a:t>multiple </a:t>
            </a:r>
            <a:r>
              <a:rPr sz="2000" spc="170" dirty="0">
                <a:latin typeface="Times New Roman" pitchFamily="18" charset="0"/>
                <a:cs typeface="Times New Roman" pitchFamily="18" charset="0"/>
              </a:rPr>
              <a:t>processes </a:t>
            </a:r>
            <a:r>
              <a:rPr sz="2000" spc="150" dirty="0">
                <a:latin typeface="Times New Roman" pitchFamily="18" charset="0"/>
                <a:cs typeface="Times New Roman" pitchFamily="18" charset="0"/>
              </a:rPr>
              <a:t>accessing</a:t>
            </a:r>
            <a:r>
              <a:rPr sz="2000" spc="-305" dirty="0">
                <a:latin typeface="Times New Roman" pitchFamily="18" charset="0"/>
                <a:cs typeface="Times New Roman" pitchFamily="18" charset="0"/>
              </a:rPr>
              <a:t> </a:t>
            </a:r>
            <a:r>
              <a:rPr sz="2000" spc="125" dirty="0">
                <a:latin typeface="Times New Roman" pitchFamily="18" charset="0"/>
                <a:cs typeface="Times New Roman" pitchFamily="18" charset="0"/>
              </a:rPr>
              <a:t>d</a:t>
            </a:r>
            <a:r>
              <a:rPr sz="2000" spc="160" dirty="0">
                <a:latin typeface="Times New Roman" pitchFamily="18" charset="0"/>
                <a:cs typeface="Times New Roman" pitchFamily="18" charset="0"/>
              </a:rPr>
              <a:t>ata </a:t>
            </a:r>
            <a:r>
              <a:rPr sz="2000" spc="5" dirty="0">
                <a:latin typeface="Times New Roman" pitchFamily="18" charset="0"/>
                <a:cs typeface="Times New Roman" pitchFamily="18" charset="0"/>
              </a:rPr>
              <a:t>in </a:t>
            </a:r>
            <a:r>
              <a:rPr sz="2000" spc="160" dirty="0">
                <a:latin typeface="Times New Roman" pitchFamily="18" charset="0"/>
                <a:cs typeface="Times New Roman" pitchFamily="18" charset="0"/>
              </a:rPr>
              <a:t>shared</a:t>
            </a:r>
            <a:r>
              <a:rPr sz="2000" spc="-25" dirty="0">
                <a:latin typeface="Times New Roman" pitchFamily="18" charset="0"/>
                <a:cs typeface="Times New Roman" pitchFamily="18" charset="0"/>
              </a:rPr>
              <a:t> </a:t>
            </a:r>
            <a:r>
              <a:rPr sz="2000" spc="75" dirty="0">
                <a:latin typeface="Times New Roman" pitchFamily="18" charset="0"/>
                <a:cs typeface="Times New Roman" pitchFamily="18" charset="0"/>
              </a:rPr>
              <a:t>memory.</a:t>
            </a:r>
            <a:endParaRPr sz="2000" dirty="0">
              <a:latin typeface="Times New Roman" pitchFamily="18" charset="0"/>
              <a:cs typeface="Times New Roman" pitchFamily="18" charset="0"/>
            </a:endParaRPr>
          </a:p>
          <a:p>
            <a:pPr marL="390525" indent="-377825">
              <a:lnSpc>
                <a:spcPct val="100000"/>
              </a:lnSpc>
              <a:spcBef>
                <a:spcPts val="695"/>
              </a:spcBef>
              <a:buClr>
                <a:srgbClr val="1F497C"/>
              </a:buClr>
              <a:buSzPct val="89743"/>
              <a:buChar char="●"/>
              <a:tabLst>
                <a:tab pos="390525" algn="l"/>
                <a:tab pos="391160" algn="l"/>
              </a:tabLst>
            </a:pPr>
            <a:r>
              <a:rPr sz="2000" spc="120" dirty="0">
                <a:latin typeface="Times New Roman" pitchFamily="18" charset="0"/>
                <a:cs typeface="Times New Roman" pitchFamily="18" charset="0"/>
              </a:rPr>
              <a:t>Server</a:t>
            </a:r>
            <a:r>
              <a:rPr sz="2000" spc="35" dirty="0">
                <a:latin typeface="Times New Roman" pitchFamily="18" charset="0"/>
                <a:cs typeface="Times New Roman" pitchFamily="18" charset="0"/>
              </a:rPr>
              <a:t> </a:t>
            </a:r>
            <a:r>
              <a:rPr sz="2000" spc="170" dirty="0">
                <a:latin typeface="Times New Roman" pitchFamily="18" charset="0"/>
                <a:cs typeface="Times New Roman" pitchFamily="18" charset="0"/>
              </a:rPr>
              <a:t>processes</a:t>
            </a:r>
            <a:endParaRPr sz="2000" dirty="0">
              <a:latin typeface="Times New Roman" pitchFamily="18" charset="0"/>
              <a:cs typeface="Times New Roman" pitchFamily="18" charset="0"/>
            </a:endParaRPr>
          </a:p>
          <a:p>
            <a:pPr marL="829310" marR="5080" lvl="1" indent="-314325">
              <a:lnSpc>
                <a:spcPct val="102099"/>
              </a:lnSpc>
              <a:spcBef>
                <a:spcPts val="635"/>
              </a:spcBef>
              <a:buClr>
                <a:srgbClr val="800080"/>
              </a:buClr>
              <a:buSzPct val="76923"/>
              <a:buChar char="●"/>
              <a:tabLst>
                <a:tab pos="829310" algn="l"/>
                <a:tab pos="829944" algn="l"/>
              </a:tabLst>
            </a:pPr>
            <a:r>
              <a:rPr sz="2000" dirty="0">
                <a:latin typeface="Times New Roman" pitchFamily="18" charset="0"/>
                <a:cs typeface="Times New Roman" pitchFamily="18" charset="0"/>
              </a:rPr>
              <a:t>These </a:t>
            </a:r>
            <a:r>
              <a:rPr lang="en-US" sz="2000" dirty="0">
                <a:latin typeface="Times New Roman" pitchFamily="18" charset="0"/>
                <a:cs typeface="Times New Roman" pitchFamily="18" charset="0"/>
              </a:rPr>
              <a:t> </a:t>
            </a:r>
            <a:r>
              <a:rPr sz="2000" dirty="0">
                <a:latin typeface="Times New Roman" pitchFamily="18" charset="0"/>
                <a:cs typeface="Times New Roman" pitchFamily="18" charset="0"/>
              </a:rPr>
              <a:t>receive user queries (transactions), execute them and send  results back</a:t>
            </a:r>
          </a:p>
          <a:p>
            <a:pPr marL="829310" marR="33655" lvl="1" indent="-314325">
              <a:lnSpc>
                <a:spcPct val="102099"/>
              </a:lnSpc>
              <a:spcBef>
                <a:spcPts val="635"/>
              </a:spcBef>
              <a:buClr>
                <a:srgbClr val="800080"/>
              </a:buClr>
              <a:buSzPct val="76923"/>
              <a:buChar char="●"/>
              <a:tabLst>
                <a:tab pos="829310" algn="l"/>
                <a:tab pos="829944" algn="l"/>
              </a:tabLst>
            </a:pPr>
            <a:r>
              <a:rPr sz="2000" dirty="0">
                <a:latin typeface="Times New Roman" pitchFamily="18" charset="0"/>
                <a:cs typeface="Times New Roman" pitchFamily="18" charset="0"/>
              </a:rPr>
              <a:t>Processes may be multithreaded, allowing a single process to execute several user queries concurrently</a:t>
            </a:r>
          </a:p>
          <a:p>
            <a:pPr marL="390525" indent="-377825">
              <a:lnSpc>
                <a:spcPct val="100000"/>
              </a:lnSpc>
              <a:spcBef>
                <a:spcPts val="695"/>
              </a:spcBef>
              <a:buClr>
                <a:srgbClr val="1F497C"/>
              </a:buClr>
              <a:buSzPct val="89743"/>
              <a:buChar char="●"/>
              <a:tabLst>
                <a:tab pos="390525" algn="l"/>
                <a:tab pos="391160" algn="l"/>
              </a:tabLst>
            </a:pPr>
            <a:r>
              <a:rPr sz="2000" b="1" spc="45" dirty="0">
                <a:latin typeface="Times New Roman" pitchFamily="18" charset="0"/>
                <a:cs typeface="Times New Roman" pitchFamily="18" charset="0"/>
              </a:rPr>
              <a:t>Lock </a:t>
            </a:r>
            <a:r>
              <a:rPr sz="2000" b="1" spc="155" dirty="0">
                <a:latin typeface="Times New Roman" pitchFamily="18" charset="0"/>
                <a:cs typeface="Times New Roman" pitchFamily="18" charset="0"/>
              </a:rPr>
              <a:t>manager</a:t>
            </a:r>
            <a:r>
              <a:rPr sz="2000" b="1" spc="35" dirty="0">
                <a:latin typeface="Times New Roman" pitchFamily="18" charset="0"/>
                <a:cs typeface="Times New Roman" pitchFamily="18" charset="0"/>
              </a:rPr>
              <a:t> </a:t>
            </a:r>
            <a:r>
              <a:rPr sz="2000" b="1" spc="150" dirty="0">
                <a:latin typeface="Times New Roman" pitchFamily="18" charset="0"/>
                <a:cs typeface="Times New Roman" pitchFamily="18" charset="0"/>
              </a:rPr>
              <a:t>process</a:t>
            </a:r>
            <a:r>
              <a:rPr lang="en-US" sz="2000" spc="150" dirty="0">
                <a:latin typeface="Times New Roman" pitchFamily="18" charset="0"/>
                <a:cs typeface="Times New Roman" pitchFamily="18" charset="0"/>
              </a:rPr>
              <a:t>-</a:t>
            </a:r>
            <a:r>
              <a:rPr lang="en-US" sz="2000" dirty="0">
                <a:latin typeface="Times New Roman" pitchFamily="18" charset="0"/>
                <a:cs typeface="Times New Roman" pitchFamily="18" charset="0"/>
              </a:rPr>
              <a:t>The Lock Manager manages locks for both shared data and for internal system resources. For shared data, the Lock Manager manages row locks, page locks, and table locks on tables, as well as data pages, text pages, and leaf level index pages.	</a:t>
            </a:r>
            <a:endParaRPr sz="2000" dirty="0">
              <a:latin typeface="Times New Roman" pitchFamily="18" charset="0"/>
              <a:cs typeface="Times New Roman" pitchFamily="18" charset="0"/>
            </a:endParaRPr>
          </a:p>
          <a:p>
            <a:pPr marL="390525" indent="-377825">
              <a:lnSpc>
                <a:spcPct val="100000"/>
              </a:lnSpc>
              <a:spcBef>
                <a:spcPts val="700"/>
              </a:spcBef>
              <a:buClr>
                <a:srgbClr val="1F497C"/>
              </a:buClr>
              <a:buSzPct val="89743"/>
              <a:buChar char="●"/>
              <a:tabLst>
                <a:tab pos="390525" algn="l"/>
                <a:tab pos="391160" algn="l"/>
              </a:tabLst>
            </a:pPr>
            <a:r>
              <a:rPr sz="2000" b="1" spc="165" dirty="0">
                <a:latin typeface="Times New Roman" pitchFamily="18" charset="0"/>
                <a:cs typeface="Times New Roman" pitchFamily="18" charset="0"/>
              </a:rPr>
              <a:t>Database </a:t>
            </a:r>
            <a:r>
              <a:rPr sz="2000" b="1" spc="30" dirty="0">
                <a:latin typeface="Times New Roman" pitchFamily="18" charset="0"/>
                <a:cs typeface="Times New Roman" pitchFamily="18" charset="0"/>
              </a:rPr>
              <a:t>writer</a:t>
            </a:r>
            <a:r>
              <a:rPr sz="2000" b="1" spc="-95" dirty="0">
                <a:latin typeface="Times New Roman" pitchFamily="18" charset="0"/>
                <a:cs typeface="Times New Roman" pitchFamily="18" charset="0"/>
              </a:rPr>
              <a:t> </a:t>
            </a:r>
            <a:r>
              <a:rPr sz="2000" b="1" spc="155" dirty="0">
                <a:latin typeface="Times New Roman" pitchFamily="18" charset="0"/>
                <a:cs typeface="Times New Roman" pitchFamily="18" charset="0"/>
              </a:rPr>
              <a:t>process</a:t>
            </a:r>
            <a:r>
              <a:rPr lang="en-US" sz="2000" spc="155" dirty="0">
                <a:latin typeface="Times New Roman" pitchFamily="18" charset="0"/>
                <a:cs typeface="Times New Roman" pitchFamily="18" charset="0"/>
              </a:rPr>
              <a:t>-</a:t>
            </a:r>
            <a:r>
              <a:rPr lang="en-US" sz="2000" dirty="0">
                <a:latin typeface="Times New Roman" pitchFamily="18" charset="0"/>
                <a:cs typeface="Times New Roman" pitchFamily="18" charset="0"/>
              </a:rPr>
              <a:t>writes the contents of buffers to data files. The DBW processes are responsible for writing modified (dirty) buffers in the database buffer cache to disk. Although one database writer process (DBW) is adequate for most systems, you can configure additional processes to improve write performance if your system modifies data heavily.</a:t>
            </a:r>
            <a:endParaRPr sz="2000" dirty="0">
              <a:latin typeface="Times New Roman" pitchFamily="18" charset="0"/>
              <a:cs typeface="Times New Roman" pitchFamily="18" charset="0"/>
            </a:endParaRPr>
          </a:p>
        </p:txBody>
      </p:sp>
    </p:spTree>
    <p:extLst>
      <p:ext uri="{BB962C8B-B14F-4D97-AF65-F5344CB8AC3E}">
        <p14:creationId xmlns:p14="http://schemas.microsoft.com/office/powerpoint/2010/main" val="1025506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033" y="933162"/>
            <a:ext cx="7886700" cy="1325563"/>
          </a:xfrm>
        </p:spPr>
        <p:txBody>
          <a:bodyPr>
            <a:normAutofit fontScale="90000"/>
          </a:bodyPr>
          <a:lstStyle/>
          <a:p>
            <a:r>
              <a:rPr lang="en-US" b="1" dirty="0">
                <a:latin typeface="Arial" pitchFamily="34" charset="0"/>
                <a:cs typeface="Arial" pitchFamily="34" charset="0"/>
              </a:rPr>
              <a:t>Transaction Server Processes</a:t>
            </a:r>
            <a:br>
              <a:rPr lang="en-US" b="1" dirty="0">
                <a:latin typeface="Arial" pitchFamily="34" charset="0"/>
                <a:cs typeface="Arial" pitchFamily="34" charset="0"/>
              </a:rPr>
            </a:br>
            <a:endParaRPr lang="en-US" dirty="0"/>
          </a:p>
        </p:txBody>
      </p:sp>
      <p:sp>
        <p:nvSpPr>
          <p:cNvPr id="4" name="object 4"/>
          <p:cNvSpPr txBox="1"/>
          <p:nvPr/>
        </p:nvSpPr>
        <p:spPr>
          <a:xfrm>
            <a:off x="387033" y="1807571"/>
            <a:ext cx="8369934" cy="3788025"/>
          </a:xfrm>
          <a:prstGeom prst="rect">
            <a:avLst/>
          </a:prstGeom>
        </p:spPr>
        <p:txBody>
          <a:bodyPr vert="horz" wrap="square" lIns="0" tIns="100330" rIns="0" bIns="0" rtlCol="0">
            <a:spAutoFit/>
          </a:bodyPr>
          <a:lstStyle/>
          <a:p>
            <a:pPr marL="390525" indent="-377825">
              <a:lnSpc>
                <a:spcPct val="100000"/>
              </a:lnSpc>
              <a:spcBef>
                <a:spcPts val="790"/>
              </a:spcBef>
              <a:buClr>
                <a:srgbClr val="1F497C"/>
              </a:buClr>
              <a:buSzPct val="89743"/>
              <a:buChar char="●"/>
              <a:tabLst>
                <a:tab pos="390525" algn="l"/>
                <a:tab pos="391160" algn="l"/>
              </a:tabLst>
            </a:pPr>
            <a:r>
              <a:rPr sz="2000" dirty="0">
                <a:latin typeface="Times New Roman" pitchFamily="18" charset="0"/>
                <a:cs typeface="Times New Roman" pitchFamily="18" charset="0"/>
              </a:rPr>
              <a:t>Log writer process</a:t>
            </a:r>
          </a:p>
          <a:p>
            <a:pPr marL="829310" lvl="1" indent="-314325">
              <a:lnSpc>
                <a:spcPct val="100000"/>
              </a:lnSpc>
              <a:spcBef>
                <a:spcPts val="695"/>
              </a:spcBef>
              <a:buClr>
                <a:srgbClr val="800080"/>
              </a:buClr>
              <a:buSzPct val="76923"/>
              <a:buChar char="●"/>
              <a:tabLst>
                <a:tab pos="829310" algn="l"/>
                <a:tab pos="829944" algn="l"/>
              </a:tabLst>
            </a:pPr>
            <a:r>
              <a:rPr sz="2000" dirty="0">
                <a:latin typeface="Times New Roman" pitchFamily="18" charset="0"/>
                <a:cs typeface="Times New Roman" pitchFamily="18" charset="0"/>
              </a:rPr>
              <a:t>Server process simply add log records to log record buffer</a:t>
            </a:r>
          </a:p>
          <a:p>
            <a:pPr marL="829310" lvl="1" indent="-314325">
              <a:lnSpc>
                <a:spcPct val="100000"/>
              </a:lnSpc>
              <a:spcBef>
                <a:spcPts val="695"/>
              </a:spcBef>
              <a:buClr>
                <a:srgbClr val="800080"/>
              </a:buClr>
              <a:buSzPct val="76923"/>
              <a:buChar char="●"/>
              <a:tabLst>
                <a:tab pos="829310" algn="l"/>
                <a:tab pos="829944" algn="l"/>
              </a:tabLst>
            </a:pPr>
            <a:r>
              <a:rPr sz="2000" dirty="0">
                <a:latin typeface="Times New Roman" pitchFamily="18" charset="0"/>
                <a:cs typeface="Times New Roman" pitchFamily="18" charset="0"/>
              </a:rPr>
              <a:t>Log writer process outputs log records to stable storage.</a:t>
            </a:r>
          </a:p>
          <a:p>
            <a:pPr marL="390525" indent="-377825">
              <a:lnSpc>
                <a:spcPct val="100000"/>
              </a:lnSpc>
              <a:spcBef>
                <a:spcPts val="695"/>
              </a:spcBef>
              <a:buClr>
                <a:srgbClr val="1F497C"/>
              </a:buClr>
              <a:buSzPct val="89743"/>
              <a:buChar char="●"/>
              <a:tabLst>
                <a:tab pos="390525" algn="l"/>
                <a:tab pos="391160" algn="l"/>
              </a:tabLst>
            </a:pPr>
            <a:r>
              <a:rPr sz="2000" dirty="0">
                <a:latin typeface="Times New Roman" pitchFamily="18" charset="0"/>
                <a:cs typeface="Times New Roman" pitchFamily="18" charset="0"/>
              </a:rPr>
              <a:t>Checkpoint process</a:t>
            </a:r>
          </a:p>
          <a:p>
            <a:pPr marL="829310" lvl="1" indent="-314325">
              <a:lnSpc>
                <a:spcPct val="100000"/>
              </a:lnSpc>
              <a:spcBef>
                <a:spcPts val="700"/>
              </a:spcBef>
              <a:buClr>
                <a:srgbClr val="800080"/>
              </a:buClr>
              <a:buSzPct val="76923"/>
              <a:buChar char="●"/>
              <a:tabLst>
                <a:tab pos="829310" algn="l"/>
                <a:tab pos="829944" algn="l"/>
              </a:tabLst>
            </a:pPr>
            <a:r>
              <a:rPr sz="2000" dirty="0">
                <a:latin typeface="Times New Roman" pitchFamily="18" charset="0"/>
                <a:cs typeface="Times New Roman" pitchFamily="18" charset="0"/>
              </a:rPr>
              <a:t>Performs periodic checkpoints</a:t>
            </a:r>
          </a:p>
          <a:p>
            <a:pPr marL="390525" indent="-377825">
              <a:lnSpc>
                <a:spcPct val="100000"/>
              </a:lnSpc>
              <a:spcBef>
                <a:spcPts val="695"/>
              </a:spcBef>
              <a:buClr>
                <a:srgbClr val="1F497C"/>
              </a:buClr>
              <a:buSzPct val="89743"/>
              <a:buChar char="●"/>
              <a:tabLst>
                <a:tab pos="390525" algn="l"/>
                <a:tab pos="391160" algn="l"/>
              </a:tabLst>
            </a:pPr>
            <a:r>
              <a:rPr sz="2000" dirty="0">
                <a:latin typeface="Times New Roman" pitchFamily="18" charset="0"/>
                <a:cs typeface="Times New Roman" pitchFamily="18" charset="0"/>
              </a:rPr>
              <a:t>Process monitor process</a:t>
            </a:r>
          </a:p>
          <a:p>
            <a:pPr marL="829310" marR="5080" lvl="1" indent="-314325">
              <a:lnSpc>
                <a:spcPct val="102099"/>
              </a:lnSpc>
              <a:spcBef>
                <a:spcPts val="635"/>
              </a:spcBef>
              <a:buClr>
                <a:srgbClr val="800080"/>
              </a:buClr>
              <a:buSzPct val="76923"/>
              <a:buChar char="●"/>
              <a:tabLst>
                <a:tab pos="829310" algn="l"/>
                <a:tab pos="829944" algn="l"/>
              </a:tabLst>
            </a:pPr>
            <a:r>
              <a:rPr sz="2000" dirty="0">
                <a:latin typeface="Times New Roman" pitchFamily="18" charset="0"/>
                <a:cs typeface="Times New Roman" pitchFamily="18" charset="0"/>
              </a:rPr>
              <a:t>Monitors other processes, and takes recovery actions if any of the other processes fail</a:t>
            </a:r>
            <a:endParaRPr lang="en-US" sz="2000" dirty="0">
              <a:latin typeface="Times New Roman" pitchFamily="18" charset="0"/>
              <a:cs typeface="Times New Roman" pitchFamily="18" charset="0"/>
            </a:endParaRPr>
          </a:p>
          <a:p>
            <a:pPr marL="829310" marR="5080" lvl="1" indent="-314325">
              <a:lnSpc>
                <a:spcPct val="102099"/>
              </a:lnSpc>
              <a:spcBef>
                <a:spcPts val="635"/>
              </a:spcBef>
              <a:buClr>
                <a:srgbClr val="800080"/>
              </a:buClr>
              <a:buSzPct val="76923"/>
              <a:buChar char="●"/>
              <a:tabLst>
                <a:tab pos="829310" algn="l"/>
                <a:tab pos="829944" algn="l"/>
              </a:tabLst>
            </a:pPr>
            <a:r>
              <a:rPr sz="2000" dirty="0">
                <a:latin typeface="Times New Roman" pitchFamily="18" charset="0"/>
                <a:cs typeface="Times New Roman" pitchFamily="18" charset="0"/>
              </a:rPr>
              <a:t>E.g. aborting any transactions being executed by a server process and restarting it</a:t>
            </a:r>
          </a:p>
        </p:txBody>
      </p:sp>
    </p:spTree>
    <p:extLst>
      <p:ext uri="{BB962C8B-B14F-4D97-AF65-F5344CB8AC3E}">
        <p14:creationId xmlns:p14="http://schemas.microsoft.com/office/powerpoint/2010/main" val="3839918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242454" y="1052946"/>
            <a:ext cx="8435340" cy="5009833"/>
          </a:xfrm>
          <a:prstGeom prst="rect">
            <a:avLst/>
          </a:prstGeom>
        </p:spPr>
        <p:txBody>
          <a:bodyPr vert="horz" wrap="square" lIns="0" tIns="69850" rIns="0" bIns="0" rtlCol="0">
            <a:spAutoFit/>
          </a:bodyPr>
          <a:lstStyle/>
          <a:p>
            <a:pPr marL="390525" indent="-377825">
              <a:lnSpc>
                <a:spcPct val="100000"/>
              </a:lnSpc>
              <a:spcBef>
                <a:spcPts val="550"/>
              </a:spcBef>
              <a:buClr>
                <a:srgbClr val="1F497C"/>
              </a:buClr>
              <a:buSzPct val="89743"/>
              <a:buChar char="●"/>
              <a:tabLst>
                <a:tab pos="390525" algn="l"/>
                <a:tab pos="391160" algn="l"/>
              </a:tabLst>
            </a:pPr>
            <a:r>
              <a:rPr sz="2000" dirty="0">
                <a:latin typeface="Times New Roman" pitchFamily="18" charset="0"/>
                <a:cs typeface="Times New Roman" pitchFamily="18" charset="0"/>
              </a:rPr>
              <a:t>Shared memory contains shared data</a:t>
            </a:r>
          </a:p>
          <a:p>
            <a:pPr marL="829310" lvl="1" indent="-313690">
              <a:lnSpc>
                <a:spcPct val="100000"/>
              </a:lnSpc>
              <a:spcBef>
                <a:spcPts val="455"/>
              </a:spcBef>
              <a:buClr>
                <a:srgbClr val="800080"/>
              </a:buClr>
              <a:buSzPct val="76923"/>
              <a:buChar char="●"/>
              <a:tabLst>
                <a:tab pos="829310" algn="l"/>
                <a:tab pos="829944" algn="l"/>
              </a:tabLst>
            </a:pPr>
            <a:r>
              <a:rPr sz="2000" dirty="0">
                <a:latin typeface="Times New Roman" pitchFamily="18" charset="0"/>
                <a:cs typeface="Times New Roman" pitchFamily="18" charset="0"/>
              </a:rPr>
              <a:t>Buffer pool</a:t>
            </a:r>
          </a:p>
          <a:p>
            <a:pPr marL="829310" lvl="1" indent="-313690">
              <a:lnSpc>
                <a:spcPct val="100000"/>
              </a:lnSpc>
              <a:spcBef>
                <a:spcPts val="455"/>
              </a:spcBef>
              <a:buClr>
                <a:srgbClr val="800080"/>
              </a:buClr>
              <a:buSzPct val="76923"/>
              <a:buChar char="●"/>
              <a:tabLst>
                <a:tab pos="829310" algn="l"/>
                <a:tab pos="829944" algn="l"/>
              </a:tabLst>
            </a:pPr>
            <a:r>
              <a:rPr sz="2000" dirty="0">
                <a:latin typeface="Times New Roman" pitchFamily="18" charset="0"/>
                <a:cs typeface="Times New Roman" pitchFamily="18" charset="0"/>
              </a:rPr>
              <a:t>Lock table</a:t>
            </a:r>
          </a:p>
          <a:p>
            <a:pPr marL="829310" lvl="1" indent="-313690">
              <a:lnSpc>
                <a:spcPct val="100000"/>
              </a:lnSpc>
              <a:spcBef>
                <a:spcPts val="470"/>
              </a:spcBef>
              <a:buClr>
                <a:srgbClr val="800080"/>
              </a:buClr>
              <a:buSzPct val="76923"/>
              <a:buChar char="●"/>
              <a:tabLst>
                <a:tab pos="829310" algn="l"/>
                <a:tab pos="829944" algn="l"/>
              </a:tabLst>
            </a:pPr>
            <a:r>
              <a:rPr sz="2000" dirty="0">
                <a:latin typeface="Times New Roman" pitchFamily="18" charset="0"/>
                <a:cs typeface="Times New Roman" pitchFamily="18" charset="0"/>
              </a:rPr>
              <a:t>Log buffer</a:t>
            </a:r>
          </a:p>
          <a:p>
            <a:pPr marL="829310" lvl="1" indent="-313690">
              <a:lnSpc>
                <a:spcPct val="100000"/>
              </a:lnSpc>
              <a:spcBef>
                <a:spcPts val="455"/>
              </a:spcBef>
              <a:buClr>
                <a:srgbClr val="800080"/>
              </a:buClr>
              <a:buSzPct val="76923"/>
              <a:buChar char="●"/>
              <a:tabLst>
                <a:tab pos="829310" algn="l"/>
                <a:tab pos="829944" algn="l"/>
              </a:tabLst>
            </a:pPr>
            <a:r>
              <a:rPr sz="2000" dirty="0">
                <a:latin typeface="Times New Roman" pitchFamily="18" charset="0"/>
                <a:cs typeface="Times New Roman" pitchFamily="18" charset="0"/>
              </a:rPr>
              <a:t>Cached query plans (reused if same query submitted again)</a:t>
            </a:r>
          </a:p>
          <a:p>
            <a:pPr marL="390525" indent="-377825">
              <a:lnSpc>
                <a:spcPct val="100000"/>
              </a:lnSpc>
              <a:spcBef>
                <a:spcPts val="455"/>
              </a:spcBef>
              <a:buClr>
                <a:srgbClr val="1F497C"/>
              </a:buClr>
              <a:buSzPct val="89743"/>
              <a:buChar char="●"/>
              <a:tabLst>
                <a:tab pos="390525" algn="l"/>
                <a:tab pos="391160" algn="l"/>
              </a:tabLst>
            </a:pPr>
            <a:r>
              <a:rPr sz="2000" dirty="0">
                <a:latin typeface="Times New Roman" pitchFamily="18" charset="0"/>
                <a:cs typeface="Times New Roman" pitchFamily="18" charset="0"/>
              </a:rPr>
              <a:t>All database processes can access shared memory</a:t>
            </a:r>
          </a:p>
          <a:p>
            <a:pPr marL="390525" marR="5080" indent="-377825">
              <a:lnSpc>
                <a:spcPct val="91500"/>
              </a:lnSpc>
              <a:spcBef>
                <a:spcPts val="655"/>
              </a:spcBef>
              <a:buClr>
                <a:srgbClr val="1F497C"/>
              </a:buClr>
              <a:buSzPct val="89743"/>
              <a:buChar char="●"/>
              <a:tabLst>
                <a:tab pos="390525" algn="l"/>
                <a:tab pos="391160" algn="l"/>
              </a:tabLst>
            </a:pPr>
            <a:r>
              <a:rPr sz="2000" dirty="0">
                <a:latin typeface="Times New Roman" pitchFamily="18" charset="0"/>
                <a:cs typeface="Times New Roman" pitchFamily="18" charset="0"/>
              </a:rPr>
              <a:t>To ensure that no two processes are accessing the same data structure  at the same time, databases </a:t>
            </a:r>
            <a:r>
              <a:rPr lang="en-US" sz="2000" dirty="0">
                <a:latin typeface="Times New Roman" pitchFamily="18" charset="0"/>
                <a:cs typeface="Times New Roman" pitchFamily="18" charset="0"/>
              </a:rPr>
              <a:t> </a:t>
            </a:r>
            <a:r>
              <a:rPr sz="2000" dirty="0">
                <a:latin typeface="Times New Roman" pitchFamily="18" charset="0"/>
                <a:cs typeface="Times New Roman" pitchFamily="18" charset="0"/>
              </a:rPr>
              <a:t>systems implement </a:t>
            </a:r>
            <a:r>
              <a:rPr sz="2000" dirty="0">
                <a:solidFill>
                  <a:srgbClr val="00B0F0"/>
                </a:solidFill>
                <a:latin typeface="Times New Roman" pitchFamily="18" charset="0"/>
                <a:cs typeface="Times New Roman" pitchFamily="18" charset="0"/>
              </a:rPr>
              <a:t>mutual exclusion </a:t>
            </a:r>
            <a:r>
              <a:rPr sz="2000" dirty="0">
                <a:latin typeface="Times New Roman" pitchFamily="18" charset="0"/>
                <a:cs typeface="Times New Roman" pitchFamily="18" charset="0"/>
              </a:rPr>
              <a:t>using either</a:t>
            </a:r>
          </a:p>
          <a:p>
            <a:pPr marL="829310" lvl="1" indent="-313690">
              <a:lnSpc>
                <a:spcPct val="100000"/>
              </a:lnSpc>
              <a:spcBef>
                <a:spcPts val="455"/>
              </a:spcBef>
              <a:buClr>
                <a:srgbClr val="800080"/>
              </a:buClr>
              <a:buSzPct val="76923"/>
              <a:buChar char="●"/>
              <a:tabLst>
                <a:tab pos="829310" algn="l"/>
                <a:tab pos="829944" algn="l"/>
              </a:tabLst>
            </a:pPr>
            <a:r>
              <a:rPr sz="2000" dirty="0">
                <a:latin typeface="Times New Roman" pitchFamily="18" charset="0"/>
                <a:cs typeface="Times New Roman" pitchFamily="18" charset="0"/>
              </a:rPr>
              <a:t>Operating system semaphores</a:t>
            </a:r>
          </a:p>
          <a:p>
            <a:pPr marL="829310" lvl="1" indent="-313690">
              <a:lnSpc>
                <a:spcPct val="100000"/>
              </a:lnSpc>
              <a:spcBef>
                <a:spcPts val="459"/>
              </a:spcBef>
              <a:buClr>
                <a:srgbClr val="800080"/>
              </a:buClr>
              <a:buSzPct val="76923"/>
              <a:buChar char="●"/>
              <a:tabLst>
                <a:tab pos="829310" algn="l"/>
                <a:tab pos="829944" algn="l"/>
              </a:tabLst>
            </a:pPr>
            <a:r>
              <a:rPr sz="2000" dirty="0">
                <a:latin typeface="Times New Roman" pitchFamily="18" charset="0"/>
                <a:cs typeface="Times New Roman" pitchFamily="18" charset="0"/>
              </a:rPr>
              <a:t>Atomic instructions such as test-and-set</a:t>
            </a:r>
          </a:p>
          <a:p>
            <a:pPr marL="390525" marR="63500" indent="-377825">
              <a:lnSpc>
                <a:spcPts val="2260"/>
              </a:lnSpc>
              <a:spcBef>
                <a:spcPts val="800"/>
              </a:spcBef>
              <a:buClr>
                <a:srgbClr val="1F497C"/>
              </a:buClr>
              <a:buSzPct val="90243"/>
              <a:buChar char="●"/>
              <a:tabLst>
                <a:tab pos="390525" algn="l"/>
                <a:tab pos="391160" algn="l"/>
              </a:tabLst>
            </a:pPr>
            <a:r>
              <a:rPr sz="2000" dirty="0">
                <a:latin typeface="Times New Roman" pitchFamily="18" charset="0"/>
                <a:cs typeface="Times New Roman" pitchFamily="18" charset="0"/>
              </a:rPr>
              <a:t>To avoid overhead of interprocess communication for lock request/grant, each database process operates directly on the lock table</a:t>
            </a:r>
            <a:r>
              <a:rPr lang="en-US" sz="2000" dirty="0">
                <a:latin typeface="Times New Roman" pitchFamily="18" charset="0"/>
                <a:cs typeface="Times New Roman" pitchFamily="18" charset="0"/>
              </a:rPr>
              <a:t> </a:t>
            </a:r>
            <a:r>
              <a:rPr sz="2000" dirty="0">
                <a:latin typeface="Times New Roman" pitchFamily="18" charset="0"/>
                <a:cs typeface="Times New Roman" pitchFamily="18" charset="0"/>
              </a:rPr>
              <a:t>instead of sending requests to lock manager process</a:t>
            </a:r>
          </a:p>
          <a:p>
            <a:pPr marL="390525" indent="-377825">
              <a:lnSpc>
                <a:spcPct val="100000"/>
              </a:lnSpc>
              <a:spcBef>
                <a:spcPts val="565"/>
              </a:spcBef>
              <a:buClr>
                <a:srgbClr val="1F497C"/>
              </a:buClr>
              <a:buSzPct val="90243"/>
              <a:buChar char="●"/>
              <a:tabLst>
                <a:tab pos="390525" algn="l"/>
                <a:tab pos="391160" algn="l"/>
              </a:tabLst>
            </a:pPr>
            <a:r>
              <a:rPr sz="2000" dirty="0">
                <a:latin typeface="Times New Roman" pitchFamily="18" charset="0"/>
                <a:cs typeface="Times New Roman" pitchFamily="18" charset="0"/>
              </a:rPr>
              <a:t>Lock manager process still used for deadlock detection</a:t>
            </a:r>
          </a:p>
        </p:txBody>
      </p:sp>
    </p:spTree>
    <p:extLst>
      <p:ext uri="{BB962C8B-B14F-4D97-AF65-F5344CB8AC3E}">
        <p14:creationId xmlns:p14="http://schemas.microsoft.com/office/powerpoint/2010/main" val="3848827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808471"/>
            <a:ext cx="7886700" cy="1325563"/>
          </a:xfrm>
        </p:spPr>
        <p:txBody>
          <a:bodyPr/>
          <a:lstStyle/>
          <a:p>
            <a:pPr lvl="1" algn="l" rtl="0">
              <a:spcBef>
                <a:spcPct val="0"/>
              </a:spcBef>
            </a:pPr>
            <a:r>
              <a:rPr lang="en-US" sz="3200" b="1" dirty="0">
                <a:latin typeface="Times New Roman" panose="02020603050405020304" pitchFamily="18" charset="0"/>
                <a:cs typeface="Times New Roman" panose="02020603050405020304" pitchFamily="18" charset="0"/>
              </a:rPr>
              <a:t>Data Servers</a:t>
            </a:r>
            <a:br>
              <a:rPr lang="en-US" sz="3200"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object 4"/>
          <p:cNvSpPr txBox="1"/>
          <p:nvPr/>
        </p:nvSpPr>
        <p:spPr>
          <a:xfrm>
            <a:off x="301174" y="1690689"/>
            <a:ext cx="8541652" cy="4574329"/>
          </a:xfrm>
          <a:prstGeom prst="rect">
            <a:avLst/>
          </a:prstGeom>
        </p:spPr>
        <p:txBody>
          <a:bodyPr vert="horz" wrap="square" lIns="0" tIns="100330" rIns="0" bIns="0" rtlCol="0">
            <a:spAutoFit/>
          </a:bodyPr>
          <a:lstStyle/>
          <a:p>
            <a:pPr marL="390525" indent="-377825">
              <a:lnSpc>
                <a:spcPct val="100000"/>
              </a:lnSpc>
              <a:spcBef>
                <a:spcPts val="790"/>
              </a:spcBef>
              <a:buClr>
                <a:srgbClr val="1F497C"/>
              </a:buClr>
              <a:buSzPct val="89743"/>
              <a:buChar char="●"/>
              <a:tabLst>
                <a:tab pos="390525" algn="l"/>
                <a:tab pos="391160" algn="l"/>
              </a:tabLst>
            </a:pPr>
            <a:r>
              <a:rPr lang="en-US" sz="2400" dirty="0">
                <a:latin typeface="Times New Roman" pitchFamily="18" charset="0"/>
                <a:cs typeface="Times New Roman" pitchFamily="18" charset="0"/>
              </a:rPr>
              <a:t>Data-server systems are used in local-area networks, where there is a high-speed connection between the clients and the server.</a:t>
            </a:r>
          </a:p>
          <a:p>
            <a:pPr marL="390525" indent="-377825">
              <a:lnSpc>
                <a:spcPct val="100000"/>
              </a:lnSpc>
              <a:spcBef>
                <a:spcPts val="790"/>
              </a:spcBef>
              <a:buClr>
                <a:srgbClr val="1F497C"/>
              </a:buClr>
              <a:buSzPct val="89743"/>
              <a:buChar char="●"/>
              <a:tabLst>
                <a:tab pos="390525" algn="l"/>
                <a:tab pos="391160" algn="l"/>
              </a:tabLst>
            </a:pPr>
            <a:r>
              <a:rPr lang="en-US" sz="2400" dirty="0">
                <a:latin typeface="Times New Roman" pitchFamily="18" charset="0"/>
                <a:cs typeface="Times New Roman" pitchFamily="18" charset="0"/>
              </a:rPr>
              <a:t>T</a:t>
            </a:r>
            <a:r>
              <a:rPr lang="en-US" sz="2400" dirty="0" smtClean="0">
                <a:latin typeface="Times New Roman" pitchFamily="18" charset="0"/>
                <a:cs typeface="Times New Roman" pitchFamily="18" charset="0"/>
              </a:rPr>
              <a:t>he </a:t>
            </a:r>
            <a:r>
              <a:rPr lang="en-US" sz="2400" dirty="0">
                <a:latin typeface="Times New Roman" pitchFamily="18" charset="0"/>
                <a:cs typeface="Times New Roman" pitchFamily="18" charset="0"/>
              </a:rPr>
              <a:t>client machines are comparable in processing power to the server machine the tasks to be executed are computation intensive.</a:t>
            </a:r>
          </a:p>
          <a:p>
            <a:pPr marL="390525" indent="-377825">
              <a:lnSpc>
                <a:spcPct val="100000"/>
              </a:lnSpc>
              <a:spcBef>
                <a:spcPts val="790"/>
              </a:spcBef>
              <a:buClr>
                <a:srgbClr val="1F497C"/>
              </a:buClr>
              <a:buSzPct val="89743"/>
              <a:buChar char="●"/>
              <a:tabLst>
                <a:tab pos="390525" algn="l"/>
                <a:tab pos="391160" algn="l"/>
              </a:tabLst>
            </a:pPr>
            <a:r>
              <a:rPr lang="en-US" sz="2400" dirty="0">
                <a:latin typeface="Times New Roman" pitchFamily="18" charset="0"/>
                <a:cs typeface="Times New Roman" pitchFamily="18" charset="0"/>
              </a:rPr>
              <a:t>In such an environment, it makes sense to ship data to client machines, to perform all processing at the client machine and then to ship the data back to the server machine.</a:t>
            </a:r>
          </a:p>
          <a:p>
            <a:pPr marL="390525" indent="-377825">
              <a:lnSpc>
                <a:spcPct val="100000"/>
              </a:lnSpc>
              <a:spcBef>
                <a:spcPts val="790"/>
              </a:spcBef>
              <a:buClr>
                <a:srgbClr val="1F497C"/>
              </a:buClr>
              <a:buSzPct val="89743"/>
              <a:buChar char="●"/>
              <a:tabLst>
                <a:tab pos="390525" algn="l"/>
                <a:tab pos="391160" algn="l"/>
              </a:tabLst>
            </a:pPr>
            <a:r>
              <a:rPr lang="en-US" sz="2400" dirty="0">
                <a:latin typeface="Times New Roman" pitchFamily="18" charset="0"/>
                <a:cs typeface="Times New Roman" pitchFamily="18" charset="0"/>
              </a:rPr>
              <a:t>Interesting issues arise in such an architecture are</a:t>
            </a:r>
          </a:p>
          <a:p>
            <a:pPr marL="390525" indent="-377825">
              <a:lnSpc>
                <a:spcPct val="100000"/>
              </a:lnSpc>
              <a:spcBef>
                <a:spcPts val="790"/>
              </a:spcBef>
              <a:buClr>
                <a:srgbClr val="1F497C"/>
              </a:buClr>
              <a:buSzPct val="89743"/>
              <a:buChar char="●"/>
              <a:tabLst>
                <a:tab pos="390525" algn="l"/>
                <a:tab pos="391160" algn="l"/>
              </a:tabLst>
            </a:pPr>
            <a:r>
              <a:rPr lang="en-US" sz="2400" b="1" dirty="0">
                <a:solidFill>
                  <a:schemeClr val="tx1"/>
                </a:solidFill>
                <a:latin typeface="Times New Roman" pitchFamily="18" charset="0"/>
                <a:cs typeface="Times New Roman" pitchFamily="18" charset="0"/>
              </a:rPr>
              <a:t>Page shipping- </a:t>
            </a:r>
            <a:r>
              <a:rPr lang="en-US" sz="2400" dirty="0">
                <a:latin typeface="Times New Roman" pitchFamily="18" charset="0"/>
                <a:cs typeface="Times New Roman" pitchFamily="18" charset="0"/>
              </a:rPr>
              <a:t>can be considered a form of prefetching if multiple items reside on a page, since all the items in the page are shipped when a process desires to access a single item in the page.</a:t>
            </a:r>
          </a:p>
        </p:txBody>
      </p:sp>
    </p:spTree>
    <p:extLst>
      <p:ext uri="{BB962C8B-B14F-4D97-AF65-F5344CB8AC3E}">
        <p14:creationId xmlns:p14="http://schemas.microsoft.com/office/powerpoint/2010/main" val="3500159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523" y="757309"/>
            <a:ext cx="7886700" cy="1325563"/>
          </a:xfrm>
        </p:spPr>
        <p:txBody>
          <a:bodyPr>
            <a:normAutofit/>
          </a:bodyPr>
          <a:lstStyle/>
          <a:p>
            <a:r>
              <a:rPr lang="en-US" sz="3200" b="1" dirty="0">
                <a:latin typeface="Times New Roman" panose="02020603050405020304" pitchFamily="18" charset="0"/>
                <a:cs typeface="Times New Roman" panose="02020603050405020304" pitchFamily="18" charset="0"/>
              </a:rPr>
              <a:t>Data Servers</a:t>
            </a: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133350" y="1420091"/>
            <a:ext cx="9010650" cy="5334000"/>
          </a:xfrm>
        </p:spPr>
        <p:txBody>
          <a:bodyPr>
            <a:normAutofit fontScale="85000" lnSpcReduction="20000"/>
          </a:bodyPr>
          <a:lstStyle/>
          <a:p>
            <a:pPr marL="469900" indent="-457200" algn="just">
              <a:spcBef>
                <a:spcPts val="790"/>
              </a:spcBef>
              <a:buClr>
                <a:srgbClr val="1F497C"/>
              </a:buClr>
              <a:buSzPct val="89743"/>
              <a:tabLst>
                <a:tab pos="390525" algn="l"/>
                <a:tab pos="391160" algn="l"/>
              </a:tabLst>
            </a:pPr>
            <a:r>
              <a:rPr lang="en-US" sz="2900" b="1" dirty="0">
                <a:solidFill>
                  <a:srgbClr val="00B0F0"/>
                </a:solidFill>
                <a:latin typeface="Times New Roman" panose="02020603050405020304" pitchFamily="18" charset="0"/>
                <a:cs typeface="Times New Roman" pitchFamily="18" charset="0"/>
              </a:rPr>
              <a:t>Locking- </a:t>
            </a:r>
            <a:r>
              <a:rPr lang="en-US" sz="2900" dirty="0">
                <a:latin typeface="Times New Roman" pitchFamily="18" charset="0"/>
                <a:cs typeface="Times New Roman" pitchFamily="18" charset="0"/>
              </a:rPr>
              <a:t>Locks are usually granted by the server for the data items that it ships to the client machines. </a:t>
            </a:r>
          </a:p>
          <a:p>
            <a:pPr marL="469900" indent="-457200" algn="just">
              <a:spcBef>
                <a:spcPts val="790"/>
              </a:spcBef>
              <a:buClr>
                <a:srgbClr val="1F497C"/>
              </a:buClr>
              <a:buSzPct val="89743"/>
              <a:tabLst>
                <a:tab pos="390525" algn="l"/>
                <a:tab pos="391160" algn="l"/>
              </a:tabLst>
            </a:pPr>
            <a:r>
              <a:rPr lang="en-US" sz="2900" dirty="0">
                <a:latin typeface="Times New Roman" pitchFamily="18" charset="0"/>
                <a:cs typeface="Times New Roman" pitchFamily="18" charset="0"/>
              </a:rPr>
              <a:t>A disadvantage of page shipping is , if the client is not accessing some items in the page, it has implicitly acquired locks on all pre-fetched items, Other client machines that require locks on those items may be blocked unnecessarily.</a:t>
            </a:r>
          </a:p>
          <a:p>
            <a:pPr marL="469900" indent="-457200" algn="just">
              <a:spcBef>
                <a:spcPts val="790"/>
              </a:spcBef>
              <a:buClr>
                <a:srgbClr val="1F497C"/>
              </a:buClr>
              <a:buSzPct val="89743"/>
              <a:tabLst>
                <a:tab pos="390525" algn="l"/>
                <a:tab pos="391160" algn="l"/>
              </a:tabLst>
            </a:pPr>
            <a:r>
              <a:rPr lang="en-US" sz="2900" dirty="0">
                <a:latin typeface="Times New Roman" pitchFamily="18" charset="0"/>
                <a:cs typeface="Times New Roman" pitchFamily="18" charset="0"/>
              </a:rPr>
              <a:t>If the client machine does not need a </a:t>
            </a:r>
            <a:r>
              <a:rPr lang="en-US" sz="2900" dirty="0" err="1">
                <a:latin typeface="Times New Roman" pitchFamily="18" charset="0"/>
                <a:cs typeface="Times New Roman" pitchFamily="18" charset="0"/>
              </a:rPr>
              <a:t>prefetched</a:t>
            </a:r>
            <a:r>
              <a:rPr lang="en-US" sz="2900" dirty="0">
                <a:latin typeface="Times New Roman" pitchFamily="18" charset="0"/>
                <a:cs typeface="Times New Roman" pitchFamily="18" charset="0"/>
              </a:rPr>
              <a:t> item, it can transfer locks on the item back to the server, and the locks can then be allocated to other clients.</a:t>
            </a:r>
          </a:p>
          <a:p>
            <a:pPr marL="469900" indent="-457200" algn="just">
              <a:spcBef>
                <a:spcPts val="790"/>
              </a:spcBef>
              <a:buClr>
                <a:srgbClr val="1F497C"/>
              </a:buClr>
              <a:buSzPct val="89743"/>
              <a:tabLst>
                <a:tab pos="390525" algn="l"/>
                <a:tab pos="391160" algn="l"/>
              </a:tabLst>
            </a:pPr>
            <a:r>
              <a:rPr lang="en-US" sz="2900" b="1" dirty="0">
                <a:solidFill>
                  <a:srgbClr val="00B0F0"/>
                </a:solidFill>
                <a:latin typeface="Times New Roman" pitchFamily="18" charset="0"/>
                <a:cs typeface="Times New Roman" pitchFamily="18" charset="0"/>
              </a:rPr>
              <a:t>Data caching- </a:t>
            </a:r>
            <a:r>
              <a:rPr lang="en-US" sz="2900" dirty="0">
                <a:latin typeface="Times New Roman" pitchFamily="18" charset="0"/>
                <a:cs typeface="Times New Roman" pitchFamily="18" charset="0"/>
              </a:rPr>
              <a:t>Data that are shipped to a client on behalf of a transaction can be cached at the client, even after the transaction completes, if sufficient storage space is available. </a:t>
            </a:r>
          </a:p>
          <a:p>
            <a:pPr marL="469900" indent="-457200" algn="just">
              <a:spcBef>
                <a:spcPts val="790"/>
              </a:spcBef>
              <a:buClr>
                <a:srgbClr val="1F497C"/>
              </a:buClr>
              <a:buSzPct val="89743"/>
              <a:tabLst>
                <a:tab pos="390525" algn="l"/>
                <a:tab pos="391160" algn="l"/>
              </a:tabLst>
            </a:pPr>
            <a:r>
              <a:rPr lang="en-US" sz="2900" dirty="0">
                <a:latin typeface="Times New Roman" pitchFamily="18" charset="0"/>
                <a:cs typeface="Times New Roman" pitchFamily="18" charset="0"/>
              </a:rPr>
              <a:t>Successive transactions at the same client may be able to make use of the cached data.</a:t>
            </a:r>
          </a:p>
          <a:p>
            <a:pPr marL="469900" indent="-457200" algn="just">
              <a:spcBef>
                <a:spcPts val="790"/>
              </a:spcBef>
              <a:buClr>
                <a:srgbClr val="1F497C"/>
              </a:buClr>
              <a:buSzPct val="89743"/>
              <a:tabLst>
                <a:tab pos="390525" algn="l"/>
                <a:tab pos="391160" algn="l"/>
              </a:tabLst>
            </a:pPr>
            <a:r>
              <a:rPr lang="en-US" sz="2900" dirty="0">
                <a:latin typeface="Times New Roman" pitchFamily="18" charset="0"/>
                <a:cs typeface="Times New Roman" pitchFamily="18" charset="0"/>
              </a:rPr>
              <a:t>Even if a transaction finds cached data, it must make sure that those data are up to date</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9707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1593273"/>
            <a:ext cx="8991600" cy="4572000"/>
          </a:xfrm>
        </p:spPr>
        <p:txBody>
          <a:bodyPr>
            <a:normAutofit/>
          </a:bodyPr>
          <a:lstStyle/>
          <a:p>
            <a:pPr marL="355600" indent="-342900" algn="just">
              <a:spcBef>
                <a:spcPts val="550"/>
              </a:spcBef>
              <a:buClr>
                <a:srgbClr val="1F497C"/>
              </a:buClr>
              <a:buSzPct val="89743"/>
              <a:tabLst>
                <a:tab pos="390525" algn="l"/>
                <a:tab pos="391160" algn="l"/>
              </a:tabLst>
            </a:pPr>
            <a:r>
              <a:rPr lang="en-US" b="1" dirty="0">
                <a:solidFill>
                  <a:srgbClr val="00B0F0"/>
                </a:solidFill>
                <a:latin typeface="Times New Roman" pitchFamily="18" charset="0"/>
                <a:cs typeface="Times New Roman" pitchFamily="18" charset="0"/>
              </a:rPr>
              <a:t>Lock caching</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Suppose that a client finds a data item in the cache, and that it also finds the lock required for an access to the data item in the cache. Then, the access can proceed without any communication with the server. </a:t>
            </a:r>
          </a:p>
          <a:p>
            <a:pPr marL="355600" indent="-342900" algn="just">
              <a:spcBef>
                <a:spcPts val="550"/>
              </a:spcBef>
              <a:buClr>
                <a:srgbClr val="1F497C"/>
              </a:buClr>
              <a:buSzPct val="89743"/>
              <a:tabLst>
                <a:tab pos="390525" algn="l"/>
                <a:tab pos="391160" algn="l"/>
              </a:tabLst>
            </a:pPr>
            <a:r>
              <a:rPr lang="en-US" dirty="0">
                <a:latin typeface="Times New Roman" pitchFamily="18" charset="0"/>
                <a:cs typeface="Times New Roman" pitchFamily="18" charset="0"/>
              </a:rPr>
              <a:t>However, the server must keep track of cached locks; if a client requests a lock from the server, the server must call back all conflicting locks on the data item from any other client machines that have cached the locks.</a:t>
            </a:r>
          </a:p>
        </p:txBody>
      </p:sp>
    </p:spTree>
    <p:extLst>
      <p:ext uri="{BB962C8B-B14F-4D97-AF65-F5344CB8AC3E}">
        <p14:creationId xmlns:p14="http://schemas.microsoft.com/office/powerpoint/2010/main" val="2580289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3289" y="961032"/>
            <a:ext cx="6546273" cy="533400"/>
          </a:xfrm>
        </p:spPr>
        <p:txBody>
          <a:bodyPr>
            <a:normAutofit fontScale="90000"/>
          </a:bodyPr>
          <a:lstStyle/>
          <a:p>
            <a:r>
              <a:rPr lang="en-US" b="1" dirty="0">
                <a:latin typeface="Times New Roman" panose="02020603050405020304" pitchFamily="18" charset="0"/>
                <a:cs typeface="Times New Roman" panose="02020603050405020304" pitchFamily="18" charset="0"/>
              </a:rPr>
              <a:t>Parallel </a:t>
            </a:r>
            <a:r>
              <a:rPr lang="en-US" b="1" dirty="0" smtClean="0">
                <a:latin typeface="Times New Roman" panose="02020603050405020304" pitchFamily="18" charset="0"/>
                <a:cs typeface="Times New Roman" panose="02020603050405020304" pitchFamily="18" charset="0"/>
              </a:rPr>
              <a:t>Systems</a:t>
            </a:r>
            <a:endParaRPr lang="en-US" dirty="0">
              <a:latin typeface="Times New Roman" panose="02020603050405020304" pitchFamily="18" charset="0"/>
              <a:cs typeface="Times New Roman" panose="02020603050405020304" pitchFamily="18" charset="0"/>
            </a:endParaRPr>
          </a:p>
        </p:txBody>
      </p:sp>
      <p:sp>
        <p:nvSpPr>
          <p:cNvPr id="4" name="object 4"/>
          <p:cNvSpPr txBox="1"/>
          <p:nvPr/>
        </p:nvSpPr>
        <p:spPr>
          <a:xfrm>
            <a:off x="76199" y="1521728"/>
            <a:ext cx="8929255" cy="5075685"/>
          </a:xfrm>
          <a:prstGeom prst="rect">
            <a:avLst/>
          </a:prstGeom>
        </p:spPr>
        <p:txBody>
          <a:bodyPr vert="horz" wrap="square" lIns="0" tIns="10160" rIns="0" bIns="0" rtlCol="0">
            <a:spAutoFit/>
          </a:bodyPr>
          <a:lstStyle/>
          <a:p>
            <a:pPr marL="390525" marR="120650" indent="-377825" algn="just">
              <a:lnSpc>
                <a:spcPct val="102099"/>
              </a:lnSpc>
              <a:spcBef>
                <a:spcPts val="80"/>
              </a:spcBef>
              <a:buClr>
                <a:srgbClr val="1F497C"/>
              </a:buClr>
              <a:buSzPct val="89743"/>
              <a:buChar char="●"/>
              <a:tabLst>
                <a:tab pos="389890" algn="l"/>
                <a:tab pos="391160" algn="l"/>
              </a:tabLst>
            </a:pPr>
            <a:r>
              <a:rPr lang="en-US" sz="2400" dirty="0">
                <a:latin typeface="Times New Roman" panose="02020603050405020304" pitchFamily="18" charset="0"/>
                <a:cs typeface="Times New Roman" panose="02020603050405020304" pitchFamily="18" charset="0"/>
              </a:rPr>
              <a:t>Parallel systems improve processing and I/O speeds by using multiple CPUs and disks in parallel.</a:t>
            </a:r>
          </a:p>
          <a:p>
            <a:pPr marL="390525" marR="120650" indent="-377825" algn="just">
              <a:lnSpc>
                <a:spcPct val="102099"/>
              </a:lnSpc>
              <a:spcBef>
                <a:spcPts val="80"/>
              </a:spcBef>
              <a:buClr>
                <a:srgbClr val="1F497C"/>
              </a:buClr>
              <a:buSzPct val="89743"/>
              <a:buChar char="●"/>
              <a:tabLst>
                <a:tab pos="389890" algn="l"/>
                <a:tab pos="391160" algn="l"/>
              </a:tabLst>
            </a:pPr>
            <a:r>
              <a:rPr lang="en-US" sz="2400" dirty="0">
                <a:latin typeface="Times New Roman" panose="02020603050405020304" pitchFamily="18" charset="0"/>
                <a:cs typeface="Times New Roman" panose="02020603050405020304" pitchFamily="18" charset="0"/>
              </a:rPr>
              <a:t>The driving force behind parallel database systems is the demands of applications that have to query extremely large databases or that have to process an extremely large number of transactions per second.</a:t>
            </a:r>
          </a:p>
          <a:p>
            <a:pPr marL="390525" marR="120650" indent="-377825" algn="just">
              <a:lnSpc>
                <a:spcPct val="102099"/>
              </a:lnSpc>
              <a:spcBef>
                <a:spcPts val="80"/>
              </a:spcBef>
              <a:buClr>
                <a:srgbClr val="1F497C"/>
              </a:buClr>
              <a:buSzPct val="89743"/>
              <a:buChar char="●"/>
              <a:tabLst>
                <a:tab pos="389890" algn="l"/>
                <a:tab pos="391160" algn="l"/>
              </a:tabLst>
            </a:pPr>
            <a:r>
              <a:rPr lang="en-US" sz="2400" dirty="0">
                <a:latin typeface="Times New Roman" panose="02020603050405020304" pitchFamily="18" charset="0"/>
                <a:cs typeface="Times New Roman" panose="02020603050405020304" pitchFamily="18" charset="0"/>
              </a:rPr>
              <a:t>Centralized and client–server database systems are not powerful enough to handle such applications.</a:t>
            </a:r>
          </a:p>
          <a:p>
            <a:pPr marL="390525" marR="120650" indent="-377825" algn="just">
              <a:lnSpc>
                <a:spcPct val="102099"/>
              </a:lnSpc>
              <a:spcBef>
                <a:spcPts val="80"/>
              </a:spcBef>
              <a:buClr>
                <a:srgbClr val="1F497C"/>
              </a:buClr>
              <a:buSzPct val="89743"/>
              <a:buChar char="●"/>
              <a:tabLst>
                <a:tab pos="389890" algn="l"/>
                <a:tab pos="391160" algn="l"/>
              </a:tabLst>
            </a:pPr>
            <a:r>
              <a:rPr sz="2400" spc="15" dirty="0">
                <a:latin typeface="Times New Roman" panose="02020603050405020304" pitchFamily="18" charset="0"/>
                <a:cs typeface="Times New Roman" panose="02020603050405020304" pitchFamily="18" charset="0"/>
              </a:rPr>
              <a:t>Two </a:t>
            </a:r>
            <a:r>
              <a:rPr sz="2400" spc="100" dirty="0">
                <a:latin typeface="Times New Roman" panose="02020603050405020304" pitchFamily="18" charset="0"/>
                <a:cs typeface="Times New Roman" panose="02020603050405020304" pitchFamily="18" charset="0"/>
              </a:rPr>
              <a:t>main </a:t>
            </a:r>
            <a:r>
              <a:rPr sz="2400" spc="110" dirty="0">
                <a:latin typeface="Times New Roman" panose="02020603050405020304" pitchFamily="18" charset="0"/>
                <a:cs typeface="Times New Roman" panose="02020603050405020304" pitchFamily="18" charset="0"/>
              </a:rPr>
              <a:t>performance</a:t>
            </a:r>
            <a:r>
              <a:rPr sz="2400" spc="10" dirty="0">
                <a:latin typeface="Times New Roman" panose="02020603050405020304" pitchFamily="18" charset="0"/>
                <a:cs typeface="Times New Roman" panose="02020603050405020304" pitchFamily="18" charset="0"/>
              </a:rPr>
              <a:t> </a:t>
            </a:r>
            <a:r>
              <a:rPr sz="2400" spc="155" dirty="0">
                <a:latin typeface="Times New Roman" panose="02020603050405020304" pitchFamily="18" charset="0"/>
                <a:cs typeface="Times New Roman" panose="02020603050405020304" pitchFamily="18" charset="0"/>
              </a:rPr>
              <a:t>measures:</a:t>
            </a:r>
            <a:endParaRPr sz="2400" dirty="0">
              <a:latin typeface="Times New Roman" panose="02020603050405020304" pitchFamily="18" charset="0"/>
              <a:cs typeface="Times New Roman" panose="02020603050405020304" pitchFamily="18" charset="0"/>
            </a:endParaRPr>
          </a:p>
          <a:p>
            <a:pPr marL="829310" marR="114300" lvl="1" indent="-314325" algn="just">
              <a:lnSpc>
                <a:spcPct val="102000"/>
              </a:lnSpc>
              <a:spcBef>
                <a:spcPts val="635"/>
              </a:spcBef>
              <a:buClr>
                <a:srgbClr val="800080"/>
              </a:buClr>
              <a:buSzPct val="76923"/>
              <a:buChar char="●"/>
              <a:tabLst>
                <a:tab pos="829310" algn="l"/>
                <a:tab pos="829944" algn="l"/>
              </a:tabLst>
            </a:pPr>
            <a:r>
              <a:rPr sz="2400" dirty="0">
                <a:solidFill>
                  <a:srgbClr val="00B0F0"/>
                </a:solidFill>
                <a:latin typeface="Times New Roman" panose="02020603050405020304" pitchFamily="18" charset="0"/>
                <a:cs typeface="Times New Roman" panose="02020603050405020304" pitchFamily="18" charset="0"/>
              </a:rPr>
              <a:t>throughput</a:t>
            </a:r>
            <a:r>
              <a:rPr sz="2400" dirty="0">
                <a:latin typeface="Times New Roman" panose="02020603050405020304" pitchFamily="18" charset="0"/>
                <a:cs typeface="Times New Roman" panose="02020603050405020304" pitchFamily="18" charset="0"/>
              </a:rPr>
              <a:t> --- the number of tasks that can be completed in a  given time interval</a:t>
            </a:r>
            <a:r>
              <a:rPr lang="en-IN" sz="240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829310" marR="55880" lvl="1" indent="-314325" algn="just">
              <a:lnSpc>
                <a:spcPct val="102000"/>
              </a:lnSpc>
              <a:spcBef>
                <a:spcPts val="640"/>
              </a:spcBef>
              <a:buClr>
                <a:srgbClr val="800080"/>
              </a:buClr>
              <a:buSzPct val="76923"/>
              <a:buChar char="●"/>
              <a:tabLst>
                <a:tab pos="829310" algn="l"/>
                <a:tab pos="829944" algn="l"/>
              </a:tabLst>
            </a:pPr>
            <a:r>
              <a:rPr sz="2400" dirty="0">
                <a:solidFill>
                  <a:srgbClr val="00B0F0"/>
                </a:solidFill>
                <a:latin typeface="Times New Roman" panose="02020603050405020304" pitchFamily="18" charset="0"/>
                <a:cs typeface="Times New Roman" panose="02020603050405020304" pitchFamily="18" charset="0"/>
              </a:rPr>
              <a:t>response time </a:t>
            </a:r>
            <a:r>
              <a:rPr sz="2400" dirty="0">
                <a:latin typeface="Times New Roman" panose="02020603050405020304" pitchFamily="18" charset="0"/>
                <a:cs typeface="Times New Roman" panose="02020603050405020304" pitchFamily="18" charset="0"/>
              </a:rPr>
              <a:t>--- the amount of time it takes to complete a single task from the time it is submitted</a:t>
            </a:r>
            <a:r>
              <a:rPr lang="en-IN" sz="240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2944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854" y="1129146"/>
            <a:ext cx="7772400" cy="639762"/>
          </a:xfrm>
        </p:spPr>
        <p:txBody>
          <a:bodyPr>
            <a:normAutofit fontScale="90000"/>
          </a:bodyPr>
          <a:lstStyle/>
          <a:p>
            <a:r>
              <a:rPr lang="en-US" b="1" spc="300" dirty="0">
                <a:solidFill>
                  <a:srgbClr val="1F497C"/>
                </a:solidFill>
                <a:latin typeface="Times New Roman" panose="02020603050405020304" pitchFamily="18" charset="0"/>
                <a:cs typeface="Times New Roman" panose="02020603050405020304" pitchFamily="18" charset="0"/>
              </a:rPr>
              <a:t>Speed-Up </a:t>
            </a:r>
            <a:r>
              <a:rPr lang="en-US" b="1" spc="400" dirty="0">
                <a:solidFill>
                  <a:srgbClr val="1F497C"/>
                </a:solidFill>
                <a:latin typeface="Times New Roman" panose="02020603050405020304" pitchFamily="18" charset="0"/>
                <a:cs typeface="Times New Roman" panose="02020603050405020304" pitchFamily="18" charset="0"/>
              </a:rPr>
              <a:t>and</a:t>
            </a:r>
            <a:r>
              <a:rPr lang="en-US" b="1" spc="-250" dirty="0">
                <a:solidFill>
                  <a:srgbClr val="1F497C"/>
                </a:solidFill>
                <a:latin typeface="Times New Roman" panose="02020603050405020304" pitchFamily="18" charset="0"/>
                <a:cs typeface="Times New Roman" panose="02020603050405020304" pitchFamily="18" charset="0"/>
              </a:rPr>
              <a:t> </a:t>
            </a:r>
            <a:r>
              <a:rPr lang="en-US" b="1" spc="250" dirty="0">
                <a:solidFill>
                  <a:srgbClr val="1F497C"/>
                </a:solidFill>
                <a:latin typeface="Times New Roman" panose="02020603050405020304" pitchFamily="18" charset="0"/>
                <a:cs typeface="Times New Roman" panose="02020603050405020304" pitchFamily="18" charset="0"/>
              </a:rPr>
              <a:t>Scale-Up</a:t>
            </a:r>
            <a:endParaRPr lang="en-US" dirty="0">
              <a:latin typeface="Times New Roman" panose="02020603050405020304" pitchFamily="18" charset="0"/>
              <a:cs typeface="Times New Roman" panose="02020603050405020304" pitchFamily="18" charset="0"/>
            </a:endParaRPr>
          </a:p>
        </p:txBody>
      </p:sp>
      <p:sp>
        <p:nvSpPr>
          <p:cNvPr id="4" name="object 5"/>
          <p:cNvSpPr txBox="1"/>
          <p:nvPr/>
        </p:nvSpPr>
        <p:spPr>
          <a:xfrm>
            <a:off x="221673" y="1981200"/>
            <a:ext cx="8686800" cy="3835987"/>
          </a:xfrm>
          <a:prstGeom prst="rect">
            <a:avLst/>
          </a:prstGeom>
        </p:spPr>
        <p:txBody>
          <a:bodyPr vert="horz" wrap="square" lIns="0" tIns="10160" rIns="0" bIns="0" rtlCol="0">
            <a:spAutoFit/>
          </a:bodyPr>
          <a:lstStyle/>
          <a:p>
            <a:pPr marL="390525" marR="5080" indent="-377825" algn="just">
              <a:lnSpc>
                <a:spcPct val="102099"/>
              </a:lnSpc>
              <a:spcBef>
                <a:spcPts val="80"/>
              </a:spcBef>
              <a:buClr>
                <a:srgbClr val="1F497C"/>
              </a:buClr>
              <a:buSzPct val="89743"/>
              <a:buChar char="●"/>
              <a:tabLst>
                <a:tab pos="390525" algn="l"/>
                <a:tab pos="391160" algn="l"/>
              </a:tabLst>
            </a:pPr>
            <a:r>
              <a:rPr lang="en-US" sz="2000" dirty="0">
                <a:latin typeface="Times New Roman" panose="02020603050405020304" pitchFamily="18" charset="0"/>
                <a:cs typeface="Times New Roman" panose="02020603050405020304" pitchFamily="18" charset="0"/>
              </a:rPr>
              <a:t>Two important issues in studying parallelism are speedup and scaleup.</a:t>
            </a:r>
          </a:p>
          <a:p>
            <a:pPr marL="390525" marR="5080" indent="-377825" algn="just">
              <a:lnSpc>
                <a:spcPct val="102099"/>
              </a:lnSpc>
              <a:spcBef>
                <a:spcPts val="80"/>
              </a:spcBef>
              <a:buClr>
                <a:srgbClr val="1F497C"/>
              </a:buClr>
              <a:buSzPct val="89743"/>
              <a:buChar char="●"/>
              <a:tabLst>
                <a:tab pos="390525" algn="l"/>
                <a:tab pos="391160" algn="l"/>
              </a:tabLst>
            </a:pPr>
            <a:r>
              <a:rPr lang="en-US" sz="2000" dirty="0">
                <a:latin typeface="Times New Roman" panose="02020603050405020304" pitchFamily="18" charset="0"/>
                <a:cs typeface="Times New Roman" panose="02020603050405020304" pitchFamily="18" charset="0"/>
              </a:rPr>
              <a:t>Running a given task in less time by increasing the degree of parallelism is called </a:t>
            </a:r>
            <a:r>
              <a:rPr lang="en-US" sz="2000" b="1" dirty="0">
                <a:solidFill>
                  <a:srgbClr val="00B0F0"/>
                </a:solidFill>
                <a:latin typeface="Times New Roman" panose="02020603050405020304" pitchFamily="18" charset="0"/>
                <a:cs typeface="Times New Roman" panose="02020603050405020304" pitchFamily="18" charset="0"/>
              </a:rPr>
              <a:t>speedup.</a:t>
            </a:r>
          </a:p>
          <a:p>
            <a:pPr marL="390525" marR="5080" indent="-377825" algn="just">
              <a:lnSpc>
                <a:spcPct val="102099"/>
              </a:lnSpc>
              <a:spcBef>
                <a:spcPts val="80"/>
              </a:spcBef>
              <a:buClr>
                <a:srgbClr val="1F497C"/>
              </a:buClr>
              <a:buSzPct val="89743"/>
              <a:buChar char="●"/>
              <a:tabLst>
                <a:tab pos="390525" algn="l"/>
                <a:tab pos="391160" algn="l"/>
              </a:tabLst>
            </a:pPr>
            <a:r>
              <a:rPr lang="en-US" sz="2000" dirty="0">
                <a:latin typeface="Times New Roman" panose="02020603050405020304" pitchFamily="18" charset="0"/>
                <a:cs typeface="Times New Roman" panose="02020603050405020304" pitchFamily="18" charset="0"/>
              </a:rPr>
              <a:t>Handling larger tasks by increasing the degree of parallelism is called </a:t>
            </a:r>
            <a:r>
              <a:rPr lang="en-US" sz="2000" b="1" dirty="0">
                <a:solidFill>
                  <a:srgbClr val="00B0F0"/>
                </a:solidFill>
                <a:latin typeface="Times New Roman" panose="02020603050405020304" pitchFamily="18" charset="0"/>
                <a:cs typeface="Times New Roman" panose="02020603050405020304" pitchFamily="18" charset="0"/>
              </a:rPr>
              <a:t>scaleup.</a:t>
            </a:r>
          </a:p>
          <a:p>
            <a:pPr marL="390525" marR="5080" indent="-377825" algn="just">
              <a:lnSpc>
                <a:spcPct val="102099"/>
              </a:lnSpc>
              <a:spcBef>
                <a:spcPts val="80"/>
              </a:spcBef>
              <a:buClr>
                <a:srgbClr val="1F497C"/>
              </a:buClr>
              <a:buSzPct val="89743"/>
              <a:buChar char="●"/>
              <a:tabLst>
                <a:tab pos="390525" algn="l"/>
                <a:tab pos="391160" algn="l"/>
              </a:tabLst>
            </a:pPr>
            <a:r>
              <a:rPr lang="en-US" sz="2000" dirty="0">
                <a:latin typeface="Times New Roman" panose="02020603050405020304" pitchFamily="18" charset="0"/>
                <a:cs typeface="Times New Roman" panose="02020603050405020304" pitchFamily="18" charset="0"/>
              </a:rPr>
              <a:t>Consider a database application running on a parallel system with a certain number of processors and disks.</a:t>
            </a:r>
          </a:p>
          <a:p>
            <a:pPr marL="390525" marR="5080" indent="-377825" algn="just">
              <a:lnSpc>
                <a:spcPct val="102099"/>
              </a:lnSpc>
              <a:spcBef>
                <a:spcPts val="80"/>
              </a:spcBef>
              <a:buClr>
                <a:srgbClr val="1F497C"/>
              </a:buClr>
              <a:buSzPct val="89743"/>
              <a:buChar char="●"/>
              <a:tabLst>
                <a:tab pos="390525" algn="l"/>
                <a:tab pos="391160" algn="l"/>
              </a:tabLst>
            </a:pPr>
            <a:r>
              <a:rPr lang="en-US" sz="2000" dirty="0">
                <a:latin typeface="Times New Roman" panose="02020603050405020304" pitchFamily="18" charset="0"/>
                <a:cs typeface="Times New Roman" panose="02020603050405020304" pitchFamily="18" charset="0"/>
              </a:rPr>
              <a:t>suppose that we increase the size of the system by increasing the number of processors, disks, and other components of the system.</a:t>
            </a:r>
          </a:p>
          <a:p>
            <a:pPr marL="390525" marR="5080" indent="-377825" algn="just">
              <a:lnSpc>
                <a:spcPct val="102099"/>
              </a:lnSpc>
              <a:spcBef>
                <a:spcPts val="80"/>
              </a:spcBef>
              <a:buClr>
                <a:srgbClr val="1F497C"/>
              </a:buClr>
              <a:buSzPct val="89743"/>
              <a:buChar char="●"/>
              <a:tabLst>
                <a:tab pos="390525" algn="l"/>
                <a:tab pos="391160" algn="l"/>
              </a:tabLst>
            </a:pPr>
            <a:r>
              <a:rPr lang="en-US" sz="2000" dirty="0">
                <a:latin typeface="Times New Roman" panose="02020603050405020304" pitchFamily="18" charset="0"/>
                <a:cs typeface="Times New Roman" panose="02020603050405020304" pitchFamily="18" charset="0"/>
              </a:rPr>
              <a:t>The goal is to process the task in time inversely proportional to the number of processors and disks allocated. </a:t>
            </a:r>
          </a:p>
          <a:p>
            <a:pPr marL="390525" marR="5080" indent="-377825" algn="just">
              <a:lnSpc>
                <a:spcPct val="102099"/>
              </a:lnSpc>
              <a:spcBef>
                <a:spcPts val="80"/>
              </a:spcBef>
              <a:buClr>
                <a:srgbClr val="1F497C"/>
              </a:buClr>
              <a:buSzPct val="89743"/>
              <a:buChar char="●"/>
              <a:tabLst>
                <a:tab pos="390525" algn="l"/>
                <a:tab pos="391160" algn="l"/>
              </a:tabLst>
            </a:pPr>
            <a:r>
              <a:rPr lang="en-US" sz="2000" dirty="0">
                <a:latin typeface="Times New Roman" panose="02020603050405020304" pitchFamily="18" charset="0"/>
                <a:cs typeface="Times New Roman" panose="02020603050405020304" pitchFamily="18" charset="0"/>
              </a:rPr>
              <a:t>Suppose that the execution time of a task on the larger machine is TL, and that the execution time of the same task on the smaller machine is TS.</a:t>
            </a:r>
          </a:p>
        </p:txBody>
      </p:sp>
    </p:spTree>
    <p:extLst>
      <p:ext uri="{BB962C8B-B14F-4D97-AF65-F5344CB8AC3E}">
        <p14:creationId xmlns:p14="http://schemas.microsoft.com/office/powerpoint/2010/main" val="2360132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545" y="745693"/>
            <a:ext cx="8001000" cy="792162"/>
          </a:xfrm>
        </p:spPr>
        <p:txBody>
          <a:bodyPr/>
          <a:lstStyle/>
          <a:p>
            <a:r>
              <a:rPr lang="en-US" spc="405" dirty="0">
                <a:solidFill>
                  <a:srgbClr val="1F497C"/>
                </a:solidFill>
              </a:rPr>
              <a:t>S</a:t>
            </a:r>
            <a:r>
              <a:rPr lang="en-US" spc="390" dirty="0">
                <a:solidFill>
                  <a:srgbClr val="1F497C"/>
                </a:solidFill>
              </a:rPr>
              <a:t>p</a:t>
            </a:r>
            <a:r>
              <a:rPr lang="en-US" spc="375" dirty="0">
                <a:solidFill>
                  <a:srgbClr val="1F497C"/>
                </a:solidFill>
              </a:rPr>
              <a:t>e</a:t>
            </a:r>
            <a:r>
              <a:rPr lang="en-US" spc="409" dirty="0">
                <a:solidFill>
                  <a:srgbClr val="1F497C"/>
                </a:solidFill>
              </a:rPr>
              <a:t>e</a:t>
            </a:r>
            <a:r>
              <a:rPr lang="en-US" spc="390" dirty="0">
                <a:solidFill>
                  <a:srgbClr val="1F497C"/>
                </a:solidFill>
              </a:rPr>
              <a:t>dup</a:t>
            </a:r>
            <a:endParaRPr lang="en-US" dirty="0"/>
          </a:p>
        </p:txBody>
      </p:sp>
      <p:sp>
        <p:nvSpPr>
          <p:cNvPr id="4" name="object 3"/>
          <p:cNvSpPr/>
          <p:nvPr/>
        </p:nvSpPr>
        <p:spPr>
          <a:xfrm>
            <a:off x="950975" y="1325880"/>
            <a:ext cx="7872983" cy="2560320"/>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950975" y="3886200"/>
            <a:ext cx="7872983" cy="2834640"/>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705279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9309" y="995074"/>
            <a:ext cx="4807527" cy="715962"/>
          </a:xfrm>
        </p:spPr>
        <p:txBody>
          <a:bodyPr>
            <a:normAutofit/>
          </a:bodyPr>
          <a:lstStyle/>
          <a:p>
            <a:r>
              <a:rPr lang="en-US" spc="335" dirty="0" err="1">
                <a:solidFill>
                  <a:srgbClr val="1F497C"/>
                </a:solidFill>
              </a:rPr>
              <a:t>Scaleup</a:t>
            </a:r>
            <a:endParaRPr lang="en-US" dirty="0"/>
          </a:p>
        </p:txBody>
      </p:sp>
      <p:sp>
        <p:nvSpPr>
          <p:cNvPr id="4" name="object 3"/>
          <p:cNvSpPr/>
          <p:nvPr/>
        </p:nvSpPr>
        <p:spPr>
          <a:xfrm>
            <a:off x="616527" y="1143000"/>
            <a:ext cx="8741664" cy="2743200"/>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616527" y="3886200"/>
            <a:ext cx="8741664" cy="2523743"/>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739573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3682" y="801111"/>
            <a:ext cx="8305800" cy="639762"/>
          </a:xfrm>
        </p:spPr>
        <p:txBody>
          <a:bodyPr>
            <a:normAutofit fontScale="90000"/>
          </a:bodyPr>
          <a:lstStyle/>
          <a:p>
            <a:r>
              <a:rPr lang="en-US" b="1" dirty="0">
                <a:latin typeface="Times New Roman" panose="02020603050405020304" pitchFamily="18" charset="0"/>
                <a:cs typeface="Times New Roman" panose="02020603050405020304" pitchFamily="18" charset="0"/>
              </a:rPr>
              <a:t>Batch and Transaction </a:t>
            </a:r>
            <a:r>
              <a:rPr lang="en-US" b="1" dirty="0" err="1">
                <a:latin typeface="Times New Roman" panose="02020603050405020304" pitchFamily="18" charset="0"/>
                <a:cs typeface="Times New Roman" panose="02020603050405020304" pitchFamily="18" charset="0"/>
              </a:rPr>
              <a:t>Scaleup</a:t>
            </a:r>
            <a:endParaRPr lang="en-US" b="1" dirty="0">
              <a:latin typeface="Times New Roman" panose="02020603050405020304" pitchFamily="18" charset="0"/>
              <a:cs typeface="Times New Roman" panose="02020603050405020304" pitchFamily="18" charset="0"/>
            </a:endParaRPr>
          </a:p>
        </p:txBody>
      </p:sp>
      <p:sp>
        <p:nvSpPr>
          <p:cNvPr id="4" name="object 4"/>
          <p:cNvSpPr txBox="1"/>
          <p:nvPr/>
        </p:nvSpPr>
        <p:spPr>
          <a:xfrm>
            <a:off x="0" y="1248340"/>
            <a:ext cx="9033164" cy="5554085"/>
          </a:xfrm>
          <a:prstGeom prst="rect">
            <a:avLst/>
          </a:prstGeom>
        </p:spPr>
        <p:txBody>
          <a:bodyPr vert="horz" wrap="square" lIns="0" tIns="100330" rIns="0" bIns="0" rtlCol="0">
            <a:spAutoFit/>
          </a:bodyPr>
          <a:lstStyle/>
          <a:p>
            <a:pPr marL="390525" indent="-377825">
              <a:lnSpc>
                <a:spcPct val="100000"/>
              </a:lnSpc>
              <a:spcBef>
                <a:spcPts val="790"/>
              </a:spcBef>
              <a:buClr>
                <a:srgbClr val="1F497C"/>
              </a:buClr>
              <a:buSzPct val="89743"/>
              <a:buChar char="●"/>
              <a:tabLst>
                <a:tab pos="390525" algn="l"/>
                <a:tab pos="391160" algn="l"/>
              </a:tabLst>
            </a:pPr>
            <a:r>
              <a:rPr lang="en-US" sz="2400" dirty="0">
                <a:latin typeface="Times New Roman" panose="02020603050405020304" pitchFamily="18" charset="0"/>
                <a:cs typeface="Times New Roman" panose="02020603050405020304" pitchFamily="18" charset="0"/>
              </a:rPr>
              <a:t>There are two kinds of </a:t>
            </a:r>
            <a:r>
              <a:rPr lang="en-US" sz="2400" dirty="0" err="1">
                <a:latin typeface="Times New Roman" panose="02020603050405020304" pitchFamily="18" charset="0"/>
                <a:cs typeface="Times New Roman" panose="02020603050405020304" pitchFamily="18" charset="0"/>
              </a:rPr>
              <a:t>scaleup</a:t>
            </a:r>
            <a:r>
              <a:rPr lang="en-US" sz="2400" dirty="0">
                <a:latin typeface="Times New Roman" panose="02020603050405020304" pitchFamily="18" charset="0"/>
                <a:cs typeface="Times New Roman" panose="02020603050405020304" pitchFamily="18" charset="0"/>
              </a:rPr>
              <a:t> that are relevant in parallel database systems, depending on how the size of the task is measured:</a:t>
            </a:r>
            <a:endParaRPr lang="en-US" sz="2400" spc="185" dirty="0">
              <a:solidFill>
                <a:srgbClr val="000099"/>
              </a:solidFill>
              <a:latin typeface="Times New Roman" panose="02020603050405020304" pitchFamily="18" charset="0"/>
              <a:cs typeface="Times New Roman" panose="02020603050405020304" pitchFamily="18" charset="0"/>
            </a:endParaRPr>
          </a:p>
          <a:p>
            <a:pPr marL="390525" indent="-377825">
              <a:lnSpc>
                <a:spcPct val="100000"/>
              </a:lnSpc>
              <a:spcBef>
                <a:spcPts val="790"/>
              </a:spcBef>
              <a:buClr>
                <a:srgbClr val="1F497C"/>
              </a:buClr>
              <a:buSzPct val="89743"/>
              <a:buChar char="●"/>
              <a:tabLst>
                <a:tab pos="390525" algn="l"/>
                <a:tab pos="391160" algn="l"/>
              </a:tabLst>
            </a:pPr>
            <a:r>
              <a:rPr sz="2400" spc="185" dirty="0">
                <a:solidFill>
                  <a:srgbClr val="000099"/>
                </a:solidFill>
                <a:latin typeface="Times New Roman" panose="02020603050405020304" pitchFamily="18" charset="0"/>
                <a:cs typeface="Times New Roman" panose="02020603050405020304" pitchFamily="18" charset="0"/>
              </a:rPr>
              <a:t>Batch</a:t>
            </a:r>
            <a:r>
              <a:rPr sz="2400" spc="40" dirty="0">
                <a:solidFill>
                  <a:srgbClr val="000099"/>
                </a:solidFill>
                <a:latin typeface="Times New Roman" panose="02020603050405020304" pitchFamily="18" charset="0"/>
                <a:cs typeface="Times New Roman" panose="02020603050405020304" pitchFamily="18" charset="0"/>
              </a:rPr>
              <a:t> </a:t>
            </a:r>
            <a:r>
              <a:rPr sz="2400" spc="204" dirty="0" err="1">
                <a:solidFill>
                  <a:srgbClr val="000099"/>
                </a:solidFill>
                <a:latin typeface="Times New Roman" panose="02020603050405020304" pitchFamily="18" charset="0"/>
                <a:cs typeface="Times New Roman" panose="02020603050405020304" pitchFamily="18" charset="0"/>
              </a:rPr>
              <a:t>scaleup</a:t>
            </a:r>
            <a:r>
              <a:rPr sz="2400" spc="204" dirty="0" err="1">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In</a:t>
            </a:r>
            <a:r>
              <a:rPr lang="en-US" sz="2400" dirty="0">
                <a:latin typeface="Times New Roman" panose="02020603050405020304" pitchFamily="18" charset="0"/>
                <a:cs typeface="Times New Roman" panose="02020603050405020304" pitchFamily="18" charset="0"/>
              </a:rPr>
              <a:t> batch </a:t>
            </a:r>
            <a:r>
              <a:rPr lang="en-US" sz="2400" dirty="0" err="1">
                <a:latin typeface="Times New Roman" panose="02020603050405020304" pitchFamily="18" charset="0"/>
                <a:cs typeface="Times New Roman" panose="02020603050405020304" pitchFamily="18" charset="0"/>
              </a:rPr>
              <a:t>scaleup</a:t>
            </a:r>
            <a:r>
              <a:rPr lang="en-US" sz="2400" dirty="0">
                <a:latin typeface="Times New Roman" panose="02020603050405020304" pitchFamily="18" charset="0"/>
                <a:cs typeface="Times New Roman" panose="02020603050405020304" pitchFamily="18" charset="0"/>
              </a:rPr>
              <a:t>, the size of the database increases, and the tasks are large jobs whose runtime depends on the size of the database. </a:t>
            </a:r>
            <a:endParaRPr sz="2400" dirty="0">
              <a:latin typeface="Times New Roman" panose="02020603050405020304" pitchFamily="18" charset="0"/>
              <a:cs typeface="Times New Roman" panose="02020603050405020304" pitchFamily="18" charset="0"/>
            </a:endParaRPr>
          </a:p>
          <a:p>
            <a:pPr marL="390525" indent="-377825">
              <a:lnSpc>
                <a:spcPct val="100000"/>
              </a:lnSpc>
              <a:spcBef>
                <a:spcPts val="700"/>
              </a:spcBef>
              <a:buClr>
                <a:srgbClr val="1F497C"/>
              </a:buClr>
              <a:buSzPct val="89743"/>
              <a:buChar char="●"/>
              <a:tabLst>
                <a:tab pos="390525" algn="l"/>
                <a:tab pos="391160" algn="l"/>
              </a:tabLst>
            </a:pPr>
            <a:r>
              <a:rPr sz="2400" spc="170" dirty="0">
                <a:solidFill>
                  <a:srgbClr val="000099"/>
                </a:solidFill>
                <a:latin typeface="Times New Roman" panose="02020603050405020304" pitchFamily="18" charset="0"/>
                <a:cs typeface="Times New Roman" panose="02020603050405020304" pitchFamily="18" charset="0"/>
              </a:rPr>
              <a:t>Transaction</a:t>
            </a:r>
            <a:r>
              <a:rPr sz="2400" spc="20" dirty="0">
                <a:solidFill>
                  <a:srgbClr val="000099"/>
                </a:solidFill>
                <a:latin typeface="Times New Roman" panose="02020603050405020304" pitchFamily="18" charset="0"/>
                <a:cs typeface="Times New Roman" panose="02020603050405020304" pitchFamily="18" charset="0"/>
              </a:rPr>
              <a:t> </a:t>
            </a:r>
            <a:r>
              <a:rPr sz="2400" spc="190" dirty="0" err="1">
                <a:solidFill>
                  <a:srgbClr val="000099"/>
                </a:solidFill>
                <a:latin typeface="Times New Roman" panose="02020603050405020304" pitchFamily="18" charset="0"/>
                <a:cs typeface="Times New Roman" panose="02020603050405020304" pitchFamily="18" charset="0"/>
              </a:rPr>
              <a:t>scaleup</a:t>
            </a:r>
            <a:r>
              <a:rPr sz="2400" spc="190" dirty="0" err="1">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In</a:t>
            </a:r>
            <a:r>
              <a:rPr lang="en-US" sz="2400" dirty="0">
                <a:latin typeface="Times New Roman" panose="02020603050405020304" pitchFamily="18" charset="0"/>
                <a:cs typeface="Times New Roman" panose="02020603050405020304" pitchFamily="18" charset="0"/>
              </a:rPr>
              <a:t> transaction </a:t>
            </a:r>
            <a:r>
              <a:rPr lang="en-US" sz="2400" dirty="0" err="1">
                <a:latin typeface="Times New Roman" panose="02020603050405020304" pitchFamily="18" charset="0"/>
                <a:cs typeface="Times New Roman" panose="02020603050405020304" pitchFamily="18" charset="0"/>
              </a:rPr>
              <a:t>scaleup</a:t>
            </a:r>
            <a:r>
              <a:rPr lang="en-US" sz="2400" dirty="0">
                <a:latin typeface="Times New Roman" panose="02020603050405020304" pitchFamily="18" charset="0"/>
                <a:cs typeface="Times New Roman" panose="02020603050405020304" pitchFamily="18" charset="0"/>
              </a:rPr>
              <a:t>, the rate at which transactions are submitted to the database increases and the size of the database increases proportionally to the transaction rate.</a:t>
            </a:r>
          </a:p>
          <a:p>
            <a:pPr marL="390525" indent="-377825">
              <a:lnSpc>
                <a:spcPct val="100000"/>
              </a:lnSpc>
              <a:spcBef>
                <a:spcPts val="700"/>
              </a:spcBef>
              <a:buClr>
                <a:srgbClr val="1F497C"/>
              </a:buClr>
              <a:buSzPct val="89743"/>
              <a:buChar char="●"/>
              <a:tabLst>
                <a:tab pos="390525" algn="l"/>
                <a:tab pos="391160" algn="l"/>
              </a:tabLst>
            </a:pPr>
            <a:r>
              <a:rPr lang="en-US" sz="2400" dirty="0">
                <a:latin typeface="Times New Roman" panose="02020603050405020304" pitchFamily="18" charset="0"/>
                <a:cs typeface="Times New Roman" panose="02020603050405020304" pitchFamily="18" charset="0"/>
              </a:rPr>
              <a:t>for example, a deposit or withdrawal from an account and transaction rates grow as more accounts are created. Such transaction processing is especially well adapted for parallel execution, since transactions can run concurrently and independently on separate processors, and each transaction takes roughly the same amount of time, even if the database grows</a:t>
            </a:r>
            <a:r>
              <a:rPr lang="en-US" sz="2400" dirty="0" smtClean="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3972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381" y="1132764"/>
            <a:ext cx="8229600" cy="914400"/>
          </a:xfrm>
        </p:spPr>
        <p:txBody>
          <a:bodyPr>
            <a:normAutofit/>
          </a:bodyPr>
          <a:lstStyle/>
          <a:p>
            <a:r>
              <a:rPr lang="en-US" sz="3200" b="1" dirty="0" smtClean="0">
                <a:latin typeface="Times New Roman" panose="02020603050405020304" pitchFamily="18" charset="0"/>
                <a:cs typeface="Times New Roman" panose="02020603050405020304" pitchFamily="18" charset="0"/>
              </a:rPr>
              <a:t>Factors </a:t>
            </a:r>
            <a:r>
              <a:rPr lang="en-US" sz="3200" b="1" dirty="0">
                <a:latin typeface="Times New Roman" panose="02020603050405020304" pitchFamily="18" charset="0"/>
                <a:cs typeface="Times New Roman" panose="02020603050405020304" pitchFamily="18" charset="0"/>
              </a:rPr>
              <a:t>Limiting Speedup and </a:t>
            </a:r>
            <a:r>
              <a:rPr lang="en-US" sz="3200" b="1" dirty="0" smtClean="0">
                <a:latin typeface="Times New Roman" panose="02020603050405020304" pitchFamily="18" charset="0"/>
                <a:cs typeface="Times New Roman" panose="02020603050405020304" pitchFamily="18" charset="0"/>
              </a:rPr>
              <a:t>Scale-up</a:t>
            </a:r>
            <a:endParaRPr lang="en-US" sz="3200" b="1" dirty="0">
              <a:latin typeface="Times New Roman" panose="02020603050405020304" pitchFamily="18" charset="0"/>
              <a:cs typeface="Times New Roman" panose="02020603050405020304" pitchFamily="18" charset="0"/>
            </a:endParaRPr>
          </a:p>
        </p:txBody>
      </p:sp>
      <p:sp>
        <p:nvSpPr>
          <p:cNvPr id="4" name="object 4"/>
          <p:cNvSpPr txBox="1"/>
          <p:nvPr/>
        </p:nvSpPr>
        <p:spPr>
          <a:xfrm>
            <a:off x="249381" y="2047164"/>
            <a:ext cx="8756073" cy="4521559"/>
          </a:xfrm>
          <a:prstGeom prst="rect">
            <a:avLst/>
          </a:prstGeom>
        </p:spPr>
        <p:txBody>
          <a:bodyPr vert="horz" wrap="square" lIns="0" tIns="98425" rIns="0" bIns="0" rtlCol="0">
            <a:spAutoFit/>
          </a:bodyPr>
          <a:lstStyle/>
          <a:p>
            <a:pPr marL="12700">
              <a:lnSpc>
                <a:spcPct val="100000"/>
              </a:lnSpc>
              <a:spcBef>
                <a:spcPts val="775"/>
              </a:spcBef>
            </a:pPr>
            <a:r>
              <a:rPr sz="2400" spc="170" dirty="0">
                <a:latin typeface="Times New Roman" panose="02020603050405020304" pitchFamily="18" charset="0"/>
                <a:cs typeface="Times New Roman" panose="02020603050405020304" pitchFamily="18" charset="0"/>
              </a:rPr>
              <a:t>Speedup</a:t>
            </a:r>
            <a:r>
              <a:rPr sz="2400" spc="35" dirty="0">
                <a:latin typeface="Times New Roman" panose="02020603050405020304" pitchFamily="18" charset="0"/>
                <a:cs typeface="Times New Roman" panose="02020603050405020304" pitchFamily="18" charset="0"/>
              </a:rPr>
              <a:t> </a:t>
            </a:r>
            <a:r>
              <a:rPr sz="2400" spc="165" dirty="0">
                <a:latin typeface="Times New Roman" panose="02020603050405020304" pitchFamily="18" charset="0"/>
                <a:cs typeface="Times New Roman" panose="02020603050405020304" pitchFamily="18" charset="0"/>
              </a:rPr>
              <a:t>and</a:t>
            </a:r>
            <a:r>
              <a:rPr sz="2400" spc="55" dirty="0">
                <a:latin typeface="Times New Roman" panose="02020603050405020304" pitchFamily="18" charset="0"/>
                <a:cs typeface="Times New Roman" panose="02020603050405020304" pitchFamily="18" charset="0"/>
              </a:rPr>
              <a:t> </a:t>
            </a:r>
            <a:r>
              <a:rPr sz="2400" spc="140" dirty="0">
                <a:latin typeface="Times New Roman" panose="02020603050405020304" pitchFamily="18" charset="0"/>
                <a:cs typeface="Times New Roman" panose="02020603050405020304" pitchFamily="18" charset="0"/>
              </a:rPr>
              <a:t>scaleup</a:t>
            </a:r>
            <a:r>
              <a:rPr sz="2400" spc="35" dirty="0">
                <a:latin typeface="Times New Roman" panose="02020603050405020304" pitchFamily="18" charset="0"/>
                <a:cs typeface="Times New Roman" panose="02020603050405020304" pitchFamily="18" charset="0"/>
              </a:rPr>
              <a:t> </a:t>
            </a:r>
            <a:r>
              <a:rPr sz="2400" spc="155" dirty="0">
                <a:latin typeface="Times New Roman" panose="02020603050405020304" pitchFamily="18" charset="0"/>
                <a:cs typeface="Times New Roman" panose="02020603050405020304" pitchFamily="18" charset="0"/>
              </a:rPr>
              <a:t>are</a:t>
            </a:r>
            <a:r>
              <a:rPr sz="2400" spc="55" dirty="0">
                <a:latin typeface="Times New Roman" panose="02020603050405020304" pitchFamily="18" charset="0"/>
                <a:cs typeface="Times New Roman" panose="02020603050405020304" pitchFamily="18" charset="0"/>
              </a:rPr>
              <a:t> </a:t>
            </a:r>
            <a:r>
              <a:rPr sz="2400" spc="75" dirty="0">
                <a:latin typeface="Times New Roman" panose="02020603050405020304" pitchFamily="18" charset="0"/>
                <a:cs typeface="Times New Roman" panose="02020603050405020304" pitchFamily="18" charset="0"/>
              </a:rPr>
              <a:t>often</a:t>
            </a:r>
            <a:r>
              <a:rPr sz="2400" spc="55" dirty="0">
                <a:latin typeface="Times New Roman" panose="02020603050405020304" pitchFamily="18" charset="0"/>
                <a:cs typeface="Times New Roman" panose="02020603050405020304" pitchFamily="18" charset="0"/>
              </a:rPr>
              <a:t> </a:t>
            </a:r>
            <a:r>
              <a:rPr sz="2400" spc="95" dirty="0">
                <a:latin typeface="Times New Roman" panose="02020603050405020304" pitchFamily="18" charset="0"/>
                <a:cs typeface="Times New Roman" panose="02020603050405020304" pitchFamily="18" charset="0"/>
              </a:rPr>
              <a:t>sublinear</a:t>
            </a:r>
            <a:r>
              <a:rPr sz="2400" spc="40" dirty="0">
                <a:latin typeface="Times New Roman" panose="02020603050405020304" pitchFamily="18" charset="0"/>
                <a:cs typeface="Times New Roman" panose="02020603050405020304" pitchFamily="18" charset="0"/>
              </a:rPr>
              <a:t> </a:t>
            </a:r>
            <a:r>
              <a:rPr sz="2400" spc="155" dirty="0">
                <a:latin typeface="Times New Roman" panose="02020603050405020304" pitchFamily="18" charset="0"/>
                <a:cs typeface="Times New Roman" panose="02020603050405020304" pitchFamily="18" charset="0"/>
              </a:rPr>
              <a:t>due</a:t>
            </a:r>
            <a:r>
              <a:rPr sz="2400" spc="55" dirty="0">
                <a:latin typeface="Times New Roman" panose="02020603050405020304" pitchFamily="18" charset="0"/>
                <a:cs typeface="Times New Roman" panose="02020603050405020304" pitchFamily="18" charset="0"/>
              </a:rPr>
              <a:t> </a:t>
            </a:r>
            <a:r>
              <a:rPr sz="2400" spc="40" dirty="0">
                <a:latin typeface="Times New Roman" panose="02020603050405020304" pitchFamily="18" charset="0"/>
                <a:cs typeface="Times New Roman" panose="02020603050405020304" pitchFamily="18" charset="0"/>
              </a:rPr>
              <a:t>to:</a:t>
            </a:r>
            <a:endParaRPr sz="2400" dirty="0">
              <a:latin typeface="Times New Roman" panose="02020603050405020304" pitchFamily="18" charset="0"/>
              <a:cs typeface="Times New Roman" panose="02020603050405020304" pitchFamily="18" charset="0"/>
            </a:endParaRPr>
          </a:p>
          <a:p>
            <a:pPr marL="390525" marR="5080" indent="-377825" algn="just">
              <a:lnSpc>
                <a:spcPct val="102099"/>
              </a:lnSpc>
              <a:spcBef>
                <a:spcPts val="635"/>
              </a:spcBef>
              <a:buClr>
                <a:srgbClr val="1F497C"/>
              </a:buClr>
              <a:buSzPct val="89743"/>
              <a:buChar char="●"/>
              <a:tabLst>
                <a:tab pos="391160" algn="l"/>
              </a:tabLst>
            </a:pPr>
            <a:r>
              <a:rPr sz="2400" spc="180" dirty="0">
                <a:solidFill>
                  <a:srgbClr val="000099"/>
                </a:solidFill>
                <a:latin typeface="Times New Roman" panose="02020603050405020304" pitchFamily="18" charset="0"/>
                <a:cs typeface="Times New Roman" panose="02020603050405020304" pitchFamily="18" charset="0"/>
              </a:rPr>
              <a:t>Startup</a:t>
            </a:r>
            <a:r>
              <a:rPr sz="2400" spc="50" dirty="0">
                <a:solidFill>
                  <a:srgbClr val="000099"/>
                </a:solidFill>
                <a:latin typeface="Times New Roman" panose="02020603050405020304" pitchFamily="18" charset="0"/>
                <a:cs typeface="Times New Roman" panose="02020603050405020304" pitchFamily="18" charset="0"/>
              </a:rPr>
              <a:t> </a:t>
            </a:r>
            <a:r>
              <a:rPr sz="2400" spc="210" dirty="0">
                <a:solidFill>
                  <a:srgbClr val="000099"/>
                </a:solidFill>
                <a:latin typeface="Times New Roman" panose="02020603050405020304" pitchFamily="18" charset="0"/>
                <a:cs typeface="Times New Roman" panose="02020603050405020304" pitchFamily="18" charset="0"/>
              </a:rPr>
              <a:t>costs</a:t>
            </a:r>
            <a:r>
              <a:rPr sz="2400" spc="210" dirty="0">
                <a:latin typeface="Times New Roman" panose="02020603050405020304" pitchFamily="18" charset="0"/>
                <a:cs typeface="Times New Roman" panose="02020603050405020304" pitchFamily="18" charset="0"/>
              </a:rPr>
              <a:t>:</a:t>
            </a:r>
            <a:r>
              <a:rPr sz="2400" spc="55" dirty="0">
                <a:latin typeface="Times New Roman" panose="02020603050405020304" pitchFamily="18" charset="0"/>
                <a:cs typeface="Times New Roman" panose="02020603050405020304" pitchFamily="18" charset="0"/>
              </a:rPr>
              <a:t> </a:t>
            </a:r>
            <a:r>
              <a:rPr sz="2400" spc="120" dirty="0">
                <a:latin typeface="Times New Roman" panose="02020603050405020304" pitchFamily="18" charset="0"/>
                <a:cs typeface="Times New Roman" panose="02020603050405020304" pitchFamily="18" charset="0"/>
              </a:rPr>
              <a:t>Cost</a:t>
            </a:r>
            <a:r>
              <a:rPr sz="2400" spc="7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of</a:t>
            </a:r>
            <a:r>
              <a:rPr sz="2400" spc="55" dirty="0">
                <a:latin typeface="Times New Roman" panose="02020603050405020304" pitchFamily="18" charset="0"/>
                <a:cs typeface="Times New Roman" panose="02020603050405020304" pitchFamily="18" charset="0"/>
              </a:rPr>
              <a:t> </a:t>
            </a:r>
            <a:r>
              <a:rPr sz="2400" spc="80" dirty="0">
                <a:latin typeface="Times New Roman" panose="02020603050405020304" pitchFamily="18" charset="0"/>
                <a:cs typeface="Times New Roman" panose="02020603050405020304" pitchFamily="18" charset="0"/>
              </a:rPr>
              <a:t>starting</a:t>
            </a:r>
            <a:r>
              <a:rPr sz="2400" spc="40" dirty="0">
                <a:latin typeface="Times New Roman" panose="02020603050405020304" pitchFamily="18" charset="0"/>
                <a:cs typeface="Times New Roman" panose="02020603050405020304" pitchFamily="18" charset="0"/>
              </a:rPr>
              <a:t> </a:t>
            </a:r>
            <a:r>
              <a:rPr sz="2400" spc="125" dirty="0">
                <a:latin typeface="Times New Roman" panose="02020603050405020304" pitchFamily="18" charset="0"/>
                <a:cs typeface="Times New Roman" panose="02020603050405020304" pitchFamily="18" charset="0"/>
              </a:rPr>
              <a:t>up</a:t>
            </a:r>
            <a:r>
              <a:rPr sz="2400" spc="60" dirty="0">
                <a:latin typeface="Times New Roman" panose="02020603050405020304" pitchFamily="18" charset="0"/>
                <a:cs typeface="Times New Roman" panose="02020603050405020304" pitchFamily="18" charset="0"/>
              </a:rPr>
              <a:t> </a:t>
            </a:r>
            <a:r>
              <a:rPr sz="2400" spc="40" dirty="0">
                <a:latin typeface="Times New Roman" panose="02020603050405020304" pitchFamily="18" charset="0"/>
                <a:cs typeface="Times New Roman" panose="02020603050405020304" pitchFamily="18" charset="0"/>
              </a:rPr>
              <a:t>multiple </a:t>
            </a:r>
            <a:r>
              <a:rPr sz="2400" spc="170" dirty="0">
                <a:latin typeface="Times New Roman" panose="02020603050405020304" pitchFamily="18" charset="0"/>
                <a:cs typeface="Times New Roman" panose="02020603050405020304" pitchFamily="18" charset="0"/>
              </a:rPr>
              <a:t>processes</a:t>
            </a:r>
            <a:r>
              <a:rPr sz="2400" spc="50" dirty="0">
                <a:latin typeface="Times New Roman" panose="02020603050405020304" pitchFamily="18" charset="0"/>
                <a:cs typeface="Times New Roman" panose="02020603050405020304" pitchFamily="18" charset="0"/>
              </a:rPr>
              <a:t> </a:t>
            </a:r>
            <a:r>
              <a:rPr sz="2400" spc="125" dirty="0">
                <a:latin typeface="Times New Roman" panose="02020603050405020304" pitchFamily="18" charset="0"/>
                <a:cs typeface="Times New Roman" panose="02020603050405020304" pitchFamily="18" charset="0"/>
              </a:rPr>
              <a:t>may</a:t>
            </a:r>
            <a:r>
              <a:rPr sz="2400" spc="50" dirty="0">
                <a:latin typeface="Times New Roman" panose="02020603050405020304" pitchFamily="18" charset="0"/>
                <a:cs typeface="Times New Roman" panose="02020603050405020304" pitchFamily="18" charset="0"/>
              </a:rPr>
              <a:t> </a:t>
            </a:r>
            <a:r>
              <a:rPr sz="2400" spc="105" dirty="0">
                <a:latin typeface="Times New Roman" panose="02020603050405020304" pitchFamily="18" charset="0"/>
                <a:cs typeface="Times New Roman" panose="02020603050405020304" pitchFamily="18" charset="0"/>
              </a:rPr>
              <a:t>dominate</a:t>
            </a:r>
            <a:r>
              <a:rPr sz="2400" spc="60" dirty="0">
                <a:latin typeface="Times New Roman" panose="02020603050405020304" pitchFamily="18" charset="0"/>
                <a:cs typeface="Times New Roman" panose="02020603050405020304" pitchFamily="18" charset="0"/>
              </a:rPr>
              <a:t> </a:t>
            </a:r>
            <a:r>
              <a:rPr sz="2400" spc="120" dirty="0">
                <a:latin typeface="Times New Roman" panose="02020603050405020304" pitchFamily="18" charset="0"/>
                <a:cs typeface="Times New Roman" panose="02020603050405020304" pitchFamily="18" charset="0"/>
              </a:rPr>
              <a:t>c</a:t>
            </a:r>
            <a:r>
              <a:rPr sz="2400" spc="90" dirty="0">
                <a:latin typeface="Times New Roman" panose="02020603050405020304" pitchFamily="18" charset="0"/>
                <a:cs typeface="Times New Roman" panose="02020603050405020304" pitchFamily="18" charset="0"/>
              </a:rPr>
              <a:t>omputation </a:t>
            </a:r>
            <a:r>
              <a:rPr sz="2400" spc="65" dirty="0">
                <a:latin typeface="Times New Roman" panose="02020603050405020304" pitchFamily="18" charset="0"/>
                <a:cs typeface="Times New Roman" panose="02020603050405020304" pitchFamily="18" charset="0"/>
              </a:rPr>
              <a:t>time, </a:t>
            </a:r>
            <a:r>
              <a:rPr sz="2400" spc="-105" dirty="0">
                <a:latin typeface="Times New Roman" panose="02020603050405020304" pitchFamily="18" charset="0"/>
                <a:cs typeface="Times New Roman" panose="02020603050405020304" pitchFamily="18" charset="0"/>
              </a:rPr>
              <a:t>if </a:t>
            </a:r>
            <a:r>
              <a:rPr sz="2400" spc="114" dirty="0">
                <a:latin typeface="Times New Roman" panose="02020603050405020304" pitchFamily="18" charset="0"/>
                <a:cs typeface="Times New Roman" panose="02020603050405020304" pitchFamily="18" charset="0"/>
              </a:rPr>
              <a:t>the </a:t>
            </a:r>
            <a:r>
              <a:rPr sz="2400" spc="160" dirty="0">
                <a:latin typeface="Times New Roman" panose="02020603050405020304" pitchFamily="18" charset="0"/>
                <a:cs typeface="Times New Roman" panose="02020603050405020304" pitchFamily="18" charset="0"/>
              </a:rPr>
              <a:t>degree </a:t>
            </a:r>
            <a:r>
              <a:rPr sz="2400" spc="5" dirty="0">
                <a:latin typeface="Times New Roman" panose="02020603050405020304" pitchFamily="18" charset="0"/>
                <a:cs typeface="Times New Roman" panose="02020603050405020304" pitchFamily="18" charset="0"/>
              </a:rPr>
              <a:t>of </a:t>
            </a:r>
            <a:r>
              <a:rPr sz="2400" spc="70" dirty="0">
                <a:latin typeface="Times New Roman" panose="02020603050405020304" pitchFamily="18" charset="0"/>
                <a:cs typeface="Times New Roman" panose="02020603050405020304" pitchFamily="18" charset="0"/>
              </a:rPr>
              <a:t>parallelism </a:t>
            </a:r>
            <a:r>
              <a:rPr sz="2400" spc="60" dirty="0">
                <a:latin typeface="Times New Roman" panose="02020603050405020304" pitchFamily="18" charset="0"/>
                <a:cs typeface="Times New Roman" panose="02020603050405020304" pitchFamily="18" charset="0"/>
              </a:rPr>
              <a:t>is</a:t>
            </a:r>
            <a:r>
              <a:rPr sz="2400" spc="20" dirty="0">
                <a:latin typeface="Times New Roman" panose="02020603050405020304" pitchFamily="18" charset="0"/>
                <a:cs typeface="Times New Roman" panose="02020603050405020304" pitchFamily="18" charset="0"/>
              </a:rPr>
              <a:t> </a:t>
            </a:r>
            <a:r>
              <a:rPr sz="2400" spc="65" dirty="0">
                <a:latin typeface="Times New Roman" panose="02020603050405020304" pitchFamily="18" charset="0"/>
                <a:cs typeface="Times New Roman" panose="02020603050405020304" pitchFamily="18" charset="0"/>
              </a:rPr>
              <a:t>high.</a:t>
            </a:r>
            <a:endParaRPr sz="2400" dirty="0">
              <a:latin typeface="Times New Roman" panose="02020603050405020304" pitchFamily="18" charset="0"/>
              <a:cs typeface="Times New Roman" panose="02020603050405020304" pitchFamily="18" charset="0"/>
            </a:endParaRPr>
          </a:p>
          <a:p>
            <a:pPr marL="390525" marR="46990" indent="-377825" algn="just">
              <a:lnSpc>
                <a:spcPct val="101800"/>
              </a:lnSpc>
              <a:spcBef>
                <a:spcPts val="645"/>
              </a:spcBef>
              <a:buClr>
                <a:srgbClr val="1F497C"/>
              </a:buClr>
              <a:buSzPct val="89743"/>
              <a:buChar char="●"/>
              <a:tabLst>
                <a:tab pos="391160" algn="l"/>
              </a:tabLst>
            </a:pPr>
            <a:r>
              <a:rPr sz="2400" spc="145" dirty="0">
                <a:solidFill>
                  <a:srgbClr val="000099"/>
                </a:solidFill>
                <a:latin typeface="Times New Roman" panose="02020603050405020304" pitchFamily="18" charset="0"/>
                <a:cs typeface="Times New Roman" panose="02020603050405020304" pitchFamily="18" charset="0"/>
              </a:rPr>
              <a:t>Interference</a:t>
            </a:r>
            <a:r>
              <a:rPr sz="2400" spc="14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Since processes executing in a parallel system often access shared resources, a slowdown may result from the interference of each new process as it competes with existing processes for commonly held resources</a:t>
            </a:r>
            <a:endParaRPr lang="en-US" sz="2400" spc="145" dirty="0">
              <a:latin typeface="Times New Roman" panose="02020603050405020304" pitchFamily="18" charset="0"/>
              <a:cs typeface="Times New Roman" panose="02020603050405020304" pitchFamily="18" charset="0"/>
            </a:endParaRPr>
          </a:p>
          <a:p>
            <a:pPr marL="390525" marR="46990" indent="-377825" algn="just">
              <a:lnSpc>
                <a:spcPct val="101800"/>
              </a:lnSpc>
              <a:spcBef>
                <a:spcPts val="645"/>
              </a:spcBef>
              <a:buClr>
                <a:srgbClr val="1F497C"/>
              </a:buClr>
              <a:buSzPct val="89743"/>
              <a:buChar char="●"/>
              <a:tabLst>
                <a:tab pos="391160" algn="l"/>
              </a:tabLst>
            </a:pPr>
            <a:r>
              <a:rPr sz="2400" spc="150" dirty="0">
                <a:solidFill>
                  <a:srgbClr val="000099"/>
                </a:solidFill>
                <a:latin typeface="Times New Roman" panose="02020603050405020304" pitchFamily="18" charset="0"/>
                <a:cs typeface="Times New Roman" panose="02020603050405020304" pitchFamily="18" charset="0"/>
              </a:rPr>
              <a:t>Skew</a:t>
            </a:r>
            <a:r>
              <a:rPr sz="2400" spc="150" dirty="0">
                <a:latin typeface="Times New Roman" panose="02020603050405020304" pitchFamily="18" charset="0"/>
                <a:cs typeface="Times New Roman" panose="02020603050405020304" pitchFamily="18" charset="0"/>
              </a:rPr>
              <a:t>:</a:t>
            </a:r>
            <a:r>
              <a:rPr sz="2400" spc="1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By breaking down a single task into a number of parallel steps, we reduce the size of the average step.</a:t>
            </a:r>
          </a:p>
          <a:p>
            <a:pPr marL="390525" marR="46990" indent="-377825" algn="just">
              <a:lnSpc>
                <a:spcPct val="101800"/>
              </a:lnSpc>
              <a:spcBef>
                <a:spcPts val="645"/>
              </a:spcBef>
              <a:buClr>
                <a:srgbClr val="1F497C"/>
              </a:buClr>
              <a:buSzPct val="89743"/>
              <a:buChar char="●"/>
              <a:tabLst>
                <a:tab pos="391160" algn="l"/>
              </a:tabLst>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5096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648" y="982643"/>
            <a:ext cx="8382000" cy="696036"/>
          </a:xfrm>
        </p:spPr>
        <p:txBody>
          <a:bodyPr>
            <a:normAutofit/>
          </a:bodyPr>
          <a:lstStyle/>
          <a:p>
            <a:r>
              <a:rPr lang="en-US" sz="3600" b="1" dirty="0" smtClean="0">
                <a:latin typeface="Times New Roman" pitchFamily="18" charset="0"/>
                <a:cs typeface="Times New Roman" pitchFamily="18" charset="0"/>
              </a:rPr>
              <a:t>Interconnection </a:t>
            </a:r>
            <a:r>
              <a:rPr lang="en-US" sz="3600" b="1" dirty="0">
                <a:latin typeface="Times New Roman" pitchFamily="18" charset="0"/>
                <a:cs typeface="Times New Roman" pitchFamily="18" charset="0"/>
              </a:rPr>
              <a:t>Network </a:t>
            </a:r>
            <a:r>
              <a:rPr lang="en-US" sz="3600" b="1" dirty="0" smtClean="0">
                <a:latin typeface="Times New Roman" pitchFamily="18" charset="0"/>
                <a:cs typeface="Times New Roman" pitchFamily="18" charset="0"/>
              </a:rPr>
              <a:t>Architectures</a:t>
            </a:r>
            <a:endParaRPr lang="en-US" sz="3600" dirty="0">
              <a:latin typeface="Times New Roman" pitchFamily="18" charset="0"/>
              <a:cs typeface="Times New Roman" pitchFamily="18" charset="0"/>
            </a:endParaRPr>
          </a:p>
        </p:txBody>
      </p:sp>
      <p:sp>
        <p:nvSpPr>
          <p:cNvPr id="4" name="object 4"/>
          <p:cNvSpPr txBox="1"/>
          <p:nvPr/>
        </p:nvSpPr>
        <p:spPr>
          <a:xfrm>
            <a:off x="76200" y="1636180"/>
            <a:ext cx="8562833" cy="5336076"/>
          </a:xfrm>
          <a:prstGeom prst="rect">
            <a:avLst/>
          </a:prstGeom>
        </p:spPr>
        <p:txBody>
          <a:bodyPr vert="horz" wrap="square" lIns="0" tIns="46355" rIns="0" bIns="0" rtlCol="0">
            <a:spAutoFit/>
          </a:bodyPr>
          <a:lstStyle/>
          <a:p>
            <a:pPr marL="390525" marR="106680" indent="-377825" algn="just">
              <a:lnSpc>
                <a:spcPts val="2140"/>
              </a:lnSpc>
              <a:spcBef>
                <a:spcPts val="365"/>
              </a:spcBef>
              <a:buClr>
                <a:srgbClr val="1F497C"/>
              </a:buClr>
              <a:buSzPct val="89743"/>
              <a:buChar char="●"/>
              <a:tabLst>
                <a:tab pos="390525" algn="l"/>
                <a:tab pos="391160" algn="l"/>
              </a:tabLst>
            </a:pPr>
            <a:r>
              <a:rPr lang="en-US" sz="2200" dirty="0">
                <a:latin typeface="Times New Roman" panose="02020603050405020304" pitchFamily="18" charset="0"/>
                <a:cs typeface="Times New Roman" panose="02020603050405020304" pitchFamily="18" charset="0"/>
              </a:rPr>
              <a:t>Parallel systems consist of a set of components (processors, memory, and disks) that can communicate with each other via an interconnection network</a:t>
            </a:r>
            <a:r>
              <a:rPr lang="en-US" sz="2200" dirty="0" smtClean="0">
                <a:latin typeface="Times New Roman" panose="02020603050405020304" pitchFamily="18" charset="0"/>
                <a:cs typeface="Times New Roman" panose="02020603050405020304" pitchFamily="18" charset="0"/>
              </a:rPr>
              <a:t>.</a:t>
            </a:r>
            <a:endParaRPr lang="en-US" sz="2200" spc="190" dirty="0">
              <a:solidFill>
                <a:srgbClr val="000099"/>
              </a:solidFill>
              <a:latin typeface="Times New Roman" panose="02020603050405020304" pitchFamily="18" charset="0"/>
              <a:cs typeface="Times New Roman" panose="02020603050405020304" pitchFamily="18" charset="0"/>
            </a:endParaRPr>
          </a:p>
          <a:p>
            <a:pPr marL="390525" marR="106680" indent="-377825" algn="just">
              <a:lnSpc>
                <a:spcPts val="2140"/>
              </a:lnSpc>
              <a:spcBef>
                <a:spcPts val="365"/>
              </a:spcBef>
              <a:buClr>
                <a:srgbClr val="1F497C"/>
              </a:buClr>
              <a:buSzPct val="89743"/>
              <a:buChar char="●"/>
              <a:tabLst>
                <a:tab pos="390525" algn="l"/>
                <a:tab pos="391160" algn="l"/>
              </a:tabLst>
            </a:pPr>
            <a:r>
              <a:rPr sz="2200" spc="190" dirty="0">
                <a:solidFill>
                  <a:srgbClr val="000099"/>
                </a:solidFill>
                <a:latin typeface="Times New Roman" panose="02020603050405020304" pitchFamily="18" charset="0"/>
                <a:cs typeface="Times New Roman" panose="02020603050405020304" pitchFamily="18" charset="0"/>
              </a:rPr>
              <a:t>Bus</a:t>
            </a:r>
            <a:r>
              <a:rPr sz="2200" spc="190" dirty="0">
                <a:latin typeface="Times New Roman" panose="02020603050405020304" pitchFamily="18" charset="0"/>
                <a:cs typeface="Times New Roman" panose="02020603050405020304" pitchFamily="18" charset="0"/>
              </a:rPr>
              <a:t>.</a:t>
            </a:r>
            <a:r>
              <a:rPr sz="2200" spc="50" dirty="0">
                <a:latin typeface="Times New Roman" panose="02020603050405020304" pitchFamily="18" charset="0"/>
                <a:cs typeface="Times New Roman" panose="02020603050405020304" pitchFamily="18" charset="0"/>
              </a:rPr>
              <a:t> </a:t>
            </a:r>
            <a:r>
              <a:rPr sz="2200" spc="140" dirty="0">
                <a:latin typeface="Times New Roman" panose="02020603050405020304" pitchFamily="18" charset="0"/>
                <a:cs typeface="Times New Roman" panose="02020603050405020304" pitchFamily="18" charset="0"/>
              </a:rPr>
              <a:t>System</a:t>
            </a:r>
            <a:r>
              <a:rPr sz="2200" spc="65" dirty="0">
                <a:latin typeface="Times New Roman" panose="02020603050405020304" pitchFamily="18" charset="0"/>
                <a:cs typeface="Times New Roman" panose="02020603050405020304" pitchFamily="18" charset="0"/>
              </a:rPr>
              <a:t> </a:t>
            </a:r>
            <a:r>
              <a:rPr sz="2200" spc="135" dirty="0">
                <a:latin typeface="Times New Roman" panose="02020603050405020304" pitchFamily="18" charset="0"/>
                <a:cs typeface="Times New Roman" panose="02020603050405020304" pitchFamily="18" charset="0"/>
              </a:rPr>
              <a:t>components</a:t>
            </a:r>
            <a:r>
              <a:rPr sz="2200" spc="30" dirty="0">
                <a:latin typeface="Times New Roman" panose="02020603050405020304" pitchFamily="18" charset="0"/>
                <a:cs typeface="Times New Roman" panose="02020603050405020304" pitchFamily="18" charset="0"/>
              </a:rPr>
              <a:t> </a:t>
            </a:r>
            <a:r>
              <a:rPr sz="2200" spc="180" dirty="0">
                <a:latin typeface="Times New Roman" panose="02020603050405020304" pitchFamily="18" charset="0"/>
                <a:cs typeface="Times New Roman" panose="02020603050405020304" pitchFamily="18" charset="0"/>
              </a:rPr>
              <a:t>send</a:t>
            </a:r>
            <a:r>
              <a:rPr sz="2200" spc="55" dirty="0">
                <a:latin typeface="Times New Roman" panose="02020603050405020304" pitchFamily="18" charset="0"/>
                <a:cs typeface="Times New Roman" panose="02020603050405020304" pitchFamily="18" charset="0"/>
              </a:rPr>
              <a:t> </a:t>
            </a:r>
            <a:r>
              <a:rPr sz="2200" spc="145" dirty="0">
                <a:latin typeface="Times New Roman" panose="02020603050405020304" pitchFamily="18" charset="0"/>
                <a:cs typeface="Times New Roman" panose="02020603050405020304" pitchFamily="18" charset="0"/>
              </a:rPr>
              <a:t>data</a:t>
            </a:r>
            <a:r>
              <a:rPr sz="2200" spc="60" dirty="0">
                <a:latin typeface="Times New Roman" panose="02020603050405020304" pitchFamily="18" charset="0"/>
                <a:cs typeface="Times New Roman" panose="02020603050405020304" pitchFamily="18" charset="0"/>
              </a:rPr>
              <a:t> </a:t>
            </a:r>
            <a:r>
              <a:rPr sz="2200" spc="114" dirty="0">
                <a:latin typeface="Times New Roman" panose="02020603050405020304" pitchFamily="18" charset="0"/>
                <a:cs typeface="Times New Roman" panose="02020603050405020304" pitchFamily="18" charset="0"/>
              </a:rPr>
              <a:t>on</a:t>
            </a:r>
            <a:r>
              <a:rPr sz="2200" spc="75" dirty="0">
                <a:latin typeface="Times New Roman" panose="02020603050405020304" pitchFamily="18" charset="0"/>
                <a:cs typeface="Times New Roman" panose="02020603050405020304" pitchFamily="18" charset="0"/>
              </a:rPr>
              <a:t> </a:t>
            </a:r>
            <a:r>
              <a:rPr sz="2200" spc="155" dirty="0">
                <a:latin typeface="Times New Roman" panose="02020603050405020304" pitchFamily="18" charset="0"/>
                <a:cs typeface="Times New Roman" panose="02020603050405020304" pitchFamily="18" charset="0"/>
              </a:rPr>
              <a:t>and</a:t>
            </a:r>
            <a:r>
              <a:rPr sz="2200" spc="55" dirty="0">
                <a:latin typeface="Times New Roman" panose="02020603050405020304" pitchFamily="18" charset="0"/>
                <a:cs typeface="Times New Roman" panose="02020603050405020304" pitchFamily="18" charset="0"/>
              </a:rPr>
              <a:t> </a:t>
            </a:r>
            <a:r>
              <a:rPr sz="2200" spc="105" dirty="0">
                <a:latin typeface="Times New Roman" panose="02020603050405020304" pitchFamily="18" charset="0"/>
                <a:cs typeface="Times New Roman" panose="02020603050405020304" pitchFamily="18" charset="0"/>
              </a:rPr>
              <a:t>receive</a:t>
            </a:r>
            <a:r>
              <a:rPr sz="2200" spc="40" dirty="0">
                <a:latin typeface="Times New Roman" panose="02020603050405020304" pitchFamily="18" charset="0"/>
                <a:cs typeface="Times New Roman" panose="02020603050405020304" pitchFamily="18" charset="0"/>
              </a:rPr>
              <a:t> </a:t>
            </a:r>
            <a:r>
              <a:rPr sz="2200" spc="150" dirty="0">
                <a:latin typeface="Times New Roman" panose="02020603050405020304" pitchFamily="18" charset="0"/>
                <a:cs typeface="Times New Roman" panose="02020603050405020304" pitchFamily="18" charset="0"/>
              </a:rPr>
              <a:t>data</a:t>
            </a:r>
            <a:r>
              <a:rPr sz="2200" spc="60" dirty="0">
                <a:latin typeface="Times New Roman" panose="02020603050405020304" pitchFamily="18" charset="0"/>
                <a:cs typeface="Times New Roman" panose="02020603050405020304" pitchFamily="18" charset="0"/>
              </a:rPr>
              <a:t> </a:t>
            </a:r>
            <a:r>
              <a:rPr sz="2200" spc="40" dirty="0">
                <a:latin typeface="Times New Roman" panose="02020603050405020304" pitchFamily="18" charset="0"/>
                <a:cs typeface="Times New Roman" panose="02020603050405020304" pitchFamily="18" charset="0"/>
              </a:rPr>
              <a:t>from </a:t>
            </a:r>
            <a:r>
              <a:rPr sz="2200" spc="235" dirty="0">
                <a:latin typeface="Times New Roman" panose="02020603050405020304" pitchFamily="18" charset="0"/>
                <a:cs typeface="Times New Roman" panose="02020603050405020304" pitchFamily="18" charset="0"/>
              </a:rPr>
              <a:t>a</a:t>
            </a:r>
            <a:r>
              <a:rPr sz="2200" spc="75" dirty="0">
                <a:latin typeface="Times New Roman" panose="02020603050405020304" pitchFamily="18" charset="0"/>
                <a:cs typeface="Times New Roman" panose="02020603050405020304" pitchFamily="18" charset="0"/>
              </a:rPr>
              <a:t> </a:t>
            </a:r>
            <a:r>
              <a:rPr sz="2200" spc="85" dirty="0">
                <a:latin typeface="Times New Roman" panose="02020603050405020304" pitchFamily="18" charset="0"/>
                <a:cs typeface="Times New Roman" panose="02020603050405020304" pitchFamily="18" charset="0"/>
              </a:rPr>
              <a:t>single  </a:t>
            </a:r>
            <a:r>
              <a:rPr sz="2200" spc="90" dirty="0">
                <a:latin typeface="Times New Roman" panose="02020603050405020304" pitchFamily="18" charset="0"/>
                <a:cs typeface="Times New Roman" panose="02020603050405020304" pitchFamily="18" charset="0"/>
              </a:rPr>
              <a:t>communication</a:t>
            </a:r>
            <a:r>
              <a:rPr sz="2200" spc="10" dirty="0">
                <a:latin typeface="Times New Roman" panose="02020603050405020304" pitchFamily="18" charset="0"/>
                <a:cs typeface="Times New Roman" panose="02020603050405020304" pitchFamily="18" charset="0"/>
              </a:rPr>
              <a:t> </a:t>
            </a:r>
            <a:r>
              <a:rPr sz="2200" spc="120" dirty="0">
                <a:latin typeface="Times New Roman" panose="02020603050405020304" pitchFamily="18" charset="0"/>
                <a:cs typeface="Times New Roman" panose="02020603050405020304" pitchFamily="18" charset="0"/>
              </a:rPr>
              <a:t>bus</a:t>
            </a:r>
            <a:r>
              <a:rPr lang="en-US" sz="2200" spc="120" dirty="0">
                <a:latin typeface="Times New Roman" panose="02020603050405020304" pitchFamily="18" charset="0"/>
                <a:cs typeface="Times New Roman" panose="02020603050405020304" pitchFamily="18" charset="0"/>
              </a:rPr>
              <a:t>.</a:t>
            </a:r>
          </a:p>
          <a:p>
            <a:pPr marL="12700" marR="106680" algn="just">
              <a:lnSpc>
                <a:spcPts val="2140"/>
              </a:lnSpc>
              <a:spcBef>
                <a:spcPts val="365"/>
              </a:spcBef>
              <a:buClr>
                <a:srgbClr val="1F497C"/>
              </a:buClr>
              <a:buSzPct val="89743"/>
              <a:tabLst>
                <a:tab pos="390525" algn="l"/>
                <a:tab pos="391160" algn="l"/>
              </a:tabLst>
            </a:pPr>
            <a:r>
              <a:rPr lang="en-US" sz="2200" dirty="0">
                <a:latin typeface="Times New Roman" panose="02020603050405020304" pitchFamily="18" charset="0"/>
                <a:cs typeface="Times New Roman" panose="02020603050405020304" pitchFamily="18" charset="0"/>
              </a:rPr>
              <a:t>       Does not scale well with increasing parallelism, since the bus can    		  handle communication from only one component at a time.</a:t>
            </a:r>
            <a:endParaRPr sz="2200" dirty="0">
              <a:latin typeface="Times New Roman" panose="02020603050405020304" pitchFamily="18" charset="0"/>
              <a:cs typeface="Times New Roman" panose="02020603050405020304" pitchFamily="18" charset="0"/>
            </a:endParaRPr>
          </a:p>
          <a:p>
            <a:pPr marL="390525" marR="52705" indent="-377825" algn="just">
              <a:lnSpc>
                <a:spcPts val="2150"/>
              </a:lnSpc>
              <a:spcBef>
                <a:spcPts val="685"/>
              </a:spcBef>
              <a:buClr>
                <a:srgbClr val="1F497C"/>
              </a:buClr>
              <a:buSzPct val="89743"/>
              <a:buChar char="●"/>
              <a:tabLst>
                <a:tab pos="390525" algn="l"/>
                <a:tab pos="391160" algn="l"/>
              </a:tabLst>
            </a:pPr>
            <a:r>
              <a:rPr sz="2200" spc="155" dirty="0">
                <a:solidFill>
                  <a:srgbClr val="000099"/>
                </a:solidFill>
                <a:latin typeface="Times New Roman" panose="02020603050405020304" pitchFamily="18" charset="0"/>
                <a:cs typeface="Times New Roman" panose="02020603050405020304" pitchFamily="18" charset="0"/>
              </a:rPr>
              <a:t>Mesh</a:t>
            </a:r>
            <a:r>
              <a:rPr sz="2200" spc="155" dirty="0">
                <a:latin typeface="Times New Roman" panose="02020603050405020304" pitchFamily="18" charset="0"/>
                <a:cs typeface="Times New Roman" panose="02020603050405020304" pitchFamily="18" charset="0"/>
              </a:rPr>
              <a:t>.</a:t>
            </a:r>
            <a:r>
              <a:rPr sz="2200" spc="5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Components are arranged as nodes in a grid, and each component is connected to all adjacent components</a:t>
            </a:r>
            <a:r>
              <a:rPr lang="en-US" sz="2200" dirty="0">
                <a:latin typeface="Times New Roman" panose="02020603050405020304" pitchFamily="18" charset="0"/>
                <a:cs typeface="Times New Roman" panose="02020603050405020304" pitchFamily="18" charset="0"/>
              </a:rPr>
              <a:t>.</a:t>
            </a:r>
          </a:p>
          <a:p>
            <a:pPr marL="12700" marR="52705" algn="just">
              <a:lnSpc>
                <a:spcPts val="2150"/>
              </a:lnSpc>
              <a:spcBef>
                <a:spcPts val="685"/>
              </a:spcBef>
              <a:buClr>
                <a:srgbClr val="1F497C"/>
              </a:buClr>
              <a:buSzPct val="89743"/>
              <a:tabLst>
                <a:tab pos="390525" algn="l"/>
                <a:tab pos="391160" algn="l"/>
              </a:tabLst>
            </a:pPr>
            <a:r>
              <a:rPr lang="en-US" sz="2200" dirty="0">
                <a:latin typeface="Times New Roman" panose="02020603050405020304" pitchFamily="18" charset="0"/>
                <a:cs typeface="Times New Roman" panose="02020603050405020304" pitchFamily="18" charset="0"/>
              </a:rPr>
              <a:t>     In a two-dimensional mesh each node connects to four adjacent 	nodes, while in a three-dimensional mesh each node connects to six 	adjacent  nodes. Figure b shows a two-dimensional mesh.</a:t>
            </a:r>
            <a:endParaRPr sz="2200" dirty="0">
              <a:latin typeface="Times New Roman" panose="02020603050405020304" pitchFamily="18" charset="0"/>
              <a:cs typeface="Times New Roman" panose="02020603050405020304" pitchFamily="18" charset="0"/>
            </a:endParaRPr>
          </a:p>
          <a:p>
            <a:pPr marL="390525" marR="23495" indent="-377825" algn="just">
              <a:lnSpc>
                <a:spcPct val="91500"/>
              </a:lnSpc>
              <a:spcBef>
                <a:spcPts val="600"/>
              </a:spcBef>
              <a:buClr>
                <a:srgbClr val="1F497C"/>
              </a:buClr>
              <a:buSzPct val="89743"/>
              <a:buChar char="●"/>
              <a:tabLst>
                <a:tab pos="390525" algn="l"/>
                <a:tab pos="391160" algn="l"/>
                <a:tab pos="1897380" algn="l"/>
                <a:tab pos="6184900" algn="l"/>
              </a:tabLst>
            </a:pPr>
            <a:r>
              <a:rPr sz="2200" spc="170" dirty="0">
                <a:solidFill>
                  <a:srgbClr val="000099"/>
                </a:solidFill>
                <a:latin typeface="Times New Roman" panose="02020603050405020304" pitchFamily="18" charset="0"/>
                <a:cs typeface="Times New Roman" panose="02020603050405020304" pitchFamily="18" charset="0"/>
              </a:rPr>
              <a:t>Hyper</a:t>
            </a:r>
            <a:r>
              <a:rPr lang="en-US" sz="2200" spc="170" dirty="0">
                <a:solidFill>
                  <a:srgbClr val="000099"/>
                </a:solidFill>
                <a:latin typeface="Times New Roman" panose="02020603050405020304" pitchFamily="18" charset="0"/>
                <a:cs typeface="Times New Roman" panose="02020603050405020304" pitchFamily="18" charset="0"/>
              </a:rPr>
              <a:t> </a:t>
            </a:r>
            <a:r>
              <a:rPr sz="2200" spc="170" dirty="0">
                <a:solidFill>
                  <a:srgbClr val="000099"/>
                </a:solidFill>
                <a:latin typeface="Times New Roman" panose="02020603050405020304" pitchFamily="18" charset="0"/>
                <a:cs typeface="Times New Roman" panose="02020603050405020304" pitchFamily="18" charset="0"/>
              </a:rPr>
              <a:t>cube</a:t>
            </a:r>
            <a:r>
              <a:rPr sz="2200" spc="170" dirty="0">
                <a:latin typeface="Times New Roman" panose="02020603050405020304" pitchFamily="18" charset="0"/>
                <a:cs typeface="Times New Roman" panose="02020603050405020304" pitchFamily="18" charset="0"/>
              </a:rPr>
              <a:t>.</a:t>
            </a:r>
            <a:r>
              <a:rPr lang="en-US" sz="2200" spc="170" dirty="0">
                <a:latin typeface="Times New Roman" panose="02020603050405020304" pitchFamily="18" charset="0"/>
                <a:cs typeface="Times New Roman" panose="02020603050405020304" pitchFamily="18" charset="0"/>
              </a:rPr>
              <a:t> </a:t>
            </a:r>
            <a:r>
              <a:rPr sz="2200" spc="135" dirty="0">
                <a:latin typeface="Times New Roman" panose="02020603050405020304" pitchFamily="18" charset="0"/>
                <a:cs typeface="Times New Roman" panose="02020603050405020304" pitchFamily="18" charset="0"/>
              </a:rPr>
              <a:t>Components </a:t>
            </a:r>
            <a:r>
              <a:rPr sz="2200" spc="155" dirty="0">
                <a:latin typeface="Times New Roman" panose="02020603050405020304" pitchFamily="18" charset="0"/>
                <a:cs typeface="Times New Roman" panose="02020603050405020304" pitchFamily="18" charset="0"/>
              </a:rPr>
              <a:t>are </a:t>
            </a:r>
            <a:r>
              <a:rPr sz="2200" spc="135" dirty="0">
                <a:latin typeface="Times New Roman" panose="02020603050405020304" pitchFamily="18" charset="0"/>
                <a:cs typeface="Times New Roman" panose="02020603050405020304" pitchFamily="18" charset="0"/>
              </a:rPr>
              <a:t>numbered</a:t>
            </a:r>
            <a:r>
              <a:rPr sz="2200" spc="-114"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in</a:t>
            </a:r>
            <a:r>
              <a:rPr sz="2200" spc="70" dirty="0">
                <a:latin typeface="Times New Roman" panose="02020603050405020304" pitchFamily="18" charset="0"/>
                <a:cs typeface="Times New Roman" panose="02020603050405020304" pitchFamily="18" charset="0"/>
              </a:rPr>
              <a:t> </a:t>
            </a:r>
            <a:r>
              <a:rPr sz="2200" spc="55" dirty="0">
                <a:latin typeface="Times New Roman" panose="02020603050405020304" pitchFamily="18" charset="0"/>
                <a:cs typeface="Times New Roman" panose="02020603050405020304" pitchFamily="18" charset="0"/>
              </a:rPr>
              <a:t>binary;	</a:t>
            </a:r>
            <a:r>
              <a:rPr sz="2200" spc="135" dirty="0">
                <a:latin typeface="Times New Roman" panose="02020603050405020304" pitchFamily="18" charset="0"/>
                <a:cs typeface="Times New Roman" panose="02020603050405020304" pitchFamily="18" charset="0"/>
              </a:rPr>
              <a:t>components </a:t>
            </a:r>
            <a:r>
              <a:rPr sz="2200" spc="155" dirty="0">
                <a:latin typeface="Times New Roman" panose="02020603050405020304" pitchFamily="18" charset="0"/>
                <a:cs typeface="Times New Roman" panose="02020603050405020304" pitchFamily="18" charset="0"/>
              </a:rPr>
              <a:t>are</a:t>
            </a:r>
            <a:r>
              <a:rPr sz="2200" spc="-105" dirty="0">
                <a:latin typeface="Times New Roman" panose="02020603050405020304" pitchFamily="18" charset="0"/>
                <a:cs typeface="Times New Roman" panose="02020603050405020304" pitchFamily="18" charset="0"/>
              </a:rPr>
              <a:t> </a:t>
            </a:r>
            <a:r>
              <a:rPr sz="2200" spc="130" dirty="0">
                <a:latin typeface="Times New Roman" panose="02020603050405020304" pitchFamily="18" charset="0"/>
                <a:cs typeface="Times New Roman" panose="02020603050405020304" pitchFamily="18" charset="0"/>
              </a:rPr>
              <a:t>co</a:t>
            </a:r>
            <a:r>
              <a:rPr sz="2200" spc="135" dirty="0">
                <a:latin typeface="Times New Roman" panose="02020603050405020304" pitchFamily="18" charset="0"/>
                <a:cs typeface="Times New Roman" panose="02020603050405020304" pitchFamily="18" charset="0"/>
              </a:rPr>
              <a:t>nnected </a:t>
            </a:r>
            <a:r>
              <a:rPr sz="2200" spc="65" dirty="0">
                <a:latin typeface="Times New Roman" panose="02020603050405020304" pitchFamily="18" charset="0"/>
                <a:cs typeface="Times New Roman" panose="02020603050405020304" pitchFamily="18" charset="0"/>
              </a:rPr>
              <a:t>to </a:t>
            </a:r>
            <a:r>
              <a:rPr sz="2200" spc="155" dirty="0">
                <a:latin typeface="Times New Roman" panose="02020603050405020304" pitchFamily="18" charset="0"/>
                <a:cs typeface="Times New Roman" panose="02020603050405020304" pitchFamily="18" charset="0"/>
              </a:rPr>
              <a:t>one </a:t>
            </a:r>
            <a:r>
              <a:rPr sz="2200" spc="120" dirty="0">
                <a:latin typeface="Times New Roman" panose="02020603050405020304" pitchFamily="18" charset="0"/>
                <a:cs typeface="Times New Roman" panose="02020603050405020304" pitchFamily="18" charset="0"/>
              </a:rPr>
              <a:t>another </a:t>
            </a:r>
            <a:r>
              <a:rPr sz="2200" spc="-95" dirty="0">
                <a:latin typeface="Times New Roman" panose="02020603050405020304" pitchFamily="18" charset="0"/>
                <a:cs typeface="Times New Roman" panose="02020603050405020304" pitchFamily="18" charset="0"/>
              </a:rPr>
              <a:t>if </a:t>
            </a:r>
            <a:r>
              <a:rPr sz="2200" spc="55" dirty="0">
                <a:latin typeface="Times New Roman" panose="02020603050405020304" pitchFamily="18" charset="0"/>
                <a:cs typeface="Times New Roman" panose="02020603050405020304" pitchFamily="18" charset="0"/>
              </a:rPr>
              <a:t>their </a:t>
            </a:r>
            <a:r>
              <a:rPr sz="2200" spc="65" dirty="0">
                <a:latin typeface="Times New Roman" panose="02020603050405020304" pitchFamily="18" charset="0"/>
                <a:cs typeface="Times New Roman" panose="02020603050405020304" pitchFamily="18" charset="0"/>
              </a:rPr>
              <a:t>binary </a:t>
            </a:r>
            <a:r>
              <a:rPr sz="2200" spc="120" dirty="0">
                <a:latin typeface="Times New Roman" panose="02020603050405020304" pitchFamily="18" charset="0"/>
                <a:cs typeface="Times New Roman" panose="02020603050405020304" pitchFamily="18" charset="0"/>
              </a:rPr>
              <a:t>representations </a:t>
            </a:r>
            <a:r>
              <a:rPr sz="2200" dirty="0">
                <a:latin typeface="Times New Roman" panose="02020603050405020304" pitchFamily="18" charset="0"/>
                <a:cs typeface="Times New Roman" panose="02020603050405020304" pitchFamily="18" charset="0"/>
              </a:rPr>
              <a:t>differ </a:t>
            </a:r>
            <a:r>
              <a:rPr sz="2200" spc="5" dirty="0">
                <a:latin typeface="Times New Roman" panose="02020603050405020304" pitchFamily="18" charset="0"/>
                <a:cs typeface="Times New Roman" panose="02020603050405020304" pitchFamily="18" charset="0"/>
              </a:rPr>
              <a:t>in </a:t>
            </a:r>
            <a:r>
              <a:rPr sz="2200" spc="75" dirty="0">
                <a:latin typeface="Times New Roman" panose="02020603050405020304" pitchFamily="18" charset="0"/>
                <a:cs typeface="Times New Roman" panose="02020603050405020304" pitchFamily="18" charset="0"/>
              </a:rPr>
              <a:t>exactly </a:t>
            </a:r>
            <a:r>
              <a:rPr sz="2200" spc="125" dirty="0">
                <a:latin typeface="Times New Roman" panose="02020603050405020304" pitchFamily="18" charset="0"/>
                <a:cs typeface="Times New Roman" panose="02020603050405020304" pitchFamily="18" charset="0"/>
              </a:rPr>
              <a:t>o</a:t>
            </a:r>
            <a:r>
              <a:rPr sz="2200" spc="180" dirty="0">
                <a:latin typeface="Times New Roman" panose="02020603050405020304" pitchFamily="18" charset="0"/>
                <a:cs typeface="Times New Roman" panose="02020603050405020304" pitchFamily="18" charset="0"/>
              </a:rPr>
              <a:t>ne</a:t>
            </a:r>
            <a:r>
              <a:rPr sz="2200" spc="30" dirty="0">
                <a:latin typeface="Times New Roman" panose="02020603050405020304" pitchFamily="18" charset="0"/>
                <a:cs typeface="Times New Roman" panose="02020603050405020304" pitchFamily="18" charset="0"/>
              </a:rPr>
              <a:t> </a:t>
            </a:r>
            <a:r>
              <a:rPr sz="2200" spc="20" dirty="0">
                <a:latin typeface="Times New Roman" panose="02020603050405020304" pitchFamily="18" charset="0"/>
                <a:cs typeface="Times New Roman" panose="02020603050405020304" pitchFamily="18" charset="0"/>
              </a:rPr>
              <a:t>bit.</a:t>
            </a:r>
            <a:endParaRPr lang="en-US" sz="2200" dirty="0">
              <a:latin typeface="Times New Roman" panose="02020603050405020304" pitchFamily="18" charset="0"/>
              <a:cs typeface="Times New Roman" panose="02020603050405020304" pitchFamily="18" charset="0"/>
            </a:endParaRPr>
          </a:p>
          <a:p>
            <a:pPr marL="12700" marR="23495" algn="just">
              <a:lnSpc>
                <a:spcPct val="91500"/>
              </a:lnSpc>
              <a:spcBef>
                <a:spcPts val="600"/>
              </a:spcBef>
              <a:buClr>
                <a:srgbClr val="1F497C"/>
              </a:buClr>
              <a:buSzPct val="89743"/>
              <a:tabLst>
                <a:tab pos="390525" algn="l"/>
                <a:tab pos="391160" algn="l"/>
                <a:tab pos="1897380" algn="l"/>
                <a:tab pos="6184900" algn="l"/>
              </a:tabLst>
            </a:pPr>
            <a:r>
              <a:rPr lang="en-US" sz="2200" dirty="0">
                <a:latin typeface="Times New Roman" panose="02020603050405020304" pitchFamily="18" charset="0"/>
                <a:cs typeface="Times New Roman" panose="02020603050405020304" pitchFamily="18" charset="0"/>
              </a:rPr>
              <a:t>      In a hypercube interconnection, a message from a component can    	  	 reach any other component by going through at most log(n) links.</a:t>
            </a:r>
            <a:endParaRPr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1123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415" y="925802"/>
            <a:ext cx="8065010" cy="944562"/>
          </a:xfrm>
        </p:spPr>
        <p:txBody>
          <a:bodyPr>
            <a:normAutofit/>
          </a:bodyPr>
          <a:lstStyle/>
          <a:p>
            <a:r>
              <a:rPr lang="en-US" sz="3600" b="1" dirty="0">
                <a:latin typeface="Times New Roman" pitchFamily="18" charset="0"/>
                <a:cs typeface="Times New Roman" pitchFamily="18" charset="0"/>
              </a:rPr>
              <a:t>Interconnection Architectures</a:t>
            </a:r>
          </a:p>
        </p:txBody>
      </p:sp>
      <p:sp>
        <p:nvSpPr>
          <p:cNvPr id="4" name="object 3"/>
          <p:cNvSpPr/>
          <p:nvPr/>
        </p:nvSpPr>
        <p:spPr>
          <a:xfrm>
            <a:off x="381000" y="1752600"/>
            <a:ext cx="8217409" cy="2414016"/>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228600" y="4419600"/>
            <a:ext cx="9083040" cy="359663"/>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059691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71055" y="1565564"/>
            <a:ext cx="8277225" cy="4031873"/>
          </a:xfrm>
          <a:prstGeom prst="rect">
            <a:avLst/>
          </a:prstGeom>
        </p:spPr>
        <p:txBody>
          <a:bodyPr wrap="square">
            <a:spAutoFit/>
          </a:bodyPr>
          <a:lstStyle/>
          <a:p>
            <a:r>
              <a:rPr lang="en-US" sz="3600" b="1" dirty="0">
                <a:solidFill>
                  <a:schemeClr val="dk1"/>
                </a:solidFill>
                <a:latin typeface="Times New Roman" pitchFamily="18" charset="0"/>
                <a:ea typeface="Calibri"/>
                <a:cs typeface="Times New Roman" pitchFamily="18" charset="0"/>
                <a:sym typeface="Calibri"/>
              </a:rPr>
              <a:t>Parallel Database Architectures</a:t>
            </a:r>
          </a:p>
          <a:p>
            <a:endParaRPr lang="en-US" sz="2200" b="1"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There are several architectural models for parallel machines. Among the most prominent ones are those in Figure</a:t>
            </a:r>
          </a:p>
          <a:p>
            <a:endParaRPr lang="en-US" sz="2200" b="1"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Shared memory -- processors share a common memory</a:t>
            </a:r>
          </a:p>
          <a:p>
            <a:r>
              <a:rPr lang="en-US" sz="2200" dirty="0">
                <a:latin typeface="Times New Roman" panose="02020603050405020304" pitchFamily="18" charset="0"/>
                <a:cs typeface="Times New Roman" panose="02020603050405020304" pitchFamily="18" charset="0"/>
              </a:rPr>
              <a:t>● Shared disk -- processors share a common disk</a:t>
            </a:r>
          </a:p>
          <a:p>
            <a:r>
              <a:rPr lang="en-US" sz="2200" dirty="0">
                <a:latin typeface="Times New Roman" panose="02020603050405020304" pitchFamily="18" charset="0"/>
                <a:cs typeface="Times New Roman" panose="02020603050405020304" pitchFamily="18" charset="0"/>
              </a:rPr>
              <a:t>● Shared nothing -- processors share neither a common memory nor common disk</a:t>
            </a:r>
          </a:p>
          <a:p>
            <a:r>
              <a:rPr lang="en-US" sz="2200" dirty="0">
                <a:latin typeface="Times New Roman" panose="02020603050405020304" pitchFamily="18" charset="0"/>
                <a:cs typeface="Times New Roman" panose="02020603050405020304" pitchFamily="18" charset="0"/>
              </a:rPr>
              <a:t>● Hierarchical -- hybrid of the above architectures</a:t>
            </a:r>
          </a:p>
          <a:p>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015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0945" y="857084"/>
            <a:ext cx="8382000" cy="792162"/>
          </a:xfrm>
        </p:spPr>
        <p:txBody>
          <a:bodyPr>
            <a:normAutofit/>
          </a:bodyPr>
          <a:lstStyle/>
          <a:p>
            <a:r>
              <a:rPr lang="en-US" sz="2400" b="1" spc="220" dirty="0">
                <a:solidFill>
                  <a:srgbClr val="1F497C"/>
                </a:solidFill>
                <a:latin typeface="Times New Roman" panose="02020603050405020304" pitchFamily="18" charset="0"/>
                <a:cs typeface="Times New Roman" panose="02020603050405020304" pitchFamily="18" charset="0"/>
              </a:rPr>
              <a:t>Parallel </a:t>
            </a:r>
            <a:r>
              <a:rPr lang="en-US" sz="2400" b="1" spc="350" dirty="0">
                <a:solidFill>
                  <a:srgbClr val="1F497C"/>
                </a:solidFill>
                <a:latin typeface="Times New Roman" panose="02020603050405020304" pitchFamily="18" charset="0"/>
                <a:cs typeface="Times New Roman" panose="02020603050405020304" pitchFamily="18" charset="0"/>
              </a:rPr>
              <a:t>Database</a:t>
            </a:r>
            <a:r>
              <a:rPr lang="en-US" sz="2400" b="1" spc="-235" dirty="0">
                <a:solidFill>
                  <a:srgbClr val="1F497C"/>
                </a:solidFill>
                <a:latin typeface="Times New Roman" panose="02020603050405020304" pitchFamily="18" charset="0"/>
                <a:cs typeface="Times New Roman" panose="02020603050405020304" pitchFamily="18" charset="0"/>
              </a:rPr>
              <a:t> </a:t>
            </a:r>
            <a:r>
              <a:rPr lang="en-US" sz="2400" b="1" spc="290" dirty="0">
                <a:solidFill>
                  <a:srgbClr val="1F497C"/>
                </a:solidFill>
                <a:latin typeface="Times New Roman" panose="02020603050405020304" pitchFamily="18" charset="0"/>
                <a:cs typeface="Times New Roman" panose="02020603050405020304" pitchFamily="18" charset="0"/>
              </a:rPr>
              <a:t>Architectures</a:t>
            </a:r>
            <a:endParaRPr lang="en-US" sz="2400" b="1" dirty="0">
              <a:latin typeface="Times New Roman" panose="02020603050405020304" pitchFamily="18" charset="0"/>
              <a:cs typeface="Times New Roman" panose="02020603050405020304" pitchFamily="18" charset="0"/>
            </a:endParaRPr>
          </a:p>
        </p:txBody>
      </p:sp>
      <p:sp>
        <p:nvSpPr>
          <p:cNvPr id="4" name="object 3"/>
          <p:cNvSpPr/>
          <p:nvPr/>
        </p:nvSpPr>
        <p:spPr>
          <a:xfrm>
            <a:off x="457201" y="1649246"/>
            <a:ext cx="8458200" cy="2417064"/>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533401" y="4181855"/>
            <a:ext cx="8305800" cy="2447545"/>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437147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0516" y="1036638"/>
            <a:ext cx="8229600" cy="715962"/>
          </a:xfrm>
        </p:spPr>
        <p:txBody>
          <a:bodyPr>
            <a:normAutofit/>
          </a:bodyPr>
          <a:lstStyle/>
          <a:p>
            <a:r>
              <a:rPr lang="en-US" sz="3200" b="1" dirty="0">
                <a:latin typeface="Times New Roman" panose="02020603050405020304" pitchFamily="18" charset="0"/>
                <a:cs typeface="Times New Roman" panose="02020603050405020304" pitchFamily="18" charset="0"/>
              </a:rPr>
              <a:t>Shared Memory</a:t>
            </a:r>
          </a:p>
        </p:txBody>
      </p:sp>
      <p:sp>
        <p:nvSpPr>
          <p:cNvPr id="4" name="object 4"/>
          <p:cNvSpPr txBox="1"/>
          <p:nvPr/>
        </p:nvSpPr>
        <p:spPr>
          <a:xfrm>
            <a:off x="310516" y="2056071"/>
            <a:ext cx="8681084" cy="3609450"/>
          </a:xfrm>
          <a:prstGeom prst="rect">
            <a:avLst/>
          </a:prstGeom>
        </p:spPr>
        <p:txBody>
          <a:bodyPr vert="horz" wrap="square" lIns="0" tIns="10160" rIns="0" bIns="0" rtlCol="0">
            <a:spAutoFit/>
          </a:bodyPr>
          <a:lstStyle/>
          <a:p>
            <a:pPr marL="390525" marR="6985" indent="-377825" algn="just">
              <a:lnSpc>
                <a:spcPct val="102099"/>
              </a:lnSpc>
              <a:spcBef>
                <a:spcPts val="80"/>
              </a:spcBef>
              <a:buClr>
                <a:srgbClr val="1F497C"/>
              </a:buClr>
              <a:buSzPct val="89743"/>
              <a:buChar char="●"/>
              <a:tabLst>
                <a:tab pos="389890" algn="l"/>
                <a:tab pos="391160" algn="l"/>
              </a:tabLst>
            </a:pPr>
            <a:r>
              <a:rPr sz="2400" spc="155" dirty="0">
                <a:latin typeface="Times New Roman" panose="02020603050405020304" pitchFamily="18" charset="0"/>
                <a:cs typeface="Times New Roman" panose="02020603050405020304" pitchFamily="18" charset="0"/>
              </a:rPr>
              <a:t>Processors</a:t>
            </a:r>
            <a:r>
              <a:rPr sz="2400" spc="5" dirty="0">
                <a:latin typeface="Times New Roman" panose="02020603050405020304" pitchFamily="18" charset="0"/>
                <a:cs typeface="Times New Roman" panose="02020603050405020304" pitchFamily="18" charset="0"/>
              </a:rPr>
              <a:t> </a:t>
            </a:r>
            <a:r>
              <a:rPr sz="2400" spc="165" dirty="0">
                <a:latin typeface="Times New Roman" panose="02020603050405020304" pitchFamily="18" charset="0"/>
                <a:cs typeface="Times New Roman" panose="02020603050405020304" pitchFamily="18" charset="0"/>
              </a:rPr>
              <a:t>and</a:t>
            </a:r>
            <a:r>
              <a:rPr sz="2400" spc="55" dirty="0">
                <a:latin typeface="Times New Roman" panose="02020603050405020304" pitchFamily="18" charset="0"/>
                <a:cs typeface="Times New Roman" panose="02020603050405020304" pitchFamily="18" charset="0"/>
              </a:rPr>
              <a:t> </a:t>
            </a:r>
            <a:r>
              <a:rPr sz="2400" spc="100" dirty="0">
                <a:latin typeface="Times New Roman" panose="02020603050405020304" pitchFamily="18" charset="0"/>
                <a:cs typeface="Times New Roman" panose="02020603050405020304" pitchFamily="18" charset="0"/>
              </a:rPr>
              <a:t>disks</a:t>
            </a:r>
            <a:r>
              <a:rPr sz="2400" spc="25" dirty="0">
                <a:latin typeface="Times New Roman" panose="02020603050405020304" pitchFamily="18" charset="0"/>
                <a:cs typeface="Times New Roman" panose="02020603050405020304" pitchFamily="18" charset="0"/>
              </a:rPr>
              <a:t> </a:t>
            </a:r>
            <a:r>
              <a:rPr sz="2400" spc="155" dirty="0">
                <a:latin typeface="Times New Roman" panose="02020603050405020304" pitchFamily="18" charset="0"/>
                <a:cs typeface="Times New Roman" panose="02020603050405020304" pitchFamily="18" charset="0"/>
              </a:rPr>
              <a:t>have</a:t>
            </a:r>
            <a:r>
              <a:rPr sz="2400" spc="60" dirty="0">
                <a:latin typeface="Times New Roman" panose="02020603050405020304" pitchFamily="18" charset="0"/>
                <a:cs typeface="Times New Roman" panose="02020603050405020304" pitchFamily="18" charset="0"/>
              </a:rPr>
              <a:t> </a:t>
            </a:r>
            <a:r>
              <a:rPr sz="2400" spc="195" dirty="0">
                <a:latin typeface="Times New Roman" panose="02020603050405020304" pitchFamily="18" charset="0"/>
                <a:cs typeface="Times New Roman" panose="02020603050405020304" pitchFamily="18" charset="0"/>
              </a:rPr>
              <a:t>access</a:t>
            </a:r>
            <a:r>
              <a:rPr sz="2400" spc="45" dirty="0">
                <a:latin typeface="Times New Roman" panose="02020603050405020304" pitchFamily="18" charset="0"/>
                <a:cs typeface="Times New Roman" panose="02020603050405020304" pitchFamily="18" charset="0"/>
              </a:rPr>
              <a:t> </a:t>
            </a:r>
            <a:r>
              <a:rPr sz="2400" spc="65" dirty="0">
                <a:latin typeface="Times New Roman" panose="02020603050405020304" pitchFamily="18" charset="0"/>
                <a:cs typeface="Times New Roman" panose="02020603050405020304" pitchFamily="18" charset="0"/>
              </a:rPr>
              <a:t>to</a:t>
            </a:r>
            <a:r>
              <a:rPr sz="2400" spc="55" dirty="0">
                <a:latin typeface="Times New Roman" panose="02020603050405020304" pitchFamily="18" charset="0"/>
                <a:cs typeface="Times New Roman" panose="02020603050405020304" pitchFamily="18" charset="0"/>
              </a:rPr>
              <a:t> </a:t>
            </a:r>
            <a:r>
              <a:rPr sz="2400" spc="235" dirty="0">
                <a:latin typeface="Times New Roman" panose="02020603050405020304" pitchFamily="18" charset="0"/>
                <a:cs typeface="Times New Roman" panose="02020603050405020304" pitchFamily="18" charset="0"/>
              </a:rPr>
              <a:t>a</a:t>
            </a:r>
            <a:r>
              <a:rPr sz="2400" spc="60" dirty="0">
                <a:latin typeface="Times New Roman" panose="02020603050405020304" pitchFamily="18" charset="0"/>
                <a:cs typeface="Times New Roman" panose="02020603050405020304" pitchFamily="18" charset="0"/>
              </a:rPr>
              <a:t> </a:t>
            </a:r>
            <a:r>
              <a:rPr sz="2400" spc="125" dirty="0">
                <a:latin typeface="Times New Roman" panose="02020603050405020304" pitchFamily="18" charset="0"/>
                <a:cs typeface="Times New Roman" panose="02020603050405020304" pitchFamily="18" charset="0"/>
              </a:rPr>
              <a:t>common</a:t>
            </a:r>
            <a:r>
              <a:rPr sz="2400" spc="55" dirty="0">
                <a:latin typeface="Times New Roman" panose="02020603050405020304" pitchFamily="18" charset="0"/>
                <a:cs typeface="Times New Roman" panose="02020603050405020304" pitchFamily="18" charset="0"/>
              </a:rPr>
              <a:t> </a:t>
            </a:r>
            <a:r>
              <a:rPr sz="2400" spc="75" dirty="0">
                <a:latin typeface="Times New Roman" panose="02020603050405020304" pitchFamily="18" charset="0"/>
                <a:cs typeface="Times New Roman" panose="02020603050405020304" pitchFamily="18" charset="0"/>
              </a:rPr>
              <a:t>memory,</a:t>
            </a:r>
            <a:r>
              <a:rPr sz="2400" spc="7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typically</a:t>
            </a:r>
            <a:r>
              <a:rPr sz="2400" spc="50" dirty="0">
                <a:latin typeface="Times New Roman" panose="02020603050405020304" pitchFamily="18" charset="0"/>
                <a:cs typeface="Times New Roman" panose="02020603050405020304" pitchFamily="18" charset="0"/>
              </a:rPr>
              <a:t> via</a:t>
            </a:r>
            <a:r>
              <a:rPr sz="2400" spc="35" dirty="0">
                <a:latin typeface="Times New Roman" panose="02020603050405020304" pitchFamily="18" charset="0"/>
                <a:cs typeface="Times New Roman" panose="02020603050405020304" pitchFamily="18" charset="0"/>
              </a:rPr>
              <a:t> </a:t>
            </a:r>
            <a:r>
              <a:rPr sz="2400" spc="160" dirty="0">
                <a:latin typeface="Times New Roman" panose="02020603050405020304" pitchFamily="18" charset="0"/>
                <a:cs typeface="Times New Roman" panose="02020603050405020304" pitchFamily="18" charset="0"/>
              </a:rPr>
              <a:t>bus </a:t>
            </a:r>
            <a:r>
              <a:rPr sz="2400" spc="60" dirty="0">
                <a:latin typeface="Times New Roman" panose="02020603050405020304" pitchFamily="18" charset="0"/>
                <a:cs typeface="Times New Roman" panose="02020603050405020304" pitchFamily="18" charset="0"/>
              </a:rPr>
              <a:t>or </a:t>
            </a:r>
            <a:r>
              <a:rPr sz="2400" spc="90" dirty="0">
                <a:latin typeface="Times New Roman" panose="02020603050405020304" pitchFamily="18" charset="0"/>
                <a:cs typeface="Times New Roman" panose="02020603050405020304" pitchFamily="18" charset="0"/>
              </a:rPr>
              <a:t>through </a:t>
            </a:r>
            <a:r>
              <a:rPr sz="2400" spc="170" dirty="0">
                <a:latin typeface="Times New Roman" panose="02020603050405020304" pitchFamily="18" charset="0"/>
                <a:cs typeface="Times New Roman" panose="02020603050405020304" pitchFamily="18" charset="0"/>
              </a:rPr>
              <a:t>an </a:t>
            </a:r>
            <a:r>
              <a:rPr sz="2400" spc="85" dirty="0">
                <a:latin typeface="Times New Roman" panose="02020603050405020304" pitchFamily="18" charset="0"/>
                <a:cs typeface="Times New Roman" panose="02020603050405020304" pitchFamily="18" charset="0"/>
              </a:rPr>
              <a:t>interconnection</a:t>
            </a:r>
            <a:r>
              <a:rPr sz="2400" spc="-254" dirty="0">
                <a:latin typeface="Times New Roman" panose="02020603050405020304" pitchFamily="18" charset="0"/>
                <a:cs typeface="Times New Roman" panose="02020603050405020304" pitchFamily="18" charset="0"/>
              </a:rPr>
              <a:t> </a:t>
            </a:r>
            <a:r>
              <a:rPr sz="2400" spc="75" dirty="0">
                <a:latin typeface="Times New Roman" panose="02020603050405020304" pitchFamily="18" charset="0"/>
                <a:cs typeface="Times New Roman" panose="02020603050405020304" pitchFamily="18" charset="0"/>
              </a:rPr>
              <a:t>network.</a:t>
            </a:r>
            <a:endParaRPr sz="2400" dirty="0">
              <a:latin typeface="Times New Roman" panose="02020603050405020304" pitchFamily="18" charset="0"/>
              <a:cs typeface="Times New Roman" panose="02020603050405020304" pitchFamily="18" charset="0"/>
            </a:endParaRPr>
          </a:p>
          <a:p>
            <a:pPr marL="390525" marR="5080" indent="-377825" algn="just">
              <a:lnSpc>
                <a:spcPct val="101800"/>
              </a:lnSpc>
              <a:spcBef>
                <a:spcPts val="640"/>
              </a:spcBef>
              <a:buClr>
                <a:srgbClr val="1F497C"/>
              </a:buClr>
              <a:buSzPct val="89743"/>
              <a:buChar char="●"/>
              <a:tabLst>
                <a:tab pos="389890" algn="l"/>
                <a:tab pos="391160" algn="l"/>
              </a:tabLst>
            </a:pPr>
            <a:r>
              <a:rPr lang="en-US" sz="2400" dirty="0">
                <a:latin typeface="Times New Roman" panose="02020603050405020304" pitchFamily="18" charset="0"/>
                <a:cs typeface="Times New Roman" panose="02020603050405020304" pitchFamily="18" charset="0"/>
              </a:rPr>
              <a:t>The benefit of shared memory is , efficient communication between processors, data in shared memory can be accessed by any processor without being moved with software. </a:t>
            </a:r>
          </a:p>
          <a:p>
            <a:pPr marL="390525" marR="5080" indent="-377825" algn="just">
              <a:lnSpc>
                <a:spcPct val="101800"/>
              </a:lnSpc>
              <a:spcBef>
                <a:spcPts val="640"/>
              </a:spcBef>
              <a:buClr>
                <a:srgbClr val="1F497C"/>
              </a:buClr>
              <a:buSzPct val="89743"/>
              <a:buChar char="●"/>
              <a:tabLst>
                <a:tab pos="389890" algn="l"/>
                <a:tab pos="391160" algn="l"/>
              </a:tabLst>
            </a:pPr>
            <a:r>
              <a:rPr lang="en-US" sz="2400" dirty="0">
                <a:latin typeface="Times New Roman" panose="02020603050405020304" pitchFamily="18" charset="0"/>
                <a:cs typeface="Times New Roman" panose="02020603050405020304" pitchFamily="18" charset="0"/>
              </a:rPr>
              <a:t>The downside of shared-memory machines is that the architecture is not scalable beyond 32 or 64 processors because the bus or the interconnection network becomes a bottleneck</a:t>
            </a:r>
          </a:p>
          <a:p>
            <a:pPr marL="390525" marR="5080" indent="-377825" algn="just">
              <a:lnSpc>
                <a:spcPct val="101800"/>
              </a:lnSpc>
              <a:spcBef>
                <a:spcPts val="640"/>
              </a:spcBef>
              <a:buClr>
                <a:srgbClr val="1F497C"/>
              </a:buClr>
              <a:buSzPct val="89743"/>
              <a:buChar char="●"/>
              <a:tabLst>
                <a:tab pos="389890" algn="l"/>
                <a:tab pos="391160" algn="l"/>
              </a:tabLst>
            </a:pPr>
            <a:r>
              <a:rPr sz="2400" spc="30" dirty="0">
                <a:latin typeface="Times New Roman" panose="02020603050405020304" pitchFamily="18" charset="0"/>
                <a:cs typeface="Times New Roman" panose="02020603050405020304" pitchFamily="18" charset="0"/>
              </a:rPr>
              <a:t>Widely </a:t>
            </a:r>
            <a:r>
              <a:rPr sz="2400" spc="180" dirty="0">
                <a:latin typeface="Times New Roman" panose="02020603050405020304" pitchFamily="18" charset="0"/>
                <a:cs typeface="Times New Roman" panose="02020603050405020304" pitchFamily="18" charset="0"/>
              </a:rPr>
              <a:t>used </a:t>
            </a:r>
            <a:r>
              <a:rPr sz="2400" spc="5" dirty="0">
                <a:latin typeface="Times New Roman" panose="02020603050405020304" pitchFamily="18" charset="0"/>
                <a:cs typeface="Times New Roman" panose="02020603050405020304" pitchFamily="18" charset="0"/>
              </a:rPr>
              <a:t>for </a:t>
            </a:r>
            <a:r>
              <a:rPr sz="2400" spc="55" dirty="0">
                <a:latin typeface="Times New Roman" panose="02020603050405020304" pitchFamily="18" charset="0"/>
                <a:cs typeface="Times New Roman" panose="02020603050405020304" pitchFamily="18" charset="0"/>
              </a:rPr>
              <a:t>lower </a:t>
            </a:r>
            <a:r>
              <a:rPr sz="2400" spc="170" dirty="0">
                <a:latin typeface="Times New Roman" panose="02020603050405020304" pitchFamily="18" charset="0"/>
                <a:cs typeface="Times New Roman" panose="02020603050405020304" pitchFamily="18" charset="0"/>
              </a:rPr>
              <a:t>degrees </a:t>
            </a:r>
            <a:r>
              <a:rPr sz="2400" spc="5" dirty="0">
                <a:latin typeface="Times New Roman" panose="02020603050405020304" pitchFamily="18" charset="0"/>
                <a:cs typeface="Times New Roman" panose="02020603050405020304" pitchFamily="18" charset="0"/>
              </a:rPr>
              <a:t>of </a:t>
            </a:r>
            <a:r>
              <a:rPr sz="2400" spc="70" dirty="0">
                <a:latin typeface="Times New Roman" panose="02020603050405020304" pitchFamily="18" charset="0"/>
                <a:cs typeface="Times New Roman" panose="02020603050405020304" pitchFamily="18" charset="0"/>
              </a:rPr>
              <a:t>parallelism </a:t>
            </a:r>
            <a:r>
              <a:rPr sz="2400" spc="60" dirty="0">
                <a:latin typeface="Times New Roman" panose="02020603050405020304" pitchFamily="18" charset="0"/>
                <a:cs typeface="Times New Roman" panose="02020603050405020304" pitchFamily="18" charset="0"/>
              </a:rPr>
              <a:t>(4 </a:t>
            </a:r>
            <a:r>
              <a:rPr sz="2400" spc="65" dirty="0">
                <a:latin typeface="Times New Roman" panose="02020603050405020304" pitchFamily="18" charset="0"/>
                <a:cs typeface="Times New Roman" panose="02020603050405020304" pitchFamily="18" charset="0"/>
              </a:rPr>
              <a:t>to</a:t>
            </a:r>
            <a:r>
              <a:rPr sz="2400" spc="-105" dirty="0">
                <a:latin typeface="Times New Roman" panose="02020603050405020304" pitchFamily="18" charset="0"/>
                <a:cs typeface="Times New Roman" panose="02020603050405020304" pitchFamily="18" charset="0"/>
              </a:rPr>
              <a:t> </a:t>
            </a:r>
            <a:r>
              <a:rPr sz="2400" spc="60" dirty="0">
                <a:latin typeface="Times New Roman" panose="02020603050405020304" pitchFamily="18" charset="0"/>
                <a:cs typeface="Times New Roman" panose="02020603050405020304" pitchFamily="18" charset="0"/>
              </a:rPr>
              <a:t>8).</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5343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0944" y="1029710"/>
            <a:ext cx="8229600" cy="563562"/>
          </a:xfrm>
        </p:spPr>
        <p:txBody>
          <a:bodyPr>
            <a:normAutofit/>
          </a:bodyPr>
          <a:lstStyle/>
          <a:p>
            <a:r>
              <a:rPr lang="en-US" sz="3200" b="1" dirty="0">
                <a:latin typeface="Times New Roman" panose="02020603050405020304" pitchFamily="18" charset="0"/>
                <a:cs typeface="Times New Roman" panose="02020603050405020304" pitchFamily="18" charset="0"/>
              </a:rPr>
              <a:t>Shared Disk</a:t>
            </a:r>
            <a:endParaRPr lang="en-US" sz="32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290944" y="1593272"/>
            <a:ext cx="8756073" cy="5000856"/>
          </a:xfrm>
          <a:prstGeom prst="rect">
            <a:avLst/>
          </a:prstGeom>
        </p:spPr>
        <p:txBody>
          <a:bodyPr vert="horz" wrap="square" lIns="0" tIns="10160" rIns="0" bIns="0" rtlCol="0">
            <a:spAutoFit/>
          </a:bodyPr>
          <a:lstStyle/>
          <a:p>
            <a:pPr marL="390525" marR="136525" indent="-377825" algn="just">
              <a:lnSpc>
                <a:spcPct val="102099"/>
              </a:lnSpc>
              <a:spcBef>
                <a:spcPts val="80"/>
              </a:spcBef>
              <a:buClr>
                <a:srgbClr val="1F497C"/>
              </a:buClr>
              <a:buSzPct val="89743"/>
              <a:buChar char="●"/>
              <a:tabLst>
                <a:tab pos="390525" algn="l"/>
                <a:tab pos="391160" algn="l"/>
              </a:tabLst>
            </a:pPr>
            <a:r>
              <a:rPr sz="2400" spc="-100" dirty="0">
                <a:latin typeface="Times New Roman" panose="02020603050405020304" pitchFamily="18" charset="0"/>
                <a:cs typeface="Times New Roman" panose="02020603050405020304" pitchFamily="18" charset="0"/>
              </a:rPr>
              <a:t>All </a:t>
            </a:r>
            <a:r>
              <a:rPr sz="2400" spc="145" dirty="0">
                <a:latin typeface="Times New Roman" panose="02020603050405020304" pitchFamily="18" charset="0"/>
                <a:cs typeface="Times New Roman" panose="02020603050405020304" pitchFamily="18" charset="0"/>
              </a:rPr>
              <a:t>processors </a:t>
            </a:r>
            <a:r>
              <a:rPr sz="2400" spc="160" dirty="0">
                <a:latin typeface="Times New Roman" panose="02020603050405020304" pitchFamily="18" charset="0"/>
                <a:cs typeface="Times New Roman" panose="02020603050405020304" pitchFamily="18" charset="0"/>
              </a:rPr>
              <a:t>can </a:t>
            </a:r>
            <a:r>
              <a:rPr sz="2400" spc="40" dirty="0">
                <a:latin typeface="Times New Roman" panose="02020603050405020304" pitchFamily="18" charset="0"/>
                <a:cs typeface="Times New Roman" panose="02020603050405020304" pitchFamily="18" charset="0"/>
              </a:rPr>
              <a:t>directly </a:t>
            </a:r>
            <a:r>
              <a:rPr sz="2400" spc="200" dirty="0">
                <a:latin typeface="Times New Roman" panose="02020603050405020304" pitchFamily="18" charset="0"/>
                <a:cs typeface="Times New Roman" panose="02020603050405020304" pitchFamily="18" charset="0"/>
              </a:rPr>
              <a:t>access </a:t>
            </a:r>
            <a:r>
              <a:rPr sz="2400" spc="10" dirty="0">
                <a:latin typeface="Times New Roman" panose="02020603050405020304" pitchFamily="18" charset="0"/>
                <a:cs typeface="Times New Roman" panose="02020603050405020304" pitchFamily="18" charset="0"/>
              </a:rPr>
              <a:t>all </a:t>
            </a:r>
            <a:r>
              <a:rPr sz="2400" spc="100" dirty="0">
                <a:latin typeface="Times New Roman" panose="02020603050405020304" pitchFamily="18" charset="0"/>
                <a:cs typeface="Times New Roman" panose="02020603050405020304" pitchFamily="18" charset="0"/>
              </a:rPr>
              <a:t>disks </a:t>
            </a:r>
            <a:r>
              <a:rPr sz="2400" spc="50" dirty="0">
                <a:latin typeface="Times New Roman" panose="02020603050405020304" pitchFamily="18" charset="0"/>
                <a:cs typeface="Times New Roman" panose="02020603050405020304" pitchFamily="18" charset="0"/>
              </a:rPr>
              <a:t>via </a:t>
            </a:r>
            <a:r>
              <a:rPr sz="2400" spc="180" dirty="0">
                <a:latin typeface="Times New Roman" panose="02020603050405020304" pitchFamily="18" charset="0"/>
                <a:cs typeface="Times New Roman" panose="02020603050405020304" pitchFamily="18" charset="0"/>
              </a:rPr>
              <a:t>an</a:t>
            </a:r>
            <a:r>
              <a:rPr sz="2400" spc="-310" dirty="0">
                <a:latin typeface="Times New Roman" panose="02020603050405020304" pitchFamily="18" charset="0"/>
                <a:cs typeface="Times New Roman" panose="02020603050405020304" pitchFamily="18" charset="0"/>
              </a:rPr>
              <a:t> </a:t>
            </a:r>
            <a:r>
              <a:rPr sz="2400" spc="85" dirty="0">
                <a:latin typeface="Times New Roman" panose="02020603050405020304" pitchFamily="18" charset="0"/>
                <a:cs typeface="Times New Roman" panose="02020603050405020304" pitchFamily="18" charset="0"/>
              </a:rPr>
              <a:t>interconnection </a:t>
            </a:r>
            <a:r>
              <a:rPr sz="2400" spc="125" dirty="0">
                <a:latin typeface="Times New Roman" panose="02020603050405020304" pitchFamily="18" charset="0"/>
                <a:cs typeface="Times New Roman" panose="02020603050405020304" pitchFamily="18" charset="0"/>
              </a:rPr>
              <a:t>net</a:t>
            </a:r>
            <a:r>
              <a:rPr sz="2400" spc="45" dirty="0">
                <a:latin typeface="Times New Roman" panose="02020603050405020304" pitchFamily="18" charset="0"/>
                <a:cs typeface="Times New Roman" panose="02020603050405020304" pitchFamily="18" charset="0"/>
              </a:rPr>
              <a:t>work, </a:t>
            </a:r>
            <a:r>
              <a:rPr sz="2400" spc="85" dirty="0">
                <a:latin typeface="Times New Roman" panose="02020603050405020304" pitchFamily="18" charset="0"/>
                <a:cs typeface="Times New Roman" panose="02020603050405020304" pitchFamily="18" charset="0"/>
              </a:rPr>
              <a:t>but </a:t>
            </a:r>
            <a:r>
              <a:rPr sz="2400" spc="114" dirty="0">
                <a:latin typeface="Times New Roman" panose="02020603050405020304" pitchFamily="18" charset="0"/>
                <a:cs typeface="Times New Roman" panose="02020603050405020304" pitchFamily="18" charset="0"/>
              </a:rPr>
              <a:t>the </a:t>
            </a:r>
            <a:r>
              <a:rPr sz="2400" spc="145" dirty="0">
                <a:latin typeface="Times New Roman" panose="02020603050405020304" pitchFamily="18" charset="0"/>
                <a:cs typeface="Times New Roman" panose="02020603050405020304" pitchFamily="18" charset="0"/>
              </a:rPr>
              <a:t>processors </a:t>
            </a:r>
            <a:r>
              <a:rPr sz="2400" spc="155" dirty="0">
                <a:latin typeface="Times New Roman" panose="02020603050405020304" pitchFamily="18" charset="0"/>
                <a:cs typeface="Times New Roman" panose="02020603050405020304" pitchFamily="18" charset="0"/>
              </a:rPr>
              <a:t>have </a:t>
            </a:r>
            <a:r>
              <a:rPr sz="2400" spc="75" dirty="0">
                <a:latin typeface="Times New Roman" panose="02020603050405020304" pitchFamily="18" charset="0"/>
                <a:cs typeface="Times New Roman" panose="02020603050405020304" pitchFamily="18" charset="0"/>
              </a:rPr>
              <a:t>private</a:t>
            </a:r>
            <a:r>
              <a:rPr sz="2400" spc="-300" dirty="0">
                <a:latin typeface="Times New Roman" panose="02020603050405020304" pitchFamily="18" charset="0"/>
                <a:cs typeface="Times New Roman" panose="02020603050405020304" pitchFamily="18" charset="0"/>
              </a:rPr>
              <a:t> </a:t>
            </a:r>
            <a:r>
              <a:rPr sz="2400" spc="114" dirty="0">
                <a:latin typeface="Times New Roman" panose="02020603050405020304" pitchFamily="18" charset="0"/>
                <a:cs typeface="Times New Roman" panose="02020603050405020304" pitchFamily="18" charset="0"/>
              </a:rPr>
              <a:t>memories.</a:t>
            </a:r>
            <a:endParaRPr lang="en-US" sz="2400" spc="114" dirty="0">
              <a:latin typeface="Times New Roman" panose="02020603050405020304" pitchFamily="18" charset="0"/>
              <a:cs typeface="Times New Roman" panose="02020603050405020304" pitchFamily="18" charset="0"/>
            </a:endParaRPr>
          </a:p>
          <a:p>
            <a:pPr marL="390525" marR="136525" indent="-377825" algn="just">
              <a:lnSpc>
                <a:spcPct val="102099"/>
              </a:lnSpc>
              <a:spcBef>
                <a:spcPts val="80"/>
              </a:spcBef>
              <a:buClr>
                <a:srgbClr val="1F497C"/>
              </a:buClr>
              <a:buSzPct val="89743"/>
              <a:buChar char="●"/>
              <a:tabLst>
                <a:tab pos="390525" algn="l"/>
                <a:tab pos="391160" algn="l"/>
              </a:tabLst>
            </a:pPr>
            <a:r>
              <a:rPr lang="en-US" sz="2400" dirty="0">
                <a:latin typeface="Times New Roman" panose="02020603050405020304" pitchFamily="18" charset="0"/>
                <a:cs typeface="Times New Roman" panose="02020603050405020304" pitchFamily="18" charset="0"/>
              </a:rPr>
              <a:t>There are two advantages of this architecture over a shared-memory architecture.</a:t>
            </a:r>
          </a:p>
          <a:p>
            <a:pPr marL="390525" marR="136525" indent="-377825" algn="just">
              <a:lnSpc>
                <a:spcPct val="102099"/>
              </a:lnSpc>
              <a:spcBef>
                <a:spcPts val="80"/>
              </a:spcBef>
              <a:buClr>
                <a:srgbClr val="1F497C"/>
              </a:buClr>
              <a:buSzPct val="89743"/>
              <a:buChar char="●"/>
              <a:tabLst>
                <a:tab pos="390525" algn="l"/>
                <a:tab pos="391160" algn="l"/>
              </a:tabLst>
            </a:pPr>
            <a:r>
              <a:rPr lang="en-US" sz="2400" dirty="0">
                <a:latin typeface="Times New Roman" panose="02020603050405020304" pitchFamily="18" charset="0"/>
                <a:cs typeface="Times New Roman" panose="02020603050405020304" pitchFamily="18" charset="0"/>
              </a:rPr>
              <a:t>First, since each processor has its own memory, the memory bus is not a bottleneck.</a:t>
            </a:r>
          </a:p>
          <a:p>
            <a:pPr marL="390525" marR="136525" indent="-377825" algn="just">
              <a:lnSpc>
                <a:spcPct val="102099"/>
              </a:lnSpc>
              <a:spcBef>
                <a:spcPts val="80"/>
              </a:spcBef>
              <a:buClr>
                <a:srgbClr val="1F497C"/>
              </a:buClr>
              <a:buSzPct val="89743"/>
              <a:buChar char="●"/>
              <a:tabLst>
                <a:tab pos="390525" algn="l"/>
                <a:tab pos="391160" algn="l"/>
              </a:tabLst>
            </a:pPr>
            <a:r>
              <a:rPr lang="en-US" sz="2400" dirty="0">
                <a:latin typeface="Times New Roman" panose="02020603050405020304" pitchFamily="18" charset="0"/>
                <a:cs typeface="Times New Roman" panose="02020603050405020304" pitchFamily="18" charset="0"/>
              </a:rPr>
              <a:t>Second, it offers a cheap way to provide a degree of fault tolerance If a processor (or its memory) fails, the other processors can take over its tasks</a:t>
            </a:r>
            <a:endParaRPr sz="2400" dirty="0">
              <a:latin typeface="Times New Roman" panose="02020603050405020304" pitchFamily="18" charset="0"/>
              <a:cs typeface="Times New Roman" panose="02020603050405020304" pitchFamily="18" charset="0"/>
            </a:endParaRPr>
          </a:p>
          <a:p>
            <a:pPr marL="390525" marR="23495" indent="-377825" algn="just">
              <a:lnSpc>
                <a:spcPct val="102000"/>
              </a:lnSpc>
              <a:spcBef>
                <a:spcPts val="640"/>
              </a:spcBef>
              <a:buClr>
                <a:srgbClr val="1F497C"/>
              </a:buClr>
              <a:buSzPct val="89743"/>
              <a:buChar char="●"/>
              <a:tabLst>
                <a:tab pos="390525" algn="l"/>
                <a:tab pos="391160" algn="l"/>
              </a:tabLst>
            </a:pPr>
            <a:r>
              <a:rPr sz="2400" spc="110" dirty="0">
                <a:latin typeface="Times New Roman" panose="02020603050405020304" pitchFamily="18" charset="0"/>
                <a:cs typeface="Times New Roman" panose="02020603050405020304" pitchFamily="18" charset="0"/>
              </a:rPr>
              <a:t>Shared-disk</a:t>
            </a:r>
            <a:r>
              <a:rPr sz="2400" spc="30" dirty="0">
                <a:latin typeface="Times New Roman" panose="02020603050405020304" pitchFamily="18" charset="0"/>
                <a:cs typeface="Times New Roman" panose="02020603050405020304" pitchFamily="18" charset="0"/>
              </a:rPr>
              <a:t> </a:t>
            </a:r>
            <a:r>
              <a:rPr sz="2400" spc="150" dirty="0">
                <a:latin typeface="Times New Roman" panose="02020603050405020304" pitchFamily="18" charset="0"/>
                <a:cs typeface="Times New Roman" panose="02020603050405020304" pitchFamily="18" charset="0"/>
              </a:rPr>
              <a:t>systems</a:t>
            </a:r>
            <a:r>
              <a:rPr sz="2400" spc="55" dirty="0">
                <a:latin typeface="Times New Roman" panose="02020603050405020304" pitchFamily="18" charset="0"/>
                <a:cs typeface="Times New Roman" panose="02020603050405020304" pitchFamily="18" charset="0"/>
              </a:rPr>
              <a:t> </a:t>
            </a:r>
            <a:r>
              <a:rPr sz="2400" spc="160" dirty="0">
                <a:latin typeface="Times New Roman" panose="02020603050405020304" pitchFamily="18" charset="0"/>
                <a:cs typeface="Times New Roman" panose="02020603050405020304" pitchFamily="18" charset="0"/>
              </a:rPr>
              <a:t>can</a:t>
            </a:r>
            <a:r>
              <a:rPr sz="2400" spc="65" dirty="0">
                <a:latin typeface="Times New Roman" panose="02020603050405020304" pitchFamily="18" charset="0"/>
                <a:cs typeface="Times New Roman" panose="02020603050405020304" pitchFamily="18" charset="0"/>
              </a:rPr>
              <a:t> </a:t>
            </a:r>
            <a:r>
              <a:rPr sz="2400" spc="140" dirty="0">
                <a:latin typeface="Times New Roman" panose="02020603050405020304" pitchFamily="18" charset="0"/>
                <a:cs typeface="Times New Roman" panose="02020603050405020304" pitchFamily="18" charset="0"/>
              </a:rPr>
              <a:t>scale</a:t>
            </a:r>
            <a:r>
              <a:rPr sz="2400" spc="65" dirty="0">
                <a:latin typeface="Times New Roman" panose="02020603050405020304" pitchFamily="18" charset="0"/>
                <a:cs typeface="Times New Roman" panose="02020603050405020304" pitchFamily="18" charset="0"/>
              </a:rPr>
              <a:t> to </a:t>
            </a:r>
            <a:r>
              <a:rPr sz="2400" spc="235" dirty="0">
                <a:latin typeface="Times New Roman" panose="02020603050405020304" pitchFamily="18" charset="0"/>
                <a:cs typeface="Times New Roman" panose="02020603050405020304" pitchFamily="18" charset="0"/>
              </a:rPr>
              <a:t>a</a:t>
            </a:r>
            <a:r>
              <a:rPr sz="2400" spc="65" dirty="0">
                <a:latin typeface="Times New Roman" panose="02020603050405020304" pitchFamily="18" charset="0"/>
                <a:cs typeface="Times New Roman" panose="02020603050405020304" pitchFamily="18" charset="0"/>
              </a:rPr>
              <a:t> </a:t>
            </a:r>
            <a:r>
              <a:rPr sz="2400" spc="135" dirty="0">
                <a:latin typeface="Times New Roman" panose="02020603050405020304" pitchFamily="18" charset="0"/>
                <a:cs typeface="Times New Roman" panose="02020603050405020304" pitchFamily="18" charset="0"/>
              </a:rPr>
              <a:t>somewhat</a:t>
            </a:r>
            <a:r>
              <a:rPr sz="2400" spc="60" dirty="0">
                <a:latin typeface="Times New Roman" panose="02020603050405020304" pitchFamily="18" charset="0"/>
                <a:cs typeface="Times New Roman" panose="02020603050405020304" pitchFamily="18" charset="0"/>
              </a:rPr>
              <a:t> </a:t>
            </a:r>
            <a:r>
              <a:rPr sz="2400" spc="85" dirty="0">
                <a:latin typeface="Times New Roman" panose="02020603050405020304" pitchFamily="18" charset="0"/>
                <a:cs typeface="Times New Roman" panose="02020603050405020304" pitchFamily="18" charset="0"/>
              </a:rPr>
              <a:t>larger</a:t>
            </a:r>
            <a:r>
              <a:rPr sz="2400" spc="50" dirty="0">
                <a:latin typeface="Times New Roman" panose="02020603050405020304" pitchFamily="18" charset="0"/>
                <a:cs typeface="Times New Roman" panose="02020603050405020304" pitchFamily="18" charset="0"/>
              </a:rPr>
              <a:t> </a:t>
            </a:r>
            <a:r>
              <a:rPr sz="2400" spc="120" dirty="0">
                <a:latin typeface="Times New Roman" panose="02020603050405020304" pitchFamily="18" charset="0"/>
                <a:cs typeface="Times New Roman" panose="02020603050405020304" pitchFamily="18" charset="0"/>
              </a:rPr>
              <a:t>number</a:t>
            </a:r>
            <a:r>
              <a:rPr sz="2400" spc="7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of</a:t>
            </a:r>
            <a:r>
              <a:rPr sz="2400" spc="80" dirty="0">
                <a:latin typeface="Times New Roman" panose="02020603050405020304" pitchFamily="18" charset="0"/>
                <a:cs typeface="Times New Roman" panose="02020603050405020304" pitchFamily="18" charset="0"/>
              </a:rPr>
              <a:t> </a:t>
            </a:r>
            <a:r>
              <a:rPr sz="2400" spc="120" dirty="0">
                <a:latin typeface="Times New Roman" panose="02020603050405020304" pitchFamily="18" charset="0"/>
                <a:cs typeface="Times New Roman" panose="02020603050405020304" pitchFamily="18" charset="0"/>
              </a:rPr>
              <a:t>proce</a:t>
            </a:r>
            <a:r>
              <a:rPr sz="2400" spc="150" dirty="0">
                <a:latin typeface="Times New Roman" panose="02020603050405020304" pitchFamily="18" charset="0"/>
                <a:cs typeface="Times New Roman" panose="02020603050405020304" pitchFamily="18" charset="0"/>
              </a:rPr>
              <a:t>ssors, </a:t>
            </a:r>
            <a:r>
              <a:rPr sz="2400" spc="80" dirty="0">
                <a:latin typeface="Times New Roman" panose="02020603050405020304" pitchFamily="18" charset="0"/>
                <a:cs typeface="Times New Roman" panose="02020603050405020304" pitchFamily="18" charset="0"/>
              </a:rPr>
              <a:t>but </a:t>
            </a:r>
            <a:r>
              <a:rPr sz="2400" spc="90" dirty="0">
                <a:latin typeface="Times New Roman" panose="02020603050405020304" pitchFamily="18" charset="0"/>
                <a:cs typeface="Times New Roman" panose="02020603050405020304" pitchFamily="18" charset="0"/>
              </a:rPr>
              <a:t>communication </a:t>
            </a:r>
            <a:r>
              <a:rPr sz="2400" spc="140" dirty="0">
                <a:latin typeface="Times New Roman" panose="02020603050405020304" pitchFamily="18" charset="0"/>
                <a:cs typeface="Times New Roman" panose="02020603050405020304" pitchFamily="18" charset="0"/>
              </a:rPr>
              <a:t>between </a:t>
            </a:r>
            <a:r>
              <a:rPr sz="2400" spc="145" dirty="0">
                <a:latin typeface="Times New Roman" panose="02020603050405020304" pitchFamily="18" charset="0"/>
                <a:cs typeface="Times New Roman" panose="02020603050405020304" pitchFamily="18" charset="0"/>
              </a:rPr>
              <a:t>processors</a:t>
            </a:r>
            <a:r>
              <a:rPr sz="2400" spc="-270" dirty="0">
                <a:latin typeface="Times New Roman" panose="02020603050405020304" pitchFamily="18" charset="0"/>
                <a:cs typeface="Times New Roman" panose="02020603050405020304" pitchFamily="18" charset="0"/>
              </a:rPr>
              <a:t> </a:t>
            </a:r>
            <a:r>
              <a:rPr sz="2400" spc="60" dirty="0">
                <a:latin typeface="Times New Roman" panose="02020603050405020304" pitchFamily="18" charset="0"/>
                <a:cs typeface="Times New Roman" panose="02020603050405020304" pitchFamily="18" charset="0"/>
              </a:rPr>
              <a:t>is </a:t>
            </a:r>
            <a:r>
              <a:rPr sz="2400" spc="65" dirty="0">
                <a:latin typeface="Times New Roman" panose="02020603050405020304" pitchFamily="18" charset="0"/>
                <a:cs typeface="Times New Roman" panose="02020603050405020304" pitchFamily="18" charset="0"/>
              </a:rPr>
              <a:t>slower.</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9541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0105" y="919307"/>
            <a:ext cx="7886700" cy="1325563"/>
          </a:xfrm>
        </p:spPr>
        <p:txBody>
          <a:bodyPr>
            <a:normAutofit/>
          </a:bodyPr>
          <a:lstStyle/>
          <a:p>
            <a:r>
              <a:rPr lang="en-US" sz="3200" b="1" dirty="0">
                <a:latin typeface="Times New Roman" panose="02020603050405020304" pitchFamily="18" charset="0"/>
                <a:cs typeface="Times New Roman" panose="02020603050405020304" pitchFamily="18" charset="0"/>
              </a:rPr>
              <a:t>Shared Nothing</a:t>
            </a:r>
            <a:r>
              <a:rPr lang="en-US" b="1" dirty="0">
                <a:latin typeface="Arial" pitchFamily="34" charset="0"/>
                <a:cs typeface="Arial" pitchFamily="34" charset="0"/>
              </a:rPr>
              <a:t/>
            </a:r>
            <a:br>
              <a:rPr lang="en-US" b="1" dirty="0">
                <a:latin typeface="Arial" pitchFamily="34" charset="0"/>
                <a:cs typeface="Arial" pitchFamily="34" charset="0"/>
              </a:rPr>
            </a:br>
            <a:endParaRPr lang="en-US" dirty="0"/>
          </a:p>
        </p:txBody>
      </p:sp>
      <p:sp>
        <p:nvSpPr>
          <p:cNvPr id="4" name="object 4"/>
          <p:cNvSpPr txBox="1"/>
          <p:nvPr/>
        </p:nvSpPr>
        <p:spPr>
          <a:xfrm>
            <a:off x="178608" y="1740445"/>
            <a:ext cx="8786784" cy="5117555"/>
          </a:xfrm>
          <a:prstGeom prst="rect">
            <a:avLst/>
          </a:prstGeom>
        </p:spPr>
        <p:txBody>
          <a:bodyPr vert="horz" wrap="square" lIns="0" tIns="11430" rIns="0" bIns="0" rtlCol="0">
            <a:spAutoFit/>
          </a:bodyPr>
          <a:lstStyle/>
          <a:p>
            <a:pPr marL="390525" marR="60960" indent="-377825" algn="just">
              <a:lnSpc>
                <a:spcPct val="101699"/>
              </a:lnSpc>
              <a:spcBef>
                <a:spcPts val="90"/>
              </a:spcBef>
              <a:buClr>
                <a:srgbClr val="1F497C"/>
              </a:buClr>
              <a:buSzPct val="89743"/>
              <a:buChar char="●"/>
              <a:tabLst>
                <a:tab pos="391160" algn="l"/>
              </a:tabLst>
            </a:pPr>
            <a:r>
              <a:rPr lang="en-US" sz="2400" spc="125" dirty="0">
                <a:latin typeface="Times New Roman" panose="02020603050405020304" pitchFamily="18" charset="0"/>
                <a:cs typeface="Times New Roman" panose="02020603050405020304" pitchFamily="18" charset="0"/>
              </a:rPr>
              <a:t>Each n</a:t>
            </a:r>
            <a:r>
              <a:rPr sz="2400" spc="125" dirty="0">
                <a:latin typeface="Times New Roman" panose="02020603050405020304" pitchFamily="18" charset="0"/>
                <a:cs typeface="Times New Roman" panose="02020603050405020304" pitchFamily="18" charset="0"/>
              </a:rPr>
              <a:t>ode</a:t>
            </a:r>
            <a:r>
              <a:rPr sz="2400" spc="35" dirty="0">
                <a:latin typeface="Times New Roman" panose="02020603050405020304" pitchFamily="18" charset="0"/>
                <a:cs typeface="Times New Roman" panose="02020603050405020304" pitchFamily="18" charset="0"/>
              </a:rPr>
              <a:t> </a:t>
            </a:r>
            <a:r>
              <a:rPr sz="2400" spc="125" dirty="0">
                <a:latin typeface="Times New Roman" panose="02020603050405020304" pitchFamily="18" charset="0"/>
                <a:cs typeface="Times New Roman" panose="02020603050405020304" pitchFamily="18" charset="0"/>
              </a:rPr>
              <a:t>consists</a:t>
            </a:r>
            <a:r>
              <a:rPr sz="2400" spc="3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of</a:t>
            </a:r>
            <a:r>
              <a:rPr sz="2400" spc="50" dirty="0">
                <a:latin typeface="Times New Roman" panose="02020603050405020304" pitchFamily="18" charset="0"/>
                <a:cs typeface="Times New Roman" panose="02020603050405020304" pitchFamily="18" charset="0"/>
              </a:rPr>
              <a:t> </a:t>
            </a:r>
            <a:r>
              <a:rPr sz="2400" spc="235" dirty="0">
                <a:latin typeface="Times New Roman" panose="02020603050405020304" pitchFamily="18" charset="0"/>
                <a:cs typeface="Times New Roman" panose="02020603050405020304" pitchFamily="18" charset="0"/>
              </a:rPr>
              <a:t>a</a:t>
            </a:r>
            <a:r>
              <a:rPr sz="2400" spc="75" dirty="0">
                <a:latin typeface="Times New Roman" panose="02020603050405020304" pitchFamily="18" charset="0"/>
                <a:cs typeface="Times New Roman" panose="02020603050405020304" pitchFamily="18" charset="0"/>
              </a:rPr>
              <a:t> </a:t>
            </a:r>
            <a:r>
              <a:rPr sz="2400" spc="114" dirty="0">
                <a:latin typeface="Times New Roman" panose="02020603050405020304" pitchFamily="18" charset="0"/>
                <a:cs typeface="Times New Roman" panose="02020603050405020304" pitchFamily="18" charset="0"/>
              </a:rPr>
              <a:t>processor,</a:t>
            </a:r>
            <a:r>
              <a:rPr sz="2400" spc="15" dirty="0">
                <a:latin typeface="Times New Roman" panose="02020603050405020304" pitchFamily="18" charset="0"/>
                <a:cs typeface="Times New Roman" panose="02020603050405020304" pitchFamily="18" charset="0"/>
              </a:rPr>
              <a:t> </a:t>
            </a:r>
            <a:r>
              <a:rPr sz="2400" spc="75" dirty="0">
                <a:latin typeface="Times New Roman" panose="02020603050405020304" pitchFamily="18" charset="0"/>
                <a:cs typeface="Times New Roman" panose="02020603050405020304" pitchFamily="18" charset="0"/>
              </a:rPr>
              <a:t>memory,</a:t>
            </a:r>
            <a:r>
              <a:rPr sz="2400" spc="50" dirty="0">
                <a:latin typeface="Times New Roman" panose="02020603050405020304" pitchFamily="18" charset="0"/>
                <a:cs typeface="Times New Roman" panose="02020603050405020304" pitchFamily="18" charset="0"/>
              </a:rPr>
              <a:t> </a:t>
            </a:r>
            <a:r>
              <a:rPr sz="2400" spc="165" dirty="0">
                <a:latin typeface="Times New Roman" panose="02020603050405020304" pitchFamily="18" charset="0"/>
                <a:cs typeface="Times New Roman" panose="02020603050405020304" pitchFamily="18" charset="0"/>
              </a:rPr>
              <a:t>and</a:t>
            </a:r>
            <a:r>
              <a:rPr sz="2400" spc="60" dirty="0">
                <a:latin typeface="Times New Roman" panose="02020603050405020304" pitchFamily="18" charset="0"/>
                <a:cs typeface="Times New Roman" panose="02020603050405020304" pitchFamily="18" charset="0"/>
              </a:rPr>
              <a:t> </a:t>
            </a:r>
            <a:r>
              <a:rPr sz="2400" spc="155" dirty="0">
                <a:latin typeface="Times New Roman" panose="02020603050405020304" pitchFamily="18" charset="0"/>
                <a:cs typeface="Times New Roman" panose="02020603050405020304" pitchFamily="18" charset="0"/>
              </a:rPr>
              <a:t>one</a:t>
            </a:r>
            <a:r>
              <a:rPr sz="2400" spc="60" dirty="0">
                <a:latin typeface="Times New Roman" panose="02020603050405020304" pitchFamily="18" charset="0"/>
                <a:cs typeface="Times New Roman" panose="02020603050405020304" pitchFamily="18" charset="0"/>
              </a:rPr>
              <a:t> </a:t>
            </a:r>
            <a:r>
              <a:rPr sz="2400" spc="70" dirty="0">
                <a:latin typeface="Times New Roman" panose="02020603050405020304" pitchFamily="18" charset="0"/>
                <a:cs typeface="Times New Roman" panose="02020603050405020304" pitchFamily="18" charset="0"/>
              </a:rPr>
              <a:t>or</a:t>
            </a:r>
            <a:r>
              <a:rPr sz="2400" spc="60" dirty="0">
                <a:latin typeface="Times New Roman" panose="02020603050405020304" pitchFamily="18" charset="0"/>
                <a:cs typeface="Times New Roman" panose="02020603050405020304" pitchFamily="18" charset="0"/>
              </a:rPr>
              <a:t> </a:t>
            </a:r>
            <a:r>
              <a:rPr sz="2400" spc="120" dirty="0">
                <a:latin typeface="Times New Roman" panose="02020603050405020304" pitchFamily="18" charset="0"/>
                <a:cs typeface="Times New Roman" panose="02020603050405020304" pitchFamily="18" charset="0"/>
              </a:rPr>
              <a:t>more</a:t>
            </a:r>
            <a:r>
              <a:rPr sz="2400" spc="60" dirty="0">
                <a:latin typeface="Times New Roman" panose="02020603050405020304" pitchFamily="18" charset="0"/>
                <a:cs typeface="Times New Roman" panose="02020603050405020304" pitchFamily="18" charset="0"/>
              </a:rPr>
              <a:t> </a:t>
            </a:r>
            <a:r>
              <a:rPr sz="2400" spc="95" dirty="0">
                <a:latin typeface="Times New Roman" panose="02020603050405020304" pitchFamily="18" charset="0"/>
                <a:cs typeface="Times New Roman" panose="02020603050405020304" pitchFamily="18" charset="0"/>
              </a:rPr>
              <a:t>disks.</a:t>
            </a:r>
            <a:r>
              <a:rPr sz="2400" spc="35" dirty="0">
                <a:latin typeface="Times New Roman" panose="02020603050405020304" pitchFamily="18" charset="0"/>
                <a:cs typeface="Times New Roman" panose="02020603050405020304" pitchFamily="18" charset="0"/>
              </a:rPr>
              <a:t> </a:t>
            </a:r>
            <a:r>
              <a:rPr sz="2400" spc="160" dirty="0">
                <a:latin typeface="Times New Roman" panose="02020603050405020304" pitchFamily="18" charset="0"/>
                <a:cs typeface="Times New Roman" panose="02020603050405020304" pitchFamily="18" charset="0"/>
              </a:rPr>
              <a:t>Proces</a:t>
            </a:r>
            <a:r>
              <a:rPr sz="2400" spc="145" dirty="0">
                <a:latin typeface="Times New Roman" panose="02020603050405020304" pitchFamily="18" charset="0"/>
                <a:cs typeface="Times New Roman" panose="02020603050405020304" pitchFamily="18" charset="0"/>
              </a:rPr>
              <a:t>sors </a:t>
            </a:r>
            <a:r>
              <a:rPr sz="2400" spc="120" dirty="0">
                <a:latin typeface="Times New Roman" panose="02020603050405020304" pitchFamily="18" charset="0"/>
                <a:cs typeface="Times New Roman" panose="02020603050405020304" pitchFamily="18" charset="0"/>
              </a:rPr>
              <a:t>at </a:t>
            </a:r>
            <a:r>
              <a:rPr sz="2400" spc="165" dirty="0">
                <a:latin typeface="Times New Roman" panose="02020603050405020304" pitchFamily="18" charset="0"/>
                <a:cs typeface="Times New Roman" panose="02020603050405020304" pitchFamily="18" charset="0"/>
              </a:rPr>
              <a:t>one </a:t>
            </a:r>
            <a:r>
              <a:rPr sz="2400" spc="150" dirty="0">
                <a:latin typeface="Times New Roman" panose="02020603050405020304" pitchFamily="18" charset="0"/>
                <a:cs typeface="Times New Roman" panose="02020603050405020304" pitchFamily="18" charset="0"/>
              </a:rPr>
              <a:t>node </a:t>
            </a:r>
            <a:r>
              <a:rPr sz="2400" spc="110" dirty="0">
                <a:latin typeface="Times New Roman" panose="02020603050405020304" pitchFamily="18" charset="0"/>
                <a:cs typeface="Times New Roman" panose="02020603050405020304" pitchFamily="18" charset="0"/>
              </a:rPr>
              <a:t>communicate </a:t>
            </a:r>
            <a:r>
              <a:rPr sz="2400" spc="10" dirty="0">
                <a:latin typeface="Times New Roman" panose="02020603050405020304" pitchFamily="18" charset="0"/>
                <a:cs typeface="Times New Roman" panose="02020603050405020304" pitchFamily="18" charset="0"/>
              </a:rPr>
              <a:t>with </a:t>
            </a:r>
            <a:r>
              <a:rPr sz="2400" spc="125" dirty="0">
                <a:latin typeface="Times New Roman" panose="02020603050405020304" pitchFamily="18" charset="0"/>
                <a:cs typeface="Times New Roman" panose="02020603050405020304" pitchFamily="18" charset="0"/>
              </a:rPr>
              <a:t>another </a:t>
            </a:r>
            <a:r>
              <a:rPr sz="2400" spc="135" dirty="0">
                <a:latin typeface="Times New Roman" panose="02020603050405020304" pitchFamily="18" charset="0"/>
                <a:cs typeface="Times New Roman" panose="02020603050405020304" pitchFamily="18" charset="0"/>
              </a:rPr>
              <a:t>processor </a:t>
            </a:r>
            <a:r>
              <a:rPr sz="2400" spc="110" dirty="0">
                <a:latin typeface="Times New Roman" panose="02020603050405020304" pitchFamily="18" charset="0"/>
                <a:cs typeface="Times New Roman" panose="02020603050405020304" pitchFamily="18" charset="0"/>
              </a:rPr>
              <a:t>at </a:t>
            </a:r>
            <a:r>
              <a:rPr sz="2400" spc="120" dirty="0">
                <a:latin typeface="Times New Roman" panose="02020603050405020304" pitchFamily="18" charset="0"/>
                <a:cs typeface="Times New Roman" panose="02020603050405020304" pitchFamily="18" charset="0"/>
              </a:rPr>
              <a:t>another </a:t>
            </a:r>
            <a:r>
              <a:rPr sz="2400" spc="125" dirty="0">
                <a:latin typeface="Times New Roman" panose="02020603050405020304" pitchFamily="18" charset="0"/>
                <a:cs typeface="Times New Roman" panose="02020603050405020304" pitchFamily="18" charset="0"/>
              </a:rPr>
              <a:t>nod</a:t>
            </a:r>
            <a:r>
              <a:rPr sz="2400" spc="235" dirty="0">
                <a:latin typeface="Times New Roman" panose="02020603050405020304" pitchFamily="18" charset="0"/>
                <a:cs typeface="Times New Roman" panose="02020603050405020304" pitchFamily="18" charset="0"/>
              </a:rPr>
              <a:t>e</a:t>
            </a:r>
            <a:r>
              <a:rPr sz="2400" spc="35" dirty="0">
                <a:latin typeface="Times New Roman" panose="02020603050405020304" pitchFamily="18" charset="0"/>
                <a:cs typeface="Times New Roman" panose="02020603050405020304" pitchFamily="18" charset="0"/>
              </a:rPr>
              <a:t> </a:t>
            </a:r>
            <a:r>
              <a:rPr sz="2400" spc="105" dirty="0">
                <a:latin typeface="Times New Roman" panose="02020603050405020304" pitchFamily="18" charset="0"/>
                <a:cs typeface="Times New Roman" panose="02020603050405020304" pitchFamily="18" charset="0"/>
              </a:rPr>
              <a:t>using</a:t>
            </a:r>
            <a:r>
              <a:rPr sz="2400" spc="40" dirty="0">
                <a:latin typeface="Times New Roman" panose="02020603050405020304" pitchFamily="18" charset="0"/>
                <a:cs typeface="Times New Roman" panose="02020603050405020304" pitchFamily="18" charset="0"/>
              </a:rPr>
              <a:t> </a:t>
            </a:r>
            <a:r>
              <a:rPr sz="2400" spc="180" dirty="0">
                <a:latin typeface="Times New Roman" panose="02020603050405020304" pitchFamily="18" charset="0"/>
                <a:cs typeface="Times New Roman" panose="02020603050405020304" pitchFamily="18" charset="0"/>
              </a:rPr>
              <a:t>an</a:t>
            </a:r>
            <a:r>
              <a:rPr sz="2400" spc="55" dirty="0">
                <a:latin typeface="Times New Roman" panose="02020603050405020304" pitchFamily="18" charset="0"/>
                <a:cs typeface="Times New Roman" panose="02020603050405020304" pitchFamily="18" charset="0"/>
              </a:rPr>
              <a:t> </a:t>
            </a:r>
            <a:r>
              <a:rPr sz="2400" spc="85" dirty="0">
                <a:latin typeface="Times New Roman" panose="02020603050405020304" pitchFamily="18" charset="0"/>
                <a:cs typeface="Times New Roman" panose="02020603050405020304" pitchFamily="18" charset="0"/>
              </a:rPr>
              <a:t>interconnection</a:t>
            </a:r>
            <a:r>
              <a:rPr sz="2400" spc="20" dirty="0">
                <a:latin typeface="Times New Roman" panose="02020603050405020304" pitchFamily="18" charset="0"/>
                <a:cs typeface="Times New Roman" panose="02020603050405020304" pitchFamily="18" charset="0"/>
              </a:rPr>
              <a:t> </a:t>
            </a:r>
            <a:r>
              <a:rPr sz="2400" spc="75" dirty="0">
                <a:latin typeface="Times New Roman" panose="02020603050405020304" pitchFamily="18" charset="0"/>
                <a:cs typeface="Times New Roman" panose="02020603050405020304" pitchFamily="18" charset="0"/>
              </a:rPr>
              <a:t>network.</a:t>
            </a:r>
            <a:r>
              <a:rPr sz="2400" spc="-70" dirty="0">
                <a:latin typeface="Times New Roman" panose="02020603050405020304" pitchFamily="18" charset="0"/>
                <a:cs typeface="Times New Roman" panose="02020603050405020304" pitchFamily="18" charset="0"/>
              </a:rPr>
              <a:t> </a:t>
            </a:r>
            <a:r>
              <a:rPr sz="2400" spc="-90" dirty="0">
                <a:latin typeface="Times New Roman" panose="02020603050405020304" pitchFamily="18" charset="0"/>
                <a:cs typeface="Times New Roman" panose="02020603050405020304" pitchFamily="18" charset="0"/>
              </a:rPr>
              <a:t>A</a:t>
            </a:r>
            <a:r>
              <a:rPr sz="2400" spc="-45" dirty="0">
                <a:latin typeface="Times New Roman" panose="02020603050405020304" pitchFamily="18" charset="0"/>
                <a:cs typeface="Times New Roman" panose="02020603050405020304" pitchFamily="18" charset="0"/>
              </a:rPr>
              <a:t> </a:t>
            </a:r>
            <a:r>
              <a:rPr sz="2400" spc="150" dirty="0">
                <a:latin typeface="Times New Roman" panose="02020603050405020304" pitchFamily="18" charset="0"/>
                <a:cs typeface="Times New Roman" panose="02020603050405020304" pitchFamily="18" charset="0"/>
              </a:rPr>
              <a:t>node</a:t>
            </a:r>
            <a:r>
              <a:rPr sz="2400" spc="60" dirty="0">
                <a:latin typeface="Times New Roman" panose="02020603050405020304" pitchFamily="18" charset="0"/>
                <a:cs typeface="Times New Roman" panose="02020603050405020304" pitchFamily="18" charset="0"/>
              </a:rPr>
              <a:t> </a:t>
            </a:r>
            <a:r>
              <a:rPr sz="2400" spc="70" dirty="0">
                <a:latin typeface="Times New Roman" panose="02020603050405020304" pitchFamily="18" charset="0"/>
                <a:cs typeface="Times New Roman" panose="02020603050405020304" pitchFamily="18" charset="0"/>
              </a:rPr>
              <a:t>functions</a:t>
            </a:r>
            <a:r>
              <a:rPr sz="2400" spc="45" dirty="0">
                <a:latin typeface="Times New Roman" panose="02020603050405020304" pitchFamily="18" charset="0"/>
                <a:cs typeface="Times New Roman" panose="02020603050405020304" pitchFamily="18" charset="0"/>
              </a:rPr>
              <a:t> </a:t>
            </a:r>
            <a:r>
              <a:rPr sz="2400" spc="225" dirty="0">
                <a:latin typeface="Times New Roman" panose="02020603050405020304" pitchFamily="18" charset="0"/>
                <a:cs typeface="Times New Roman" panose="02020603050405020304" pitchFamily="18" charset="0"/>
              </a:rPr>
              <a:t>as</a:t>
            </a:r>
            <a:r>
              <a:rPr sz="2400" spc="70" dirty="0">
                <a:latin typeface="Times New Roman" panose="02020603050405020304" pitchFamily="18" charset="0"/>
                <a:cs typeface="Times New Roman" panose="02020603050405020304" pitchFamily="18" charset="0"/>
              </a:rPr>
              <a:t> </a:t>
            </a:r>
            <a:r>
              <a:rPr sz="2400" spc="125" dirty="0">
                <a:latin typeface="Times New Roman" panose="02020603050405020304" pitchFamily="18" charset="0"/>
                <a:cs typeface="Times New Roman" panose="02020603050405020304" pitchFamily="18" charset="0"/>
              </a:rPr>
              <a:t>the</a:t>
            </a:r>
            <a:r>
              <a:rPr sz="2400" spc="60" dirty="0">
                <a:latin typeface="Times New Roman" panose="02020603050405020304" pitchFamily="18" charset="0"/>
                <a:cs typeface="Times New Roman" panose="02020603050405020304" pitchFamily="18" charset="0"/>
              </a:rPr>
              <a:t> </a:t>
            </a:r>
            <a:r>
              <a:rPr sz="2400" spc="120" dirty="0">
                <a:latin typeface="Times New Roman" panose="02020603050405020304" pitchFamily="18" charset="0"/>
                <a:cs typeface="Times New Roman" panose="02020603050405020304" pitchFamily="18" charset="0"/>
              </a:rPr>
              <a:t>server</a:t>
            </a:r>
            <a:r>
              <a:rPr sz="2400" spc="4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for  </a:t>
            </a:r>
            <a:r>
              <a:rPr sz="2400" spc="125" dirty="0">
                <a:latin typeface="Times New Roman" panose="02020603050405020304" pitchFamily="18" charset="0"/>
                <a:cs typeface="Times New Roman" panose="02020603050405020304" pitchFamily="18" charset="0"/>
              </a:rPr>
              <a:t>the</a:t>
            </a:r>
            <a:r>
              <a:rPr sz="2400" spc="35" dirty="0">
                <a:latin typeface="Times New Roman" panose="02020603050405020304" pitchFamily="18" charset="0"/>
                <a:cs typeface="Times New Roman" panose="02020603050405020304" pitchFamily="18" charset="0"/>
              </a:rPr>
              <a:t> </a:t>
            </a:r>
            <a:r>
              <a:rPr sz="2400" spc="145" dirty="0">
                <a:latin typeface="Times New Roman" panose="02020603050405020304" pitchFamily="18" charset="0"/>
                <a:cs typeface="Times New Roman" panose="02020603050405020304" pitchFamily="18" charset="0"/>
              </a:rPr>
              <a:t>data</a:t>
            </a:r>
            <a:r>
              <a:rPr sz="2400" spc="55" dirty="0">
                <a:latin typeface="Times New Roman" panose="02020603050405020304" pitchFamily="18" charset="0"/>
                <a:cs typeface="Times New Roman" panose="02020603050405020304" pitchFamily="18" charset="0"/>
              </a:rPr>
              <a:t> </a:t>
            </a:r>
            <a:r>
              <a:rPr sz="2400" spc="125" dirty="0">
                <a:latin typeface="Times New Roman" panose="02020603050405020304" pitchFamily="18" charset="0"/>
                <a:cs typeface="Times New Roman" panose="02020603050405020304" pitchFamily="18" charset="0"/>
              </a:rPr>
              <a:t>on</a:t>
            </a:r>
            <a:r>
              <a:rPr sz="2400" spc="55" dirty="0">
                <a:latin typeface="Times New Roman" panose="02020603050405020304" pitchFamily="18" charset="0"/>
                <a:cs typeface="Times New Roman" panose="02020603050405020304" pitchFamily="18" charset="0"/>
              </a:rPr>
              <a:t> </a:t>
            </a:r>
            <a:r>
              <a:rPr sz="2400" spc="125" dirty="0">
                <a:latin typeface="Times New Roman" panose="02020603050405020304" pitchFamily="18" charset="0"/>
                <a:cs typeface="Times New Roman" panose="02020603050405020304" pitchFamily="18" charset="0"/>
              </a:rPr>
              <a:t>the</a:t>
            </a:r>
            <a:r>
              <a:rPr sz="2400" spc="55" dirty="0">
                <a:latin typeface="Times New Roman" panose="02020603050405020304" pitchFamily="18" charset="0"/>
                <a:cs typeface="Times New Roman" panose="02020603050405020304" pitchFamily="18" charset="0"/>
              </a:rPr>
              <a:t> </a:t>
            </a:r>
            <a:r>
              <a:rPr sz="2400" spc="65" dirty="0">
                <a:latin typeface="Times New Roman" panose="02020603050405020304" pitchFamily="18" charset="0"/>
                <a:cs typeface="Times New Roman" panose="02020603050405020304" pitchFamily="18" charset="0"/>
              </a:rPr>
              <a:t>disk</a:t>
            </a:r>
            <a:r>
              <a:rPr sz="2400" spc="45" dirty="0">
                <a:latin typeface="Times New Roman" panose="02020603050405020304" pitchFamily="18" charset="0"/>
                <a:cs typeface="Times New Roman" panose="02020603050405020304" pitchFamily="18" charset="0"/>
              </a:rPr>
              <a:t> </a:t>
            </a:r>
            <a:r>
              <a:rPr sz="2400" spc="70" dirty="0">
                <a:latin typeface="Times New Roman" panose="02020603050405020304" pitchFamily="18" charset="0"/>
                <a:cs typeface="Times New Roman" panose="02020603050405020304" pitchFamily="18" charset="0"/>
              </a:rPr>
              <a:t>or</a:t>
            </a:r>
            <a:r>
              <a:rPr sz="2400" spc="60" dirty="0">
                <a:latin typeface="Times New Roman" panose="02020603050405020304" pitchFamily="18" charset="0"/>
                <a:cs typeface="Times New Roman" panose="02020603050405020304" pitchFamily="18" charset="0"/>
              </a:rPr>
              <a:t> </a:t>
            </a:r>
            <a:r>
              <a:rPr sz="2400" spc="100" dirty="0">
                <a:latin typeface="Times New Roman" panose="02020603050405020304" pitchFamily="18" charset="0"/>
                <a:cs typeface="Times New Roman" panose="02020603050405020304" pitchFamily="18" charset="0"/>
              </a:rPr>
              <a:t>disks</a:t>
            </a:r>
            <a:r>
              <a:rPr sz="2400" spc="45" dirty="0">
                <a:latin typeface="Times New Roman" panose="02020603050405020304" pitchFamily="18" charset="0"/>
                <a:cs typeface="Times New Roman" panose="02020603050405020304" pitchFamily="18" charset="0"/>
              </a:rPr>
              <a:t> </a:t>
            </a:r>
            <a:r>
              <a:rPr sz="2400" spc="114" dirty="0">
                <a:latin typeface="Times New Roman" panose="02020603050405020304" pitchFamily="18" charset="0"/>
                <a:cs typeface="Times New Roman" panose="02020603050405020304" pitchFamily="18" charset="0"/>
              </a:rPr>
              <a:t>the</a:t>
            </a:r>
            <a:r>
              <a:rPr sz="2400" spc="55" dirty="0">
                <a:latin typeface="Times New Roman" panose="02020603050405020304" pitchFamily="18" charset="0"/>
                <a:cs typeface="Times New Roman" panose="02020603050405020304" pitchFamily="18" charset="0"/>
              </a:rPr>
              <a:t> </a:t>
            </a:r>
            <a:r>
              <a:rPr sz="2400" spc="150" dirty="0">
                <a:latin typeface="Times New Roman" panose="02020603050405020304" pitchFamily="18" charset="0"/>
                <a:cs typeface="Times New Roman" panose="02020603050405020304" pitchFamily="18" charset="0"/>
              </a:rPr>
              <a:t>node</a:t>
            </a:r>
            <a:r>
              <a:rPr sz="2400" spc="55" dirty="0">
                <a:latin typeface="Times New Roman" panose="02020603050405020304" pitchFamily="18" charset="0"/>
                <a:cs typeface="Times New Roman" panose="02020603050405020304" pitchFamily="18" charset="0"/>
              </a:rPr>
              <a:t> </a:t>
            </a:r>
            <a:r>
              <a:rPr sz="2400" spc="110" dirty="0">
                <a:latin typeface="Times New Roman" panose="02020603050405020304" pitchFamily="18" charset="0"/>
                <a:cs typeface="Times New Roman" panose="02020603050405020304" pitchFamily="18" charset="0"/>
              </a:rPr>
              <a:t>owns.</a:t>
            </a:r>
            <a:endParaRPr sz="2400" dirty="0">
              <a:latin typeface="Times New Roman" panose="02020603050405020304" pitchFamily="18" charset="0"/>
              <a:cs typeface="Times New Roman" panose="02020603050405020304" pitchFamily="18" charset="0"/>
            </a:endParaRPr>
          </a:p>
          <a:p>
            <a:pPr marL="390525" marR="20955" indent="-377825" algn="just">
              <a:lnSpc>
                <a:spcPct val="101800"/>
              </a:lnSpc>
              <a:spcBef>
                <a:spcPts val="640"/>
              </a:spcBef>
              <a:buClr>
                <a:srgbClr val="1F497C"/>
              </a:buClr>
              <a:buSzPct val="89743"/>
              <a:buChar char="●"/>
              <a:tabLst>
                <a:tab pos="391160" algn="l"/>
              </a:tabLst>
            </a:pPr>
            <a:r>
              <a:rPr sz="2400" spc="125" dirty="0">
                <a:latin typeface="Times New Roman" panose="02020603050405020304" pitchFamily="18" charset="0"/>
                <a:cs typeface="Times New Roman" panose="02020603050405020304" pitchFamily="18" charset="0"/>
              </a:rPr>
              <a:t>Data </a:t>
            </a:r>
            <a:r>
              <a:rPr sz="2400" spc="195" dirty="0">
                <a:latin typeface="Times New Roman" panose="02020603050405020304" pitchFamily="18" charset="0"/>
                <a:cs typeface="Times New Roman" panose="02020603050405020304" pitchFamily="18" charset="0"/>
              </a:rPr>
              <a:t>accessed </a:t>
            </a:r>
            <a:r>
              <a:rPr sz="2400" spc="40" dirty="0">
                <a:latin typeface="Times New Roman" panose="02020603050405020304" pitchFamily="18" charset="0"/>
                <a:cs typeface="Times New Roman" panose="02020603050405020304" pitchFamily="18" charset="0"/>
              </a:rPr>
              <a:t>from </a:t>
            </a:r>
            <a:r>
              <a:rPr sz="2400" spc="60" dirty="0">
                <a:latin typeface="Times New Roman" panose="02020603050405020304" pitchFamily="18" charset="0"/>
                <a:cs typeface="Times New Roman" panose="02020603050405020304" pitchFamily="18" charset="0"/>
              </a:rPr>
              <a:t>local </a:t>
            </a:r>
            <a:r>
              <a:rPr sz="2400" spc="100" dirty="0">
                <a:latin typeface="Times New Roman" panose="02020603050405020304" pitchFamily="18" charset="0"/>
                <a:cs typeface="Times New Roman" panose="02020603050405020304" pitchFamily="18" charset="0"/>
              </a:rPr>
              <a:t>disks </a:t>
            </a:r>
            <a:r>
              <a:rPr sz="2400" spc="120" dirty="0">
                <a:latin typeface="Times New Roman" panose="02020603050405020304" pitchFamily="18" charset="0"/>
                <a:cs typeface="Times New Roman" panose="02020603050405020304" pitchFamily="18" charset="0"/>
              </a:rPr>
              <a:t>(and </a:t>
            </a:r>
            <a:r>
              <a:rPr sz="2400" spc="55" dirty="0">
                <a:latin typeface="Times New Roman" panose="02020603050405020304" pitchFamily="18" charset="0"/>
                <a:cs typeface="Times New Roman" panose="02020603050405020304" pitchFamily="18" charset="0"/>
              </a:rPr>
              <a:t>local </a:t>
            </a:r>
            <a:r>
              <a:rPr sz="2400" spc="105" dirty="0">
                <a:latin typeface="Times New Roman" panose="02020603050405020304" pitchFamily="18" charset="0"/>
                <a:cs typeface="Times New Roman" panose="02020603050405020304" pitchFamily="18" charset="0"/>
              </a:rPr>
              <a:t>memory </a:t>
            </a:r>
            <a:r>
              <a:rPr sz="2400" spc="185" dirty="0">
                <a:latin typeface="Times New Roman" panose="02020603050405020304" pitchFamily="18" charset="0"/>
                <a:cs typeface="Times New Roman" panose="02020603050405020304" pitchFamily="18" charset="0"/>
              </a:rPr>
              <a:t>accesses) </a:t>
            </a:r>
            <a:r>
              <a:rPr sz="2400" spc="114" dirty="0">
                <a:latin typeface="Times New Roman" panose="02020603050405020304" pitchFamily="18" charset="0"/>
                <a:cs typeface="Times New Roman" panose="02020603050405020304" pitchFamily="18" charset="0"/>
              </a:rPr>
              <a:t>do </a:t>
            </a:r>
            <a:r>
              <a:rPr sz="2400" spc="85" dirty="0">
                <a:latin typeface="Times New Roman" panose="02020603050405020304" pitchFamily="18" charset="0"/>
                <a:cs typeface="Times New Roman" panose="02020603050405020304" pitchFamily="18" charset="0"/>
              </a:rPr>
              <a:t>not</a:t>
            </a:r>
            <a:r>
              <a:rPr sz="2400" spc="-75" dirty="0">
                <a:latin typeface="Times New Roman" panose="02020603050405020304" pitchFamily="18" charset="0"/>
                <a:cs typeface="Times New Roman" panose="02020603050405020304" pitchFamily="18" charset="0"/>
              </a:rPr>
              <a:t> </a:t>
            </a:r>
            <a:r>
              <a:rPr sz="2400" spc="125" dirty="0">
                <a:latin typeface="Times New Roman" panose="02020603050405020304" pitchFamily="18" charset="0"/>
                <a:cs typeface="Times New Roman" panose="02020603050405020304" pitchFamily="18" charset="0"/>
              </a:rPr>
              <a:t>p</a:t>
            </a:r>
            <a:r>
              <a:rPr sz="2400" spc="229" dirty="0">
                <a:latin typeface="Times New Roman" panose="02020603050405020304" pitchFamily="18" charset="0"/>
                <a:cs typeface="Times New Roman" panose="02020603050405020304" pitchFamily="18" charset="0"/>
              </a:rPr>
              <a:t>ass </a:t>
            </a:r>
            <a:r>
              <a:rPr sz="2400" spc="90" dirty="0">
                <a:latin typeface="Times New Roman" panose="02020603050405020304" pitchFamily="18" charset="0"/>
                <a:cs typeface="Times New Roman" panose="02020603050405020304" pitchFamily="18" charset="0"/>
              </a:rPr>
              <a:t>through </a:t>
            </a:r>
            <a:r>
              <a:rPr sz="2400" spc="85" dirty="0">
                <a:latin typeface="Times New Roman" panose="02020603050405020304" pitchFamily="18" charset="0"/>
                <a:cs typeface="Times New Roman" panose="02020603050405020304" pitchFamily="18" charset="0"/>
              </a:rPr>
              <a:t>interconnection </a:t>
            </a:r>
            <a:r>
              <a:rPr sz="2400" spc="75" dirty="0">
                <a:latin typeface="Times New Roman" panose="02020603050405020304" pitchFamily="18" charset="0"/>
                <a:cs typeface="Times New Roman" panose="02020603050405020304" pitchFamily="18" charset="0"/>
              </a:rPr>
              <a:t>network, </a:t>
            </a:r>
            <a:r>
              <a:rPr sz="2400" spc="105" dirty="0">
                <a:latin typeface="Times New Roman" panose="02020603050405020304" pitchFamily="18" charset="0"/>
                <a:cs typeface="Times New Roman" panose="02020603050405020304" pitchFamily="18" charset="0"/>
              </a:rPr>
              <a:t>thereby </a:t>
            </a:r>
            <a:r>
              <a:rPr sz="2400" spc="30" dirty="0">
                <a:latin typeface="Times New Roman" panose="02020603050405020304" pitchFamily="18" charset="0"/>
                <a:cs typeface="Times New Roman" panose="02020603050405020304" pitchFamily="18" charset="0"/>
              </a:rPr>
              <a:t>minimizing </a:t>
            </a:r>
            <a:r>
              <a:rPr sz="2400" spc="114" dirty="0">
                <a:latin typeface="Times New Roman" panose="02020603050405020304" pitchFamily="18" charset="0"/>
                <a:cs typeface="Times New Roman" panose="02020603050405020304" pitchFamily="18" charset="0"/>
              </a:rPr>
              <a:t>the</a:t>
            </a:r>
            <a:r>
              <a:rPr sz="2400" spc="-245" dirty="0">
                <a:latin typeface="Times New Roman" panose="02020603050405020304" pitchFamily="18" charset="0"/>
                <a:cs typeface="Times New Roman" panose="02020603050405020304" pitchFamily="18" charset="0"/>
              </a:rPr>
              <a:t> </a:t>
            </a:r>
            <a:r>
              <a:rPr sz="2400" spc="75" dirty="0">
                <a:latin typeface="Times New Roman" panose="02020603050405020304" pitchFamily="18" charset="0"/>
                <a:cs typeface="Times New Roman" panose="02020603050405020304" pitchFamily="18" charset="0"/>
              </a:rPr>
              <a:t>interferen</a:t>
            </a:r>
            <a:r>
              <a:rPr sz="2400" spc="175" dirty="0">
                <a:latin typeface="Times New Roman" panose="02020603050405020304" pitchFamily="18" charset="0"/>
                <a:cs typeface="Times New Roman" panose="02020603050405020304" pitchFamily="18" charset="0"/>
              </a:rPr>
              <a:t>ce </a:t>
            </a:r>
            <a:r>
              <a:rPr sz="2400" spc="5" dirty="0">
                <a:latin typeface="Times New Roman" panose="02020603050405020304" pitchFamily="18" charset="0"/>
                <a:cs typeface="Times New Roman" panose="02020603050405020304" pitchFamily="18" charset="0"/>
              </a:rPr>
              <a:t>of </a:t>
            </a:r>
            <a:r>
              <a:rPr sz="2400" spc="135" dirty="0">
                <a:latin typeface="Times New Roman" panose="02020603050405020304" pitchFamily="18" charset="0"/>
                <a:cs typeface="Times New Roman" panose="02020603050405020304" pitchFamily="18" charset="0"/>
              </a:rPr>
              <a:t>resource</a:t>
            </a:r>
            <a:r>
              <a:rPr sz="2400" spc="-5" dirty="0">
                <a:latin typeface="Times New Roman" panose="02020603050405020304" pitchFamily="18" charset="0"/>
                <a:cs typeface="Times New Roman" panose="02020603050405020304" pitchFamily="18" charset="0"/>
              </a:rPr>
              <a:t> </a:t>
            </a:r>
            <a:r>
              <a:rPr sz="2400" spc="100" dirty="0">
                <a:latin typeface="Times New Roman" panose="02020603050405020304" pitchFamily="18" charset="0"/>
                <a:cs typeface="Times New Roman" panose="02020603050405020304" pitchFamily="18" charset="0"/>
              </a:rPr>
              <a:t>sharing.</a:t>
            </a:r>
            <a:endParaRPr sz="2400" dirty="0">
              <a:latin typeface="Times New Roman" panose="02020603050405020304" pitchFamily="18" charset="0"/>
              <a:cs typeface="Times New Roman" panose="02020603050405020304" pitchFamily="18" charset="0"/>
            </a:endParaRPr>
          </a:p>
          <a:p>
            <a:pPr marL="390525" marR="5080" indent="-377825" algn="just">
              <a:lnSpc>
                <a:spcPct val="102000"/>
              </a:lnSpc>
              <a:spcBef>
                <a:spcPts val="640"/>
              </a:spcBef>
              <a:buClr>
                <a:srgbClr val="1F497C"/>
              </a:buClr>
              <a:buSzPct val="89743"/>
              <a:buChar char="●"/>
              <a:tabLst>
                <a:tab pos="391160" algn="l"/>
              </a:tabLst>
            </a:pPr>
            <a:r>
              <a:rPr sz="2400" spc="105" dirty="0">
                <a:latin typeface="Times New Roman" panose="02020603050405020304" pitchFamily="18" charset="0"/>
                <a:cs typeface="Times New Roman" panose="02020603050405020304" pitchFamily="18" charset="0"/>
              </a:rPr>
              <a:t>Shared-nothing</a:t>
            </a:r>
            <a:r>
              <a:rPr sz="2400" spc="-5" dirty="0">
                <a:latin typeface="Times New Roman" panose="02020603050405020304" pitchFamily="18" charset="0"/>
                <a:cs typeface="Times New Roman" panose="02020603050405020304" pitchFamily="18" charset="0"/>
              </a:rPr>
              <a:t> </a:t>
            </a:r>
            <a:r>
              <a:rPr sz="2400" spc="100" dirty="0">
                <a:latin typeface="Times New Roman" panose="02020603050405020304" pitchFamily="18" charset="0"/>
                <a:cs typeface="Times New Roman" panose="02020603050405020304" pitchFamily="18" charset="0"/>
              </a:rPr>
              <a:t>multiprocessors</a:t>
            </a:r>
            <a:r>
              <a:rPr sz="2400" spc="30" dirty="0">
                <a:latin typeface="Times New Roman" panose="02020603050405020304" pitchFamily="18" charset="0"/>
                <a:cs typeface="Times New Roman" panose="02020603050405020304" pitchFamily="18" charset="0"/>
              </a:rPr>
              <a:t> </a:t>
            </a:r>
            <a:r>
              <a:rPr sz="2400" spc="160" dirty="0">
                <a:latin typeface="Times New Roman" panose="02020603050405020304" pitchFamily="18" charset="0"/>
                <a:cs typeface="Times New Roman" panose="02020603050405020304" pitchFamily="18" charset="0"/>
              </a:rPr>
              <a:t>can</a:t>
            </a:r>
            <a:r>
              <a:rPr sz="2400" spc="55" dirty="0">
                <a:latin typeface="Times New Roman" panose="02020603050405020304" pitchFamily="18" charset="0"/>
                <a:cs typeface="Times New Roman" panose="02020603050405020304" pitchFamily="18" charset="0"/>
              </a:rPr>
              <a:t> </a:t>
            </a:r>
            <a:r>
              <a:rPr sz="2400" spc="180" dirty="0">
                <a:latin typeface="Times New Roman" panose="02020603050405020304" pitchFamily="18" charset="0"/>
                <a:cs typeface="Times New Roman" panose="02020603050405020304" pitchFamily="18" charset="0"/>
              </a:rPr>
              <a:t>be</a:t>
            </a:r>
            <a:r>
              <a:rPr sz="2400" spc="60" dirty="0">
                <a:latin typeface="Times New Roman" panose="02020603050405020304" pitchFamily="18" charset="0"/>
                <a:cs typeface="Times New Roman" panose="02020603050405020304" pitchFamily="18" charset="0"/>
              </a:rPr>
              <a:t> </a:t>
            </a:r>
            <a:r>
              <a:rPr sz="2400" spc="145" dirty="0">
                <a:latin typeface="Times New Roman" panose="02020603050405020304" pitchFamily="18" charset="0"/>
                <a:cs typeface="Times New Roman" panose="02020603050405020304" pitchFamily="18" charset="0"/>
              </a:rPr>
              <a:t>scaled</a:t>
            </a:r>
            <a:r>
              <a:rPr sz="2400" spc="40" dirty="0">
                <a:latin typeface="Times New Roman" panose="02020603050405020304" pitchFamily="18" charset="0"/>
                <a:cs typeface="Times New Roman" panose="02020603050405020304" pitchFamily="18" charset="0"/>
              </a:rPr>
              <a:t> </a:t>
            </a:r>
            <a:r>
              <a:rPr sz="2400" spc="125" dirty="0">
                <a:latin typeface="Times New Roman" panose="02020603050405020304" pitchFamily="18" charset="0"/>
                <a:cs typeface="Times New Roman" panose="02020603050405020304" pitchFamily="18" charset="0"/>
              </a:rPr>
              <a:t>up</a:t>
            </a:r>
            <a:r>
              <a:rPr sz="2400" spc="55" dirty="0">
                <a:latin typeface="Times New Roman" panose="02020603050405020304" pitchFamily="18" charset="0"/>
                <a:cs typeface="Times New Roman" panose="02020603050405020304" pitchFamily="18" charset="0"/>
              </a:rPr>
              <a:t> </a:t>
            </a:r>
            <a:r>
              <a:rPr sz="2400" spc="65" dirty="0">
                <a:latin typeface="Times New Roman" panose="02020603050405020304" pitchFamily="18" charset="0"/>
                <a:cs typeface="Times New Roman" panose="02020603050405020304" pitchFamily="18" charset="0"/>
              </a:rPr>
              <a:t>to</a:t>
            </a:r>
            <a:r>
              <a:rPr sz="2400" spc="60" dirty="0">
                <a:latin typeface="Times New Roman" panose="02020603050405020304" pitchFamily="18" charset="0"/>
                <a:cs typeface="Times New Roman" panose="02020603050405020304" pitchFamily="18" charset="0"/>
              </a:rPr>
              <a:t> </a:t>
            </a:r>
            <a:r>
              <a:rPr sz="2400" spc="145" dirty="0">
                <a:latin typeface="Times New Roman" panose="02020603050405020304" pitchFamily="18" charset="0"/>
                <a:cs typeface="Times New Roman" panose="02020603050405020304" pitchFamily="18" charset="0"/>
              </a:rPr>
              <a:t>thousands</a:t>
            </a:r>
            <a:r>
              <a:rPr sz="2400" spc="4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of</a:t>
            </a:r>
            <a:r>
              <a:rPr sz="2400" spc="55" dirty="0">
                <a:latin typeface="Times New Roman" panose="02020603050405020304" pitchFamily="18" charset="0"/>
                <a:cs typeface="Times New Roman" panose="02020603050405020304" pitchFamily="18" charset="0"/>
              </a:rPr>
              <a:t> </a:t>
            </a:r>
            <a:r>
              <a:rPr sz="2400" spc="95" dirty="0">
                <a:latin typeface="Times New Roman" panose="02020603050405020304" pitchFamily="18" charset="0"/>
                <a:cs typeface="Times New Roman" panose="02020603050405020304" pitchFamily="18" charset="0"/>
              </a:rPr>
              <a:t>proc</a:t>
            </a:r>
            <a:r>
              <a:rPr sz="2400" spc="175" dirty="0">
                <a:latin typeface="Times New Roman" panose="02020603050405020304" pitchFamily="18" charset="0"/>
                <a:cs typeface="Times New Roman" panose="02020603050405020304" pitchFamily="18" charset="0"/>
              </a:rPr>
              <a:t>essors </a:t>
            </a:r>
            <a:r>
              <a:rPr sz="2400" spc="45" dirty="0">
                <a:latin typeface="Times New Roman" panose="02020603050405020304" pitchFamily="18" charset="0"/>
                <a:cs typeface="Times New Roman" panose="02020603050405020304" pitchFamily="18" charset="0"/>
              </a:rPr>
              <a:t>without</a:t>
            </a:r>
            <a:r>
              <a:rPr sz="2400" spc="-105" dirty="0">
                <a:latin typeface="Times New Roman" panose="02020603050405020304" pitchFamily="18" charset="0"/>
                <a:cs typeface="Times New Roman" panose="02020603050405020304" pitchFamily="18" charset="0"/>
              </a:rPr>
              <a:t> </a:t>
            </a:r>
            <a:r>
              <a:rPr sz="2400" spc="90" dirty="0">
                <a:latin typeface="Times New Roman" panose="02020603050405020304" pitchFamily="18" charset="0"/>
                <a:cs typeface="Times New Roman" panose="02020603050405020304" pitchFamily="18" charset="0"/>
              </a:rPr>
              <a:t>interference.</a:t>
            </a:r>
            <a:endParaRPr sz="2400" dirty="0">
              <a:latin typeface="Times New Roman" panose="02020603050405020304" pitchFamily="18" charset="0"/>
              <a:cs typeface="Times New Roman" panose="02020603050405020304" pitchFamily="18" charset="0"/>
            </a:endParaRPr>
          </a:p>
          <a:p>
            <a:pPr marL="390525" marR="45720" indent="-377825" algn="just">
              <a:lnSpc>
                <a:spcPct val="102099"/>
              </a:lnSpc>
              <a:spcBef>
                <a:spcPts val="635"/>
              </a:spcBef>
              <a:buClr>
                <a:srgbClr val="1F497C"/>
              </a:buClr>
              <a:buSzPct val="89743"/>
              <a:buChar char="●"/>
              <a:tabLst>
                <a:tab pos="391160" algn="l"/>
              </a:tabLst>
            </a:pPr>
            <a:r>
              <a:rPr sz="2400" spc="40" dirty="0">
                <a:latin typeface="Times New Roman" panose="02020603050405020304" pitchFamily="18" charset="0"/>
                <a:cs typeface="Times New Roman" panose="02020603050405020304" pitchFamily="18" charset="0"/>
              </a:rPr>
              <a:t>Main </a:t>
            </a:r>
            <a:r>
              <a:rPr sz="2400" spc="100" dirty="0">
                <a:latin typeface="Times New Roman" panose="02020603050405020304" pitchFamily="18" charset="0"/>
                <a:cs typeface="Times New Roman" panose="02020603050405020304" pitchFamily="18" charset="0"/>
              </a:rPr>
              <a:t>drawback: </a:t>
            </a:r>
            <a:r>
              <a:rPr sz="2400" spc="125" dirty="0">
                <a:latin typeface="Times New Roman" panose="02020603050405020304" pitchFamily="18" charset="0"/>
                <a:cs typeface="Times New Roman" panose="02020603050405020304" pitchFamily="18" charset="0"/>
              </a:rPr>
              <a:t>cost </a:t>
            </a:r>
            <a:r>
              <a:rPr sz="2400" spc="15" dirty="0">
                <a:latin typeface="Times New Roman" panose="02020603050405020304" pitchFamily="18" charset="0"/>
                <a:cs typeface="Times New Roman" panose="02020603050405020304" pitchFamily="18" charset="0"/>
              </a:rPr>
              <a:t>of </a:t>
            </a:r>
            <a:r>
              <a:rPr sz="2400" spc="90" dirty="0">
                <a:latin typeface="Times New Roman" panose="02020603050405020304" pitchFamily="18" charset="0"/>
                <a:cs typeface="Times New Roman" panose="02020603050405020304" pitchFamily="18" charset="0"/>
              </a:rPr>
              <a:t>communication </a:t>
            </a:r>
            <a:r>
              <a:rPr sz="2400" spc="155" dirty="0">
                <a:latin typeface="Times New Roman" panose="02020603050405020304" pitchFamily="18" charset="0"/>
                <a:cs typeface="Times New Roman" panose="02020603050405020304" pitchFamily="18" charset="0"/>
              </a:rPr>
              <a:t>and </a:t>
            </a:r>
            <a:r>
              <a:rPr sz="2400" spc="70" dirty="0">
                <a:latin typeface="Times New Roman" panose="02020603050405020304" pitchFamily="18" charset="0"/>
                <a:cs typeface="Times New Roman" panose="02020603050405020304" pitchFamily="18" charset="0"/>
              </a:rPr>
              <a:t>non-local </a:t>
            </a:r>
            <a:r>
              <a:rPr sz="2400" spc="65" dirty="0">
                <a:latin typeface="Times New Roman" panose="02020603050405020304" pitchFamily="18" charset="0"/>
                <a:cs typeface="Times New Roman" panose="02020603050405020304" pitchFamily="18" charset="0"/>
              </a:rPr>
              <a:t>disk </a:t>
            </a:r>
            <a:r>
              <a:rPr sz="2400" spc="170" dirty="0">
                <a:latin typeface="Times New Roman" panose="02020603050405020304" pitchFamily="18" charset="0"/>
                <a:cs typeface="Times New Roman" panose="02020603050405020304" pitchFamily="18" charset="0"/>
              </a:rPr>
              <a:t>access;</a:t>
            </a:r>
            <a:r>
              <a:rPr sz="2400" spc="-250" dirty="0">
                <a:latin typeface="Times New Roman" panose="02020603050405020304" pitchFamily="18" charset="0"/>
                <a:cs typeface="Times New Roman" panose="02020603050405020304" pitchFamily="18" charset="0"/>
              </a:rPr>
              <a:t> </a:t>
            </a:r>
            <a:r>
              <a:rPr sz="2400" spc="195" dirty="0">
                <a:latin typeface="Times New Roman" panose="02020603050405020304" pitchFamily="18" charset="0"/>
                <a:cs typeface="Times New Roman" panose="02020603050405020304" pitchFamily="18" charset="0"/>
              </a:rPr>
              <a:t>se</a:t>
            </a:r>
            <a:r>
              <a:rPr lang="en-US" sz="2400" spc="195" dirty="0">
                <a:latin typeface="Times New Roman" panose="02020603050405020304" pitchFamily="18" charset="0"/>
                <a:cs typeface="Times New Roman" panose="02020603050405020304" pitchFamily="18" charset="0"/>
              </a:rPr>
              <a:t>n</a:t>
            </a:r>
            <a:r>
              <a:rPr sz="2400" spc="70" dirty="0">
                <a:latin typeface="Times New Roman" panose="02020603050405020304" pitchFamily="18" charset="0"/>
                <a:cs typeface="Times New Roman" panose="02020603050405020304" pitchFamily="18" charset="0"/>
              </a:rPr>
              <a:t>ding </a:t>
            </a:r>
            <a:r>
              <a:rPr sz="2400" spc="145" dirty="0">
                <a:latin typeface="Times New Roman" panose="02020603050405020304" pitchFamily="18" charset="0"/>
                <a:cs typeface="Times New Roman" panose="02020603050405020304" pitchFamily="18" charset="0"/>
              </a:rPr>
              <a:t>data </a:t>
            </a:r>
            <a:r>
              <a:rPr sz="2400" spc="70" dirty="0">
                <a:latin typeface="Times New Roman" panose="02020603050405020304" pitchFamily="18" charset="0"/>
                <a:cs typeface="Times New Roman" panose="02020603050405020304" pitchFamily="18" charset="0"/>
              </a:rPr>
              <a:t>involves </a:t>
            </a:r>
            <a:r>
              <a:rPr sz="2400" spc="95" dirty="0">
                <a:latin typeface="Times New Roman" panose="02020603050405020304" pitchFamily="18" charset="0"/>
                <a:cs typeface="Times New Roman" panose="02020603050405020304" pitchFamily="18" charset="0"/>
              </a:rPr>
              <a:t>software </a:t>
            </a:r>
            <a:r>
              <a:rPr sz="2400" spc="70" dirty="0">
                <a:latin typeface="Times New Roman" panose="02020603050405020304" pitchFamily="18" charset="0"/>
                <a:cs typeface="Times New Roman" panose="02020603050405020304" pitchFamily="18" charset="0"/>
              </a:rPr>
              <a:t>interaction </a:t>
            </a:r>
            <a:r>
              <a:rPr sz="2400" spc="120" dirty="0">
                <a:latin typeface="Times New Roman" panose="02020603050405020304" pitchFamily="18" charset="0"/>
                <a:cs typeface="Times New Roman" panose="02020603050405020304" pitchFamily="18" charset="0"/>
              </a:rPr>
              <a:t>at </a:t>
            </a:r>
            <a:r>
              <a:rPr sz="2400" spc="90" dirty="0">
                <a:latin typeface="Times New Roman" panose="02020603050405020304" pitchFamily="18" charset="0"/>
                <a:cs typeface="Times New Roman" panose="02020603050405020304" pitchFamily="18" charset="0"/>
              </a:rPr>
              <a:t>both</a:t>
            </a:r>
            <a:r>
              <a:rPr sz="2400" spc="-265" dirty="0">
                <a:latin typeface="Times New Roman" panose="02020603050405020304" pitchFamily="18" charset="0"/>
                <a:cs typeface="Times New Roman" panose="02020603050405020304" pitchFamily="18" charset="0"/>
              </a:rPr>
              <a:t> </a:t>
            </a:r>
            <a:r>
              <a:rPr sz="2400" spc="155" dirty="0">
                <a:latin typeface="Times New Roman" panose="02020603050405020304" pitchFamily="18" charset="0"/>
                <a:cs typeface="Times New Roman" panose="02020603050405020304" pitchFamily="18" charset="0"/>
              </a:rPr>
              <a:t>ends.</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972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123" y="988582"/>
            <a:ext cx="7886700" cy="1117310"/>
          </a:xfrm>
        </p:spPr>
        <p:txBody>
          <a:bodyPr>
            <a:normAutofit/>
          </a:bodyPr>
          <a:lstStyle/>
          <a:p>
            <a:r>
              <a:rPr lang="en-US" sz="3200" b="1" dirty="0" smtClean="0">
                <a:latin typeface="Times New Roman" panose="02020603050405020304" pitchFamily="18" charset="0"/>
                <a:cs typeface="Times New Roman" panose="02020603050405020304" pitchFamily="18" charset="0"/>
              </a:rPr>
              <a:t>Hierarchical</a:t>
            </a:r>
            <a:endParaRPr lang="en-US" sz="32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226377" y="1939637"/>
            <a:ext cx="8691245" cy="4610173"/>
          </a:xfrm>
          <a:prstGeom prst="rect">
            <a:avLst/>
          </a:prstGeom>
        </p:spPr>
        <p:txBody>
          <a:bodyPr vert="horz" wrap="square" lIns="0" tIns="10160" rIns="0" bIns="0" rtlCol="0">
            <a:spAutoFit/>
          </a:bodyPr>
          <a:lstStyle/>
          <a:p>
            <a:pPr marL="390525" marR="15240" indent="-377825" algn="just">
              <a:lnSpc>
                <a:spcPct val="102099"/>
              </a:lnSpc>
              <a:spcBef>
                <a:spcPts val="80"/>
              </a:spcBef>
              <a:buClr>
                <a:srgbClr val="1F497C"/>
              </a:buClr>
              <a:buSzPct val="89743"/>
              <a:buChar char="●"/>
              <a:tabLst>
                <a:tab pos="390525" algn="l"/>
                <a:tab pos="391160" algn="l"/>
              </a:tabLst>
            </a:pPr>
            <a:r>
              <a:rPr sz="2800" spc="125" dirty="0">
                <a:latin typeface="Times New Roman" panose="02020603050405020304" pitchFamily="18" charset="0"/>
                <a:cs typeface="Times New Roman" panose="02020603050405020304" pitchFamily="18" charset="0"/>
              </a:rPr>
              <a:t>Combines </a:t>
            </a:r>
            <a:r>
              <a:rPr sz="2800" spc="100" dirty="0">
                <a:latin typeface="Times New Roman" panose="02020603050405020304" pitchFamily="18" charset="0"/>
                <a:cs typeface="Times New Roman" panose="02020603050405020304" pitchFamily="18" charset="0"/>
              </a:rPr>
              <a:t>characteristics </a:t>
            </a:r>
            <a:r>
              <a:rPr sz="2800" spc="5" dirty="0">
                <a:latin typeface="Times New Roman" panose="02020603050405020304" pitchFamily="18" charset="0"/>
                <a:cs typeface="Times New Roman" panose="02020603050405020304" pitchFamily="18" charset="0"/>
              </a:rPr>
              <a:t>of </a:t>
            </a:r>
            <a:r>
              <a:rPr sz="2800" spc="105" dirty="0">
                <a:latin typeface="Times New Roman" panose="02020603050405020304" pitchFamily="18" charset="0"/>
                <a:cs typeface="Times New Roman" panose="02020603050405020304" pitchFamily="18" charset="0"/>
              </a:rPr>
              <a:t>shared-memory, shared-disk, </a:t>
            </a:r>
            <a:r>
              <a:rPr sz="2800" spc="165" dirty="0">
                <a:latin typeface="Times New Roman" panose="02020603050405020304" pitchFamily="18" charset="0"/>
                <a:cs typeface="Times New Roman" panose="02020603050405020304" pitchFamily="18" charset="0"/>
              </a:rPr>
              <a:t>and</a:t>
            </a:r>
            <a:r>
              <a:rPr sz="2800" spc="-180" dirty="0">
                <a:latin typeface="Times New Roman" panose="02020603050405020304" pitchFamily="18" charset="0"/>
                <a:cs typeface="Times New Roman" panose="02020603050405020304" pitchFamily="18" charset="0"/>
              </a:rPr>
              <a:t> </a:t>
            </a:r>
            <a:r>
              <a:rPr sz="2800" spc="105" dirty="0">
                <a:latin typeface="Times New Roman" panose="02020603050405020304" pitchFamily="18" charset="0"/>
                <a:cs typeface="Times New Roman" panose="02020603050405020304" pitchFamily="18" charset="0"/>
              </a:rPr>
              <a:t>shared-nothin</a:t>
            </a:r>
            <a:r>
              <a:rPr sz="2800" spc="125" dirty="0">
                <a:latin typeface="Times New Roman" panose="02020603050405020304" pitchFamily="18" charset="0"/>
                <a:cs typeface="Times New Roman" panose="02020603050405020304" pitchFamily="18" charset="0"/>
              </a:rPr>
              <a:t>g</a:t>
            </a:r>
            <a:r>
              <a:rPr sz="2800" spc="30" dirty="0">
                <a:latin typeface="Times New Roman" panose="02020603050405020304" pitchFamily="18" charset="0"/>
                <a:cs typeface="Times New Roman" panose="02020603050405020304" pitchFamily="18" charset="0"/>
              </a:rPr>
              <a:t> </a:t>
            </a:r>
            <a:r>
              <a:rPr sz="2800" spc="100" dirty="0">
                <a:latin typeface="Times New Roman" panose="02020603050405020304" pitchFamily="18" charset="0"/>
                <a:cs typeface="Times New Roman" panose="02020603050405020304" pitchFamily="18" charset="0"/>
              </a:rPr>
              <a:t>architectures.</a:t>
            </a:r>
            <a:endParaRPr sz="2800" dirty="0">
              <a:latin typeface="Times New Roman" panose="02020603050405020304" pitchFamily="18" charset="0"/>
              <a:cs typeface="Times New Roman" panose="02020603050405020304" pitchFamily="18" charset="0"/>
            </a:endParaRPr>
          </a:p>
          <a:p>
            <a:pPr marL="390525" marR="25400" indent="-377825" algn="just">
              <a:lnSpc>
                <a:spcPct val="102000"/>
              </a:lnSpc>
              <a:spcBef>
                <a:spcPts val="635"/>
              </a:spcBef>
              <a:buClr>
                <a:srgbClr val="1F497C"/>
              </a:buClr>
              <a:buSzPct val="89743"/>
              <a:buChar char="●"/>
              <a:tabLst>
                <a:tab pos="390525" algn="l"/>
                <a:tab pos="391160" algn="l"/>
                <a:tab pos="5321300" algn="l"/>
              </a:tabLst>
            </a:pPr>
            <a:r>
              <a:rPr lang="en-US" sz="2800" dirty="0">
                <a:latin typeface="Times New Roman" panose="02020603050405020304" pitchFamily="18" charset="0"/>
                <a:cs typeface="Times New Roman" panose="02020603050405020304" pitchFamily="18" charset="0"/>
              </a:rPr>
              <a:t>At the top level, the system consists of nodes connected by an interconnection network, and do not share disks or memory with one another.</a:t>
            </a:r>
          </a:p>
          <a:p>
            <a:pPr marL="390525" marR="25400" indent="-377825" algn="just">
              <a:lnSpc>
                <a:spcPct val="102000"/>
              </a:lnSpc>
              <a:spcBef>
                <a:spcPts val="635"/>
              </a:spcBef>
              <a:buClr>
                <a:srgbClr val="1F497C"/>
              </a:buClr>
              <a:buSzPct val="89743"/>
              <a:buChar char="●"/>
              <a:tabLst>
                <a:tab pos="390525" algn="l"/>
                <a:tab pos="391160" algn="l"/>
                <a:tab pos="5321300" algn="l"/>
              </a:tabLst>
            </a:pPr>
            <a:r>
              <a:rPr sz="2800" spc="150" dirty="0">
                <a:latin typeface="Times New Roman" panose="02020603050405020304" pitchFamily="18" charset="0"/>
                <a:cs typeface="Times New Roman" panose="02020603050405020304" pitchFamily="18" charset="0"/>
              </a:rPr>
              <a:t>Each</a:t>
            </a:r>
            <a:r>
              <a:rPr sz="2800" spc="35" dirty="0">
                <a:latin typeface="Times New Roman" panose="02020603050405020304" pitchFamily="18" charset="0"/>
                <a:cs typeface="Times New Roman" panose="02020603050405020304" pitchFamily="18" charset="0"/>
              </a:rPr>
              <a:t> </a:t>
            </a:r>
            <a:r>
              <a:rPr sz="2800" spc="150" dirty="0">
                <a:latin typeface="Times New Roman" panose="02020603050405020304" pitchFamily="18" charset="0"/>
                <a:cs typeface="Times New Roman" panose="02020603050405020304" pitchFamily="18" charset="0"/>
              </a:rPr>
              <a:t>node</a:t>
            </a:r>
            <a:r>
              <a:rPr sz="2800" spc="60" dirty="0">
                <a:latin typeface="Times New Roman" panose="02020603050405020304" pitchFamily="18" charset="0"/>
                <a:cs typeface="Times New Roman" panose="02020603050405020304" pitchFamily="18" charset="0"/>
              </a:rPr>
              <a:t> </a:t>
            </a:r>
            <a:r>
              <a:rPr sz="2800" spc="15" dirty="0">
                <a:latin typeface="Times New Roman" panose="02020603050405020304" pitchFamily="18" charset="0"/>
                <a:cs typeface="Times New Roman" panose="02020603050405020304" pitchFamily="18" charset="0"/>
              </a:rPr>
              <a:t>of</a:t>
            </a:r>
            <a:r>
              <a:rPr sz="2800" spc="55" dirty="0">
                <a:latin typeface="Times New Roman" panose="02020603050405020304" pitchFamily="18" charset="0"/>
                <a:cs typeface="Times New Roman" panose="02020603050405020304" pitchFamily="18" charset="0"/>
              </a:rPr>
              <a:t> </a:t>
            </a:r>
            <a:r>
              <a:rPr sz="2800" spc="114" dirty="0">
                <a:latin typeface="Times New Roman" panose="02020603050405020304" pitchFamily="18" charset="0"/>
                <a:cs typeface="Times New Roman" panose="02020603050405020304" pitchFamily="18" charset="0"/>
              </a:rPr>
              <a:t>the</a:t>
            </a:r>
            <a:r>
              <a:rPr sz="2800" spc="75" dirty="0">
                <a:latin typeface="Times New Roman" panose="02020603050405020304" pitchFamily="18" charset="0"/>
                <a:cs typeface="Times New Roman" panose="02020603050405020304" pitchFamily="18" charset="0"/>
              </a:rPr>
              <a:t> </a:t>
            </a:r>
            <a:r>
              <a:rPr sz="2800" spc="140" dirty="0">
                <a:latin typeface="Times New Roman" panose="02020603050405020304" pitchFamily="18" charset="0"/>
                <a:cs typeface="Times New Roman" panose="02020603050405020304" pitchFamily="18" charset="0"/>
              </a:rPr>
              <a:t>system</a:t>
            </a:r>
            <a:r>
              <a:rPr sz="2800" spc="45" dirty="0">
                <a:latin typeface="Times New Roman" panose="02020603050405020304" pitchFamily="18" charset="0"/>
                <a:cs typeface="Times New Roman" panose="02020603050405020304" pitchFamily="18" charset="0"/>
              </a:rPr>
              <a:t> </a:t>
            </a:r>
            <a:r>
              <a:rPr sz="2800" spc="80" dirty="0">
                <a:latin typeface="Times New Roman" panose="02020603050405020304" pitchFamily="18" charset="0"/>
                <a:cs typeface="Times New Roman" panose="02020603050405020304" pitchFamily="18" charset="0"/>
              </a:rPr>
              <a:t>could</a:t>
            </a:r>
            <a:r>
              <a:rPr sz="2800" spc="40" dirty="0">
                <a:latin typeface="Times New Roman" panose="02020603050405020304" pitchFamily="18" charset="0"/>
                <a:cs typeface="Times New Roman" panose="02020603050405020304" pitchFamily="18" charset="0"/>
              </a:rPr>
              <a:t> </a:t>
            </a:r>
            <a:r>
              <a:rPr sz="2800" spc="180" dirty="0">
                <a:latin typeface="Times New Roman" panose="02020603050405020304" pitchFamily="18" charset="0"/>
                <a:cs typeface="Times New Roman" panose="02020603050405020304" pitchFamily="18" charset="0"/>
              </a:rPr>
              <a:t>be</a:t>
            </a:r>
            <a:r>
              <a:rPr sz="2800" spc="60" dirty="0">
                <a:latin typeface="Times New Roman" panose="02020603050405020304" pitchFamily="18" charset="0"/>
                <a:cs typeface="Times New Roman" panose="02020603050405020304" pitchFamily="18" charset="0"/>
              </a:rPr>
              <a:t> </a:t>
            </a:r>
            <a:r>
              <a:rPr sz="2800" spc="235" dirty="0">
                <a:latin typeface="Times New Roman" panose="02020603050405020304" pitchFamily="18" charset="0"/>
                <a:cs typeface="Times New Roman" panose="02020603050405020304" pitchFamily="18" charset="0"/>
              </a:rPr>
              <a:t>a</a:t>
            </a:r>
            <a:r>
              <a:rPr sz="2800" spc="60" dirty="0">
                <a:latin typeface="Times New Roman" panose="02020603050405020304" pitchFamily="18" charset="0"/>
                <a:cs typeface="Times New Roman" panose="02020603050405020304" pitchFamily="18" charset="0"/>
              </a:rPr>
              <a:t> </a:t>
            </a:r>
            <a:r>
              <a:rPr sz="2800" spc="120" dirty="0">
                <a:latin typeface="Times New Roman" panose="02020603050405020304" pitchFamily="18" charset="0"/>
                <a:cs typeface="Times New Roman" panose="02020603050405020304" pitchFamily="18" charset="0"/>
              </a:rPr>
              <a:t>shared-memory</a:t>
            </a:r>
            <a:r>
              <a:rPr sz="2800" spc="50" dirty="0">
                <a:latin typeface="Times New Roman" panose="02020603050405020304" pitchFamily="18" charset="0"/>
                <a:cs typeface="Times New Roman" panose="02020603050405020304" pitchFamily="18" charset="0"/>
              </a:rPr>
              <a:t> </a:t>
            </a:r>
            <a:r>
              <a:rPr sz="2800" spc="140" dirty="0">
                <a:latin typeface="Times New Roman" panose="02020603050405020304" pitchFamily="18" charset="0"/>
                <a:cs typeface="Times New Roman" panose="02020603050405020304" pitchFamily="18" charset="0"/>
              </a:rPr>
              <a:t>system</a:t>
            </a:r>
            <a:r>
              <a:rPr sz="2800" spc="45" dirty="0">
                <a:latin typeface="Times New Roman" panose="02020603050405020304" pitchFamily="18" charset="0"/>
                <a:cs typeface="Times New Roman" panose="02020603050405020304" pitchFamily="18" charset="0"/>
              </a:rPr>
              <a:t> </a:t>
            </a:r>
            <a:r>
              <a:rPr sz="2800" spc="15" dirty="0">
                <a:latin typeface="Times New Roman" panose="02020603050405020304" pitchFamily="18" charset="0"/>
                <a:cs typeface="Times New Roman" panose="02020603050405020304" pitchFamily="18" charset="0"/>
              </a:rPr>
              <a:t>with</a:t>
            </a:r>
            <a:r>
              <a:rPr sz="2800" spc="60" dirty="0">
                <a:latin typeface="Times New Roman" panose="02020603050405020304" pitchFamily="18" charset="0"/>
                <a:cs typeface="Times New Roman" panose="02020603050405020304" pitchFamily="18" charset="0"/>
              </a:rPr>
              <a:t> </a:t>
            </a:r>
            <a:r>
              <a:rPr sz="2800" spc="235" dirty="0">
                <a:latin typeface="Times New Roman" panose="02020603050405020304" pitchFamily="18" charset="0"/>
                <a:cs typeface="Times New Roman" panose="02020603050405020304" pitchFamily="18" charset="0"/>
              </a:rPr>
              <a:t>a</a:t>
            </a:r>
            <a:r>
              <a:rPr sz="2800" spc="60" dirty="0">
                <a:latin typeface="Times New Roman" panose="02020603050405020304" pitchFamily="18" charset="0"/>
                <a:cs typeface="Times New Roman" panose="02020603050405020304" pitchFamily="18" charset="0"/>
              </a:rPr>
              <a:t> </a:t>
            </a:r>
            <a:r>
              <a:rPr sz="2800" spc="55" dirty="0">
                <a:latin typeface="Times New Roman" panose="02020603050405020304" pitchFamily="18" charset="0"/>
                <a:cs typeface="Times New Roman" panose="02020603050405020304" pitchFamily="18" charset="0"/>
              </a:rPr>
              <a:t>few</a:t>
            </a:r>
            <a:r>
              <a:rPr sz="2800" spc="65" dirty="0">
                <a:latin typeface="Times New Roman" panose="02020603050405020304" pitchFamily="18" charset="0"/>
                <a:cs typeface="Times New Roman" panose="02020603050405020304" pitchFamily="18" charset="0"/>
              </a:rPr>
              <a:t> </a:t>
            </a:r>
            <a:r>
              <a:rPr sz="2800" spc="90" dirty="0">
                <a:latin typeface="Times New Roman" panose="02020603050405020304" pitchFamily="18" charset="0"/>
                <a:cs typeface="Times New Roman" panose="02020603050405020304" pitchFamily="18" charset="0"/>
              </a:rPr>
              <a:t>proc</a:t>
            </a:r>
            <a:r>
              <a:rPr sz="2800" spc="160" dirty="0">
                <a:latin typeface="Times New Roman" panose="02020603050405020304" pitchFamily="18" charset="0"/>
                <a:cs typeface="Times New Roman" panose="02020603050405020304" pitchFamily="18" charset="0"/>
              </a:rPr>
              <a:t>essors.</a:t>
            </a:r>
            <a:endParaRPr sz="2800" dirty="0">
              <a:latin typeface="Times New Roman" panose="02020603050405020304" pitchFamily="18" charset="0"/>
              <a:cs typeface="Times New Roman" panose="02020603050405020304" pitchFamily="18" charset="0"/>
            </a:endParaRPr>
          </a:p>
          <a:p>
            <a:pPr marL="390525" marR="5080" indent="-377825" algn="just">
              <a:lnSpc>
                <a:spcPct val="102000"/>
              </a:lnSpc>
              <a:spcBef>
                <a:spcPts val="635"/>
              </a:spcBef>
              <a:buClr>
                <a:srgbClr val="1F497C"/>
              </a:buClr>
              <a:buSzPct val="89743"/>
              <a:buChar char="●"/>
              <a:tabLst>
                <a:tab pos="390525" algn="l"/>
                <a:tab pos="391160" algn="l"/>
              </a:tabLst>
            </a:pPr>
            <a:r>
              <a:rPr sz="2800" spc="30" dirty="0">
                <a:latin typeface="Times New Roman" panose="02020603050405020304" pitchFamily="18" charset="0"/>
                <a:cs typeface="Times New Roman" panose="02020603050405020304" pitchFamily="18" charset="0"/>
              </a:rPr>
              <a:t>Alternatively,</a:t>
            </a:r>
            <a:r>
              <a:rPr sz="2800" spc="10" dirty="0">
                <a:latin typeface="Times New Roman" panose="02020603050405020304" pitchFamily="18" charset="0"/>
                <a:cs typeface="Times New Roman" panose="02020603050405020304" pitchFamily="18" charset="0"/>
              </a:rPr>
              <a:t> </a:t>
            </a:r>
            <a:r>
              <a:rPr sz="2800" spc="180" dirty="0">
                <a:latin typeface="Times New Roman" panose="02020603050405020304" pitchFamily="18" charset="0"/>
                <a:cs typeface="Times New Roman" panose="02020603050405020304" pitchFamily="18" charset="0"/>
              </a:rPr>
              <a:t>each</a:t>
            </a:r>
            <a:r>
              <a:rPr sz="2800" spc="35" dirty="0">
                <a:latin typeface="Times New Roman" panose="02020603050405020304" pitchFamily="18" charset="0"/>
                <a:cs typeface="Times New Roman" panose="02020603050405020304" pitchFamily="18" charset="0"/>
              </a:rPr>
              <a:t> </a:t>
            </a:r>
            <a:r>
              <a:rPr sz="2800" spc="155" dirty="0">
                <a:latin typeface="Times New Roman" panose="02020603050405020304" pitchFamily="18" charset="0"/>
                <a:cs typeface="Times New Roman" panose="02020603050405020304" pitchFamily="18" charset="0"/>
              </a:rPr>
              <a:t>node</a:t>
            </a:r>
            <a:r>
              <a:rPr sz="2800" spc="60" dirty="0">
                <a:latin typeface="Times New Roman" panose="02020603050405020304" pitchFamily="18" charset="0"/>
                <a:cs typeface="Times New Roman" panose="02020603050405020304" pitchFamily="18" charset="0"/>
              </a:rPr>
              <a:t> </a:t>
            </a:r>
            <a:r>
              <a:rPr sz="2800" spc="80" dirty="0">
                <a:latin typeface="Times New Roman" panose="02020603050405020304" pitchFamily="18" charset="0"/>
                <a:cs typeface="Times New Roman" panose="02020603050405020304" pitchFamily="18" charset="0"/>
              </a:rPr>
              <a:t>could</a:t>
            </a:r>
            <a:r>
              <a:rPr sz="2800" spc="35" dirty="0">
                <a:latin typeface="Times New Roman" panose="02020603050405020304" pitchFamily="18" charset="0"/>
                <a:cs typeface="Times New Roman" panose="02020603050405020304" pitchFamily="18" charset="0"/>
              </a:rPr>
              <a:t> </a:t>
            </a:r>
            <a:r>
              <a:rPr sz="2800" spc="180" dirty="0">
                <a:latin typeface="Times New Roman" panose="02020603050405020304" pitchFamily="18" charset="0"/>
                <a:cs typeface="Times New Roman" panose="02020603050405020304" pitchFamily="18" charset="0"/>
              </a:rPr>
              <a:t>be</a:t>
            </a:r>
            <a:r>
              <a:rPr sz="2800" spc="55" dirty="0">
                <a:latin typeface="Times New Roman" panose="02020603050405020304" pitchFamily="18" charset="0"/>
                <a:cs typeface="Times New Roman" panose="02020603050405020304" pitchFamily="18" charset="0"/>
              </a:rPr>
              <a:t> </a:t>
            </a:r>
            <a:r>
              <a:rPr sz="2800" spc="235" dirty="0">
                <a:latin typeface="Times New Roman" panose="02020603050405020304" pitchFamily="18" charset="0"/>
                <a:cs typeface="Times New Roman" panose="02020603050405020304" pitchFamily="18" charset="0"/>
              </a:rPr>
              <a:t>a</a:t>
            </a:r>
            <a:r>
              <a:rPr sz="2800" spc="60" dirty="0">
                <a:latin typeface="Times New Roman" panose="02020603050405020304" pitchFamily="18" charset="0"/>
                <a:cs typeface="Times New Roman" panose="02020603050405020304" pitchFamily="18" charset="0"/>
              </a:rPr>
              <a:t> </a:t>
            </a:r>
            <a:r>
              <a:rPr sz="2800" spc="110" dirty="0">
                <a:latin typeface="Times New Roman" panose="02020603050405020304" pitchFamily="18" charset="0"/>
                <a:cs typeface="Times New Roman" panose="02020603050405020304" pitchFamily="18" charset="0"/>
              </a:rPr>
              <a:t>shared-disk</a:t>
            </a:r>
            <a:r>
              <a:rPr sz="2800" spc="25" dirty="0">
                <a:latin typeface="Times New Roman" panose="02020603050405020304" pitchFamily="18" charset="0"/>
                <a:cs typeface="Times New Roman" panose="02020603050405020304" pitchFamily="18" charset="0"/>
              </a:rPr>
              <a:t> </a:t>
            </a:r>
            <a:r>
              <a:rPr sz="2800" spc="130" dirty="0">
                <a:latin typeface="Times New Roman" panose="02020603050405020304" pitchFamily="18" charset="0"/>
                <a:cs typeface="Times New Roman" panose="02020603050405020304" pitchFamily="18" charset="0"/>
              </a:rPr>
              <a:t>system,</a:t>
            </a:r>
            <a:r>
              <a:rPr sz="2800" spc="50" dirty="0">
                <a:latin typeface="Times New Roman" panose="02020603050405020304" pitchFamily="18" charset="0"/>
                <a:cs typeface="Times New Roman" panose="02020603050405020304" pitchFamily="18" charset="0"/>
              </a:rPr>
              <a:t> </a:t>
            </a:r>
            <a:r>
              <a:rPr sz="2800" spc="165" dirty="0">
                <a:latin typeface="Times New Roman" panose="02020603050405020304" pitchFamily="18" charset="0"/>
                <a:cs typeface="Times New Roman" panose="02020603050405020304" pitchFamily="18" charset="0"/>
              </a:rPr>
              <a:t>and</a:t>
            </a:r>
            <a:r>
              <a:rPr sz="2800" spc="60" dirty="0">
                <a:latin typeface="Times New Roman" panose="02020603050405020304" pitchFamily="18" charset="0"/>
                <a:cs typeface="Times New Roman" panose="02020603050405020304" pitchFamily="18" charset="0"/>
              </a:rPr>
              <a:t> </a:t>
            </a:r>
            <a:r>
              <a:rPr sz="2800" spc="175" dirty="0">
                <a:latin typeface="Times New Roman" panose="02020603050405020304" pitchFamily="18" charset="0"/>
                <a:cs typeface="Times New Roman" panose="02020603050405020304" pitchFamily="18" charset="0"/>
              </a:rPr>
              <a:t>each</a:t>
            </a:r>
            <a:r>
              <a:rPr sz="2800" spc="55" dirty="0">
                <a:latin typeface="Times New Roman" panose="02020603050405020304" pitchFamily="18" charset="0"/>
                <a:cs typeface="Times New Roman" panose="02020603050405020304" pitchFamily="18" charset="0"/>
              </a:rPr>
              <a:t> </a:t>
            </a:r>
            <a:r>
              <a:rPr sz="2800" spc="15" dirty="0">
                <a:latin typeface="Times New Roman" panose="02020603050405020304" pitchFamily="18" charset="0"/>
                <a:cs typeface="Times New Roman" panose="02020603050405020304" pitchFamily="18" charset="0"/>
              </a:rPr>
              <a:t>of</a:t>
            </a:r>
            <a:r>
              <a:rPr sz="2800" spc="50" dirty="0">
                <a:latin typeface="Times New Roman" panose="02020603050405020304" pitchFamily="18" charset="0"/>
                <a:cs typeface="Times New Roman" panose="02020603050405020304" pitchFamily="18" charset="0"/>
              </a:rPr>
              <a:t> </a:t>
            </a:r>
            <a:r>
              <a:rPr sz="2800" spc="114" dirty="0">
                <a:latin typeface="Times New Roman" panose="02020603050405020304" pitchFamily="18" charset="0"/>
                <a:cs typeface="Times New Roman" panose="02020603050405020304" pitchFamily="18" charset="0"/>
              </a:rPr>
              <a:t>the</a:t>
            </a:r>
            <a:r>
              <a:rPr sz="2800" spc="60" dirty="0">
                <a:latin typeface="Times New Roman" panose="02020603050405020304" pitchFamily="18" charset="0"/>
                <a:cs typeface="Times New Roman" panose="02020603050405020304" pitchFamily="18" charset="0"/>
              </a:rPr>
              <a:t> </a:t>
            </a:r>
            <a:r>
              <a:rPr sz="2800" spc="120" dirty="0">
                <a:latin typeface="Times New Roman" panose="02020603050405020304" pitchFamily="18" charset="0"/>
                <a:cs typeface="Times New Roman" panose="02020603050405020304" pitchFamily="18" charset="0"/>
              </a:rPr>
              <a:t>syst</a:t>
            </a:r>
            <a:r>
              <a:rPr sz="2800" spc="195" dirty="0">
                <a:latin typeface="Times New Roman" panose="02020603050405020304" pitchFamily="18" charset="0"/>
                <a:cs typeface="Times New Roman" panose="02020603050405020304" pitchFamily="18" charset="0"/>
              </a:rPr>
              <a:t>ems</a:t>
            </a:r>
            <a:r>
              <a:rPr sz="2800" spc="45" dirty="0">
                <a:latin typeface="Times New Roman" panose="02020603050405020304" pitchFamily="18" charset="0"/>
                <a:cs typeface="Times New Roman" panose="02020603050405020304" pitchFamily="18" charset="0"/>
              </a:rPr>
              <a:t> </a:t>
            </a:r>
            <a:r>
              <a:rPr sz="2800" spc="105" dirty="0">
                <a:latin typeface="Times New Roman" panose="02020603050405020304" pitchFamily="18" charset="0"/>
                <a:cs typeface="Times New Roman" panose="02020603050405020304" pitchFamily="18" charset="0"/>
              </a:rPr>
              <a:t>sharing</a:t>
            </a:r>
            <a:r>
              <a:rPr sz="2800" spc="35" dirty="0">
                <a:latin typeface="Times New Roman" panose="02020603050405020304" pitchFamily="18" charset="0"/>
                <a:cs typeface="Times New Roman" panose="02020603050405020304" pitchFamily="18" charset="0"/>
              </a:rPr>
              <a:t> </a:t>
            </a:r>
            <a:r>
              <a:rPr sz="2800" spc="235" dirty="0">
                <a:latin typeface="Times New Roman" panose="02020603050405020304" pitchFamily="18" charset="0"/>
                <a:cs typeface="Times New Roman" panose="02020603050405020304" pitchFamily="18" charset="0"/>
              </a:rPr>
              <a:t>a</a:t>
            </a:r>
            <a:r>
              <a:rPr sz="2800" spc="70" dirty="0">
                <a:latin typeface="Times New Roman" panose="02020603050405020304" pitchFamily="18" charset="0"/>
                <a:cs typeface="Times New Roman" panose="02020603050405020304" pitchFamily="18" charset="0"/>
              </a:rPr>
              <a:t> </a:t>
            </a:r>
            <a:r>
              <a:rPr sz="2800" spc="155" dirty="0">
                <a:latin typeface="Times New Roman" panose="02020603050405020304" pitchFamily="18" charset="0"/>
                <a:cs typeface="Times New Roman" panose="02020603050405020304" pitchFamily="18" charset="0"/>
              </a:rPr>
              <a:t>set</a:t>
            </a:r>
            <a:r>
              <a:rPr sz="2800" spc="50" dirty="0">
                <a:latin typeface="Times New Roman" panose="02020603050405020304" pitchFamily="18" charset="0"/>
                <a:cs typeface="Times New Roman" panose="02020603050405020304" pitchFamily="18" charset="0"/>
              </a:rPr>
              <a:t> </a:t>
            </a:r>
            <a:r>
              <a:rPr sz="2800" spc="15" dirty="0">
                <a:latin typeface="Times New Roman" panose="02020603050405020304" pitchFamily="18" charset="0"/>
                <a:cs typeface="Times New Roman" panose="02020603050405020304" pitchFamily="18" charset="0"/>
              </a:rPr>
              <a:t>of</a:t>
            </a:r>
            <a:r>
              <a:rPr sz="2800" spc="50" dirty="0">
                <a:latin typeface="Times New Roman" panose="02020603050405020304" pitchFamily="18" charset="0"/>
                <a:cs typeface="Times New Roman" panose="02020603050405020304" pitchFamily="18" charset="0"/>
              </a:rPr>
              <a:t> </a:t>
            </a:r>
            <a:r>
              <a:rPr sz="2800" spc="100" dirty="0">
                <a:latin typeface="Times New Roman" panose="02020603050405020304" pitchFamily="18" charset="0"/>
                <a:cs typeface="Times New Roman" panose="02020603050405020304" pitchFamily="18" charset="0"/>
              </a:rPr>
              <a:t>disks</a:t>
            </a:r>
            <a:r>
              <a:rPr sz="2800" spc="45" dirty="0">
                <a:latin typeface="Times New Roman" panose="02020603050405020304" pitchFamily="18" charset="0"/>
                <a:cs typeface="Times New Roman" panose="02020603050405020304" pitchFamily="18" charset="0"/>
              </a:rPr>
              <a:t> </a:t>
            </a:r>
            <a:r>
              <a:rPr sz="2800" spc="80" dirty="0">
                <a:latin typeface="Times New Roman" panose="02020603050405020304" pitchFamily="18" charset="0"/>
                <a:cs typeface="Times New Roman" panose="02020603050405020304" pitchFamily="18" charset="0"/>
              </a:rPr>
              <a:t>could</a:t>
            </a:r>
            <a:r>
              <a:rPr sz="2800" spc="60" dirty="0">
                <a:latin typeface="Times New Roman" panose="02020603050405020304" pitchFamily="18" charset="0"/>
                <a:cs typeface="Times New Roman" panose="02020603050405020304" pitchFamily="18" charset="0"/>
              </a:rPr>
              <a:t> </a:t>
            </a:r>
            <a:r>
              <a:rPr sz="2800" spc="170" dirty="0">
                <a:latin typeface="Times New Roman" panose="02020603050405020304" pitchFamily="18" charset="0"/>
                <a:cs typeface="Times New Roman" panose="02020603050405020304" pitchFamily="18" charset="0"/>
              </a:rPr>
              <a:t>be</a:t>
            </a:r>
            <a:r>
              <a:rPr sz="2800" spc="55" dirty="0">
                <a:latin typeface="Times New Roman" panose="02020603050405020304" pitchFamily="18" charset="0"/>
                <a:cs typeface="Times New Roman" panose="02020603050405020304" pitchFamily="18" charset="0"/>
              </a:rPr>
              <a:t> </a:t>
            </a:r>
            <a:r>
              <a:rPr sz="2800" spc="235" dirty="0">
                <a:latin typeface="Times New Roman" panose="02020603050405020304" pitchFamily="18" charset="0"/>
                <a:cs typeface="Times New Roman" panose="02020603050405020304" pitchFamily="18" charset="0"/>
              </a:rPr>
              <a:t>a</a:t>
            </a:r>
            <a:r>
              <a:rPr sz="2800" spc="55" dirty="0">
                <a:latin typeface="Times New Roman" panose="02020603050405020304" pitchFamily="18" charset="0"/>
                <a:cs typeface="Times New Roman" panose="02020603050405020304" pitchFamily="18" charset="0"/>
              </a:rPr>
              <a:t> </a:t>
            </a:r>
            <a:r>
              <a:rPr sz="2800" spc="120" dirty="0">
                <a:latin typeface="Times New Roman" panose="02020603050405020304" pitchFamily="18" charset="0"/>
                <a:cs typeface="Times New Roman" panose="02020603050405020304" pitchFamily="18" charset="0"/>
              </a:rPr>
              <a:t>shared-memory</a:t>
            </a:r>
            <a:r>
              <a:rPr sz="2800" spc="45" dirty="0">
                <a:latin typeface="Times New Roman" panose="02020603050405020304" pitchFamily="18" charset="0"/>
                <a:cs typeface="Times New Roman" panose="02020603050405020304" pitchFamily="18" charset="0"/>
              </a:rPr>
              <a:t> </a:t>
            </a:r>
            <a:r>
              <a:rPr sz="2800" spc="130" dirty="0">
                <a:latin typeface="Times New Roman" panose="02020603050405020304" pitchFamily="18" charset="0"/>
                <a:cs typeface="Times New Roman" panose="02020603050405020304" pitchFamily="18" charset="0"/>
              </a:rPr>
              <a:t>system.</a:t>
            </a: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3261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3217" y="925802"/>
            <a:ext cx="8077200" cy="715962"/>
          </a:xfrm>
        </p:spPr>
        <p:txBody>
          <a:bodyPr>
            <a:normAutofit/>
          </a:bodyPr>
          <a:lstStyle/>
          <a:p>
            <a:r>
              <a:rPr lang="en-US" sz="3200" b="1" dirty="0">
                <a:latin typeface="Times New Roman" panose="02020603050405020304" pitchFamily="18" charset="0"/>
                <a:cs typeface="Times New Roman" panose="02020603050405020304" pitchFamily="18" charset="0"/>
              </a:rPr>
              <a:t>I/O Parallelism</a:t>
            </a:r>
          </a:p>
        </p:txBody>
      </p:sp>
      <p:sp>
        <p:nvSpPr>
          <p:cNvPr id="4" name="object 4"/>
          <p:cNvSpPr txBox="1"/>
          <p:nvPr/>
        </p:nvSpPr>
        <p:spPr>
          <a:xfrm>
            <a:off x="343217" y="1425102"/>
            <a:ext cx="8609965" cy="5063566"/>
          </a:xfrm>
          <a:prstGeom prst="rect">
            <a:avLst/>
          </a:prstGeom>
        </p:spPr>
        <p:txBody>
          <a:bodyPr vert="horz" wrap="square" lIns="0" tIns="92075" rIns="0" bIns="0" rtlCol="0">
            <a:spAutoFit/>
          </a:bodyPr>
          <a:lstStyle/>
          <a:p>
            <a:pPr marL="247015" indent="-234315">
              <a:lnSpc>
                <a:spcPct val="100000"/>
              </a:lnSpc>
              <a:spcBef>
                <a:spcPts val="725"/>
              </a:spcBef>
              <a:buChar char="•"/>
              <a:tabLst>
                <a:tab pos="247650" algn="l"/>
              </a:tabLst>
            </a:pPr>
            <a:r>
              <a:rPr lang="en-US" sz="2400" dirty="0">
                <a:latin typeface="Times New Roman" panose="02020603050405020304" pitchFamily="18" charset="0"/>
                <a:cs typeface="Times New Roman" panose="02020603050405020304" pitchFamily="18" charset="0"/>
              </a:rPr>
              <a:t>I/O parallelism refers to reducing the time required to retrieve relations from disk by partitioning the relations on multiple disks.</a:t>
            </a:r>
          </a:p>
          <a:p>
            <a:pPr marL="247015" indent="-234315">
              <a:lnSpc>
                <a:spcPct val="100000"/>
              </a:lnSpc>
              <a:spcBef>
                <a:spcPts val="725"/>
              </a:spcBef>
              <a:buChar char="•"/>
              <a:tabLst>
                <a:tab pos="247650" algn="l"/>
              </a:tabLst>
            </a:pPr>
            <a:r>
              <a:rPr lang="en-US" sz="2400" dirty="0">
                <a:latin typeface="Times New Roman" panose="02020603050405020304" pitchFamily="18" charset="0"/>
                <a:cs typeface="Times New Roman" panose="02020603050405020304" pitchFamily="18" charset="0"/>
              </a:rPr>
              <a:t>The most common form of data partitioning in a parallel database environment is horizontal partitioning.</a:t>
            </a:r>
          </a:p>
          <a:p>
            <a:pPr marL="247015" indent="-234315">
              <a:lnSpc>
                <a:spcPct val="100000"/>
              </a:lnSpc>
              <a:spcBef>
                <a:spcPts val="725"/>
              </a:spcBef>
              <a:buChar char="•"/>
              <a:tabLst>
                <a:tab pos="247650" algn="l"/>
              </a:tabLst>
            </a:pPr>
            <a:r>
              <a:rPr lang="en-US" sz="2400" dirty="0">
                <a:latin typeface="Times New Roman" panose="02020603050405020304" pitchFamily="18" charset="0"/>
                <a:cs typeface="Times New Roman" panose="02020603050405020304" pitchFamily="18" charset="0"/>
              </a:rPr>
              <a:t>In horizontal partitioning, the tuples of a relation are divided among many disks, so that each tuple resides on one disk.</a:t>
            </a:r>
          </a:p>
          <a:p>
            <a:pPr marL="247015" indent="-234315">
              <a:lnSpc>
                <a:spcPct val="100000"/>
              </a:lnSpc>
              <a:spcBef>
                <a:spcPts val="725"/>
              </a:spcBef>
              <a:buChar char="•"/>
              <a:tabLst>
                <a:tab pos="247650" algn="l"/>
              </a:tabLst>
            </a:pPr>
            <a:r>
              <a:rPr lang="en-US" sz="2400" dirty="0">
                <a:latin typeface="Times New Roman" panose="02020603050405020304" pitchFamily="18" charset="0"/>
                <a:cs typeface="Times New Roman" panose="02020603050405020304" pitchFamily="18" charset="0"/>
              </a:rPr>
              <a:t>Several partitioning strategies have been proposed.</a:t>
            </a:r>
          </a:p>
          <a:p>
            <a:pPr marL="12700">
              <a:lnSpc>
                <a:spcPct val="100000"/>
              </a:lnSpc>
              <a:spcBef>
                <a:spcPts val="725"/>
              </a:spcBef>
              <a:tabLst>
                <a:tab pos="247650" algn="l"/>
              </a:tabLst>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 </a:t>
            </a:r>
            <a:r>
              <a:rPr lang="en-US" sz="2400" dirty="0" smtClean="0">
                <a:solidFill>
                  <a:schemeClr val="tx2">
                    <a:lumMod val="60000"/>
                    <a:lumOff val="40000"/>
                  </a:schemeClr>
                </a:solidFill>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it scans the relation in any order and sends the </a:t>
            </a:r>
            <a:r>
              <a:rPr lang="en-US" sz="2400" dirty="0" err="1">
                <a:latin typeface="Times New Roman" panose="02020603050405020304" pitchFamily="18" charset="0"/>
                <a:cs typeface="Times New Roman" panose="02020603050405020304" pitchFamily="18" charset="0"/>
              </a:rPr>
              <a:t>ith</a:t>
            </a:r>
            <a:r>
              <a:rPr lang="en-US" sz="2400" dirty="0">
                <a:latin typeface="Times New Roman" panose="02020603050405020304" pitchFamily="18" charset="0"/>
                <a:cs typeface="Times New Roman" panose="02020603050405020304" pitchFamily="18" charset="0"/>
              </a:rPr>
              <a:t> tuple to disk </a:t>
            </a:r>
          </a:p>
          <a:p>
            <a:pPr marL="12700">
              <a:lnSpc>
                <a:spcPct val="100000"/>
              </a:lnSpc>
              <a:spcBef>
                <a:spcPts val="725"/>
              </a:spcBef>
              <a:tabLst>
                <a:tab pos="247650" algn="l"/>
              </a:tabLst>
            </a:pPr>
            <a:r>
              <a:rPr lang="en-US" sz="2400" dirty="0" smtClean="0">
                <a:solidFill>
                  <a:schemeClr val="tx2">
                    <a:lumMod val="60000"/>
                    <a:lumOff val="40000"/>
                  </a:schemeClr>
                </a:solidFill>
                <a:latin typeface="Times New Roman" panose="02020603050405020304" pitchFamily="18" charset="0"/>
                <a:cs typeface="Times New Roman" panose="02020603050405020304" pitchFamily="18" charset="0"/>
              </a:rPr>
              <a:t>ng</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Hash partitioning is a method of separating out rows and spreading them evenly in sub-tables within databases</a:t>
            </a:r>
          </a:p>
          <a:p>
            <a:pPr marL="12700">
              <a:lnSpc>
                <a:spcPct val="100000"/>
              </a:lnSpc>
              <a:spcBef>
                <a:spcPts val="725"/>
              </a:spcBef>
              <a:tabLst>
                <a:tab pos="247650" algn="l"/>
              </a:tabLst>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 </a:t>
            </a:r>
            <a:r>
              <a:rPr lang="en-US" sz="2400" dirty="0" smtClean="0">
                <a:solidFill>
                  <a:schemeClr val="tx2">
                    <a:lumMod val="60000"/>
                    <a:lumOff val="40000"/>
                  </a:schemeClr>
                </a:solidFill>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strategy distributes contiguous attribute-value ranges to each disk.</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8427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3237" y="1480564"/>
            <a:ext cx="8880764" cy="3970318"/>
          </a:xfrm>
          <a:prstGeom prst="rect">
            <a:avLst/>
          </a:prstGeom>
        </p:spPr>
        <p:txBody>
          <a:bodyPr wrap="square">
            <a:spAutoFit/>
          </a:bodyPr>
          <a:lstStyle/>
          <a:p>
            <a:r>
              <a:rPr lang="en-US" sz="3600" b="1" dirty="0" err="1">
                <a:solidFill>
                  <a:schemeClr val="dk1"/>
                </a:solidFill>
                <a:latin typeface="Times New Roman" pitchFamily="18" charset="0"/>
                <a:ea typeface="Calibri"/>
                <a:cs typeface="Times New Roman" pitchFamily="18" charset="0"/>
              </a:rPr>
              <a:t>Interquery</a:t>
            </a:r>
            <a:r>
              <a:rPr lang="en-US" sz="3600" b="1" dirty="0">
                <a:solidFill>
                  <a:schemeClr val="dk1"/>
                </a:solidFill>
                <a:latin typeface="Times New Roman" pitchFamily="18" charset="0"/>
                <a:ea typeface="Calibri"/>
                <a:cs typeface="Times New Roman" pitchFamily="18" charset="0"/>
              </a:rPr>
              <a:t> Parallelism</a:t>
            </a:r>
          </a:p>
          <a:p>
            <a:endParaRPr lang="en-US" sz="2400" dirty="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 </a:t>
            </a:r>
            <a:r>
              <a:rPr lang="en-US" sz="2400" dirty="0" err="1">
                <a:latin typeface="Times New Roman" panose="02020603050405020304" pitchFamily="18" charset="0"/>
                <a:cs typeface="Times New Roman" panose="02020603050405020304" pitchFamily="18" charset="0"/>
              </a:rPr>
              <a:t>interquery</a:t>
            </a:r>
            <a:r>
              <a:rPr lang="en-US" sz="2400" dirty="0">
                <a:latin typeface="Times New Roman" panose="02020603050405020304" pitchFamily="18" charset="0"/>
                <a:cs typeface="Times New Roman" panose="02020603050405020304" pitchFamily="18" charset="0"/>
              </a:rPr>
              <a:t> parallelism, different queries or transactions execute in parallel with one another.</a:t>
            </a:r>
          </a:p>
          <a:p>
            <a:pPr marL="285750" indent="-285750">
              <a:buFont typeface="Arial" pitchFamily="34" charset="0"/>
              <a:buChar char="•"/>
            </a:pPr>
            <a:r>
              <a:rPr lang="en-US" sz="2400" dirty="0">
                <a:latin typeface="Times New Roman" panose="02020603050405020304" pitchFamily="18" charset="0"/>
                <a:cs typeface="Times New Roman" panose="02020603050405020304" pitchFamily="18" charset="0"/>
              </a:rPr>
              <a:t>Transaction throughput can be increased by this form of parallelism.</a:t>
            </a:r>
          </a:p>
          <a:p>
            <a:pPr marL="285750" indent="-285750">
              <a:buFont typeface="Arial" pitchFamily="34" charset="0"/>
              <a:buChar char="•"/>
            </a:pPr>
            <a:r>
              <a:rPr lang="en-US" sz="2400" dirty="0">
                <a:latin typeface="Times New Roman" panose="02020603050405020304" pitchFamily="18" charset="0"/>
                <a:cs typeface="Times New Roman" panose="02020603050405020304" pitchFamily="18" charset="0"/>
              </a:rPr>
              <a:t>However, the response times of individual transactions are no faster than they would be if the transactions were run in isolation.</a:t>
            </a:r>
          </a:p>
          <a:p>
            <a:pPr marL="285750" indent="-285750">
              <a:buFont typeface="Arial" pitchFamily="34" charset="0"/>
              <a:buChar char="•"/>
            </a:pPr>
            <a:r>
              <a:rPr lang="en-US" sz="2400" dirty="0">
                <a:latin typeface="Times New Roman" panose="02020603050405020304" pitchFamily="18" charset="0"/>
                <a:cs typeface="Times New Roman" panose="02020603050405020304" pitchFamily="18" charset="0"/>
              </a:rPr>
              <a:t>primary use of </a:t>
            </a:r>
            <a:r>
              <a:rPr lang="en-US" sz="2400" dirty="0" err="1">
                <a:latin typeface="Times New Roman" panose="02020603050405020304" pitchFamily="18" charset="0"/>
                <a:cs typeface="Times New Roman" panose="02020603050405020304" pitchFamily="18" charset="0"/>
              </a:rPr>
              <a:t>interquery</a:t>
            </a:r>
            <a:r>
              <a:rPr lang="en-US" sz="2400" dirty="0">
                <a:latin typeface="Times New Roman" panose="02020603050405020304" pitchFamily="18" charset="0"/>
                <a:cs typeface="Times New Roman" panose="02020603050405020304" pitchFamily="18" charset="0"/>
              </a:rPr>
              <a:t> parallelism is to </a:t>
            </a:r>
            <a:r>
              <a:rPr lang="en-US" sz="2400" dirty="0" err="1">
                <a:latin typeface="Times New Roman" panose="02020603050405020304" pitchFamily="18" charset="0"/>
                <a:cs typeface="Times New Roman" panose="02020603050405020304" pitchFamily="18" charset="0"/>
              </a:rPr>
              <a:t>scaleup</a:t>
            </a:r>
            <a:r>
              <a:rPr lang="en-US" sz="2400" dirty="0">
                <a:latin typeface="Times New Roman" panose="02020603050405020304" pitchFamily="18" charset="0"/>
                <a:cs typeface="Times New Roman" panose="02020603050405020304" pitchFamily="18" charset="0"/>
              </a:rPr>
              <a:t> a transaction-processing system to support a larger number of transactions per second.</a:t>
            </a:r>
          </a:p>
        </p:txBody>
      </p:sp>
    </p:spTree>
    <p:extLst>
      <p:ext uri="{BB962C8B-B14F-4D97-AF65-F5344CB8AC3E}">
        <p14:creationId xmlns:p14="http://schemas.microsoft.com/office/powerpoint/2010/main" val="242355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3985" y="757597"/>
            <a:ext cx="5764523" cy="792162"/>
          </a:xfrm>
        </p:spPr>
        <p:txBody>
          <a:bodyPr>
            <a:normAutofit/>
          </a:bodyPr>
          <a:lstStyle/>
          <a:p>
            <a:r>
              <a:rPr lang="en-US" sz="3600" b="1" dirty="0">
                <a:latin typeface="Times New Roman" pitchFamily="18" charset="0"/>
                <a:cs typeface="Times New Roman" pitchFamily="18" charset="0"/>
                <a:sym typeface="Arial"/>
              </a:rPr>
              <a:t>Distributed Systems</a:t>
            </a:r>
          </a:p>
        </p:txBody>
      </p:sp>
      <p:sp>
        <p:nvSpPr>
          <p:cNvPr id="4" name="object 4"/>
          <p:cNvSpPr txBox="1"/>
          <p:nvPr/>
        </p:nvSpPr>
        <p:spPr>
          <a:xfrm>
            <a:off x="310335" y="1371600"/>
            <a:ext cx="8437880" cy="3429913"/>
          </a:xfrm>
          <a:prstGeom prst="rect">
            <a:avLst/>
          </a:prstGeom>
        </p:spPr>
        <p:txBody>
          <a:bodyPr vert="horz" wrap="square" lIns="0" tIns="10160" rIns="0" bIns="0" rtlCol="0">
            <a:spAutoFit/>
          </a:bodyPr>
          <a:lstStyle/>
          <a:p>
            <a:pPr marL="390525" marR="5080" indent="-377825">
              <a:lnSpc>
                <a:spcPct val="102099"/>
              </a:lnSpc>
              <a:spcBef>
                <a:spcPts val="80"/>
              </a:spcBef>
              <a:buClr>
                <a:srgbClr val="1F497C"/>
              </a:buClr>
              <a:buSzPct val="89743"/>
              <a:buChar char="●"/>
              <a:tabLst>
                <a:tab pos="390525" algn="l"/>
                <a:tab pos="391160" algn="l"/>
              </a:tabLst>
            </a:pPr>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is collection of autonomous computers linked by computer network and equipped with distributed systems software.</a:t>
            </a:r>
          </a:p>
          <a:p>
            <a:pPr marL="390525" marR="5080" indent="-377825">
              <a:lnSpc>
                <a:spcPct val="102099"/>
              </a:lnSpc>
              <a:spcBef>
                <a:spcPts val="80"/>
              </a:spcBef>
              <a:buClr>
                <a:srgbClr val="1F497C"/>
              </a:buClr>
              <a:buSzPct val="89743"/>
              <a:buChar char="●"/>
              <a:tabLst>
                <a:tab pos="390525" algn="l"/>
                <a:tab pos="391160" algn="l"/>
              </a:tabLst>
            </a:pPr>
            <a:r>
              <a:rPr lang="en-US" sz="2400" dirty="0">
                <a:latin typeface="Times New Roman" panose="02020603050405020304" pitchFamily="18" charset="0"/>
                <a:cs typeface="Times New Roman" panose="02020603050405020304" pitchFamily="18" charset="0"/>
              </a:rPr>
              <a:t>This software enables computer to coordinate their activities and shares resources of systems like s/w, h/w, data.</a:t>
            </a:r>
          </a:p>
          <a:p>
            <a:pPr marL="390525" marR="5080" indent="-377825">
              <a:lnSpc>
                <a:spcPct val="102099"/>
              </a:lnSpc>
              <a:spcBef>
                <a:spcPts val="80"/>
              </a:spcBef>
              <a:buClr>
                <a:srgbClr val="1F497C"/>
              </a:buClr>
              <a:buSzPct val="89743"/>
              <a:buChar char="●"/>
              <a:tabLst>
                <a:tab pos="390525" algn="l"/>
                <a:tab pos="391160" algn="l"/>
              </a:tabLst>
            </a:pPr>
            <a:r>
              <a:rPr lang="en-US" sz="2400" dirty="0">
                <a:latin typeface="Times New Roman" panose="02020603050405020304" pitchFamily="18" charset="0"/>
                <a:cs typeface="Times New Roman" panose="02020603050405020304" pitchFamily="18" charset="0"/>
              </a:rPr>
              <a:t>The database is stored on several computers.</a:t>
            </a:r>
            <a:endParaRPr lang="en-US" sz="2400" spc="45" dirty="0">
              <a:latin typeface="Times New Roman" panose="02020603050405020304" pitchFamily="18" charset="0"/>
              <a:cs typeface="Times New Roman" panose="02020603050405020304" pitchFamily="18" charset="0"/>
            </a:endParaRPr>
          </a:p>
          <a:p>
            <a:pPr marL="390525" marR="5080" indent="-377825">
              <a:lnSpc>
                <a:spcPct val="102099"/>
              </a:lnSpc>
              <a:spcBef>
                <a:spcPts val="80"/>
              </a:spcBef>
              <a:buClr>
                <a:srgbClr val="1F497C"/>
              </a:buClr>
              <a:buSzPct val="89743"/>
              <a:buChar char="●"/>
              <a:tabLst>
                <a:tab pos="390525" algn="l"/>
                <a:tab pos="391160" algn="l"/>
              </a:tabLst>
            </a:pPr>
            <a:r>
              <a:rPr lang="en-US" sz="2400" dirty="0">
                <a:latin typeface="Times New Roman" panose="02020603050405020304" pitchFamily="18" charset="0"/>
                <a:cs typeface="Times New Roman" panose="02020603050405020304" pitchFamily="18" charset="0"/>
              </a:rPr>
              <a:t>The computers in a distributed system communicate with one another through various communication media, such as high-speed networks or telephone lines.</a:t>
            </a:r>
          </a:p>
          <a:p>
            <a:pPr marL="390525" marR="5080" indent="-377825">
              <a:lnSpc>
                <a:spcPct val="102099"/>
              </a:lnSpc>
              <a:spcBef>
                <a:spcPts val="80"/>
              </a:spcBef>
              <a:buClr>
                <a:srgbClr val="1F497C"/>
              </a:buClr>
              <a:buSzPct val="89743"/>
              <a:buChar char="●"/>
              <a:tabLst>
                <a:tab pos="390525" algn="l"/>
                <a:tab pos="391160" algn="l"/>
              </a:tabLst>
            </a:pPr>
            <a:r>
              <a:rPr sz="2400" spc="125" dirty="0">
                <a:latin typeface="Times New Roman" panose="02020603050405020304" pitchFamily="18" charset="0"/>
                <a:cs typeface="Times New Roman" panose="02020603050405020304" pitchFamily="18" charset="0"/>
              </a:rPr>
              <a:t>Data </a:t>
            </a:r>
            <a:r>
              <a:rPr sz="2400" spc="160" dirty="0">
                <a:latin typeface="Times New Roman" panose="02020603050405020304" pitchFamily="18" charset="0"/>
                <a:cs typeface="Times New Roman" panose="02020603050405020304" pitchFamily="18" charset="0"/>
              </a:rPr>
              <a:t>shared </a:t>
            </a:r>
            <a:r>
              <a:rPr sz="2400" spc="70" dirty="0">
                <a:latin typeface="Times New Roman" panose="02020603050405020304" pitchFamily="18" charset="0"/>
                <a:cs typeface="Times New Roman" panose="02020603050405020304" pitchFamily="18" charset="0"/>
              </a:rPr>
              <a:t>by </a:t>
            </a:r>
            <a:r>
              <a:rPr sz="2400" spc="165" dirty="0">
                <a:latin typeface="Times New Roman" panose="02020603050405020304" pitchFamily="18" charset="0"/>
                <a:cs typeface="Times New Roman" panose="02020603050405020304" pitchFamily="18" charset="0"/>
              </a:rPr>
              <a:t>users </a:t>
            </a:r>
            <a:r>
              <a:rPr sz="2400" spc="125" dirty="0">
                <a:latin typeface="Times New Roman" panose="02020603050405020304" pitchFamily="18" charset="0"/>
                <a:cs typeface="Times New Roman" panose="02020603050405020304" pitchFamily="18" charset="0"/>
              </a:rPr>
              <a:t>on</a:t>
            </a:r>
            <a:r>
              <a:rPr sz="2400" spc="-295" dirty="0">
                <a:latin typeface="Times New Roman" panose="02020603050405020304" pitchFamily="18" charset="0"/>
                <a:cs typeface="Times New Roman" panose="02020603050405020304" pitchFamily="18" charset="0"/>
              </a:rPr>
              <a:t> </a:t>
            </a:r>
            <a:r>
              <a:rPr sz="2400" spc="40" dirty="0">
                <a:latin typeface="Times New Roman" panose="02020603050405020304" pitchFamily="18" charset="0"/>
                <a:cs typeface="Times New Roman" panose="02020603050405020304" pitchFamily="18" charset="0"/>
              </a:rPr>
              <a:t>multiple </a:t>
            </a:r>
            <a:r>
              <a:rPr sz="2400" spc="135" dirty="0">
                <a:latin typeface="Times New Roman" panose="02020603050405020304" pitchFamily="18" charset="0"/>
                <a:cs typeface="Times New Roman" panose="02020603050405020304" pitchFamily="18" charset="0"/>
              </a:rPr>
              <a:t>machines</a:t>
            </a:r>
            <a:endParaRPr sz="2400" dirty="0">
              <a:latin typeface="Times New Roman" panose="02020603050405020304" pitchFamily="18" charset="0"/>
              <a:cs typeface="Times New Roman" panose="02020603050405020304" pitchFamily="18" charset="0"/>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5108" y="4801512"/>
            <a:ext cx="4343400" cy="2056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7275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2509" y="1162981"/>
            <a:ext cx="8153400" cy="1143000"/>
          </a:xfrm>
        </p:spPr>
        <p:txBody>
          <a:bodyPr>
            <a:normAutofit/>
          </a:bodyPr>
          <a:lstStyle/>
          <a:p>
            <a:r>
              <a:rPr lang="en-US" sz="3600" b="1" dirty="0">
                <a:latin typeface="Times New Roman" pitchFamily="18" charset="0"/>
                <a:cs typeface="Times New Roman" pitchFamily="18" charset="0"/>
              </a:rPr>
              <a:t>Characteristic of Distributed </a:t>
            </a:r>
            <a:r>
              <a:rPr lang="en-US" sz="3600" b="1" dirty="0" smtClean="0">
                <a:latin typeface="Times New Roman" pitchFamily="18" charset="0"/>
                <a:cs typeface="Times New Roman" pitchFamily="18" charset="0"/>
              </a:rPr>
              <a:t>systems</a:t>
            </a:r>
            <a:endParaRPr lang="en-US" sz="3600" dirty="0">
              <a:latin typeface="Times New Roman" pitchFamily="18" charset="0"/>
              <a:cs typeface="Times New Roman" pitchFamily="18" charset="0"/>
            </a:endParaRPr>
          </a:p>
        </p:txBody>
      </p:sp>
      <p:sp>
        <p:nvSpPr>
          <p:cNvPr id="4" name="Rectangle 3"/>
          <p:cNvSpPr/>
          <p:nvPr/>
        </p:nvSpPr>
        <p:spPr>
          <a:xfrm>
            <a:off x="332509" y="2292928"/>
            <a:ext cx="8686800" cy="3785652"/>
          </a:xfrm>
          <a:prstGeom prst="rect">
            <a:avLst/>
          </a:prstGeom>
        </p:spPr>
        <p:txBody>
          <a:bodyPr wrap="square">
            <a:spAutoFit/>
          </a:bodyPr>
          <a:lstStyle/>
          <a:p>
            <a:pPr marL="342900" indent="-342900" algn="just">
              <a:buFont typeface="Arial" pitchFamily="34" charset="0"/>
              <a:buChar char="•"/>
            </a:pPr>
            <a:r>
              <a:rPr lang="en-US" sz="2400" b="1" dirty="0">
                <a:latin typeface="Times New Roman" panose="02020603050405020304" pitchFamily="18" charset="0"/>
                <a:cs typeface="Times New Roman" panose="02020603050405020304" pitchFamily="18" charset="0"/>
              </a:rPr>
              <a:t>Resources sharing- </a:t>
            </a:r>
            <a:r>
              <a:rPr lang="en-US" sz="2400" dirty="0">
                <a:latin typeface="Times New Roman" panose="02020603050405020304" pitchFamily="18" charset="0"/>
                <a:cs typeface="Times New Roman" panose="02020603050405020304" pitchFamily="18" charset="0"/>
              </a:rPr>
              <a:t>is a ability to use any h/w , s/w or data anywhere in the system.</a:t>
            </a:r>
          </a:p>
          <a:p>
            <a:pPr marL="342900" indent="-342900" algn="just">
              <a:buFont typeface="Arial" pitchFamily="34" charset="0"/>
              <a:buChar char="•"/>
            </a:pPr>
            <a:r>
              <a:rPr lang="en-US" sz="2400" b="1" dirty="0">
                <a:latin typeface="Times New Roman" panose="02020603050405020304" pitchFamily="18" charset="0"/>
                <a:cs typeface="Times New Roman" panose="02020603050405020304" pitchFamily="18" charset="0"/>
              </a:rPr>
              <a:t>Concurrency</a:t>
            </a:r>
            <a:r>
              <a:rPr lang="en-US" sz="2400" dirty="0">
                <a:latin typeface="Times New Roman" panose="02020603050405020304" pitchFamily="18" charset="0"/>
                <a:cs typeface="Times New Roman" panose="02020603050405020304" pitchFamily="18" charset="0"/>
              </a:rPr>
              <a:t>- arises naturally in distributed system as they are using different computers.</a:t>
            </a:r>
          </a:p>
          <a:p>
            <a:pPr marL="342900" indent="-342900" algn="just">
              <a:buFont typeface="Arial" pitchFamily="34" charset="0"/>
              <a:buChar char="•"/>
            </a:pPr>
            <a:r>
              <a:rPr lang="en-US" sz="2400" b="1" dirty="0">
                <a:latin typeface="Times New Roman" panose="02020603050405020304" pitchFamily="18" charset="0"/>
                <a:cs typeface="Times New Roman" panose="02020603050405020304" pitchFamily="18" charset="0"/>
              </a:rPr>
              <a:t>Openness</a:t>
            </a:r>
            <a:r>
              <a:rPr lang="en-US" sz="2400" dirty="0">
                <a:latin typeface="Times New Roman" panose="02020603050405020304" pitchFamily="18" charset="0"/>
                <a:cs typeface="Times New Roman" panose="02020603050405020304" pitchFamily="18" charset="0"/>
              </a:rPr>
              <a:t>- is concerned with extension  and improvement  of distributed system.</a:t>
            </a:r>
          </a:p>
          <a:p>
            <a:pPr marL="342900" indent="-342900" algn="just">
              <a:buFont typeface="Arial" pitchFamily="34" charset="0"/>
              <a:buChar char="•"/>
            </a:pPr>
            <a:r>
              <a:rPr lang="en-US" sz="2400" b="1" dirty="0">
                <a:latin typeface="Times New Roman" panose="02020603050405020304" pitchFamily="18" charset="0"/>
                <a:cs typeface="Times New Roman" panose="02020603050405020304" pitchFamily="18" charset="0"/>
              </a:rPr>
              <a:t>Fault tolerance- </a:t>
            </a:r>
            <a:r>
              <a:rPr lang="en-US" sz="2400" dirty="0">
                <a:latin typeface="Times New Roman" panose="02020603050405020304" pitchFamily="18" charset="0"/>
                <a:cs typeface="Times New Roman" panose="02020603050405020304" pitchFamily="18" charset="0"/>
              </a:rPr>
              <a:t>it cares for the reliability of system means even some failure occur system will run properly</a:t>
            </a:r>
          </a:p>
          <a:p>
            <a:pPr marL="342900" indent="-342900" algn="just">
              <a:buFont typeface="Arial" pitchFamily="34" charset="0"/>
              <a:buChar char="•"/>
            </a:pPr>
            <a:r>
              <a:rPr lang="en-US" sz="2400" b="1" dirty="0">
                <a:latin typeface="Times New Roman" panose="02020603050405020304" pitchFamily="18" charset="0"/>
                <a:cs typeface="Times New Roman" panose="02020603050405020304" pitchFamily="18" charset="0"/>
              </a:rPr>
              <a:t>Transparency</a:t>
            </a:r>
            <a:r>
              <a:rPr lang="en-US" sz="2400" dirty="0">
                <a:latin typeface="Times New Roman" panose="02020603050405020304" pitchFamily="18" charset="0"/>
                <a:cs typeface="Times New Roman" panose="02020603050405020304" pitchFamily="18" charset="0"/>
              </a:rPr>
              <a:t>-it hides the complexity of distributed system to users and application programs</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9920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7927" y="1179323"/>
            <a:ext cx="7636957" cy="590891"/>
          </a:xfrm>
          <a:prstGeom prst="rect">
            <a:avLst/>
          </a:prstGeom>
        </p:spPr>
        <p:txBody>
          <a:bodyPr wrap="square">
            <a:spAutoFit/>
          </a:bodyPr>
          <a:lstStyle/>
          <a:p>
            <a:r>
              <a:rPr lang="en-US" sz="3600" b="1" dirty="0">
                <a:latin typeface="Times New Roman" pitchFamily="18" charset="0"/>
                <a:cs typeface="Times New Roman" pitchFamily="18" charset="0"/>
              </a:rPr>
              <a:t>Application of Distributed systems</a:t>
            </a:r>
          </a:p>
        </p:txBody>
      </p:sp>
      <p:sp>
        <p:nvSpPr>
          <p:cNvPr id="5" name="Rectangle 4"/>
          <p:cNvSpPr/>
          <p:nvPr/>
        </p:nvSpPr>
        <p:spPr>
          <a:xfrm>
            <a:off x="387927" y="2027209"/>
            <a:ext cx="8520807" cy="3108543"/>
          </a:xfrm>
          <a:prstGeom prst="rect">
            <a:avLst/>
          </a:prstGeom>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Information society</a:t>
            </a:r>
            <a:r>
              <a:rPr lang="en-US" sz="2800" dirty="0">
                <a:latin typeface="Times New Roman" panose="02020603050405020304" pitchFamily="18" charset="0"/>
                <a:cs typeface="Times New Roman" panose="02020603050405020304" pitchFamily="18" charset="0"/>
              </a:rPr>
              <a:t>-search engines, social networking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wikipedia</a:t>
            </a:r>
            <a:r>
              <a:rPr lang="en-US" sz="2800" dirty="0" smtClean="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Finance and commerce</a:t>
            </a:r>
            <a:r>
              <a:rPr lang="en-US" sz="2800" dirty="0">
                <a:latin typeface="Times New Roman" panose="02020603050405020304" pitchFamily="18" charset="0"/>
                <a:cs typeface="Times New Roman" panose="02020603050405020304" pitchFamily="18" charset="0"/>
              </a:rPr>
              <a:t>- ecommerce like amazon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flipkart</a:t>
            </a:r>
            <a:r>
              <a:rPr lang="en-US" sz="2800" dirty="0" smtClean="0">
                <a:latin typeface="Times New Roman" panose="02020603050405020304" pitchFamily="18" charset="0"/>
                <a:cs typeface="Times New Roman" panose="02020603050405020304" pitchFamily="18" charset="0"/>
              </a:rPr>
              <a:t>, online banking</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Entertainment</a:t>
            </a:r>
            <a:r>
              <a:rPr lang="en-US" sz="2800" dirty="0">
                <a:latin typeface="Times New Roman" panose="02020603050405020304" pitchFamily="18" charset="0"/>
                <a:cs typeface="Times New Roman" panose="02020603050405020304" pitchFamily="18" charset="0"/>
              </a:rPr>
              <a:t>-online gaming music </a:t>
            </a:r>
            <a:r>
              <a:rPr lang="en-US" sz="2800" dirty="0" smtClean="0">
                <a:latin typeface="Times New Roman" panose="02020603050405020304" pitchFamily="18" charset="0"/>
                <a:cs typeface="Times New Roman" panose="02020603050405020304" pitchFamily="18" charset="0"/>
              </a:rPr>
              <a:t>YouTube</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1259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673" y="933163"/>
            <a:ext cx="7886700" cy="1325563"/>
          </a:xfrm>
        </p:spPr>
        <p:txBody>
          <a:bodyPr>
            <a:normAutofit/>
          </a:bodyPr>
          <a:lstStyle/>
          <a:p>
            <a:r>
              <a:rPr lang="en-US" sz="3200" b="1" dirty="0">
                <a:latin typeface="Times New Roman" panose="02020603050405020304" pitchFamily="18" charset="0"/>
                <a:cs typeface="Times New Roman" panose="02020603050405020304" pitchFamily="18" charset="0"/>
              </a:rPr>
              <a:t>Distributed Databases</a:t>
            </a: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object 4"/>
          <p:cNvSpPr txBox="1"/>
          <p:nvPr/>
        </p:nvSpPr>
        <p:spPr>
          <a:xfrm>
            <a:off x="221673" y="1472128"/>
            <a:ext cx="8475345" cy="5362815"/>
          </a:xfrm>
          <a:prstGeom prst="rect">
            <a:avLst/>
          </a:prstGeom>
        </p:spPr>
        <p:txBody>
          <a:bodyPr vert="horz" wrap="square" lIns="0" tIns="69850" rIns="0" bIns="0" rtlCol="0">
            <a:spAutoFit/>
          </a:bodyPr>
          <a:lstStyle/>
          <a:p>
            <a:pPr marL="390525" indent="-377825" algn="just">
              <a:lnSpc>
                <a:spcPct val="100000"/>
              </a:lnSpc>
              <a:spcBef>
                <a:spcPts val="550"/>
              </a:spcBef>
              <a:buClr>
                <a:srgbClr val="1F497C"/>
              </a:buClr>
              <a:buSzPct val="89743"/>
              <a:buChar char="●"/>
              <a:tabLst>
                <a:tab pos="390525" algn="l"/>
                <a:tab pos="391160" algn="l"/>
              </a:tabLst>
            </a:pPr>
            <a:r>
              <a:rPr lang="en-US" sz="2400" dirty="0">
                <a:latin typeface="Times New Roman" panose="02020603050405020304" pitchFamily="18" charset="0"/>
                <a:cs typeface="Times New Roman" panose="02020603050405020304" pitchFamily="18" charset="0"/>
              </a:rPr>
              <a:t>The computers in a distributed system may vary in size and function.</a:t>
            </a:r>
          </a:p>
          <a:p>
            <a:pPr marL="390525" indent="-377825" algn="just">
              <a:lnSpc>
                <a:spcPct val="100000"/>
              </a:lnSpc>
              <a:spcBef>
                <a:spcPts val="550"/>
              </a:spcBef>
              <a:buClr>
                <a:srgbClr val="1F497C"/>
              </a:buClr>
              <a:buSzPct val="89743"/>
              <a:buChar char="●"/>
              <a:tabLst>
                <a:tab pos="390525" algn="l"/>
                <a:tab pos="391160" algn="l"/>
              </a:tabLst>
            </a:pPr>
            <a:r>
              <a:rPr lang="en-US" sz="2400" dirty="0">
                <a:latin typeface="Times New Roman" panose="02020603050405020304" pitchFamily="18" charset="0"/>
                <a:cs typeface="Times New Roman" panose="02020603050405020304" pitchFamily="18" charset="0"/>
              </a:rPr>
              <a:t>The main differences between shared-nothing parallel databases and distributed databases are that distributed databases are typically geographically separated, are separately administered, and have a slower interconnection.</a:t>
            </a:r>
          </a:p>
          <a:p>
            <a:pPr marL="390525" indent="-377825" algn="just">
              <a:lnSpc>
                <a:spcPct val="100000"/>
              </a:lnSpc>
              <a:spcBef>
                <a:spcPts val="550"/>
              </a:spcBef>
              <a:buClr>
                <a:srgbClr val="1F497C"/>
              </a:buClr>
              <a:buSzPct val="89743"/>
              <a:buChar char="●"/>
              <a:tabLst>
                <a:tab pos="390525" algn="l"/>
                <a:tab pos="391160" algn="l"/>
              </a:tabLst>
            </a:pPr>
            <a:r>
              <a:rPr lang="en-US" sz="2400" dirty="0">
                <a:latin typeface="Times New Roman" panose="02020603050405020304" pitchFamily="18" charset="0"/>
                <a:cs typeface="Times New Roman" panose="02020603050405020304" pitchFamily="18" charset="0"/>
              </a:rPr>
              <a:t>in a distributed database system, we differentiate between local and global transactions. </a:t>
            </a:r>
          </a:p>
          <a:p>
            <a:pPr marL="390525" indent="-377825" algn="just">
              <a:lnSpc>
                <a:spcPct val="100000"/>
              </a:lnSpc>
              <a:spcBef>
                <a:spcPts val="465"/>
              </a:spcBef>
              <a:buClr>
                <a:srgbClr val="1F497C"/>
              </a:buClr>
              <a:buSzPct val="89743"/>
              <a:buChar char="●"/>
              <a:tabLst>
                <a:tab pos="390525" algn="l"/>
                <a:tab pos="391160" algn="l"/>
              </a:tabLst>
            </a:pPr>
            <a:r>
              <a:rPr lang="en-US" sz="2400" spc="50" dirty="0">
                <a:latin typeface="Times New Roman" panose="02020603050405020304" pitchFamily="18" charset="0"/>
                <a:cs typeface="Times New Roman" panose="02020603050405020304" pitchFamily="18" charset="0"/>
              </a:rPr>
              <a:t>Differentiate </a:t>
            </a:r>
            <a:r>
              <a:rPr lang="en-US" sz="2400" spc="140" dirty="0">
                <a:latin typeface="Times New Roman" panose="02020603050405020304" pitchFamily="18" charset="0"/>
                <a:cs typeface="Times New Roman" panose="02020603050405020304" pitchFamily="18" charset="0"/>
              </a:rPr>
              <a:t>between </a:t>
            </a:r>
            <a:r>
              <a:rPr lang="en-US" sz="2400" spc="55" dirty="0">
                <a:latin typeface="Times New Roman" panose="02020603050405020304" pitchFamily="18" charset="0"/>
                <a:cs typeface="Times New Roman" panose="02020603050405020304" pitchFamily="18" charset="0"/>
              </a:rPr>
              <a:t>local </a:t>
            </a:r>
            <a:r>
              <a:rPr lang="en-US" sz="2400" spc="165" dirty="0">
                <a:latin typeface="Times New Roman" panose="02020603050405020304" pitchFamily="18" charset="0"/>
                <a:cs typeface="Times New Roman" panose="02020603050405020304" pitchFamily="18" charset="0"/>
              </a:rPr>
              <a:t>and </a:t>
            </a:r>
            <a:r>
              <a:rPr lang="en-US" sz="2400" spc="65" dirty="0">
                <a:latin typeface="Times New Roman" panose="02020603050405020304" pitchFamily="18" charset="0"/>
                <a:cs typeface="Times New Roman" panose="02020603050405020304" pitchFamily="18" charset="0"/>
              </a:rPr>
              <a:t>global</a:t>
            </a:r>
            <a:r>
              <a:rPr lang="en-US" sz="2400" spc="-204" dirty="0">
                <a:latin typeface="Times New Roman" panose="02020603050405020304" pitchFamily="18" charset="0"/>
                <a:cs typeface="Times New Roman" panose="02020603050405020304" pitchFamily="18" charset="0"/>
              </a:rPr>
              <a:t> </a:t>
            </a:r>
            <a:r>
              <a:rPr lang="en-US" sz="2400" spc="110" dirty="0">
                <a:latin typeface="Times New Roman" panose="02020603050405020304" pitchFamily="18" charset="0"/>
                <a:cs typeface="Times New Roman" panose="02020603050405020304" pitchFamily="18" charset="0"/>
              </a:rPr>
              <a:t>transactions</a:t>
            </a:r>
            <a:endParaRPr lang="en-US" sz="2400" dirty="0">
              <a:latin typeface="Times New Roman" panose="02020603050405020304" pitchFamily="18" charset="0"/>
              <a:cs typeface="Times New Roman" panose="02020603050405020304" pitchFamily="18" charset="0"/>
            </a:endParaRPr>
          </a:p>
          <a:p>
            <a:pPr marL="829310" marR="5080" lvl="1" indent="-314325" algn="just">
              <a:lnSpc>
                <a:spcPts val="2150"/>
              </a:lnSpc>
              <a:spcBef>
                <a:spcPts val="675"/>
              </a:spcBef>
              <a:buClr>
                <a:srgbClr val="800080"/>
              </a:buClr>
              <a:buSzPct val="76923"/>
              <a:buChar char="●"/>
              <a:tabLst>
                <a:tab pos="829944" algn="l"/>
              </a:tabLst>
            </a:pPr>
            <a:r>
              <a:rPr lang="en-US" sz="2400" dirty="0">
                <a:latin typeface="Times New Roman" panose="02020603050405020304" pitchFamily="18" charset="0"/>
                <a:cs typeface="Times New Roman" panose="02020603050405020304" pitchFamily="18" charset="0"/>
              </a:rPr>
              <a:t>A </a:t>
            </a:r>
            <a:r>
              <a:rPr lang="en-US" sz="2400" dirty="0">
                <a:solidFill>
                  <a:srgbClr val="00B0F0"/>
                </a:solidFill>
                <a:latin typeface="Times New Roman" panose="02020603050405020304" pitchFamily="18" charset="0"/>
                <a:cs typeface="Times New Roman" panose="02020603050405020304" pitchFamily="18" charset="0"/>
              </a:rPr>
              <a:t>local transaction </a:t>
            </a:r>
            <a:r>
              <a:rPr lang="en-US" sz="2400" dirty="0">
                <a:latin typeface="Times New Roman" panose="02020603050405020304" pitchFamily="18" charset="0"/>
                <a:cs typeface="Times New Roman" panose="02020603050405020304" pitchFamily="18" charset="0"/>
              </a:rPr>
              <a:t>accesses data in the single site at which the transaction was initiated.</a:t>
            </a:r>
          </a:p>
          <a:p>
            <a:pPr marL="829310" marR="26670" lvl="1" indent="-314325" algn="just">
              <a:lnSpc>
                <a:spcPct val="91500"/>
              </a:lnSpc>
              <a:spcBef>
                <a:spcPts val="615"/>
              </a:spcBef>
              <a:buClr>
                <a:srgbClr val="800080"/>
              </a:buClr>
              <a:buSzPct val="76923"/>
              <a:buChar char="●"/>
              <a:tabLst>
                <a:tab pos="829944" algn="l"/>
              </a:tabLst>
            </a:pPr>
            <a:r>
              <a:rPr lang="en-US" sz="2400" dirty="0">
                <a:latin typeface="Times New Roman" panose="02020603050405020304" pitchFamily="18" charset="0"/>
                <a:cs typeface="Times New Roman" panose="02020603050405020304" pitchFamily="18" charset="0"/>
              </a:rPr>
              <a:t>A </a:t>
            </a:r>
            <a:r>
              <a:rPr lang="en-US" sz="2400" dirty="0">
                <a:solidFill>
                  <a:srgbClr val="00B0F0"/>
                </a:solidFill>
                <a:latin typeface="Times New Roman" panose="02020603050405020304" pitchFamily="18" charset="0"/>
                <a:cs typeface="Times New Roman" panose="02020603050405020304" pitchFamily="18" charset="0"/>
              </a:rPr>
              <a:t>global transaction </a:t>
            </a:r>
            <a:r>
              <a:rPr lang="en-US" sz="2400" dirty="0">
                <a:latin typeface="Times New Roman" panose="02020603050405020304" pitchFamily="18" charset="0"/>
                <a:cs typeface="Times New Roman" panose="02020603050405020304" pitchFamily="18" charset="0"/>
              </a:rPr>
              <a:t>either accesses data in a site different from the one at which the transaction was initiated or accesses data in several different sites</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6007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850" y="1043998"/>
            <a:ext cx="7886700" cy="1325563"/>
          </a:xfrm>
        </p:spPr>
        <p:txBody>
          <a:bodyPr>
            <a:normAutofit/>
          </a:bodyPr>
          <a:lstStyle/>
          <a:p>
            <a:r>
              <a:rPr lang="en-US" b="1" dirty="0">
                <a:latin typeface="Times New Roman" panose="02020603050405020304" pitchFamily="18" charset="0"/>
                <a:cs typeface="Times New Roman" panose="02020603050405020304" pitchFamily="18" charset="0"/>
              </a:rPr>
              <a:t>Distributed Databases</a:t>
            </a:r>
            <a:r>
              <a:rPr lang="en-US" b="1" dirty="0">
                <a:latin typeface="Arial" pitchFamily="34" charset="0"/>
                <a:cs typeface="Arial" pitchFamily="34" charset="0"/>
              </a:rPr>
              <a:t/>
            </a:r>
            <a:br>
              <a:rPr lang="en-US" b="1" dirty="0">
                <a:latin typeface="Arial" pitchFamily="34" charset="0"/>
                <a:cs typeface="Arial" pitchFamily="34" charset="0"/>
              </a:rPr>
            </a:br>
            <a:endParaRPr lang="en-US" dirty="0"/>
          </a:p>
        </p:txBody>
      </p:sp>
      <p:sp>
        <p:nvSpPr>
          <p:cNvPr id="4" name="object 4"/>
          <p:cNvSpPr txBox="1"/>
          <p:nvPr/>
        </p:nvSpPr>
        <p:spPr>
          <a:xfrm>
            <a:off x="193964" y="2223655"/>
            <a:ext cx="8797636" cy="3368871"/>
          </a:xfrm>
          <a:prstGeom prst="rect">
            <a:avLst/>
          </a:prstGeom>
        </p:spPr>
        <p:txBody>
          <a:bodyPr vert="horz" wrap="square" lIns="0" tIns="69850" rIns="0" bIns="0" rtlCol="0">
            <a:spAutoFit/>
          </a:bodyPr>
          <a:lstStyle/>
          <a:p>
            <a:pPr marL="390525" indent="-377825">
              <a:lnSpc>
                <a:spcPct val="100000"/>
              </a:lnSpc>
              <a:spcBef>
                <a:spcPts val="550"/>
              </a:spcBef>
              <a:buClr>
                <a:srgbClr val="1F497C"/>
              </a:buClr>
              <a:buSzPct val="89743"/>
              <a:buChar char="●"/>
              <a:tabLst>
                <a:tab pos="390525" algn="l"/>
                <a:tab pos="391160" algn="l"/>
              </a:tabLst>
            </a:pPr>
            <a:r>
              <a:rPr sz="2400" dirty="0">
                <a:latin typeface="Times New Roman" panose="02020603050405020304" pitchFamily="18" charset="0"/>
                <a:cs typeface="Times New Roman" panose="02020603050405020304" pitchFamily="18" charset="0"/>
              </a:rPr>
              <a:t>Homogeneous distributed databases</a:t>
            </a:r>
          </a:p>
          <a:p>
            <a:pPr marL="829310" marR="62230" lvl="1" indent="-314325" algn="just">
              <a:lnSpc>
                <a:spcPts val="2140"/>
              </a:lnSpc>
              <a:spcBef>
                <a:spcPts val="695"/>
              </a:spcBef>
              <a:buClr>
                <a:srgbClr val="800080"/>
              </a:buClr>
              <a:buSzPct val="76923"/>
              <a:buChar char="●"/>
              <a:tabLst>
                <a:tab pos="829944" algn="l"/>
              </a:tabLst>
            </a:pPr>
            <a:r>
              <a:rPr sz="2400" dirty="0">
                <a:latin typeface="Times New Roman" panose="02020603050405020304" pitchFamily="18" charset="0"/>
                <a:cs typeface="Times New Roman" panose="02020603050405020304" pitchFamily="18" charset="0"/>
              </a:rPr>
              <a:t>Same software/schema on all sites, data may be partitioned among sites</a:t>
            </a:r>
          </a:p>
          <a:p>
            <a:pPr marL="829310" marR="44450" lvl="1" indent="-314325" algn="just">
              <a:lnSpc>
                <a:spcPts val="2150"/>
              </a:lnSpc>
              <a:spcBef>
                <a:spcPts val="640"/>
              </a:spcBef>
              <a:buClr>
                <a:srgbClr val="800080"/>
              </a:buClr>
              <a:buSzPct val="76923"/>
              <a:buChar char="●"/>
              <a:tabLst>
                <a:tab pos="829944" algn="l"/>
              </a:tabLst>
            </a:pPr>
            <a:r>
              <a:rPr sz="2400" dirty="0">
                <a:latin typeface="Times New Roman" panose="02020603050405020304" pitchFamily="18" charset="0"/>
                <a:cs typeface="Times New Roman" panose="02020603050405020304" pitchFamily="18" charset="0"/>
              </a:rPr>
              <a:t>Goal: provide a view of a single database, hiding details of distribution</a:t>
            </a:r>
          </a:p>
          <a:p>
            <a:pPr marL="390525" indent="-377825">
              <a:lnSpc>
                <a:spcPct val="100000"/>
              </a:lnSpc>
              <a:spcBef>
                <a:spcPts val="415"/>
              </a:spcBef>
              <a:buClr>
                <a:srgbClr val="1F497C"/>
              </a:buClr>
              <a:buSzPct val="89743"/>
              <a:buChar char="●"/>
              <a:tabLst>
                <a:tab pos="390525" algn="l"/>
                <a:tab pos="391160" algn="l"/>
              </a:tabLst>
            </a:pPr>
            <a:r>
              <a:rPr sz="2400" dirty="0">
                <a:latin typeface="Times New Roman" panose="02020603050405020304" pitchFamily="18" charset="0"/>
                <a:cs typeface="Times New Roman" panose="02020603050405020304" pitchFamily="18" charset="0"/>
              </a:rPr>
              <a:t>Heterogeneous distributed databases</a:t>
            </a:r>
          </a:p>
          <a:p>
            <a:pPr marL="829310" lvl="1" indent="-314325">
              <a:lnSpc>
                <a:spcPct val="100000"/>
              </a:lnSpc>
              <a:spcBef>
                <a:spcPts val="455"/>
              </a:spcBef>
              <a:buClr>
                <a:srgbClr val="800080"/>
              </a:buClr>
              <a:buSzPct val="76923"/>
              <a:buChar char="●"/>
              <a:tabLst>
                <a:tab pos="829310" algn="l"/>
                <a:tab pos="829944" algn="l"/>
              </a:tabLst>
            </a:pPr>
            <a:r>
              <a:rPr sz="2400" dirty="0">
                <a:latin typeface="Times New Roman" panose="02020603050405020304" pitchFamily="18" charset="0"/>
                <a:cs typeface="Times New Roman" panose="02020603050405020304" pitchFamily="18" charset="0"/>
              </a:rPr>
              <a:t>Different software/schema on different sites</a:t>
            </a:r>
          </a:p>
          <a:p>
            <a:pPr marL="829310" lvl="1" indent="-314325">
              <a:lnSpc>
                <a:spcPct val="100000"/>
              </a:lnSpc>
              <a:spcBef>
                <a:spcPts val="459"/>
              </a:spcBef>
              <a:buClr>
                <a:srgbClr val="800080"/>
              </a:buClr>
              <a:buSzPct val="76923"/>
              <a:buChar char="●"/>
              <a:tabLst>
                <a:tab pos="829310" algn="l"/>
                <a:tab pos="829944" algn="l"/>
              </a:tabLst>
            </a:pPr>
            <a:r>
              <a:rPr sz="2400" dirty="0">
                <a:latin typeface="Times New Roman" panose="02020603050405020304" pitchFamily="18" charset="0"/>
                <a:cs typeface="Times New Roman" panose="02020603050405020304" pitchFamily="18" charset="0"/>
              </a:rPr>
              <a:t>Goal: integrate existing databases to provide useful functionality</a:t>
            </a:r>
          </a:p>
          <a:p>
            <a:pPr marL="390525" indent="-377825">
              <a:lnSpc>
                <a:spcPct val="100000"/>
              </a:lnSpc>
              <a:spcBef>
                <a:spcPts val="465"/>
              </a:spcBef>
              <a:buClr>
                <a:srgbClr val="1F497C"/>
              </a:buClr>
              <a:buSzPct val="89743"/>
              <a:buChar char="●"/>
              <a:tabLst>
                <a:tab pos="390525" algn="l"/>
                <a:tab pos="391160" algn="l"/>
              </a:tabLst>
            </a:pPr>
            <a:endParaRPr sz="2000" dirty="0">
              <a:latin typeface="Arial" pitchFamily="34" charset="0"/>
              <a:cs typeface="Arial" pitchFamily="34" charset="0"/>
            </a:endParaRPr>
          </a:p>
        </p:txBody>
      </p:sp>
    </p:spTree>
    <p:extLst>
      <p:ext uri="{BB962C8B-B14F-4D97-AF65-F5344CB8AC3E}">
        <p14:creationId xmlns:p14="http://schemas.microsoft.com/office/powerpoint/2010/main" val="1628562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1782" y="1084405"/>
            <a:ext cx="8229600" cy="792162"/>
          </a:xfrm>
        </p:spPr>
        <p:txBody>
          <a:bodyPr>
            <a:normAutofit/>
          </a:bodyPr>
          <a:lstStyle/>
          <a:p>
            <a:r>
              <a:rPr lang="en-US" sz="3200" b="1" dirty="0">
                <a:latin typeface="Times New Roman" panose="02020603050405020304" pitchFamily="18" charset="0"/>
                <a:cs typeface="Times New Roman" panose="02020603050405020304" pitchFamily="18" charset="0"/>
              </a:rPr>
              <a:t>Trade-offs in Distributed Systems</a:t>
            </a:r>
          </a:p>
        </p:txBody>
      </p:sp>
      <p:sp>
        <p:nvSpPr>
          <p:cNvPr id="4" name="object 4"/>
          <p:cNvSpPr txBox="1"/>
          <p:nvPr/>
        </p:nvSpPr>
        <p:spPr>
          <a:xfrm>
            <a:off x="401782" y="1982650"/>
            <a:ext cx="8229600" cy="4397679"/>
          </a:xfrm>
          <a:prstGeom prst="rect">
            <a:avLst/>
          </a:prstGeom>
        </p:spPr>
        <p:txBody>
          <a:bodyPr vert="horz" wrap="square" lIns="0" tIns="10160" rIns="0" bIns="0" rtlCol="0">
            <a:spAutoFit/>
          </a:bodyPr>
          <a:lstStyle/>
          <a:p>
            <a:pPr marL="390525" marR="147955" indent="-377825">
              <a:lnSpc>
                <a:spcPct val="102099"/>
              </a:lnSpc>
              <a:spcBef>
                <a:spcPts val="80"/>
              </a:spcBef>
              <a:buClr>
                <a:srgbClr val="1F497C"/>
              </a:buClr>
              <a:buSzPct val="89743"/>
              <a:buFontTx/>
              <a:buChar char="●"/>
              <a:tabLst>
                <a:tab pos="390525" algn="l"/>
                <a:tab pos="391160" algn="l"/>
              </a:tabLst>
            </a:pPr>
            <a:r>
              <a:rPr lang="en-US" sz="2400" dirty="0">
                <a:latin typeface="Times New Roman" panose="02020603050405020304" pitchFamily="18" charset="0"/>
                <a:cs typeface="Times New Roman" panose="02020603050405020304" pitchFamily="18" charset="0"/>
              </a:rPr>
              <a:t>There are several reasons for building distributed database systems, including sharing of data, autonomy, and availability.</a:t>
            </a:r>
          </a:p>
          <a:p>
            <a:pPr marL="390525" marR="147955" indent="-377825">
              <a:lnSpc>
                <a:spcPct val="102099"/>
              </a:lnSpc>
              <a:spcBef>
                <a:spcPts val="80"/>
              </a:spcBef>
              <a:buClr>
                <a:srgbClr val="1F497C"/>
              </a:buClr>
              <a:buSzPct val="89743"/>
              <a:buChar char="●"/>
              <a:tabLst>
                <a:tab pos="390525" algn="l"/>
                <a:tab pos="391160" algn="l"/>
              </a:tabLst>
            </a:pPr>
            <a:r>
              <a:rPr sz="2400" dirty="0">
                <a:latin typeface="Times New Roman" panose="02020603050405020304" pitchFamily="18" charset="0"/>
                <a:cs typeface="Times New Roman" panose="02020603050405020304" pitchFamily="18" charset="0"/>
              </a:rPr>
              <a:t>Sharing data – users at one site able to access the data residing at  some other sites.</a:t>
            </a:r>
          </a:p>
          <a:p>
            <a:pPr marL="390525" marR="105410" indent="-377825">
              <a:lnSpc>
                <a:spcPct val="102000"/>
              </a:lnSpc>
              <a:spcBef>
                <a:spcPts val="635"/>
              </a:spcBef>
              <a:buClr>
                <a:srgbClr val="1F497C"/>
              </a:buClr>
              <a:buSzPct val="89743"/>
              <a:buChar char="●"/>
              <a:tabLst>
                <a:tab pos="390525" algn="l"/>
                <a:tab pos="391160" algn="l"/>
              </a:tabLst>
            </a:pPr>
            <a:r>
              <a:rPr sz="2400" dirty="0">
                <a:latin typeface="Times New Roman" panose="02020603050405020304" pitchFamily="18" charset="0"/>
                <a:cs typeface="Times New Roman" panose="02020603050405020304" pitchFamily="18" charset="0"/>
              </a:rPr>
              <a:t>Autonomy – each site is able to retain a degree of control over data  stored locally.</a:t>
            </a:r>
          </a:p>
          <a:p>
            <a:pPr marL="390525" marR="437515" indent="-377825">
              <a:lnSpc>
                <a:spcPct val="101800"/>
              </a:lnSpc>
              <a:spcBef>
                <a:spcPts val="645"/>
              </a:spcBef>
              <a:buClr>
                <a:srgbClr val="1F497C"/>
              </a:buClr>
              <a:buSzPct val="89743"/>
              <a:buChar char="●"/>
              <a:tabLst>
                <a:tab pos="390525" algn="l"/>
                <a:tab pos="391160" algn="l"/>
              </a:tabLst>
            </a:pPr>
            <a:r>
              <a:rPr sz="2400" dirty="0">
                <a:latin typeface="Times New Roman" panose="02020603050405020304" pitchFamily="18" charset="0"/>
                <a:cs typeface="Times New Roman" panose="02020603050405020304" pitchFamily="18" charset="0"/>
              </a:rPr>
              <a:t>Higher system availability through redundancy — data can be  replicated at remote sites, and system can function even if a site  fails</a:t>
            </a:r>
            <a:r>
              <a:rPr lang="en-US" sz="2400" dirty="0">
                <a:latin typeface="Times New Roman" panose="02020603050405020304" pitchFamily="18" charset="0"/>
                <a:cs typeface="Times New Roman" panose="02020603050405020304" pitchFamily="18" charset="0"/>
              </a:rPr>
              <a:t> means If one site fails in a distributed system, the remaining sites may be able to continue operating.</a:t>
            </a:r>
            <a:endParaRPr sz="2400" dirty="0">
              <a:latin typeface="Times New Roman" panose="02020603050405020304" pitchFamily="18" charset="0"/>
              <a:cs typeface="Times New Roman" panose="02020603050405020304" pitchFamily="18" charset="0"/>
            </a:endParaRPr>
          </a:p>
          <a:p>
            <a:pPr marL="12700" marR="5080">
              <a:lnSpc>
                <a:spcPct val="102000"/>
              </a:lnSpc>
              <a:spcBef>
                <a:spcPts val="635"/>
              </a:spcBef>
              <a:buClr>
                <a:srgbClr val="1F497C"/>
              </a:buClr>
              <a:buSzPct val="89743"/>
              <a:tabLst>
                <a:tab pos="390525" algn="l"/>
                <a:tab pos="391160" algn="l"/>
              </a:tabLst>
            </a:pP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7484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070763"/>
            <a:ext cx="8229600" cy="792162"/>
          </a:xfrm>
        </p:spPr>
        <p:txBody>
          <a:bodyPr>
            <a:normAutofit/>
          </a:bodyPr>
          <a:lstStyle/>
          <a:p>
            <a:r>
              <a:rPr lang="en-US" sz="3200" b="1" dirty="0">
                <a:latin typeface="Times New Roman" panose="02020603050405020304" pitchFamily="18" charset="0"/>
                <a:cs typeface="Times New Roman" panose="02020603050405020304" pitchFamily="18" charset="0"/>
              </a:rPr>
              <a:t>Trade-offs in Distributed Systems</a:t>
            </a:r>
          </a:p>
        </p:txBody>
      </p:sp>
      <p:sp>
        <p:nvSpPr>
          <p:cNvPr id="4" name="object 4"/>
          <p:cNvSpPr txBox="1"/>
          <p:nvPr/>
        </p:nvSpPr>
        <p:spPr>
          <a:xfrm>
            <a:off x="304800" y="1862925"/>
            <a:ext cx="8742218" cy="2140971"/>
          </a:xfrm>
          <a:prstGeom prst="rect">
            <a:avLst/>
          </a:prstGeom>
        </p:spPr>
        <p:txBody>
          <a:bodyPr vert="horz" wrap="square" lIns="0" tIns="10160" rIns="0" bIns="0" rtlCol="0">
            <a:spAutoFit/>
          </a:bodyPr>
          <a:lstStyle/>
          <a:p>
            <a:pPr marL="390525" marR="5080" indent="-377825">
              <a:lnSpc>
                <a:spcPct val="102000"/>
              </a:lnSpc>
              <a:spcBef>
                <a:spcPts val="635"/>
              </a:spcBef>
              <a:buClr>
                <a:srgbClr val="1F497C"/>
              </a:buClr>
              <a:buSzPct val="89743"/>
              <a:buChar char="●"/>
              <a:tabLst>
                <a:tab pos="390525" algn="l"/>
                <a:tab pos="391160" algn="l"/>
              </a:tabLst>
            </a:pPr>
            <a:r>
              <a:rPr sz="2400" dirty="0" smtClean="0">
                <a:latin typeface="Times New Roman" panose="02020603050405020304" pitchFamily="18" charset="0"/>
                <a:cs typeface="Times New Roman" panose="02020603050405020304" pitchFamily="18" charset="0"/>
              </a:rPr>
              <a:t>Disadvantage</a:t>
            </a:r>
            <a:r>
              <a:rPr sz="2400" dirty="0">
                <a:latin typeface="Times New Roman" panose="02020603050405020304" pitchFamily="18" charset="0"/>
                <a:cs typeface="Times New Roman" panose="02020603050405020304" pitchFamily="18" charset="0"/>
              </a:rPr>
              <a:t>: added complexity required to ensure proper coordination among </a:t>
            </a:r>
            <a:r>
              <a:rPr sz="2400" dirty="0" smtClean="0">
                <a:latin typeface="Times New Roman" panose="02020603050405020304" pitchFamily="18" charset="0"/>
                <a:cs typeface="Times New Roman" panose="02020603050405020304" pitchFamily="18" charset="0"/>
              </a:rPr>
              <a:t>sites</a:t>
            </a:r>
            <a:r>
              <a:rPr lang="en-US" sz="2400" dirty="0" smtClean="0">
                <a:latin typeface="Times New Roman" panose="02020603050405020304" pitchFamily="18" charset="0"/>
                <a:cs typeface="Times New Roman" panose="02020603050405020304" pitchFamily="18" charset="0"/>
              </a:rPr>
              <a:t>.</a:t>
            </a:r>
          </a:p>
          <a:p>
            <a:pPr marL="829310" lvl="1" indent="-313690">
              <a:lnSpc>
                <a:spcPct val="100000"/>
              </a:lnSpc>
              <a:spcBef>
                <a:spcPts val="695"/>
              </a:spcBef>
              <a:buClr>
                <a:srgbClr val="800080"/>
              </a:buClr>
              <a:buSzPct val="76923"/>
              <a:buChar char="●"/>
              <a:tabLst>
                <a:tab pos="829310" algn="l"/>
                <a:tab pos="829944" algn="l"/>
              </a:tabLst>
            </a:pPr>
            <a:r>
              <a:rPr sz="2400" dirty="0" smtClean="0">
                <a:latin typeface="Times New Roman" panose="02020603050405020304" pitchFamily="18" charset="0"/>
                <a:cs typeface="Times New Roman" panose="02020603050405020304" pitchFamily="18" charset="0"/>
              </a:rPr>
              <a:t>Software </a:t>
            </a:r>
            <a:r>
              <a:rPr sz="2400" dirty="0">
                <a:latin typeface="Times New Roman" panose="02020603050405020304" pitchFamily="18" charset="0"/>
                <a:cs typeface="Times New Roman" panose="02020603050405020304" pitchFamily="18" charset="0"/>
              </a:rPr>
              <a:t>development cost.</a:t>
            </a:r>
          </a:p>
          <a:p>
            <a:pPr marL="829310" lvl="1" indent="-313690">
              <a:lnSpc>
                <a:spcPct val="100000"/>
              </a:lnSpc>
              <a:spcBef>
                <a:spcPts val="700"/>
              </a:spcBef>
              <a:buClr>
                <a:srgbClr val="800080"/>
              </a:buClr>
              <a:buSzPct val="76923"/>
              <a:buChar char="●"/>
              <a:tabLst>
                <a:tab pos="829310" algn="l"/>
                <a:tab pos="829944" algn="l"/>
              </a:tabLst>
            </a:pPr>
            <a:r>
              <a:rPr sz="2400" dirty="0" smtClean="0">
                <a:latin typeface="Times New Roman" panose="02020603050405020304" pitchFamily="18" charset="0"/>
                <a:cs typeface="Times New Roman" panose="02020603050405020304" pitchFamily="18" charset="0"/>
              </a:rPr>
              <a:t>Greater </a:t>
            </a:r>
            <a:r>
              <a:rPr sz="2400" dirty="0">
                <a:latin typeface="Times New Roman" panose="02020603050405020304" pitchFamily="18" charset="0"/>
                <a:cs typeface="Times New Roman" panose="02020603050405020304" pitchFamily="18" charset="0"/>
              </a:rPr>
              <a:t>potential for </a:t>
            </a:r>
            <a:r>
              <a:rPr sz="2400" dirty="0">
                <a:latin typeface="Times New Roman" panose="02020603050405020304" pitchFamily="18" charset="0"/>
                <a:cs typeface="Times New Roman" panose="02020603050405020304" pitchFamily="18" charset="0"/>
              </a:rPr>
              <a:t>bugs.</a:t>
            </a:r>
            <a:endParaRPr lang="en-US" sz="2400" dirty="0">
              <a:latin typeface="Times New Roman" panose="02020603050405020304" pitchFamily="18" charset="0"/>
              <a:cs typeface="Times New Roman" panose="02020603050405020304" pitchFamily="18" charset="0"/>
            </a:endParaRPr>
          </a:p>
          <a:p>
            <a:pPr marL="829310" lvl="1" indent="-313690">
              <a:lnSpc>
                <a:spcPct val="100000"/>
              </a:lnSpc>
              <a:spcBef>
                <a:spcPts val="700"/>
              </a:spcBef>
              <a:buClr>
                <a:srgbClr val="800080"/>
              </a:buClr>
              <a:buSzPct val="76923"/>
              <a:buChar char="●"/>
              <a:tabLst>
                <a:tab pos="829310" algn="l"/>
                <a:tab pos="829944" algn="l"/>
              </a:tabLst>
            </a:pPr>
            <a:r>
              <a:rPr sz="2400" dirty="0">
                <a:latin typeface="Times New Roman" panose="02020603050405020304" pitchFamily="18" charset="0"/>
                <a:cs typeface="Times New Roman" panose="02020603050405020304" pitchFamily="18" charset="0"/>
              </a:rPr>
              <a:t>Increased </a:t>
            </a:r>
            <a:r>
              <a:rPr sz="2400" dirty="0">
                <a:latin typeface="Times New Roman" panose="02020603050405020304" pitchFamily="18" charset="0"/>
                <a:cs typeface="Times New Roman" panose="02020603050405020304" pitchFamily="18" charset="0"/>
              </a:rPr>
              <a:t>processing overhead.</a:t>
            </a:r>
          </a:p>
        </p:txBody>
      </p:sp>
    </p:spTree>
    <p:extLst>
      <p:ext uri="{BB962C8B-B14F-4D97-AF65-F5344CB8AC3E}">
        <p14:creationId xmlns:p14="http://schemas.microsoft.com/office/powerpoint/2010/main" val="4000648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414" y="1161328"/>
            <a:ext cx="7886700" cy="806017"/>
          </a:xfrm>
        </p:spPr>
        <p:txBody>
          <a:bodyPr>
            <a:normAutofit fontScale="90000"/>
          </a:bodyPr>
          <a:lstStyle/>
          <a:p>
            <a:r>
              <a:rPr lang="en-US" sz="3200" b="1" dirty="0">
                <a:latin typeface="Times New Roman" panose="02020603050405020304" pitchFamily="18" charset="0"/>
                <a:cs typeface="Times New Roman" panose="02020603050405020304" pitchFamily="18" charset="0"/>
              </a:rPr>
              <a:t>Data Replication</a:t>
            </a:r>
            <a:r>
              <a:rPr lang="en-US" b="1" dirty="0">
                <a:latin typeface="Arial" pitchFamily="34" charset="0"/>
                <a:cs typeface="Arial" pitchFamily="34" charset="0"/>
              </a:rPr>
              <a:t/>
            </a:r>
            <a:br>
              <a:rPr lang="en-US" b="1" dirty="0">
                <a:latin typeface="Arial" pitchFamily="34" charset="0"/>
                <a:cs typeface="Arial" pitchFamily="34" charset="0"/>
              </a:rPr>
            </a:br>
            <a:endParaRPr lang="en-US" dirty="0"/>
          </a:p>
        </p:txBody>
      </p:sp>
      <p:sp>
        <p:nvSpPr>
          <p:cNvPr id="4" name="object 4"/>
          <p:cNvSpPr txBox="1"/>
          <p:nvPr/>
        </p:nvSpPr>
        <p:spPr>
          <a:xfrm>
            <a:off x="365414" y="1967345"/>
            <a:ext cx="8614814" cy="2649187"/>
          </a:xfrm>
          <a:prstGeom prst="rect">
            <a:avLst/>
          </a:prstGeom>
        </p:spPr>
        <p:txBody>
          <a:bodyPr vert="horz" wrap="square" lIns="0" tIns="12065" rIns="0" bIns="0" rtlCol="0">
            <a:spAutoFit/>
          </a:bodyPr>
          <a:lstStyle/>
          <a:p>
            <a:pPr marL="326390" marR="32384" indent="-313690" algn="just">
              <a:lnSpc>
                <a:spcPct val="101000"/>
              </a:lnSpc>
              <a:spcBef>
                <a:spcPts val="95"/>
              </a:spcBef>
              <a:buChar char="•"/>
              <a:tabLst>
                <a:tab pos="327025" algn="l"/>
              </a:tabLst>
            </a:pPr>
            <a:r>
              <a:rPr lang="en-US" sz="2400" b="1" dirty="0">
                <a:latin typeface="Times New Roman" pitchFamily="18" charset="0"/>
                <a:cs typeface="Times New Roman" pitchFamily="18" charset="0"/>
              </a:rPr>
              <a:t>Data Replication</a:t>
            </a:r>
            <a:r>
              <a:rPr lang="en-US" sz="2400" dirty="0">
                <a:latin typeface="Times New Roman" pitchFamily="18" charset="0"/>
                <a:cs typeface="Times New Roman" pitchFamily="18" charset="0"/>
              </a:rPr>
              <a:t> is the process of storing data in more than one site or node.</a:t>
            </a:r>
          </a:p>
          <a:p>
            <a:pPr marL="326390" marR="32384" indent="-313690" algn="just">
              <a:lnSpc>
                <a:spcPct val="101000"/>
              </a:lnSpc>
              <a:spcBef>
                <a:spcPts val="95"/>
              </a:spcBef>
              <a:buChar char="•"/>
              <a:tabLst>
                <a:tab pos="327025" algn="l"/>
              </a:tabLst>
            </a:pPr>
            <a:r>
              <a:rPr lang="en-US" sz="2400" dirty="0">
                <a:latin typeface="Times New Roman" pitchFamily="18" charset="0"/>
                <a:cs typeface="Times New Roman" pitchFamily="18" charset="0"/>
              </a:rPr>
              <a:t>It is simply copying data from a database server to another server so that all the users can share the same data without any inconsistency.</a:t>
            </a:r>
          </a:p>
          <a:p>
            <a:pPr marL="326390" marR="32384" indent="-313690" algn="just">
              <a:lnSpc>
                <a:spcPct val="101000"/>
              </a:lnSpc>
              <a:spcBef>
                <a:spcPts val="95"/>
              </a:spcBef>
              <a:buChar char="•"/>
              <a:tabLst>
                <a:tab pos="327025" algn="l"/>
              </a:tabLst>
            </a:pPr>
            <a:r>
              <a:rPr lang="en-US" sz="2400" dirty="0">
                <a:latin typeface="Times New Roman" pitchFamily="18" charset="0"/>
                <a:cs typeface="Times New Roman" pitchFamily="18" charset="0"/>
              </a:rPr>
              <a:t>The result is a </a:t>
            </a:r>
            <a:r>
              <a:rPr lang="en-US" sz="2400" b="1" dirty="0">
                <a:latin typeface="Times New Roman" pitchFamily="18" charset="0"/>
                <a:cs typeface="Times New Roman" pitchFamily="18" charset="0"/>
              </a:rPr>
              <a:t>distributed database</a:t>
            </a:r>
            <a:r>
              <a:rPr lang="en-US" sz="2400" dirty="0">
                <a:latin typeface="Times New Roman" pitchFamily="18" charset="0"/>
                <a:cs typeface="Times New Roman" pitchFamily="18" charset="0"/>
              </a:rPr>
              <a:t> in which users can access data relevant to their tasks without interfering with the work of others. </a:t>
            </a:r>
          </a:p>
        </p:txBody>
      </p:sp>
    </p:spTree>
    <p:extLst>
      <p:ext uri="{BB962C8B-B14F-4D97-AF65-F5344CB8AC3E}">
        <p14:creationId xmlns:p14="http://schemas.microsoft.com/office/powerpoint/2010/main" val="2404215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txBox="1"/>
          <p:nvPr/>
        </p:nvSpPr>
        <p:spPr>
          <a:xfrm>
            <a:off x="96982" y="907472"/>
            <a:ext cx="8922327" cy="5013295"/>
          </a:xfrm>
          <a:prstGeom prst="rect">
            <a:avLst/>
          </a:prstGeom>
        </p:spPr>
        <p:txBody>
          <a:bodyPr vert="horz" wrap="square" lIns="0" tIns="93980" rIns="0" bIns="0" rtlCol="0">
            <a:spAutoFit/>
          </a:bodyPr>
          <a:lstStyle/>
          <a:p>
            <a:pPr marL="326390" indent="-313690">
              <a:lnSpc>
                <a:spcPct val="100000"/>
              </a:lnSpc>
              <a:spcBef>
                <a:spcPts val="740"/>
              </a:spcBef>
              <a:buChar char="•"/>
              <a:tabLst>
                <a:tab pos="326390" algn="l"/>
                <a:tab pos="327025" algn="l"/>
              </a:tabLst>
            </a:pPr>
            <a:r>
              <a:rPr sz="2400" b="1" dirty="0">
                <a:latin typeface="Times New Roman" pitchFamily="18" charset="0"/>
                <a:cs typeface="Times New Roman" pitchFamily="18" charset="0"/>
              </a:rPr>
              <a:t>Advantages of Replication</a:t>
            </a:r>
          </a:p>
          <a:p>
            <a:pPr marL="767080" marR="88900" lvl="1" indent="-251460" algn="just">
              <a:lnSpc>
                <a:spcPct val="100000"/>
              </a:lnSpc>
              <a:spcBef>
                <a:spcPts val="530"/>
              </a:spcBef>
              <a:buChar char="•"/>
              <a:tabLst>
                <a:tab pos="767080" algn="l"/>
                <a:tab pos="767715" algn="l"/>
              </a:tabLst>
            </a:pPr>
            <a:r>
              <a:rPr sz="2200" dirty="0">
                <a:latin typeface="Times New Roman" pitchFamily="18" charset="0"/>
                <a:cs typeface="Times New Roman" pitchFamily="18" charset="0"/>
              </a:rPr>
              <a:t>Availability: </a:t>
            </a:r>
            <a:r>
              <a:rPr sz="2200" dirty="0" smtClean="0">
                <a:latin typeface="Times New Roman" pitchFamily="18" charset="0"/>
                <a:cs typeface="Times New Roman" pitchFamily="18" charset="0"/>
              </a:rPr>
              <a:t>failure</a:t>
            </a:r>
            <a:r>
              <a:rPr lang="en-US" sz="2200" dirty="0" smtClean="0">
                <a:latin typeface="Times New Roman" pitchFamily="18" charset="0"/>
                <a:cs typeface="Times New Roman" pitchFamily="18" charset="0"/>
              </a:rPr>
              <a:t> </a:t>
            </a:r>
            <a:r>
              <a:rPr sz="2200" dirty="0" smtClean="0">
                <a:latin typeface="Times New Roman" pitchFamily="18" charset="0"/>
                <a:cs typeface="Times New Roman" pitchFamily="18" charset="0"/>
              </a:rPr>
              <a:t>of</a:t>
            </a:r>
            <a:r>
              <a:rPr lang="en-US" sz="2200" dirty="0" smtClean="0">
                <a:latin typeface="Times New Roman" pitchFamily="18" charset="0"/>
                <a:cs typeface="Times New Roman" pitchFamily="18" charset="0"/>
              </a:rPr>
              <a:t> </a:t>
            </a:r>
            <a:r>
              <a:rPr sz="2200" dirty="0" smtClean="0">
                <a:latin typeface="Times New Roman" pitchFamily="18" charset="0"/>
                <a:cs typeface="Times New Roman" pitchFamily="18" charset="0"/>
              </a:rPr>
              <a:t>site</a:t>
            </a:r>
            <a:r>
              <a:rPr lang="en-US" sz="2200" dirty="0" smtClean="0">
                <a:latin typeface="Times New Roman" pitchFamily="18" charset="0"/>
                <a:cs typeface="Times New Roman" pitchFamily="18" charset="0"/>
              </a:rPr>
              <a:t> </a:t>
            </a:r>
            <a:r>
              <a:rPr sz="2200" dirty="0" smtClean="0">
                <a:latin typeface="Times New Roman" pitchFamily="18" charset="0"/>
                <a:cs typeface="Times New Roman" pitchFamily="18" charset="0"/>
              </a:rPr>
              <a:t>containing</a:t>
            </a:r>
            <a:r>
              <a:rPr lang="en-US" sz="2200" dirty="0" smtClean="0">
                <a:latin typeface="Times New Roman" pitchFamily="18" charset="0"/>
                <a:cs typeface="Times New Roman" pitchFamily="18" charset="0"/>
              </a:rPr>
              <a:t> </a:t>
            </a:r>
            <a:r>
              <a:rPr sz="2200" dirty="0" smtClean="0">
                <a:latin typeface="Times New Roman" pitchFamily="18" charset="0"/>
                <a:cs typeface="Times New Roman" pitchFamily="18" charset="0"/>
              </a:rPr>
              <a:t>relation</a:t>
            </a:r>
            <a:r>
              <a:rPr lang="en-US" sz="2200" dirty="0" smtClean="0">
                <a:latin typeface="Times New Roman" pitchFamily="18" charset="0"/>
                <a:cs typeface="Times New Roman" pitchFamily="18" charset="0"/>
              </a:rPr>
              <a:t> </a:t>
            </a:r>
            <a:r>
              <a:rPr sz="2200" dirty="0" smtClean="0">
                <a:latin typeface="Times New Roman" pitchFamily="18" charset="0"/>
                <a:cs typeface="Times New Roman" pitchFamily="18" charset="0"/>
              </a:rPr>
              <a:t>does</a:t>
            </a:r>
            <a:r>
              <a:rPr lang="en-US" sz="2200" dirty="0" smtClean="0">
                <a:latin typeface="Times New Roman" pitchFamily="18" charset="0"/>
                <a:cs typeface="Times New Roman" pitchFamily="18" charset="0"/>
              </a:rPr>
              <a:t> </a:t>
            </a:r>
            <a:r>
              <a:rPr sz="2200" dirty="0" smtClean="0">
                <a:latin typeface="Times New Roman" pitchFamily="18" charset="0"/>
                <a:cs typeface="Times New Roman" pitchFamily="18" charset="0"/>
              </a:rPr>
              <a:t>not</a:t>
            </a:r>
            <a:r>
              <a:rPr lang="en-US" sz="2200" dirty="0" smtClean="0">
                <a:latin typeface="Times New Roman" pitchFamily="18" charset="0"/>
                <a:cs typeface="Times New Roman" pitchFamily="18" charset="0"/>
              </a:rPr>
              <a:t> </a:t>
            </a:r>
            <a:r>
              <a:rPr sz="2200" dirty="0" smtClean="0">
                <a:latin typeface="Times New Roman" pitchFamily="18" charset="0"/>
                <a:cs typeface="Times New Roman" pitchFamily="18" charset="0"/>
              </a:rPr>
              <a:t>result </a:t>
            </a:r>
            <a:r>
              <a:rPr sz="2200" dirty="0">
                <a:latin typeface="Times New Roman" pitchFamily="18" charset="0"/>
                <a:cs typeface="Times New Roman" pitchFamily="18" charset="0"/>
              </a:rPr>
              <a:t>in unavailability</a:t>
            </a:r>
            <a:r>
              <a:rPr lang="en-US" sz="2200" dirty="0">
                <a:latin typeface="Times New Roman" pitchFamily="18" charset="0"/>
                <a:cs typeface="Times New Roman" pitchFamily="18" charset="0"/>
              </a:rPr>
              <a:t> of data</a:t>
            </a:r>
            <a:r>
              <a:rPr sz="2200" dirty="0">
                <a:latin typeface="Times New Roman" pitchFamily="18" charset="0"/>
                <a:cs typeface="Times New Roman" pitchFamily="18" charset="0"/>
              </a:rPr>
              <a:t>.</a:t>
            </a:r>
          </a:p>
          <a:p>
            <a:pPr marL="767080" marR="339090" lvl="1" indent="-251460" algn="just">
              <a:lnSpc>
                <a:spcPct val="100000"/>
              </a:lnSpc>
              <a:spcBef>
                <a:spcPts val="530"/>
              </a:spcBef>
              <a:buChar char="•"/>
              <a:tabLst>
                <a:tab pos="767080" algn="l"/>
                <a:tab pos="767715" algn="l"/>
              </a:tabLst>
            </a:pPr>
            <a:r>
              <a:rPr sz="2200" dirty="0">
                <a:latin typeface="Times New Roman" pitchFamily="18" charset="0"/>
                <a:cs typeface="Times New Roman" pitchFamily="18" charset="0"/>
              </a:rPr>
              <a:t>Parallelism: queries</a:t>
            </a:r>
            <a:r>
              <a:rPr lang="en-US" sz="2200" dirty="0">
                <a:latin typeface="Times New Roman" pitchFamily="18" charset="0"/>
                <a:cs typeface="Times New Roman" pitchFamily="18" charset="0"/>
              </a:rPr>
              <a:t> </a:t>
            </a:r>
            <a:r>
              <a:rPr sz="2200" dirty="0">
                <a:latin typeface="Times New Roman" pitchFamily="18" charset="0"/>
                <a:cs typeface="Times New Roman" pitchFamily="18" charset="0"/>
              </a:rPr>
              <a:t>may be processed by several  nodes in parallel.</a:t>
            </a:r>
          </a:p>
          <a:p>
            <a:pPr marL="767080" marR="328295" lvl="1" indent="-251460" algn="just">
              <a:lnSpc>
                <a:spcPct val="100000"/>
              </a:lnSpc>
              <a:spcBef>
                <a:spcPts val="530"/>
              </a:spcBef>
              <a:buChar char="•"/>
              <a:tabLst>
                <a:tab pos="767080" algn="l"/>
                <a:tab pos="767715" algn="l"/>
              </a:tabLst>
            </a:pPr>
            <a:r>
              <a:rPr sz="2200" dirty="0">
                <a:latin typeface="Times New Roman" pitchFamily="18" charset="0"/>
                <a:cs typeface="Times New Roman" pitchFamily="18" charset="0"/>
              </a:rPr>
              <a:t>Reduced data transfer: relation  is available locally at  each site.</a:t>
            </a:r>
          </a:p>
          <a:p>
            <a:pPr marL="326390" indent="-313690">
              <a:lnSpc>
                <a:spcPct val="100000"/>
              </a:lnSpc>
              <a:spcBef>
                <a:spcPts val="615"/>
              </a:spcBef>
              <a:buChar char="•"/>
              <a:tabLst>
                <a:tab pos="326390" algn="l"/>
                <a:tab pos="327025" algn="l"/>
              </a:tabLst>
            </a:pPr>
            <a:r>
              <a:rPr sz="2400" b="1" dirty="0">
                <a:latin typeface="Times New Roman" pitchFamily="18" charset="0"/>
                <a:cs typeface="Times New Roman" pitchFamily="18" charset="0"/>
              </a:rPr>
              <a:t>Disadvantages of Replication</a:t>
            </a:r>
          </a:p>
          <a:p>
            <a:pPr marL="767080" marR="613410" lvl="1" indent="-251460">
              <a:lnSpc>
                <a:spcPct val="100000"/>
              </a:lnSpc>
              <a:spcBef>
                <a:spcPts val="535"/>
              </a:spcBef>
              <a:buChar char="•"/>
              <a:tabLst>
                <a:tab pos="767080" algn="l"/>
                <a:tab pos="767715" algn="l"/>
              </a:tabLst>
            </a:pPr>
            <a:r>
              <a:rPr sz="2200" dirty="0">
                <a:latin typeface="Times New Roman" pitchFamily="18" charset="0"/>
                <a:cs typeface="Times New Roman" pitchFamily="18" charset="0"/>
              </a:rPr>
              <a:t>Increased cost of updates: each replica of relation   must be updated.</a:t>
            </a:r>
          </a:p>
          <a:p>
            <a:pPr marL="767080" marR="5080" lvl="1" indent="-251460">
              <a:lnSpc>
                <a:spcPct val="100000"/>
              </a:lnSpc>
              <a:spcBef>
                <a:spcPts val="530"/>
              </a:spcBef>
              <a:buChar char="•"/>
              <a:tabLst>
                <a:tab pos="767080" algn="l"/>
                <a:tab pos="767715" algn="l"/>
              </a:tabLst>
            </a:pPr>
            <a:r>
              <a:rPr sz="2200" dirty="0">
                <a:latin typeface="Times New Roman" pitchFamily="18" charset="0"/>
                <a:cs typeface="Times New Roman" pitchFamily="18" charset="0"/>
              </a:rPr>
              <a:t>Increased complexity of concurrency control: concurrent  updates to distinct replicas may lead to inconsistent  data unless special concurrency control mechanisms are  implemented.</a:t>
            </a:r>
          </a:p>
          <a:p>
            <a:pPr marL="1270000" marR="654685" indent="-252095">
              <a:lnSpc>
                <a:spcPct val="100600"/>
              </a:lnSpc>
              <a:spcBef>
                <a:spcPts val="425"/>
              </a:spcBef>
            </a:pPr>
            <a:r>
              <a:rPr sz="2200" dirty="0">
                <a:latin typeface="Times New Roman" pitchFamily="18" charset="0"/>
                <a:cs typeface="Times New Roman" pitchFamily="18" charset="0"/>
              </a:rPr>
              <a:t>– One solution: choose one copy as primary copy and apply  concurrency control operations on primary copy</a:t>
            </a:r>
          </a:p>
        </p:txBody>
      </p:sp>
    </p:spTree>
    <p:extLst>
      <p:ext uri="{BB962C8B-B14F-4D97-AF65-F5344CB8AC3E}">
        <p14:creationId xmlns:p14="http://schemas.microsoft.com/office/powerpoint/2010/main" val="432101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0104" y="1016290"/>
            <a:ext cx="7886700" cy="1325563"/>
          </a:xfrm>
        </p:spPr>
        <p:txBody>
          <a:bodyPr>
            <a:normAutofit/>
          </a:bodyPr>
          <a:lstStyle/>
          <a:p>
            <a:r>
              <a:rPr lang="en-US" sz="3200" b="1" dirty="0">
                <a:latin typeface="Times New Roman" panose="02020603050405020304" pitchFamily="18" charset="0"/>
                <a:cs typeface="Times New Roman" panose="02020603050405020304" pitchFamily="18" charset="0"/>
              </a:rPr>
              <a:t>Data </a:t>
            </a:r>
            <a:r>
              <a:rPr lang="en-US" sz="3200" b="1" dirty="0" smtClean="0">
                <a:latin typeface="Times New Roman" panose="02020603050405020304" pitchFamily="18" charset="0"/>
                <a:cs typeface="Times New Roman" panose="02020603050405020304" pitchFamily="18" charset="0"/>
              </a:rPr>
              <a:t>Fragmentation</a:t>
            </a:r>
            <a:endParaRPr lang="en-US" sz="32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226060" y="2646218"/>
            <a:ext cx="8710122" cy="2642389"/>
          </a:xfrm>
          <a:prstGeom prst="rect">
            <a:avLst/>
          </a:prstGeom>
        </p:spPr>
        <p:txBody>
          <a:bodyPr vert="horz" wrap="square" lIns="0" tIns="26034" rIns="0" bIns="0" rtlCol="0">
            <a:spAutoFit/>
          </a:bodyPr>
          <a:lstStyle/>
          <a:p>
            <a:pPr marL="326390" marR="5715" indent="-313690" algn="just">
              <a:lnSpc>
                <a:spcPts val="3170"/>
              </a:lnSpc>
              <a:spcBef>
                <a:spcPts val="204"/>
              </a:spcBef>
              <a:buChar char="•"/>
              <a:tabLst>
                <a:tab pos="327025" algn="l"/>
              </a:tabLst>
            </a:pPr>
            <a:r>
              <a:rPr sz="2200" dirty="0">
                <a:latin typeface="Times New Roman" pitchFamily="18" charset="0"/>
                <a:cs typeface="Times New Roman" pitchFamily="18" charset="0"/>
              </a:rPr>
              <a:t>Division of relation into fragments r1, r2, …, rn  which contain sufficient information to reconstruct  relation.</a:t>
            </a:r>
          </a:p>
          <a:p>
            <a:pPr marL="326390" marR="8890" indent="-313690" algn="just">
              <a:lnSpc>
                <a:spcPts val="3170"/>
              </a:lnSpc>
              <a:spcBef>
                <a:spcPts val="625"/>
              </a:spcBef>
              <a:buChar char="•"/>
              <a:tabLst>
                <a:tab pos="327025" algn="l"/>
              </a:tabLst>
            </a:pPr>
            <a:r>
              <a:rPr sz="2200" dirty="0">
                <a:latin typeface="Times New Roman" pitchFamily="18" charset="0"/>
                <a:cs typeface="Times New Roman" pitchFamily="18" charset="0"/>
              </a:rPr>
              <a:t>Horizontal fragmentation: </a:t>
            </a:r>
            <a:r>
              <a:rPr lang="en-US" sz="2200" dirty="0">
                <a:latin typeface="Times New Roman" pitchFamily="18" charset="0"/>
                <a:cs typeface="Times New Roman" pitchFamily="18" charset="0"/>
              </a:rPr>
              <a:t>groups the tuples of a table in accordance to values of one or more fields. </a:t>
            </a:r>
          </a:p>
          <a:p>
            <a:pPr marL="326390" marR="8890" indent="-313690" algn="just">
              <a:lnSpc>
                <a:spcPts val="3170"/>
              </a:lnSpc>
              <a:spcBef>
                <a:spcPts val="625"/>
              </a:spcBef>
              <a:buChar char="•"/>
              <a:tabLst>
                <a:tab pos="327025" algn="l"/>
              </a:tabLst>
            </a:pPr>
            <a:r>
              <a:rPr sz="2200" dirty="0">
                <a:latin typeface="Times New Roman" pitchFamily="18" charset="0"/>
                <a:cs typeface="Times New Roman" pitchFamily="18" charset="0"/>
              </a:rPr>
              <a:t>Vertical fragmentation: </a:t>
            </a:r>
            <a:r>
              <a:rPr lang="en-US" sz="2200" dirty="0">
                <a:latin typeface="Times New Roman" pitchFamily="18" charset="0"/>
                <a:cs typeface="Times New Roman" pitchFamily="18" charset="0"/>
              </a:rPr>
              <a:t>the fields or columns of a table are grouped into fragments.</a:t>
            </a:r>
            <a:endParaRPr sz="2200" dirty="0">
              <a:latin typeface="Times New Roman" pitchFamily="18" charset="0"/>
              <a:cs typeface="Times New Roman" pitchFamily="18" charset="0"/>
            </a:endParaRPr>
          </a:p>
        </p:txBody>
      </p:sp>
    </p:spTree>
    <p:extLst>
      <p:ext uri="{BB962C8B-B14F-4D97-AF65-F5344CB8AC3E}">
        <p14:creationId xmlns:p14="http://schemas.microsoft.com/office/powerpoint/2010/main" val="832402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49" y="1027907"/>
            <a:ext cx="7886700" cy="1325563"/>
          </a:xfrm>
        </p:spPr>
        <p:txBody>
          <a:bodyPr>
            <a:normAutofit/>
          </a:bodyPr>
          <a:lstStyle/>
          <a:p>
            <a:r>
              <a:rPr lang="en-US" sz="3200" b="1" dirty="0">
                <a:latin typeface="Times New Roman" panose="02020603050405020304" pitchFamily="18" charset="0"/>
                <a:cs typeface="Times New Roman" panose="02020603050405020304" pitchFamily="18" charset="0"/>
              </a:rPr>
              <a:t>Data Transparency</a:t>
            </a:r>
            <a:br>
              <a:rPr lang="en-US" sz="3200" b="1"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178652" y="1690689"/>
            <a:ext cx="8786695" cy="4949865"/>
          </a:xfrm>
          <a:prstGeom prst="rect">
            <a:avLst/>
          </a:prstGeom>
        </p:spPr>
        <p:txBody>
          <a:bodyPr vert="horz" wrap="square" lIns="0" tIns="112395" rIns="0" bIns="0" rtlCol="0">
            <a:spAutoFit/>
          </a:bodyPr>
          <a:lstStyle/>
          <a:p>
            <a:pPr marL="355600" indent="-342900">
              <a:lnSpc>
                <a:spcPct val="100000"/>
              </a:lnSpc>
              <a:spcBef>
                <a:spcPts val="640"/>
              </a:spcBef>
              <a:buFont typeface="Arial" pitchFamily="34" charset="0"/>
              <a:buChar char="•"/>
              <a:tabLst>
                <a:tab pos="327025" algn="l"/>
              </a:tabLst>
            </a:pPr>
            <a:r>
              <a:rPr lang="en-US" sz="2000" dirty="0">
                <a:latin typeface="Times New Roman" panose="02020603050405020304" pitchFamily="18" charset="0"/>
                <a:cs typeface="Times New Roman" panose="02020603050405020304" pitchFamily="18" charset="0"/>
              </a:rPr>
              <a:t>The user of a distributed database system should not be required to know where the data are physically located.</a:t>
            </a:r>
          </a:p>
          <a:p>
            <a:pPr marL="355600" indent="-342900">
              <a:lnSpc>
                <a:spcPct val="100000"/>
              </a:lnSpc>
              <a:spcBef>
                <a:spcPts val="640"/>
              </a:spcBef>
              <a:buFont typeface="Arial" pitchFamily="34" charset="0"/>
              <a:buChar char="•"/>
              <a:tabLst>
                <a:tab pos="327025" algn="l"/>
              </a:tabLst>
            </a:pPr>
            <a:r>
              <a:rPr lang="en-US" sz="2000" dirty="0">
                <a:latin typeface="Times New Roman" panose="02020603050405020304" pitchFamily="18" charset="0"/>
                <a:cs typeface="Times New Roman" panose="02020603050405020304" pitchFamily="18" charset="0"/>
              </a:rPr>
              <a:t>The user of a distributed database system should not be required to know how the data can be accessed at the specific local site</a:t>
            </a:r>
            <a:endParaRPr lang="en-US" sz="2000" spc="155" dirty="0">
              <a:latin typeface="Times New Roman" panose="02020603050405020304" pitchFamily="18" charset="0"/>
              <a:cs typeface="Times New Roman" panose="02020603050405020304" pitchFamily="18" charset="0"/>
            </a:endParaRPr>
          </a:p>
          <a:p>
            <a:pPr marL="326390" indent="-313690">
              <a:lnSpc>
                <a:spcPct val="100000"/>
              </a:lnSpc>
              <a:spcBef>
                <a:spcPts val="640"/>
              </a:spcBef>
              <a:buChar char="–"/>
              <a:tabLst>
                <a:tab pos="327025" algn="l"/>
              </a:tabLst>
            </a:pPr>
            <a:r>
              <a:rPr lang="en-US" sz="2000" dirty="0">
                <a:latin typeface="Times New Roman" panose="02020603050405020304" pitchFamily="18" charset="0"/>
                <a:cs typeface="Times New Roman" panose="02020603050405020304" pitchFamily="18" charset="0"/>
              </a:rPr>
              <a:t>Several Forms of Data Transparency </a:t>
            </a:r>
          </a:p>
          <a:p>
            <a:pPr marL="12700">
              <a:lnSpc>
                <a:spcPct val="100000"/>
              </a:lnSpc>
              <a:spcBef>
                <a:spcPts val="640"/>
              </a:spcBef>
              <a:tabLst>
                <a:tab pos="327025" algn="l"/>
              </a:tabLst>
            </a:pPr>
            <a:r>
              <a:rPr lang="en-US" sz="2000" dirty="0">
                <a:solidFill>
                  <a:schemeClr val="tx2">
                    <a:lumMod val="60000"/>
                    <a:lumOff val="40000"/>
                  </a:schemeClr>
                </a:solidFill>
                <a:latin typeface="Times New Roman" panose="02020603050405020304" pitchFamily="18" charset="0"/>
                <a:cs typeface="Times New Roman" panose="02020603050405020304" pitchFamily="18" charset="0"/>
              </a:rPr>
              <a:t>      </a:t>
            </a:r>
            <a:r>
              <a:rPr lang="en-US" sz="2000" dirty="0">
                <a:solidFill>
                  <a:srgbClr val="00B0F0"/>
                </a:solidFill>
                <a:latin typeface="Times New Roman" panose="02020603050405020304" pitchFamily="18" charset="0"/>
                <a:cs typeface="Times New Roman" panose="02020603050405020304" pitchFamily="18" charset="0"/>
              </a:rPr>
              <a:t>• Fragmentation transparency </a:t>
            </a:r>
          </a:p>
          <a:p>
            <a:pPr marL="12700">
              <a:lnSpc>
                <a:spcPct val="100000"/>
              </a:lnSpc>
              <a:spcBef>
                <a:spcPts val="640"/>
              </a:spcBef>
              <a:tabLst>
                <a:tab pos="327025" algn="l"/>
              </a:tabLst>
            </a:pPr>
            <a:r>
              <a:rPr lang="en-US" sz="2000" dirty="0">
                <a:latin typeface="Times New Roman" panose="02020603050405020304" pitchFamily="18" charset="0"/>
                <a:cs typeface="Times New Roman" panose="02020603050405020304" pitchFamily="18" charset="0"/>
              </a:rPr>
              <a:t>              Users are not required to know how a relation has been fragmented </a:t>
            </a:r>
          </a:p>
          <a:p>
            <a:pPr marL="12700">
              <a:lnSpc>
                <a:spcPct val="100000"/>
              </a:lnSpc>
              <a:spcBef>
                <a:spcPts val="640"/>
              </a:spcBef>
              <a:tabLst>
                <a:tab pos="327025" algn="l"/>
              </a:tabLst>
            </a:pPr>
            <a:r>
              <a:rPr lang="en-US" sz="2000" dirty="0">
                <a:latin typeface="Times New Roman" panose="02020603050405020304" pitchFamily="18" charset="0"/>
                <a:cs typeface="Times New Roman" panose="02020603050405020304" pitchFamily="18" charset="0"/>
              </a:rPr>
              <a:t>      </a:t>
            </a:r>
            <a:r>
              <a:rPr lang="en-US" sz="2000" dirty="0">
                <a:solidFill>
                  <a:srgbClr val="00B0F0"/>
                </a:solidFill>
                <a:latin typeface="Times New Roman" panose="02020603050405020304" pitchFamily="18" charset="0"/>
                <a:cs typeface="Times New Roman" panose="02020603050405020304" pitchFamily="18" charset="0"/>
              </a:rPr>
              <a:t>• Replication transparency </a:t>
            </a:r>
          </a:p>
          <a:p>
            <a:pPr marL="12700">
              <a:lnSpc>
                <a:spcPct val="100000"/>
              </a:lnSpc>
              <a:spcBef>
                <a:spcPts val="640"/>
              </a:spcBef>
              <a:tabLst>
                <a:tab pos="327025" algn="l"/>
              </a:tabLst>
            </a:pPr>
            <a:r>
              <a:rPr lang="en-US" sz="2000" dirty="0">
                <a:latin typeface="Times New Roman" panose="02020603050405020304" pitchFamily="18" charset="0"/>
                <a:cs typeface="Times New Roman" panose="02020603050405020304" pitchFamily="18" charset="0"/>
              </a:rPr>
              <a:t>               Users view each data object as logically unique </a:t>
            </a:r>
          </a:p>
          <a:p>
            <a:pPr marL="12700">
              <a:lnSpc>
                <a:spcPct val="100000"/>
              </a:lnSpc>
              <a:spcBef>
                <a:spcPts val="640"/>
              </a:spcBef>
              <a:tabLst>
                <a:tab pos="327025" algn="l"/>
              </a:tabLst>
            </a:pPr>
            <a:r>
              <a:rPr lang="en-US" sz="2000" dirty="0">
                <a:latin typeface="Times New Roman" panose="02020603050405020304" pitchFamily="18" charset="0"/>
                <a:cs typeface="Times New Roman" panose="02020603050405020304" pitchFamily="18" charset="0"/>
              </a:rPr>
              <a:t>               Users do not have to be concerned with what data objects have   		   been replicated, or where replicas have been placed </a:t>
            </a:r>
          </a:p>
          <a:p>
            <a:pPr marL="12700">
              <a:lnSpc>
                <a:spcPct val="100000"/>
              </a:lnSpc>
              <a:spcBef>
                <a:spcPts val="640"/>
              </a:spcBef>
              <a:tabLst>
                <a:tab pos="327025" algn="l"/>
              </a:tabLst>
            </a:pPr>
            <a:r>
              <a:rPr lang="en-US" sz="2000" dirty="0">
                <a:latin typeface="Times New Roman" panose="02020603050405020304" pitchFamily="18" charset="0"/>
                <a:cs typeface="Times New Roman" panose="02020603050405020304" pitchFamily="18" charset="0"/>
              </a:rPr>
              <a:t>       </a:t>
            </a:r>
            <a:r>
              <a:rPr lang="en-US" sz="2000" dirty="0">
                <a:solidFill>
                  <a:srgbClr val="00B0F0"/>
                </a:solidFill>
                <a:latin typeface="Times New Roman" panose="02020603050405020304" pitchFamily="18" charset="0"/>
                <a:cs typeface="Times New Roman" panose="02020603050405020304" pitchFamily="18" charset="0"/>
              </a:rPr>
              <a:t>• Location transparency </a:t>
            </a:r>
          </a:p>
          <a:p>
            <a:pPr marL="12700">
              <a:lnSpc>
                <a:spcPct val="100000"/>
              </a:lnSpc>
              <a:spcBef>
                <a:spcPts val="640"/>
              </a:spcBef>
              <a:tabLst>
                <a:tab pos="327025" algn="l"/>
              </a:tabLst>
            </a:pPr>
            <a:r>
              <a:rPr lang="en-US" sz="2000" dirty="0">
                <a:latin typeface="Times New Roman" panose="02020603050405020304" pitchFamily="18" charset="0"/>
                <a:cs typeface="Times New Roman" panose="02020603050405020304" pitchFamily="18" charset="0"/>
              </a:rPr>
              <a:t>                Users are not required to know the physical location of the data</a:t>
            </a:r>
            <a:endParaRPr lang="en-US" sz="2000" spc="155"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1263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442" y="988146"/>
            <a:ext cx="7886700" cy="1325563"/>
          </a:xfrm>
        </p:spPr>
        <p:txBody>
          <a:bodyPr>
            <a:normAutofit/>
          </a:bodyPr>
          <a:lstStyle/>
          <a:p>
            <a:r>
              <a:rPr lang="en-US" sz="3200" b="1" dirty="0">
                <a:latin typeface="Times New Roman" panose="02020603050405020304" pitchFamily="18" charset="0"/>
                <a:cs typeface="Times New Roman" panose="02020603050405020304" pitchFamily="18" charset="0"/>
              </a:rPr>
              <a:t>Naming of Data Items - Criteria</a:t>
            </a:r>
            <a:br>
              <a:rPr lang="en-US" sz="3200" b="1"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238442" y="2313709"/>
            <a:ext cx="8667115" cy="1524905"/>
          </a:xfrm>
          <a:prstGeom prst="rect">
            <a:avLst/>
          </a:prstGeom>
        </p:spPr>
        <p:txBody>
          <a:bodyPr vert="horz" wrap="square" lIns="0" tIns="12065" rIns="0" bIns="0" rtlCol="0">
            <a:spAutoFit/>
          </a:bodyPr>
          <a:lstStyle/>
          <a:p>
            <a:pPr marL="326390" marR="5080" indent="-313690" algn="just">
              <a:lnSpc>
                <a:spcPct val="101000"/>
              </a:lnSpc>
              <a:spcBef>
                <a:spcPts val="95"/>
              </a:spcBef>
              <a:buChar char="•"/>
              <a:tabLst>
                <a:tab pos="326390" algn="l"/>
                <a:tab pos="327025" algn="l"/>
                <a:tab pos="1450340" algn="l"/>
                <a:tab pos="2406015" algn="l"/>
                <a:tab pos="3361690" algn="l"/>
                <a:tab pos="4415155" algn="l"/>
                <a:tab pos="5417820" algn="l"/>
                <a:tab pos="5801995" algn="l"/>
                <a:tab pos="7192009" algn="l"/>
              </a:tabLst>
            </a:pPr>
            <a:r>
              <a:rPr sz="2000" dirty="0">
                <a:latin typeface="Times New Roman" panose="02020603050405020304" pitchFamily="18" charset="0"/>
                <a:cs typeface="Times New Roman" panose="02020603050405020304" pitchFamily="18" charset="0"/>
              </a:rPr>
              <a:t>Every</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data</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item</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must</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have</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system</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wide  unique name.</a:t>
            </a:r>
          </a:p>
          <a:p>
            <a:pPr marL="326390" marR="7620" indent="-313690" algn="just">
              <a:lnSpc>
                <a:spcPct val="101000"/>
              </a:lnSpc>
              <a:spcBef>
                <a:spcPts val="745"/>
              </a:spcBef>
              <a:buChar char="•"/>
              <a:tabLst>
                <a:tab pos="326390" algn="l"/>
                <a:tab pos="327025" algn="l"/>
                <a:tab pos="756920" algn="l"/>
                <a:tab pos="2139950" algn="l"/>
                <a:tab pos="2778125" algn="l"/>
                <a:tab pos="4415155" algn="l"/>
                <a:tab pos="4975225" algn="l"/>
                <a:tab pos="5848985" algn="l"/>
                <a:tab pos="6612890" algn="l"/>
              </a:tabLst>
            </a:pPr>
            <a:r>
              <a:rPr sz="2000" dirty="0">
                <a:latin typeface="Times New Roman" panose="02020603050405020304" pitchFamily="18" charset="0"/>
                <a:cs typeface="Times New Roman" panose="02020603050405020304" pitchFamily="18" charset="0"/>
              </a:rPr>
              <a:t>It</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should</a:t>
            </a:r>
            <a:r>
              <a:rPr lang="en-US" sz="2000" dirty="0">
                <a:latin typeface="Times New Roman" panose="02020603050405020304" pitchFamily="18" charset="0"/>
                <a:cs typeface="Times New Roman" panose="02020603050405020304" pitchFamily="18" charset="0"/>
              </a:rPr>
              <a:t> </a:t>
            </a:r>
            <a:r>
              <a:rPr sz="2000" dirty="0" smtClean="0">
                <a:latin typeface="Times New Roman" panose="02020603050405020304" pitchFamily="18" charset="0"/>
                <a:cs typeface="Times New Roman" panose="02020603050405020304" pitchFamily="18" charset="0"/>
              </a:rPr>
              <a:t>be</a:t>
            </a:r>
            <a:r>
              <a:rPr lang="en-US" sz="2000" dirty="0" smtClean="0">
                <a:latin typeface="Times New Roman" panose="02020603050405020304" pitchFamily="18" charset="0"/>
                <a:cs typeface="Times New Roman" panose="02020603050405020304" pitchFamily="18" charset="0"/>
              </a:rPr>
              <a:t> </a:t>
            </a:r>
            <a:r>
              <a:rPr sz="2000" dirty="0" smtClean="0">
                <a:latin typeface="Times New Roman" panose="02020603050405020304" pitchFamily="18" charset="0"/>
                <a:cs typeface="Times New Roman" panose="02020603050405020304" pitchFamily="18" charset="0"/>
              </a:rPr>
              <a:t>possible</a:t>
            </a:r>
            <a:r>
              <a:rPr lang="en-US" sz="2000" dirty="0" smtClean="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find</a:t>
            </a:r>
            <a:r>
              <a:rPr lang="en-US" sz="2000" dirty="0">
                <a:latin typeface="Times New Roman" panose="02020603050405020304" pitchFamily="18" charset="0"/>
                <a:cs typeface="Times New Roman" panose="02020603050405020304" pitchFamily="18" charset="0"/>
              </a:rPr>
              <a:t> </a:t>
            </a:r>
            <a:r>
              <a:rPr sz="2000" dirty="0" smtClean="0">
                <a:latin typeface="Times New Roman" panose="02020603050405020304" pitchFamily="18" charset="0"/>
                <a:cs typeface="Times New Roman" panose="02020603050405020304" pitchFamily="18" charset="0"/>
              </a:rPr>
              <a:t>the</a:t>
            </a:r>
            <a:r>
              <a:rPr lang="en-US" sz="2000" dirty="0" smtClean="0">
                <a:latin typeface="Times New Roman" panose="02020603050405020304" pitchFamily="18" charset="0"/>
                <a:cs typeface="Times New Roman" panose="02020603050405020304" pitchFamily="18" charset="0"/>
              </a:rPr>
              <a:t> </a:t>
            </a:r>
            <a:r>
              <a:rPr sz="2000" dirty="0" smtClean="0">
                <a:latin typeface="Times New Roman" panose="02020603050405020304" pitchFamily="18" charset="0"/>
                <a:cs typeface="Times New Roman" panose="02020603050405020304" pitchFamily="18" charset="0"/>
              </a:rPr>
              <a:t>location  </a:t>
            </a:r>
            <a:r>
              <a:rPr sz="2000" dirty="0">
                <a:latin typeface="Times New Roman" panose="02020603050405020304" pitchFamily="18" charset="0"/>
                <a:cs typeface="Times New Roman" panose="02020603050405020304" pitchFamily="18" charset="0"/>
              </a:rPr>
              <a:t>of data items efficiently.</a:t>
            </a:r>
          </a:p>
          <a:p>
            <a:pPr marL="326390" marR="7620" indent="-313690" algn="just">
              <a:lnSpc>
                <a:spcPct val="101000"/>
              </a:lnSpc>
              <a:spcBef>
                <a:spcPts val="730"/>
              </a:spcBef>
              <a:buChar char="•"/>
              <a:tabLst>
                <a:tab pos="326390" algn="l"/>
                <a:tab pos="327025" algn="l"/>
                <a:tab pos="925194" algn="l"/>
                <a:tab pos="2472055" algn="l"/>
                <a:tab pos="3276600" algn="l"/>
                <a:tab pos="5081270" algn="l"/>
                <a:tab pos="5806440" algn="l"/>
                <a:tab pos="7452359" algn="l"/>
              </a:tabLst>
            </a:pPr>
            <a:r>
              <a:rPr sz="2000" dirty="0">
                <a:latin typeface="Times New Roman" panose="02020603050405020304" pitchFamily="18" charset="0"/>
                <a:cs typeface="Times New Roman" panose="02020603050405020304" pitchFamily="18" charset="0"/>
              </a:rPr>
              <a:t>It</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should</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possible</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change</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 location of data items transparently.</a:t>
            </a:r>
          </a:p>
          <a:p>
            <a:pPr marL="326390" marR="5080" indent="-313690" algn="just">
              <a:lnSpc>
                <a:spcPct val="101000"/>
              </a:lnSpc>
              <a:spcBef>
                <a:spcPts val="745"/>
              </a:spcBef>
              <a:buChar char="•"/>
              <a:tabLst>
                <a:tab pos="326390" algn="l"/>
                <a:tab pos="327025" algn="l"/>
                <a:tab pos="1391920" algn="l"/>
                <a:tab pos="2245360" algn="l"/>
                <a:tab pos="3683000" algn="l"/>
                <a:tab pos="4371975" algn="l"/>
                <a:tab pos="5367020" algn="l"/>
                <a:tab pos="5982335" algn="l"/>
                <a:tab pos="7298055" algn="l"/>
              </a:tabLst>
            </a:pPr>
            <a:r>
              <a:rPr sz="2000" dirty="0">
                <a:latin typeface="Times New Roman" panose="02020603050405020304" pitchFamily="18" charset="0"/>
                <a:cs typeface="Times New Roman" panose="02020603050405020304" pitchFamily="18" charset="0"/>
              </a:rPr>
              <a:t>Each</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site</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should</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able</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create</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new  data items autonomously.</a:t>
            </a:r>
          </a:p>
        </p:txBody>
      </p:sp>
    </p:spTree>
    <p:extLst>
      <p:ext uri="{BB962C8B-B14F-4D97-AF65-F5344CB8AC3E}">
        <p14:creationId xmlns:p14="http://schemas.microsoft.com/office/powerpoint/2010/main" val="183051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268" y="1196398"/>
            <a:ext cx="7886700" cy="466147"/>
          </a:xfrm>
        </p:spPr>
        <p:txBody>
          <a:bodyPr>
            <a:normAutofit fontScale="90000"/>
          </a:bodyPr>
          <a:lstStyle/>
          <a:p>
            <a:r>
              <a:rPr lang="en-US" sz="3600" b="1" dirty="0">
                <a:latin typeface="Times New Roman" panose="02020603050405020304" pitchFamily="18" charset="0"/>
                <a:cs typeface="Times New Roman" panose="02020603050405020304" pitchFamily="18" charset="0"/>
              </a:rPr>
              <a:t>Distributed Transactions</a:t>
            </a:r>
            <a:r>
              <a:rPr lang="en-US" b="1" dirty="0">
                <a:latin typeface="Arial" pitchFamily="34" charset="0"/>
                <a:cs typeface="Arial" pitchFamily="34" charset="0"/>
              </a:rPr>
              <a:t/>
            </a:r>
            <a:br>
              <a:rPr lang="en-US" b="1" dirty="0">
                <a:latin typeface="Arial" pitchFamily="34" charset="0"/>
                <a:cs typeface="Arial" pitchFamily="34" charset="0"/>
              </a:rPr>
            </a:br>
            <a:endParaRPr lang="en-US" dirty="0"/>
          </a:p>
        </p:txBody>
      </p:sp>
      <p:sp>
        <p:nvSpPr>
          <p:cNvPr id="4" name="object 4"/>
          <p:cNvSpPr txBox="1"/>
          <p:nvPr/>
        </p:nvSpPr>
        <p:spPr>
          <a:xfrm>
            <a:off x="193963" y="1309255"/>
            <a:ext cx="8825346" cy="4158190"/>
          </a:xfrm>
          <a:prstGeom prst="rect">
            <a:avLst/>
          </a:prstGeom>
        </p:spPr>
        <p:txBody>
          <a:bodyPr vert="horz" wrap="square" lIns="0" tIns="92075" rIns="0" bIns="0" rtlCol="0">
            <a:spAutoFit/>
          </a:bodyPr>
          <a:lstStyle/>
          <a:p>
            <a:pPr marL="326390" indent="-313690">
              <a:lnSpc>
                <a:spcPct val="100000"/>
              </a:lnSpc>
              <a:spcBef>
                <a:spcPts val="725"/>
              </a:spcBef>
              <a:buChar char="•"/>
              <a:tabLst>
                <a:tab pos="326390" algn="l"/>
                <a:tab pos="327025" algn="l"/>
              </a:tabLst>
            </a:pPr>
            <a:r>
              <a:rPr sz="2000" dirty="0">
                <a:latin typeface="Times New Roman" panose="02020603050405020304" pitchFamily="18" charset="0"/>
                <a:cs typeface="Times New Roman" panose="02020603050405020304" pitchFamily="18" charset="0"/>
              </a:rPr>
              <a:t>Transaction may access data at several sites.</a:t>
            </a:r>
          </a:p>
          <a:p>
            <a:pPr marL="326390" marR="5080" indent="-313690">
              <a:lnSpc>
                <a:spcPts val="3170"/>
              </a:lnSpc>
              <a:spcBef>
                <a:spcPts val="740"/>
              </a:spcBef>
              <a:buChar char="•"/>
              <a:tabLst>
                <a:tab pos="326390" algn="l"/>
                <a:tab pos="327025" algn="l"/>
                <a:tab pos="1372235" algn="l"/>
                <a:tab pos="2237105" algn="l"/>
                <a:tab pos="3098800" algn="l"/>
                <a:tab pos="3618865" algn="l"/>
                <a:tab pos="4664710" algn="l"/>
                <a:tab pos="6683375" algn="l"/>
              </a:tabLst>
            </a:pPr>
            <a:r>
              <a:rPr sz="2000" dirty="0">
                <a:latin typeface="Times New Roman" panose="02020603050405020304" pitchFamily="18" charset="0"/>
                <a:cs typeface="Times New Roman" panose="02020603050405020304" pitchFamily="18" charset="0"/>
              </a:rPr>
              <a:t>Each</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site</a:t>
            </a:r>
            <a:r>
              <a:rPr lang="en-US" sz="2000" dirty="0">
                <a:latin typeface="Times New Roman" panose="02020603050405020304" pitchFamily="18" charset="0"/>
                <a:cs typeface="Times New Roman" panose="02020603050405020304" pitchFamily="18" charset="0"/>
              </a:rPr>
              <a:t> </a:t>
            </a:r>
            <a:r>
              <a:rPr sz="2000" dirty="0" smtClean="0">
                <a:latin typeface="Times New Roman" panose="02020603050405020304" pitchFamily="18" charset="0"/>
                <a:cs typeface="Times New Roman" panose="02020603050405020304" pitchFamily="18" charset="0"/>
              </a:rPr>
              <a:t>has</a:t>
            </a:r>
            <a:r>
              <a:rPr lang="en-US" sz="2000" dirty="0" smtClean="0">
                <a:latin typeface="Times New Roman" panose="02020603050405020304" pitchFamily="18" charset="0"/>
                <a:cs typeface="Times New Roman" panose="02020603050405020304" pitchFamily="18" charset="0"/>
              </a:rPr>
              <a:t> </a:t>
            </a:r>
            <a:r>
              <a:rPr sz="2000" dirty="0" smtClean="0">
                <a:latin typeface="Times New Roman" panose="02020603050405020304" pitchFamily="18" charset="0"/>
                <a:cs typeface="Times New Roman" panose="02020603050405020304" pitchFamily="18" charset="0"/>
              </a:rPr>
              <a:t>a</a:t>
            </a:r>
            <a:r>
              <a:rPr lang="en-US" sz="2000" dirty="0" smtClean="0">
                <a:latin typeface="Times New Roman" panose="02020603050405020304" pitchFamily="18" charset="0"/>
                <a:cs typeface="Times New Roman" panose="02020603050405020304" pitchFamily="18" charset="0"/>
              </a:rPr>
              <a:t> </a:t>
            </a:r>
            <a:r>
              <a:rPr sz="2000" dirty="0" smtClean="0">
                <a:latin typeface="Times New Roman" panose="02020603050405020304" pitchFamily="18" charset="0"/>
                <a:cs typeface="Times New Roman" panose="02020603050405020304" pitchFamily="18" charset="0"/>
              </a:rPr>
              <a:t>local</a:t>
            </a:r>
            <a:r>
              <a:rPr lang="en-US" sz="2000" dirty="0" smtClean="0">
                <a:latin typeface="Times New Roman" panose="02020603050405020304" pitchFamily="18" charset="0"/>
                <a:cs typeface="Times New Roman" panose="02020603050405020304" pitchFamily="18" charset="0"/>
              </a:rPr>
              <a:t> </a:t>
            </a:r>
            <a:r>
              <a:rPr sz="2000" dirty="0" smtClean="0">
                <a:latin typeface="Times New Roman" panose="02020603050405020304" pitchFamily="18" charset="0"/>
                <a:cs typeface="Times New Roman" panose="02020603050405020304" pitchFamily="18" charset="0"/>
              </a:rPr>
              <a:t>transaction</a:t>
            </a:r>
            <a:r>
              <a:rPr sz="2000" dirty="0">
                <a:latin typeface="Times New Roman" panose="02020603050405020304" pitchFamily="18" charset="0"/>
                <a:cs typeface="Times New Roman" panose="02020603050405020304" pitchFamily="18" charset="0"/>
              </a:rPr>
              <a:t>	manager  responsible for:</a:t>
            </a:r>
          </a:p>
          <a:p>
            <a:pPr marL="767080" lvl="1" indent="-251460">
              <a:lnSpc>
                <a:spcPct val="100000"/>
              </a:lnSpc>
              <a:spcBef>
                <a:spcPts val="425"/>
              </a:spcBef>
              <a:buChar char="•"/>
              <a:tabLst>
                <a:tab pos="766445" algn="l"/>
                <a:tab pos="767715" algn="l"/>
              </a:tabLst>
            </a:pPr>
            <a:r>
              <a:rPr sz="2000" dirty="0">
                <a:latin typeface="Times New Roman" panose="02020603050405020304" pitchFamily="18" charset="0"/>
                <a:cs typeface="Times New Roman" panose="02020603050405020304" pitchFamily="18" charset="0"/>
              </a:rPr>
              <a:t>Maintaining a </a:t>
            </a:r>
            <a:r>
              <a:rPr sz="2000" b="1" dirty="0">
                <a:latin typeface="Times New Roman" panose="02020603050405020304" pitchFamily="18" charset="0"/>
                <a:cs typeface="Times New Roman" panose="02020603050405020304" pitchFamily="18" charset="0"/>
              </a:rPr>
              <a:t>log</a:t>
            </a:r>
            <a:r>
              <a:rPr sz="2000" dirty="0">
                <a:latin typeface="Times New Roman" panose="02020603050405020304" pitchFamily="18" charset="0"/>
                <a:cs typeface="Times New Roman" panose="02020603050405020304" pitchFamily="18" charset="0"/>
              </a:rPr>
              <a:t> for recovery purposes</a:t>
            </a:r>
          </a:p>
          <a:p>
            <a:pPr marL="767080" marR="5080" lvl="1" indent="-251460" algn="just">
              <a:lnSpc>
                <a:spcPct val="100000"/>
              </a:lnSpc>
              <a:spcBef>
                <a:spcPts val="530"/>
              </a:spcBef>
              <a:buChar char="•"/>
              <a:tabLst>
                <a:tab pos="767715" algn="l"/>
              </a:tabLst>
            </a:pPr>
            <a:r>
              <a:rPr sz="2000" dirty="0">
                <a:latin typeface="Times New Roman" panose="02020603050405020304" pitchFamily="18" charset="0"/>
                <a:cs typeface="Times New Roman" panose="02020603050405020304" pitchFamily="18" charset="0"/>
              </a:rPr>
              <a:t>Participating in coordinating the </a:t>
            </a:r>
            <a:r>
              <a:rPr sz="2000" b="1" dirty="0">
                <a:latin typeface="Times New Roman" panose="02020603050405020304" pitchFamily="18" charset="0"/>
                <a:cs typeface="Times New Roman" panose="02020603050405020304" pitchFamily="18" charset="0"/>
              </a:rPr>
              <a:t>concurrent execution </a:t>
            </a:r>
            <a:r>
              <a:rPr sz="2000" dirty="0">
                <a:latin typeface="Times New Roman" panose="02020603050405020304" pitchFamily="18" charset="0"/>
                <a:cs typeface="Times New Roman" panose="02020603050405020304" pitchFamily="18" charset="0"/>
              </a:rPr>
              <a:t>of  the transactions executing at that site.</a:t>
            </a:r>
          </a:p>
          <a:p>
            <a:pPr marL="326390" marR="5080" indent="-313690">
              <a:lnSpc>
                <a:spcPts val="3170"/>
              </a:lnSpc>
              <a:spcBef>
                <a:spcPts val="730"/>
              </a:spcBef>
              <a:buChar char="•"/>
              <a:tabLst>
                <a:tab pos="326390" algn="l"/>
                <a:tab pos="327025" algn="l"/>
                <a:tab pos="1198245" algn="l"/>
                <a:tab pos="1892300" algn="l"/>
                <a:tab pos="2576195" algn="l"/>
                <a:tab pos="2924810" algn="l"/>
                <a:tab pos="4768850" algn="l"/>
                <a:tab pos="6750050" algn="l"/>
                <a:tab pos="7796530" algn="l"/>
              </a:tabLst>
            </a:pPr>
            <a:r>
              <a:rPr sz="2000" dirty="0" smtClean="0">
                <a:latin typeface="Times New Roman" panose="02020603050405020304" pitchFamily="18" charset="0"/>
                <a:cs typeface="Times New Roman" panose="02020603050405020304" pitchFamily="18" charset="0"/>
              </a:rPr>
              <a:t>Each</a:t>
            </a:r>
            <a:r>
              <a:rPr lang="en-US" sz="2000" dirty="0" smtClean="0">
                <a:latin typeface="Times New Roman" panose="02020603050405020304" pitchFamily="18" charset="0"/>
                <a:cs typeface="Times New Roman" panose="02020603050405020304" pitchFamily="18" charset="0"/>
              </a:rPr>
              <a:t> </a:t>
            </a:r>
            <a:r>
              <a:rPr sz="2000" dirty="0" smtClean="0">
                <a:latin typeface="Times New Roman" panose="02020603050405020304" pitchFamily="18" charset="0"/>
                <a:cs typeface="Times New Roman" panose="02020603050405020304" pitchFamily="18" charset="0"/>
              </a:rPr>
              <a:t>site</a:t>
            </a:r>
            <a:r>
              <a:rPr lang="en-US" sz="2000" dirty="0" smtClean="0">
                <a:latin typeface="Times New Roman" panose="02020603050405020304" pitchFamily="18" charset="0"/>
                <a:cs typeface="Times New Roman" panose="02020603050405020304" pitchFamily="18" charset="0"/>
              </a:rPr>
              <a:t> </a:t>
            </a:r>
            <a:r>
              <a:rPr sz="2000" dirty="0" smtClean="0">
                <a:latin typeface="Times New Roman" panose="02020603050405020304" pitchFamily="18" charset="0"/>
                <a:cs typeface="Times New Roman" panose="02020603050405020304" pitchFamily="18" charset="0"/>
              </a:rPr>
              <a:t>has</a:t>
            </a:r>
            <a:r>
              <a:rPr lang="en-US" sz="2000" dirty="0" smtClean="0">
                <a:latin typeface="Times New Roman" panose="02020603050405020304" pitchFamily="18" charset="0"/>
                <a:cs typeface="Times New Roman" panose="02020603050405020304" pitchFamily="18" charset="0"/>
              </a:rPr>
              <a:t> </a:t>
            </a:r>
            <a:r>
              <a:rPr sz="2000" dirty="0" smtClean="0">
                <a:latin typeface="Times New Roman" panose="02020603050405020304" pitchFamily="18" charset="0"/>
                <a:cs typeface="Times New Roman" panose="02020603050405020304" pitchFamily="18" charset="0"/>
              </a:rPr>
              <a:t>a</a:t>
            </a:r>
            <a:r>
              <a:rPr sz="2000" dirty="0">
                <a:latin typeface="Times New Roman" panose="02020603050405020304" pitchFamily="18" charset="0"/>
                <a:cs typeface="Times New Roman" panose="02020603050405020304" pitchFamily="18" charset="0"/>
              </a:rPr>
              <a:t>	</a:t>
            </a:r>
            <a:r>
              <a:rPr sz="2000" b="1" dirty="0" smtClean="0">
                <a:latin typeface="Times New Roman" panose="02020603050405020304" pitchFamily="18" charset="0"/>
                <a:cs typeface="Times New Roman" panose="02020603050405020304" pitchFamily="18" charset="0"/>
              </a:rPr>
              <a:t>transaction</a:t>
            </a:r>
            <a:r>
              <a:rPr lang="en-US" sz="2000" b="1" dirty="0" smtClean="0">
                <a:latin typeface="Times New Roman" panose="02020603050405020304" pitchFamily="18" charset="0"/>
                <a:cs typeface="Times New Roman" panose="02020603050405020304" pitchFamily="18" charset="0"/>
              </a:rPr>
              <a:t> </a:t>
            </a:r>
            <a:r>
              <a:rPr sz="2000" b="1" dirty="0" smtClean="0">
                <a:latin typeface="Times New Roman" panose="02020603050405020304" pitchFamily="18" charset="0"/>
                <a:cs typeface="Times New Roman" panose="02020603050405020304" pitchFamily="18" charset="0"/>
              </a:rPr>
              <a:t>coordinator</a:t>
            </a:r>
            <a:r>
              <a:rPr sz="2000" dirty="0" smtClean="0">
                <a:latin typeface="Times New Roman" panose="02020603050405020304" pitchFamily="18" charset="0"/>
                <a:cs typeface="Times New Roman" panose="02020603050405020304" pitchFamily="18" charset="0"/>
              </a:rPr>
              <a:t>,</a:t>
            </a:r>
            <a:r>
              <a:rPr lang="en-US" sz="2000" dirty="0" smtClean="0">
                <a:latin typeface="Times New Roman" panose="02020603050405020304" pitchFamily="18" charset="0"/>
                <a:cs typeface="Times New Roman" panose="02020603050405020304" pitchFamily="18" charset="0"/>
              </a:rPr>
              <a:t> </a:t>
            </a:r>
            <a:r>
              <a:rPr sz="2000" dirty="0" smtClean="0">
                <a:latin typeface="Times New Roman" panose="02020603050405020304" pitchFamily="18" charset="0"/>
                <a:cs typeface="Times New Roman" panose="02020603050405020304" pitchFamily="18" charset="0"/>
              </a:rPr>
              <a:t>which</a:t>
            </a:r>
            <a:r>
              <a:rPr lang="en-US" sz="2000" dirty="0" smtClean="0">
                <a:latin typeface="Times New Roman" panose="02020603050405020304" pitchFamily="18" charset="0"/>
                <a:cs typeface="Times New Roman" panose="02020603050405020304" pitchFamily="18" charset="0"/>
              </a:rPr>
              <a:t> </a:t>
            </a:r>
            <a:r>
              <a:rPr sz="2000" dirty="0" smtClean="0">
                <a:latin typeface="Times New Roman" panose="02020603050405020304" pitchFamily="18" charset="0"/>
                <a:cs typeface="Times New Roman" panose="02020603050405020304" pitchFamily="18" charset="0"/>
              </a:rPr>
              <a:t>is</a:t>
            </a:r>
            <a:r>
              <a:rPr lang="en-US" sz="2000" dirty="0" smtClean="0">
                <a:latin typeface="Times New Roman" panose="02020603050405020304" pitchFamily="18" charset="0"/>
                <a:cs typeface="Times New Roman" panose="02020603050405020304" pitchFamily="18" charset="0"/>
              </a:rPr>
              <a:t> </a:t>
            </a:r>
            <a:r>
              <a:rPr sz="2000" dirty="0" smtClean="0">
                <a:latin typeface="Times New Roman" panose="02020603050405020304" pitchFamily="18" charset="0"/>
                <a:cs typeface="Times New Roman" panose="02020603050405020304" pitchFamily="18" charset="0"/>
              </a:rPr>
              <a:t>responsible </a:t>
            </a:r>
            <a:r>
              <a:rPr sz="2000" dirty="0">
                <a:latin typeface="Times New Roman" panose="02020603050405020304" pitchFamily="18" charset="0"/>
                <a:cs typeface="Times New Roman" panose="02020603050405020304" pitchFamily="18" charset="0"/>
              </a:rPr>
              <a:t>for:</a:t>
            </a:r>
          </a:p>
          <a:p>
            <a:pPr marL="767080" marR="5080" lvl="1" indent="-251460" algn="just">
              <a:lnSpc>
                <a:spcPct val="100000"/>
              </a:lnSpc>
              <a:spcBef>
                <a:spcPts val="430"/>
              </a:spcBef>
              <a:buChar char="•"/>
              <a:tabLst>
                <a:tab pos="767715" algn="l"/>
              </a:tabLst>
            </a:pPr>
            <a:r>
              <a:rPr sz="2000" dirty="0">
                <a:latin typeface="Times New Roman" panose="02020603050405020304" pitchFamily="18" charset="0"/>
                <a:cs typeface="Times New Roman" panose="02020603050405020304" pitchFamily="18" charset="0"/>
              </a:rPr>
              <a:t>Starting the execution of transactions that </a:t>
            </a:r>
            <a:r>
              <a:rPr sz="2000" b="1" dirty="0">
                <a:latin typeface="Times New Roman" panose="02020603050405020304" pitchFamily="18" charset="0"/>
                <a:cs typeface="Times New Roman" panose="02020603050405020304" pitchFamily="18" charset="0"/>
              </a:rPr>
              <a:t>originate</a:t>
            </a:r>
            <a:r>
              <a:rPr sz="2000" dirty="0">
                <a:latin typeface="Times New Roman" panose="02020603050405020304" pitchFamily="18" charset="0"/>
                <a:cs typeface="Times New Roman" panose="02020603050405020304" pitchFamily="18" charset="0"/>
              </a:rPr>
              <a:t> at  the site.</a:t>
            </a:r>
          </a:p>
          <a:p>
            <a:pPr marL="767080" marR="5715" lvl="1" indent="-251460" algn="just">
              <a:lnSpc>
                <a:spcPct val="100000"/>
              </a:lnSpc>
              <a:spcBef>
                <a:spcPts val="525"/>
              </a:spcBef>
              <a:buChar char="•"/>
              <a:tabLst>
                <a:tab pos="767715" algn="l"/>
              </a:tabLst>
            </a:pPr>
            <a:r>
              <a:rPr sz="2000" b="1" dirty="0">
                <a:latin typeface="Times New Roman" panose="02020603050405020304" pitchFamily="18" charset="0"/>
                <a:cs typeface="Times New Roman" panose="02020603050405020304" pitchFamily="18" charset="0"/>
              </a:rPr>
              <a:t>Distributing</a:t>
            </a:r>
            <a:r>
              <a:rPr sz="2000" dirty="0">
                <a:latin typeface="Times New Roman" panose="02020603050405020304" pitchFamily="18" charset="0"/>
                <a:cs typeface="Times New Roman" panose="02020603050405020304" pitchFamily="18" charset="0"/>
              </a:rPr>
              <a:t> sub</a:t>
            </a: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transactions at appropriate sites for  execution.</a:t>
            </a:r>
          </a:p>
          <a:p>
            <a:pPr marL="767080" marR="5080" lvl="1" indent="-251460" algn="just">
              <a:lnSpc>
                <a:spcPct val="100000"/>
              </a:lnSpc>
              <a:spcBef>
                <a:spcPts val="530"/>
              </a:spcBef>
              <a:buChar char="•"/>
              <a:tabLst>
                <a:tab pos="767715" algn="l"/>
              </a:tabLst>
            </a:pPr>
            <a:r>
              <a:rPr sz="2000" dirty="0">
                <a:latin typeface="Times New Roman" panose="02020603050405020304" pitchFamily="18" charset="0"/>
                <a:cs typeface="Times New Roman" panose="02020603050405020304" pitchFamily="18" charset="0"/>
              </a:rPr>
              <a:t>Coordinating the </a:t>
            </a:r>
            <a:r>
              <a:rPr sz="2000" b="1" dirty="0">
                <a:latin typeface="Times New Roman" panose="02020603050405020304" pitchFamily="18" charset="0"/>
                <a:cs typeface="Times New Roman" panose="02020603050405020304" pitchFamily="18" charset="0"/>
              </a:rPr>
              <a:t>termination</a:t>
            </a:r>
            <a:r>
              <a:rPr sz="2000" dirty="0">
                <a:latin typeface="Times New Roman" panose="02020603050405020304" pitchFamily="18" charset="0"/>
                <a:cs typeface="Times New Roman" panose="02020603050405020304" pitchFamily="18" charset="0"/>
              </a:rPr>
              <a:t> of each transaction that  originates at the site, which may result in the transaction  being committed at all sites or aborted at all sites.</a:t>
            </a:r>
          </a:p>
        </p:txBody>
      </p:sp>
    </p:spTree>
    <p:extLst>
      <p:ext uri="{BB962C8B-B14F-4D97-AF65-F5344CB8AC3E}">
        <p14:creationId xmlns:p14="http://schemas.microsoft.com/office/powerpoint/2010/main" val="4101248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7992" y="531381"/>
            <a:ext cx="7886700" cy="1325563"/>
          </a:xfrm>
        </p:spPr>
        <p:txBody>
          <a:bodyPr>
            <a:normAutofit/>
          </a:bodyPr>
          <a:lstStyle/>
          <a:p>
            <a:r>
              <a:rPr lang="en-US" sz="3200" spc="355" dirty="0">
                <a:latin typeface="Times New Roman" panose="02020603050405020304" pitchFamily="18" charset="0"/>
                <a:cs typeface="Times New Roman" panose="02020603050405020304" pitchFamily="18" charset="0"/>
              </a:rPr>
              <a:t>Transaction </a:t>
            </a:r>
            <a:r>
              <a:rPr lang="en-US" sz="3200" spc="450" dirty="0">
                <a:latin typeface="Times New Roman" panose="02020603050405020304" pitchFamily="18" charset="0"/>
                <a:cs typeface="Times New Roman" panose="02020603050405020304" pitchFamily="18" charset="0"/>
              </a:rPr>
              <a:t>System</a:t>
            </a:r>
            <a:r>
              <a:rPr lang="en-US" sz="3200" spc="-390" dirty="0">
                <a:latin typeface="Times New Roman" panose="02020603050405020304" pitchFamily="18" charset="0"/>
                <a:cs typeface="Times New Roman" panose="02020603050405020304" pitchFamily="18" charset="0"/>
              </a:rPr>
              <a:t> </a:t>
            </a:r>
            <a:r>
              <a:rPr lang="en-US" sz="3200" spc="325" dirty="0">
                <a:latin typeface="Times New Roman" panose="02020603050405020304" pitchFamily="18" charset="0"/>
                <a:cs typeface="Times New Roman" panose="02020603050405020304" pitchFamily="18" charset="0"/>
              </a:rPr>
              <a:t>Architecture</a:t>
            </a:r>
            <a:endParaRPr lang="en-US" sz="3200" dirty="0">
              <a:latin typeface="Times New Roman" panose="02020603050405020304" pitchFamily="18" charset="0"/>
              <a:cs typeface="Times New Roman" panose="02020603050405020304" pitchFamily="18" charset="0"/>
            </a:endParaRPr>
          </a:p>
        </p:txBody>
      </p:sp>
      <p:sp>
        <p:nvSpPr>
          <p:cNvPr id="4" name="object 3"/>
          <p:cNvSpPr/>
          <p:nvPr/>
        </p:nvSpPr>
        <p:spPr>
          <a:xfrm>
            <a:off x="367284" y="1409700"/>
            <a:ext cx="8548116" cy="2476500"/>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367284" y="3886200"/>
            <a:ext cx="8548116" cy="2478024"/>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199926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114" y="711490"/>
            <a:ext cx="7886700" cy="1325563"/>
          </a:xfrm>
        </p:spPr>
        <p:txBody>
          <a:bodyPr>
            <a:normAutofit/>
          </a:bodyPr>
          <a:lstStyle/>
          <a:p>
            <a:r>
              <a:rPr lang="en-US" sz="3200" b="1" dirty="0">
                <a:latin typeface="Times New Roman" panose="02020603050405020304" pitchFamily="18" charset="0"/>
                <a:cs typeface="Times New Roman" panose="02020603050405020304" pitchFamily="18" charset="0"/>
              </a:rPr>
              <a:t>System Failure Modes</a:t>
            </a:r>
            <a:r>
              <a:rPr lang="en-US" b="1" dirty="0">
                <a:latin typeface="Arial" pitchFamily="34" charset="0"/>
                <a:cs typeface="Arial" pitchFamily="34" charset="0"/>
              </a:rPr>
              <a:t/>
            </a:r>
            <a:br>
              <a:rPr lang="en-US" b="1" dirty="0">
                <a:latin typeface="Arial" pitchFamily="34" charset="0"/>
                <a:cs typeface="Arial" pitchFamily="34" charset="0"/>
              </a:rPr>
            </a:br>
            <a:endParaRPr lang="en-US" dirty="0"/>
          </a:p>
        </p:txBody>
      </p:sp>
      <p:sp>
        <p:nvSpPr>
          <p:cNvPr id="4" name="object 4"/>
          <p:cNvSpPr txBox="1"/>
          <p:nvPr/>
        </p:nvSpPr>
        <p:spPr>
          <a:xfrm>
            <a:off x="214746" y="1212272"/>
            <a:ext cx="8721436" cy="5479064"/>
          </a:xfrm>
          <a:prstGeom prst="rect">
            <a:avLst/>
          </a:prstGeom>
        </p:spPr>
        <p:txBody>
          <a:bodyPr vert="horz" wrap="square" lIns="0" tIns="112395" rIns="0" bIns="0" rtlCol="0">
            <a:spAutoFit/>
          </a:bodyPr>
          <a:lstStyle/>
          <a:p>
            <a:pPr marL="326390" indent="-313690">
              <a:lnSpc>
                <a:spcPct val="100000"/>
              </a:lnSpc>
              <a:spcBef>
                <a:spcPts val="885"/>
              </a:spcBef>
              <a:buChar char="•"/>
              <a:tabLst>
                <a:tab pos="326390" algn="l"/>
                <a:tab pos="327025" algn="l"/>
              </a:tabLst>
            </a:pPr>
            <a:r>
              <a:rPr sz="2400" spc="65" dirty="0">
                <a:latin typeface="Times New Roman" pitchFamily="18" charset="0"/>
                <a:cs typeface="Times New Roman" pitchFamily="18" charset="0"/>
              </a:rPr>
              <a:t>Failures </a:t>
            </a:r>
            <a:r>
              <a:rPr sz="2400" spc="220" dirty="0">
                <a:latin typeface="Times New Roman" pitchFamily="18" charset="0"/>
                <a:cs typeface="Times New Roman" pitchFamily="18" charset="0"/>
              </a:rPr>
              <a:t>unique </a:t>
            </a:r>
            <a:r>
              <a:rPr sz="2400" spc="260" dirty="0">
                <a:latin typeface="Times New Roman" pitchFamily="18" charset="0"/>
                <a:cs typeface="Times New Roman" pitchFamily="18" charset="0"/>
              </a:rPr>
              <a:t>to </a:t>
            </a:r>
            <a:r>
              <a:rPr sz="2400" spc="180" dirty="0">
                <a:latin typeface="Times New Roman" pitchFamily="18" charset="0"/>
                <a:cs typeface="Times New Roman" pitchFamily="18" charset="0"/>
              </a:rPr>
              <a:t>distributed</a:t>
            </a:r>
            <a:r>
              <a:rPr sz="2400" spc="605" dirty="0">
                <a:latin typeface="Times New Roman" pitchFamily="18" charset="0"/>
                <a:cs typeface="Times New Roman" pitchFamily="18" charset="0"/>
              </a:rPr>
              <a:t> </a:t>
            </a:r>
            <a:r>
              <a:rPr sz="2400" spc="135" dirty="0">
                <a:latin typeface="Times New Roman" pitchFamily="18" charset="0"/>
                <a:cs typeface="Times New Roman" pitchFamily="18" charset="0"/>
              </a:rPr>
              <a:t>systems:</a:t>
            </a:r>
            <a:endParaRPr sz="2400" dirty="0">
              <a:latin typeface="Times New Roman" pitchFamily="18" charset="0"/>
              <a:cs typeface="Times New Roman" pitchFamily="18" charset="0"/>
            </a:endParaRPr>
          </a:p>
          <a:p>
            <a:pPr marL="766445" lvl="1" indent="-251460">
              <a:lnSpc>
                <a:spcPct val="100000"/>
              </a:lnSpc>
              <a:spcBef>
                <a:spcPts val="640"/>
              </a:spcBef>
              <a:buChar char="•"/>
              <a:tabLst>
                <a:tab pos="766445" algn="l"/>
                <a:tab pos="767080" algn="l"/>
              </a:tabLst>
            </a:pPr>
            <a:r>
              <a:rPr sz="2400" spc="25" dirty="0">
                <a:latin typeface="Times New Roman" pitchFamily="18" charset="0"/>
                <a:cs typeface="Times New Roman" pitchFamily="18" charset="0"/>
              </a:rPr>
              <a:t>Failure </a:t>
            </a:r>
            <a:r>
              <a:rPr sz="2400" spc="75" dirty="0">
                <a:latin typeface="Times New Roman" pitchFamily="18" charset="0"/>
                <a:cs typeface="Times New Roman" pitchFamily="18" charset="0"/>
              </a:rPr>
              <a:t>of </a:t>
            </a:r>
            <a:r>
              <a:rPr sz="2400" spc="195" dirty="0">
                <a:latin typeface="Times New Roman" pitchFamily="18" charset="0"/>
                <a:cs typeface="Times New Roman" pitchFamily="18" charset="0"/>
              </a:rPr>
              <a:t>a</a:t>
            </a:r>
            <a:r>
              <a:rPr sz="2400" spc="5" dirty="0">
                <a:latin typeface="Times New Roman" pitchFamily="18" charset="0"/>
                <a:cs typeface="Times New Roman" pitchFamily="18" charset="0"/>
              </a:rPr>
              <a:t> </a:t>
            </a:r>
            <a:r>
              <a:rPr sz="2400" spc="60" dirty="0">
                <a:latin typeface="Times New Roman" pitchFamily="18" charset="0"/>
                <a:cs typeface="Times New Roman" pitchFamily="18" charset="0"/>
              </a:rPr>
              <a:t>site.</a:t>
            </a:r>
            <a:endParaRPr sz="2400" dirty="0">
              <a:latin typeface="Times New Roman" pitchFamily="18" charset="0"/>
              <a:cs typeface="Times New Roman" pitchFamily="18" charset="0"/>
            </a:endParaRPr>
          </a:p>
          <a:p>
            <a:pPr marL="766445" lvl="1" indent="-251460">
              <a:lnSpc>
                <a:spcPct val="100000"/>
              </a:lnSpc>
              <a:spcBef>
                <a:spcPts val="625"/>
              </a:spcBef>
              <a:buChar char="•"/>
              <a:tabLst>
                <a:tab pos="766445" algn="l"/>
                <a:tab pos="767080" algn="l"/>
              </a:tabLst>
            </a:pPr>
            <a:r>
              <a:rPr sz="2400" spc="25" dirty="0">
                <a:latin typeface="Times New Roman" pitchFamily="18" charset="0"/>
                <a:cs typeface="Times New Roman" pitchFamily="18" charset="0"/>
              </a:rPr>
              <a:t>Loss </a:t>
            </a:r>
            <a:r>
              <a:rPr sz="2400" spc="75" dirty="0">
                <a:latin typeface="Times New Roman" pitchFamily="18" charset="0"/>
                <a:cs typeface="Times New Roman" pitchFamily="18" charset="0"/>
              </a:rPr>
              <a:t>of</a:t>
            </a:r>
            <a:r>
              <a:rPr sz="2400" spc="-175" dirty="0">
                <a:latin typeface="Times New Roman" pitchFamily="18" charset="0"/>
                <a:cs typeface="Times New Roman" pitchFamily="18" charset="0"/>
              </a:rPr>
              <a:t> </a:t>
            </a:r>
            <a:r>
              <a:rPr sz="2400" spc="180" dirty="0">
                <a:latin typeface="Times New Roman" pitchFamily="18" charset="0"/>
                <a:cs typeface="Times New Roman" pitchFamily="18" charset="0"/>
              </a:rPr>
              <a:t>massages</a:t>
            </a:r>
            <a:endParaRPr sz="2400" dirty="0">
              <a:latin typeface="Times New Roman" pitchFamily="18" charset="0"/>
              <a:cs typeface="Times New Roman" pitchFamily="18" charset="0"/>
            </a:endParaRPr>
          </a:p>
          <a:p>
            <a:pPr marL="1270000" marR="6350" lvl="2" indent="-252095" algn="just">
              <a:lnSpc>
                <a:spcPct val="100000"/>
              </a:lnSpc>
              <a:spcBef>
                <a:spcPts val="530"/>
              </a:spcBef>
              <a:buChar char="–"/>
              <a:tabLst>
                <a:tab pos="1270635" algn="l"/>
              </a:tabLst>
            </a:pPr>
            <a:r>
              <a:rPr sz="2400" spc="125" dirty="0">
                <a:latin typeface="Times New Roman" pitchFamily="18" charset="0"/>
                <a:cs typeface="Times New Roman" pitchFamily="18" charset="0"/>
              </a:rPr>
              <a:t>Handled </a:t>
            </a:r>
            <a:r>
              <a:rPr sz="2400" spc="95" dirty="0">
                <a:latin typeface="Times New Roman" pitchFamily="18" charset="0"/>
                <a:cs typeface="Times New Roman" pitchFamily="18" charset="0"/>
              </a:rPr>
              <a:t>by </a:t>
            </a:r>
            <a:r>
              <a:rPr sz="2400" spc="114" dirty="0">
                <a:latin typeface="Times New Roman" pitchFamily="18" charset="0"/>
                <a:cs typeface="Times New Roman" pitchFamily="18" charset="0"/>
              </a:rPr>
              <a:t>network </a:t>
            </a:r>
            <a:r>
              <a:rPr sz="2400" spc="100" dirty="0">
                <a:latin typeface="Times New Roman" pitchFamily="18" charset="0"/>
                <a:cs typeface="Times New Roman" pitchFamily="18" charset="0"/>
              </a:rPr>
              <a:t>transmission </a:t>
            </a:r>
            <a:r>
              <a:rPr sz="2400" spc="105" dirty="0">
                <a:latin typeface="Times New Roman" pitchFamily="18" charset="0"/>
                <a:cs typeface="Times New Roman" pitchFamily="18" charset="0"/>
              </a:rPr>
              <a:t>control </a:t>
            </a:r>
            <a:r>
              <a:rPr sz="2400" spc="120" dirty="0">
                <a:latin typeface="Times New Roman" pitchFamily="18" charset="0"/>
                <a:cs typeface="Times New Roman" pitchFamily="18" charset="0"/>
              </a:rPr>
              <a:t>protocols  </a:t>
            </a:r>
            <a:r>
              <a:rPr sz="2400" spc="114" dirty="0">
                <a:latin typeface="Times New Roman" pitchFamily="18" charset="0"/>
                <a:cs typeface="Times New Roman" pitchFamily="18" charset="0"/>
              </a:rPr>
              <a:t>such as</a:t>
            </a:r>
            <a:r>
              <a:rPr sz="2400" spc="350" dirty="0">
                <a:latin typeface="Times New Roman" pitchFamily="18" charset="0"/>
                <a:cs typeface="Times New Roman" pitchFamily="18" charset="0"/>
              </a:rPr>
              <a:t> </a:t>
            </a:r>
            <a:r>
              <a:rPr sz="2400" spc="-45" dirty="0">
                <a:latin typeface="Times New Roman" pitchFamily="18" charset="0"/>
                <a:cs typeface="Times New Roman" pitchFamily="18" charset="0"/>
              </a:rPr>
              <a:t>TCP-IP</a:t>
            </a:r>
            <a:endParaRPr sz="2400" dirty="0">
              <a:latin typeface="Times New Roman" pitchFamily="18" charset="0"/>
              <a:cs typeface="Times New Roman" pitchFamily="18" charset="0"/>
            </a:endParaRPr>
          </a:p>
          <a:p>
            <a:pPr marL="766445" lvl="1" indent="-251460">
              <a:lnSpc>
                <a:spcPct val="100000"/>
              </a:lnSpc>
              <a:spcBef>
                <a:spcPts val="610"/>
              </a:spcBef>
              <a:buChar char="•"/>
              <a:tabLst>
                <a:tab pos="766445" algn="l"/>
                <a:tab pos="767080" algn="l"/>
              </a:tabLst>
            </a:pPr>
            <a:r>
              <a:rPr sz="2400" spc="25" dirty="0">
                <a:latin typeface="Times New Roman" pitchFamily="18" charset="0"/>
                <a:cs typeface="Times New Roman" pitchFamily="18" charset="0"/>
              </a:rPr>
              <a:t>Failure </a:t>
            </a:r>
            <a:r>
              <a:rPr sz="2400" spc="75" dirty="0">
                <a:latin typeface="Times New Roman" pitchFamily="18" charset="0"/>
                <a:cs typeface="Times New Roman" pitchFamily="18" charset="0"/>
              </a:rPr>
              <a:t>of </a:t>
            </a:r>
            <a:r>
              <a:rPr sz="2400" spc="195" dirty="0">
                <a:latin typeface="Times New Roman" pitchFamily="18" charset="0"/>
                <a:cs typeface="Times New Roman" pitchFamily="18" charset="0"/>
              </a:rPr>
              <a:t>a </a:t>
            </a:r>
            <a:r>
              <a:rPr sz="2400" spc="150" dirty="0">
                <a:latin typeface="Times New Roman" pitchFamily="18" charset="0"/>
                <a:cs typeface="Times New Roman" pitchFamily="18" charset="0"/>
              </a:rPr>
              <a:t>communication</a:t>
            </a:r>
            <a:r>
              <a:rPr sz="2400" spc="75" dirty="0">
                <a:latin typeface="Times New Roman" pitchFamily="18" charset="0"/>
                <a:cs typeface="Times New Roman" pitchFamily="18" charset="0"/>
              </a:rPr>
              <a:t> </a:t>
            </a:r>
            <a:r>
              <a:rPr sz="2400" spc="5" dirty="0">
                <a:latin typeface="Times New Roman" pitchFamily="18" charset="0"/>
                <a:cs typeface="Times New Roman" pitchFamily="18" charset="0"/>
              </a:rPr>
              <a:t>link</a:t>
            </a:r>
            <a:endParaRPr sz="2400" dirty="0">
              <a:latin typeface="Times New Roman" pitchFamily="18" charset="0"/>
              <a:cs typeface="Times New Roman" pitchFamily="18" charset="0"/>
            </a:endParaRPr>
          </a:p>
          <a:p>
            <a:pPr marL="1270000" marR="6350" lvl="2" indent="-252095" algn="just">
              <a:lnSpc>
                <a:spcPct val="100000"/>
              </a:lnSpc>
              <a:spcBef>
                <a:spcPts val="530"/>
              </a:spcBef>
              <a:buChar char="–"/>
              <a:tabLst>
                <a:tab pos="1270635" algn="l"/>
              </a:tabLst>
            </a:pPr>
            <a:r>
              <a:rPr sz="2400" spc="125" dirty="0">
                <a:latin typeface="Times New Roman" pitchFamily="18" charset="0"/>
                <a:cs typeface="Times New Roman" pitchFamily="18" charset="0"/>
              </a:rPr>
              <a:t>Handled </a:t>
            </a:r>
            <a:r>
              <a:rPr sz="2400" spc="95" dirty="0">
                <a:latin typeface="Times New Roman" pitchFamily="18" charset="0"/>
                <a:cs typeface="Times New Roman" pitchFamily="18" charset="0"/>
              </a:rPr>
              <a:t>by </a:t>
            </a:r>
            <a:r>
              <a:rPr sz="2400" spc="114" dirty="0">
                <a:latin typeface="Times New Roman" pitchFamily="18" charset="0"/>
                <a:cs typeface="Times New Roman" pitchFamily="18" charset="0"/>
              </a:rPr>
              <a:t>network </a:t>
            </a:r>
            <a:r>
              <a:rPr sz="2400" spc="100" dirty="0">
                <a:latin typeface="Times New Roman" pitchFamily="18" charset="0"/>
                <a:cs typeface="Times New Roman" pitchFamily="18" charset="0"/>
              </a:rPr>
              <a:t>protocols, </a:t>
            </a:r>
            <a:r>
              <a:rPr sz="2400" spc="95" dirty="0">
                <a:latin typeface="Times New Roman" pitchFamily="18" charset="0"/>
                <a:cs typeface="Times New Roman" pitchFamily="18" charset="0"/>
              </a:rPr>
              <a:t>by </a:t>
            </a:r>
            <a:r>
              <a:rPr sz="2400" spc="125" dirty="0">
                <a:latin typeface="Times New Roman" pitchFamily="18" charset="0"/>
                <a:cs typeface="Times New Roman" pitchFamily="18" charset="0"/>
              </a:rPr>
              <a:t>routing </a:t>
            </a:r>
            <a:r>
              <a:rPr sz="2400" spc="155" dirty="0">
                <a:latin typeface="Times New Roman" pitchFamily="18" charset="0"/>
                <a:cs typeface="Times New Roman" pitchFamily="18" charset="0"/>
              </a:rPr>
              <a:t>messages  </a:t>
            </a:r>
            <a:r>
              <a:rPr sz="2400" spc="15" dirty="0">
                <a:latin typeface="Times New Roman" pitchFamily="18" charset="0"/>
                <a:cs typeface="Times New Roman" pitchFamily="18" charset="0"/>
              </a:rPr>
              <a:t>via </a:t>
            </a:r>
            <a:r>
              <a:rPr sz="2400" spc="85" dirty="0">
                <a:latin typeface="Times New Roman" pitchFamily="18" charset="0"/>
                <a:cs typeface="Times New Roman" pitchFamily="18" charset="0"/>
              </a:rPr>
              <a:t>alternative</a:t>
            </a:r>
            <a:r>
              <a:rPr sz="2400" spc="-120" dirty="0">
                <a:latin typeface="Times New Roman" pitchFamily="18" charset="0"/>
                <a:cs typeface="Times New Roman" pitchFamily="18" charset="0"/>
              </a:rPr>
              <a:t> </a:t>
            </a:r>
            <a:r>
              <a:rPr sz="2400" spc="25" dirty="0">
                <a:latin typeface="Times New Roman" pitchFamily="18" charset="0"/>
                <a:cs typeface="Times New Roman" pitchFamily="18" charset="0"/>
              </a:rPr>
              <a:t>links</a:t>
            </a:r>
            <a:endParaRPr sz="2400" dirty="0">
              <a:latin typeface="Times New Roman" pitchFamily="18" charset="0"/>
              <a:cs typeface="Times New Roman" pitchFamily="18" charset="0"/>
            </a:endParaRPr>
          </a:p>
          <a:p>
            <a:pPr marL="766445" lvl="1" indent="-251460">
              <a:lnSpc>
                <a:spcPct val="100000"/>
              </a:lnSpc>
              <a:spcBef>
                <a:spcPts val="620"/>
              </a:spcBef>
              <a:buChar char="•"/>
              <a:tabLst>
                <a:tab pos="766445" algn="l"/>
                <a:tab pos="767080" algn="l"/>
              </a:tabLst>
            </a:pPr>
            <a:r>
              <a:rPr sz="2400" spc="114" dirty="0">
                <a:latin typeface="Times New Roman" pitchFamily="18" charset="0"/>
                <a:cs typeface="Times New Roman" pitchFamily="18" charset="0"/>
              </a:rPr>
              <a:t>Network</a:t>
            </a:r>
            <a:r>
              <a:rPr sz="2400" spc="265" dirty="0">
                <a:latin typeface="Times New Roman" pitchFamily="18" charset="0"/>
                <a:cs typeface="Times New Roman" pitchFamily="18" charset="0"/>
              </a:rPr>
              <a:t> </a:t>
            </a:r>
            <a:r>
              <a:rPr sz="2400" spc="125" dirty="0">
                <a:latin typeface="Times New Roman" pitchFamily="18" charset="0"/>
                <a:cs typeface="Times New Roman" pitchFamily="18" charset="0"/>
              </a:rPr>
              <a:t>partition</a:t>
            </a:r>
            <a:endParaRPr sz="2400" dirty="0">
              <a:latin typeface="Times New Roman" pitchFamily="18" charset="0"/>
              <a:cs typeface="Times New Roman" pitchFamily="18" charset="0"/>
            </a:endParaRPr>
          </a:p>
          <a:p>
            <a:pPr marL="1270000" marR="5080" lvl="2" indent="-252095" algn="just">
              <a:lnSpc>
                <a:spcPct val="100000"/>
              </a:lnSpc>
              <a:spcBef>
                <a:spcPts val="535"/>
              </a:spcBef>
              <a:buChar char="–"/>
              <a:tabLst>
                <a:tab pos="1270635" algn="l"/>
              </a:tabLst>
            </a:pPr>
            <a:r>
              <a:rPr sz="2400" spc="-145" dirty="0">
                <a:latin typeface="Times New Roman" pitchFamily="18" charset="0"/>
                <a:cs typeface="Times New Roman" pitchFamily="18" charset="0"/>
              </a:rPr>
              <a:t>A </a:t>
            </a:r>
            <a:r>
              <a:rPr sz="2400" spc="110" dirty="0">
                <a:latin typeface="Times New Roman" pitchFamily="18" charset="0"/>
                <a:cs typeface="Times New Roman" pitchFamily="18" charset="0"/>
              </a:rPr>
              <a:t>network </a:t>
            </a:r>
            <a:r>
              <a:rPr sz="2400" spc="10" dirty="0">
                <a:latin typeface="Times New Roman" pitchFamily="18" charset="0"/>
                <a:cs typeface="Times New Roman" pitchFamily="18" charset="0"/>
              </a:rPr>
              <a:t>is </a:t>
            </a:r>
            <a:r>
              <a:rPr sz="2400" spc="100" dirty="0">
                <a:latin typeface="Times New Roman" pitchFamily="18" charset="0"/>
                <a:cs typeface="Times New Roman" pitchFamily="18" charset="0"/>
              </a:rPr>
              <a:t>said </a:t>
            </a:r>
            <a:r>
              <a:rPr sz="2400" spc="170" dirty="0">
                <a:latin typeface="Times New Roman" pitchFamily="18" charset="0"/>
                <a:cs typeface="Times New Roman" pitchFamily="18" charset="0"/>
              </a:rPr>
              <a:t>to </a:t>
            </a:r>
            <a:r>
              <a:rPr sz="2400" spc="215" dirty="0">
                <a:latin typeface="Times New Roman" pitchFamily="18" charset="0"/>
                <a:cs typeface="Times New Roman" pitchFamily="18" charset="0"/>
              </a:rPr>
              <a:t>be </a:t>
            </a:r>
            <a:r>
              <a:rPr sz="2400" spc="125" dirty="0">
                <a:latin typeface="Times New Roman" pitchFamily="18" charset="0"/>
                <a:cs typeface="Times New Roman" pitchFamily="18" charset="0"/>
              </a:rPr>
              <a:t>partitioned </a:t>
            </a:r>
            <a:r>
              <a:rPr sz="2400" spc="140" dirty="0">
                <a:latin typeface="Times New Roman" pitchFamily="18" charset="0"/>
                <a:cs typeface="Times New Roman" pitchFamily="18" charset="0"/>
              </a:rPr>
              <a:t>when </a:t>
            </a:r>
            <a:r>
              <a:rPr sz="2400" spc="35" dirty="0">
                <a:latin typeface="Times New Roman" pitchFamily="18" charset="0"/>
                <a:cs typeface="Times New Roman" pitchFamily="18" charset="0"/>
              </a:rPr>
              <a:t>it </a:t>
            </a:r>
            <a:r>
              <a:rPr sz="2400" spc="140" dirty="0">
                <a:latin typeface="Times New Roman" pitchFamily="18" charset="0"/>
                <a:cs typeface="Times New Roman" pitchFamily="18" charset="0"/>
              </a:rPr>
              <a:t>has </a:t>
            </a:r>
            <a:r>
              <a:rPr sz="2400" spc="200" dirty="0">
                <a:latin typeface="Times New Roman" pitchFamily="18" charset="0"/>
                <a:cs typeface="Times New Roman" pitchFamily="18" charset="0"/>
              </a:rPr>
              <a:t>been  </a:t>
            </a:r>
            <a:r>
              <a:rPr sz="2400" spc="55" dirty="0">
                <a:latin typeface="Times New Roman" pitchFamily="18" charset="0"/>
                <a:cs typeface="Times New Roman" pitchFamily="18" charset="0"/>
              </a:rPr>
              <a:t>split </a:t>
            </a:r>
            <a:r>
              <a:rPr sz="2400" spc="105" dirty="0">
                <a:latin typeface="Times New Roman" pitchFamily="18" charset="0"/>
                <a:cs typeface="Times New Roman" pitchFamily="18" charset="0"/>
              </a:rPr>
              <a:t>into </a:t>
            </a:r>
            <a:r>
              <a:rPr sz="2400" spc="125" dirty="0">
                <a:latin typeface="Times New Roman" pitchFamily="18" charset="0"/>
                <a:cs typeface="Times New Roman" pitchFamily="18" charset="0"/>
              </a:rPr>
              <a:t>two or </a:t>
            </a:r>
            <a:r>
              <a:rPr sz="2400" spc="165" dirty="0">
                <a:latin typeface="Times New Roman" pitchFamily="18" charset="0"/>
                <a:cs typeface="Times New Roman" pitchFamily="18" charset="0"/>
              </a:rPr>
              <a:t>more </a:t>
            </a:r>
            <a:r>
              <a:rPr sz="2400" spc="130" dirty="0">
                <a:latin typeface="Times New Roman" pitchFamily="18" charset="0"/>
                <a:cs typeface="Times New Roman" pitchFamily="18" charset="0"/>
              </a:rPr>
              <a:t>subsystems </a:t>
            </a:r>
            <a:r>
              <a:rPr sz="2400" spc="150" dirty="0">
                <a:latin typeface="Times New Roman" pitchFamily="18" charset="0"/>
                <a:cs typeface="Times New Roman" pitchFamily="18" charset="0"/>
              </a:rPr>
              <a:t>that </a:t>
            </a:r>
            <a:r>
              <a:rPr sz="2400" spc="40" dirty="0">
                <a:latin typeface="Times New Roman" pitchFamily="18" charset="0"/>
                <a:cs typeface="Times New Roman" pitchFamily="18" charset="0"/>
              </a:rPr>
              <a:t>lack </a:t>
            </a:r>
            <a:r>
              <a:rPr sz="2400" spc="105" dirty="0">
                <a:latin typeface="Times New Roman" pitchFamily="18" charset="0"/>
                <a:cs typeface="Times New Roman" pitchFamily="18" charset="0"/>
              </a:rPr>
              <a:t>any  </a:t>
            </a:r>
            <a:r>
              <a:rPr sz="2400" spc="130" dirty="0">
                <a:latin typeface="Times New Roman" pitchFamily="18" charset="0"/>
                <a:cs typeface="Times New Roman" pitchFamily="18" charset="0"/>
              </a:rPr>
              <a:t>connection </a:t>
            </a:r>
            <a:r>
              <a:rPr sz="2400" spc="165" dirty="0">
                <a:latin typeface="Times New Roman" pitchFamily="18" charset="0"/>
                <a:cs typeface="Times New Roman" pitchFamily="18" charset="0"/>
              </a:rPr>
              <a:t>between</a:t>
            </a:r>
            <a:r>
              <a:rPr sz="2400" spc="345" dirty="0">
                <a:latin typeface="Times New Roman" pitchFamily="18" charset="0"/>
                <a:cs typeface="Times New Roman" pitchFamily="18" charset="0"/>
              </a:rPr>
              <a:t> </a:t>
            </a:r>
            <a:r>
              <a:rPr sz="2400" spc="180" dirty="0">
                <a:latin typeface="Times New Roman" pitchFamily="18" charset="0"/>
                <a:cs typeface="Times New Roman" pitchFamily="18" charset="0"/>
              </a:rPr>
              <a:t>them</a:t>
            </a:r>
            <a:endParaRPr sz="2400" dirty="0">
              <a:latin typeface="Times New Roman" pitchFamily="18" charset="0"/>
              <a:cs typeface="Times New Roman" pitchFamily="18" charset="0"/>
            </a:endParaRPr>
          </a:p>
          <a:p>
            <a:pPr marL="1270000" lvl="2" indent="-252095">
              <a:lnSpc>
                <a:spcPct val="100000"/>
              </a:lnSpc>
              <a:spcBef>
                <a:spcPts val="525"/>
              </a:spcBef>
              <a:buChar char="–"/>
              <a:tabLst>
                <a:tab pos="1270635" algn="l"/>
              </a:tabLst>
            </a:pPr>
            <a:r>
              <a:rPr sz="2400" spc="90" dirty="0">
                <a:latin typeface="Times New Roman" pitchFamily="18" charset="0"/>
                <a:cs typeface="Times New Roman" pitchFamily="18" charset="0"/>
              </a:rPr>
              <a:t>Note: </a:t>
            </a:r>
            <a:r>
              <a:rPr sz="2400" spc="165" dirty="0">
                <a:latin typeface="Times New Roman" pitchFamily="18" charset="0"/>
                <a:cs typeface="Times New Roman" pitchFamily="18" charset="0"/>
              </a:rPr>
              <a:t>a </a:t>
            </a:r>
            <a:r>
              <a:rPr sz="2400" spc="130" dirty="0">
                <a:latin typeface="Times New Roman" pitchFamily="18" charset="0"/>
                <a:cs typeface="Times New Roman" pitchFamily="18" charset="0"/>
              </a:rPr>
              <a:t>subsystem </a:t>
            </a:r>
            <a:r>
              <a:rPr sz="2400" spc="120" dirty="0">
                <a:latin typeface="Times New Roman" pitchFamily="18" charset="0"/>
                <a:cs typeface="Times New Roman" pitchFamily="18" charset="0"/>
              </a:rPr>
              <a:t>may </a:t>
            </a:r>
            <a:r>
              <a:rPr sz="2400" spc="95" dirty="0">
                <a:latin typeface="Times New Roman" pitchFamily="18" charset="0"/>
                <a:cs typeface="Times New Roman" pitchFamily="18" charset="0"/>
              </a:rPr>
              <a:t>consist </a:t>
            </a:r>
            <a:r>
              <a:rPr sz="2400" spc="65" dirty="0">
                <a:latin typeface="Times New Roman" pitchFamily="18" charset="0"/>
                <a:cs typeface="Times New Roman" pitchFamily="18" charset="0"/>
              </a:rPr>
              <a:t>of </a:t>
            </a:r>
            <a:r>
              <a:rPr sz="2400" spc="165" dirty="0">
                <a:latin typeface="Times New Roman" pitchFamily="18" charset="0"/>
                <a:cs typeface="Times New Roman" pitchFamily="18" charset="0"/>
              </a:rPr>
              <a:t>a </a:t>
            </a:r>
            <a:r>
              <a:rPr sz="2400" spc="85" dirty="0">
                <a:latin typeface="Times New Roman" pitchFamily="18" charset="0"/>
                <a:cs typeface="Times New Roman" pitchFamily="18" charset="0"/>
              </a:rPr>
              <a:t>single</a:t>
            </a:r>
            <a:r>
              <a:rPr sz="2400" spc="350" dirty="0">
                <a:latin typeface="Times New Roman" pitchFamily="18" charset="0"/>
                <a:cs typeface="Times New Roman" pitchFamily="18" charset="0"/>
              </a:rPr>
              <a:t> </a:t>
            </a:r>
            <a:r>
              <a:rPr sz="2400" spc="200" dirty="0">
                <a:latin typeface="Times New Roman" pitchFamily="18" charset="0"/>
                <a:cs typeface="Times New Roman" pitchFamily="18" charset="0"/>
              </a:rPr>
              <a:t>node</a:t>
            </a:r>
            <a:endParaRPr sz="2400" dirty="0">
              <a:latin typeface="Times New Roman" pitchFamily="18" charset="0"/>
              <a:cs typeface="Times New Roman" pitchFamily="18" charset="0"/>
            </a:endParaRPr>
          </a:p>
        </p:txBody>
      </p:sp>
    </p:spTree>
    <p:extLst>
      <p:ext uri="{BB962C8B-B14F-4D97-AF65-F5344CB8AC3E}">
        <p14:creationId xmlns:p14="http://schemas.microsoft.com/office/powerpoint/2010/main" val="1255748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836180"/>
            <a:ext cx="7886700" cy="1325563"/>
          </a:xfrm>
        </p:spPr>
        <p:txBody>
          <a:bodyPr>
            <a:normAutofit/>
          </a:bodyPr>
          <a:lstStyle/>
          <a:p>
            <a:r>
              <a:rPr lang="en-US" sz="3200" b="1" dirty="0">
                <a:latin typeface="Times New Roman" panose="02020603050405020304" pitchFamily="18" charset="0"/>
                <a:cs typeface="Times New Roman" panose="02020603050405020304" pitchFamily="18" charset="0"/>
              </a:rPr>
              <a:t>Commit Protocols</a:t>
            </a:r>
            <a:br>
              <a:rPr lang="en-US" sz="3200" b="1"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628650" y="1690689"/>
            <a:ext cx="8289925" cy="5027657"/>
          </a:xfrm>
          <a:prstGeom prst="rect">
            <a:avLst/>
          </a:prstGeom>
        </p:spPr>
        <p:txBody>
          <a:bodyPr vert="horz" wrap="square" lIns="0" tIns="26034" rIns="0" bIns="0" rtlCol="0">
            <a:spAutoFit/>
          </a:bodyPr>
          <a:lstStyle/>
          <a:p>
            <a:pPr marL="326390" marR="5080" indent="-313690">
              <a:lnSpc>
                <a:spcPts val="3170"/>
              </a:lnSpc>
              <a:spcBef>
                <a:spcPts val="204"/>
              </a:spcBef>
              <a:buChar char="•"/>
              <a:tabLst>
                <a:tab pos="326390" algn="l"/>
                <a:tab pos="327025" algn="l"/>
                <a:tab pos="1767839" algn="l"/>
                <a:tab pos="3420745" algn="l"/>
                <a:tab pos="4128135" algn="l"/>
                <a:tab pos="5087620" algn="l"/>
                <a:tab pos="5640705" algn="l"/>
                <a:tab pos="6887845" algn="l"/>
              </a:tabLst>
            </a:pPr>
            <a:r>
              <a:rPr sz="2400" spc="-80" dirty="0">
                <a:latin typeface="Times New Roman" pitchFamily="18" charset="0"/>
                <a:cs typeface="Times New Roman" pitchFamily="18" charset="0"/>
              </a:rPr>
              <a:t>C</a:t>
            </a:r>
            <a:r>
              <a:rPr sz="2400" spc="254" dirty="0">
                <a:latin typeface="Times New Roman" pitchFamily="18" charset="0"/>
                <a:cs typeface="Times New Roman" pitchFamily="18" charset="0"/>
              </a:rPr>
              <a:t>omm</a:t>
            </a:r>
            <a:r>
              <a:rPr sz="2400" spc="-110" dirty="0">
                <a:latin typeface="Times New Roman" pitchFamily="18" charset="0"/>
                <a:cs typeface="Times New Roman" pitchFamily="18" charset="0"/>
              </a:rPr>
              <a:t>i</a:t>
            </a:r>
            <a:r>
              <a:rPr sz="2400" spc="170" dirty="0">
                <a:latin typeface="Times New Roman" pitchFamily="18" charset="0"/>
                <a:cs typeface="Times New Roman" pitchFamily="18" charset="0"/>
              </a:rPr>
              <a:t>t</a:t>
            </a:r>
            <a:r>
              <a:rPr lang="en-US" sz="2400" dirty="0">
                <a:latin typeface="Times New Roman" pitchFamily="18" charset="0"/>
                <a:cs typeface="Times New Roman" pitchFamily="18" charset="0"/>
              </a:rPr>
              <a:t> </a:t>
            </a:r>
            <a:r>
              <a:rPr sz="2400" spc="254" dirty="0">
                <a:latin typeface="Times New Roman" pitchFamily="18" charset="0"/>
                <a:cs typeface="Times New Roman" pitchFamily="18" charset="0"/>
              </a:rPr>
              <a:t>p</a:t>
            </a:r>
            <a:r>
              <a:rPr sz="2400" spc="10" dirty="0">
                <a:latin typeface="Times New Roman" pitchFamily="18" charset="0"/>
                <a:cs typeface="Times New Roman" pitchFamily="18" charset="0"/>
              </a:rPr>
              <a:t>r</a:t>
            </a:r>
            <a:r>
              <a:rPr sz="2400" spc="254" dirty="0">
                <a:latin typeface="Times New Roman" pitchFamily="18" charset="0"/>
                <a:cs typeface="Times New Roman" pitchFamily="18" charset="0"/>
              </a:rPr>
              <a:t>o</a:t>
            </a:r>
            <a:r>
              <a:rPr sz="2400" spc="130" dirty="0">
                <a:latin typeface="Times New Roman" pitchFamily="18" charset="0"/>
                <a:cs typeface="Times New Roman" pitchFamily="18" charset="0"/>
              </a:rPr>
              <a:t>t</a:t>
            </a:r>
            <a:r>
              <a:rPr sz="2400" spc="254" dirty="0">
                <a:latin typeface="Times New Roman" pitchFamily="18" charset="0"/>
                <a:cs typeface="Times New Roman" pitchFamily="18" charset="0"/>
              </a:rPr>
              <a:t>o</a:t>
            </a:r>
            <a:r>
              <a:rPr sz="2400" spc="85" dirty="0">
                <a:latin typeface="Times New Roman" pitchFamily="18" charset="0"/>
                <a:cs typeface="Times New Roman" pitchFamily="18" charset="0"/>
              </a:rPr>
              <a:t>c</a:t>
            </a:r>
            <a:r>
              <a:rPr sz="2400" spc="254" dirty="0">
                <a:latin typeface="Times New Roman" pitchFamily="18" charset="0"/>
                <a:cs typeface="Times New Roman" pitchFamily="18" charset="0"/>
              </a:rPr>
              <a:t>o</a:t>
            </a:r>
            <a:r>
              <a:rPr sz="2400" spc="-110" dirty="0">
                <a:latin typeface="Times New Roman" pitchFamily="18" charset="0"/>
                <a:cs typeface="Times New Roman" pitchFamily="18" charset="0"/>
              </a:rPr>
              <a:t>l</a:t>
            </a:r>
            <a:r>
              <a:rPr sz="2400" spc="110" dirty="0">
                <a:latin typeface="Times New Roman" pitchFamily="18" charset="0"/>
                <a:cs typeface="Times New Roman" pitchFamily="18" charset="0"/>
              </a:rPr>
              <a:t>s</a:t>
            </a:r>
            <a:r>
              <a:rPr lang="en-US" sz="2400" spc="110" dirty="0">
                <a:latin typeface="Times New Roman" pitchFamily="18" charset="0"/>
                <a:cs typeface="Times New Roman" pitchFamily="18" charset="0"/>
              </a:rPr>
              <a:t> </a:t>
            </a:r>
            <a:r>
              <a:rPr sz="2400" spc="195" dirty="0">
                <a:latin typeface="Times New Roman" pitchFamily="18" charset="0"/>
                <a:cs typeface="Times New Roman" pitchFamily="18" charset="0"/>
              </a:rPr>
              <a:t>a</a:t>
            </a:r>
            <a:r>
              <a:rPr sz="2400" spc="10" dirty="0">
                <a:latin typeface="Times New Roman" pitchFamily="18" charset="0"/>
                <a:cs typeface="Times New Roman" pitchFamily="18" charset="0"/>
              </a:rPr>
              <a:t>r</a:t>
            </a:r>
            <a:r>
              <a:rPr sz="2400" spc="235" dirty="0">
                <a:latin typeface="Times New Roman" pitchFamily="18" charset="0"/>
                <a:cs typeface="Times New Roman" pitchFamily="18" charset="0"/>
              </a:rPr>
              <a:t>e</a:t>
            </a:r>
            <a:r>
              <a:rPr lang="en-US" sz="2400" spc="235" dirty="0">
                <a:latin typeface="Times New Roman" pitchFamily="18" charset="0"/>
                <a:cs typeface="Times New Roman" pitchFamily="18" charset="0"/>
              </a:rPr>
              <a:t> </a:t>
            </a:r>
            <a:r>
              <a:rPr sz="2400" spc="204" dirty="0">
                <a:latin typeface="Times New Roman" pitchFamily="18" charset="0"/>
                <a:cs typeface="Times New Roman" pitchFamily="18" charset="0"/>
              </a:rPr>
              <a:t>u</a:t>
            </a:r>
            <a:r>
              <a:rPr sz="2400" spc="100" dirty="0">
                <a:latin typeface="Times New Roman" pitchFamily="18" charset="0"/>
                <a:cs typeface="Times New Roman" pitchFamily="18" charset="0"/>
              </a:rPr>
              <a:t>s</a:t>
            </a:r>
            <a:r>
              <a:rPr sz="2400" spc="245" dirty="0">
                <a:latin typeface="Times New Roman" pitchFamily="18" charset="0"/>
                <a:cs typeface="Times New Roman" pitchFamily="18" charset="0"/>
              </a:rPr>
              <a:t>e</a:t>
            </a:r>
            <a:r>
              <a:rPr sz="2400" spc="260" dirty="0">
                <a:latin typeface="Times New Roman" pitchFamily="18" charset="0"/>
                <a:cs typeface="Times New Roman" pitchFamily="18" charset="0"/>
              </a:rPr>
              <a:t>d</a:t>
            </a:r>
            <a:r>
              <a:rPr lang="en-US" sz="2400" spc="260" dirty="0">
                <a:latin typeface="Times New Roman" pitchFamily="18" charset="0"/>
                <a:cs typeface="Times New Roman" pitchFamily="18" charset="0"/>
              </a:rPr>
              <a:t> </a:t>
            </a:r>
            <a:r>
              <a:rPr sz="2400" spc="155" dirty="0">
                <a:latin typeface="Times New Roman" pitchFamily="18" charset="0"/>
                <a:cs typeface="Times New Roman" pitchFamily="18" charset="0"/>
              </a:rPr>
              <a:t>t</a:t>
            </a:r>
            <a:r>
              <a:rPr sz="2400" spc="254" dirty="0">
                <a:latin typeface="Times New Roman" pitchFamily="18" charset="0"/>
                <a:cs typeface="Times New Roman" pitchFamily="18" charset="0"/>
              </a:rPr>
              <a:t>o</a:t>
            </a:r>
            <a:r>
              <a:rPr lang="en-US" sz="2400" spc="254" dirty="0">
                <a:latin typeface="Times New Roman" pitchFamily="18" charset="0"/>
                <a:cs typeface="Times New Roman" pitchFamily="18" charset="0"/>
              </a:rPr>
              <a:t> </a:t>
            </a:r>
            <a:r>
              <a:rPr sz="2400" spc="245" dirty="0">
                <a:latin typeface="Times New Roman" pitchFamily="18" charset="0"/>
                <a:cs typeface="Times New Roman" pitchFamily="18" charset="0"/>
              </a:rPr>
              <a:t>e</a:t>
            </a:r>
            <a:r>
              <a:rPr sz="2400" spc="204" dirty="0">
                <a:latin typeface="Times New Roman" pitchFamily="18" charset="0"/>
                <a:cs typeface="Times New Roman" pitchFamily="18" charset="0"/>
              </a:rPr>
              <a:t>n</a:t>
            </a:r>
            <a:r>
              <a:rPr sz="2400" spc="100" dirty="0">
                <a:latin typeface="Times New Roman" pitchFamily="18" charset="0"/>
                <a:cs typeface="Times New Roman" pitchFamily="18" charset="0"/>
              </a:rPr>
              <a:t>s</a:t>
            </a:r>
            <a:r>
              <a:rPr sz="2400" spc="204" dirty="0">
                <a:latin typeface="Times New Roman" pitchFamily="18" charset="0"/>
                <a:cs typeface="Times New Roman" pitchFamily="18" charset="0"/>
              </a:rPr>
              <a:t>u</a:t>
            </a:r>
            <a:r>
              <a:rPr sz="2400" spc="10" dirty="0">
                <a:latin typeface="Times New Roman" pitchFamily="18" charset="0"/>
                <a:cs typeface="Times New Roman" pitchFamily="18" charset="0"/>
              </a:rPr>
              <a:t>r</a:t>
            </a:r>
            <a:r>
              <a:rPr sz="2400" spc="235" dirty="0">
                <a:latin typeface="Times New Roman" pitchFamily="18" charset="0"/>
                <a:cs typeface="Times New Roman" pitchFamily="18" charset="0"/>
              </a:rPr>
              <a:t>e</a:t>
            </a:r>
            <a:r>
              <a:rPr lang="en-US" sz="2400" dirty="0">
                <a:latin typeface="Times New Roman" pitchFamily="18" charset="0"/>
                <a:cs typeface="Times New Roman" pitchFamily="18" charset="0"/>
              </a:rPr>
              <a:t> </a:t>
            </a:r>
            <a:r>
              <a:rPr sz="2400" spc="195" dirty="0">
                <a:latin typeface="Times New Roman" pitchFamily="18" charset="0"/>
                <a:cs typeface="Times New Roman" pitchFamily="18" charset="0"/>
              </a:rPr>
              <a:t>a</a:t>
            </a:r>
            <a:r>
              <a:rPr sz="2400" spc="155" dirty="0">
                <a:latin typeface="Times New Roman" pitchFamily="18" charset="0"/>
                <a:cs typeface="Times New Roman" pitchFamily="18" charset="0"/>
              </a:rPr>
              <a:t>t</a:t>
            </a:r>
            <a:r>
              <a:rPr sz="2400" spc="254" dirty="0">
                <a:latin typeface="Times New Roman" pitchFamily="18" charset="0"/>
                <a:cs typeface="Times New Roman" pitchFamily="18" charset="0"/>
              </a:rPr>
              <a:t>om</a:t>
            </a:r>
            <a:r>
              <a:rPr sz="2400" spc="-110" dirty="0">
                <a:latin typeface="Times New Roman" pitchFamily="18" charset="0"/>
                <a:cs typeface="Times New Roman" pitchFamily="18" charset="0"/>
              </a:rPr>
              <a:t>i</a:t>
            </a:r>
            <a:r>
              <a:rPr sz="2400" spc="85" dirty="0">
                <a:latin typeface="Times New Roman" pitchFamily="18" charset="0"/>
                <a:cs typeface="Times New Roman" pitchFamily="18" charset="0"/>
              </a:rPr>
              <a:t>c</a:t>
            </a:r>
            <a:r>
              <a:rPr sz="2400" spc="-110" dirty="0">
                <a:latin typeface="Times New Roman" pitchFamily="18" charset="0"/>
                <a:cs typeface="Times New Roman" pitchFamily="18" charset="0"/>
              </a:rPr>
              <a:t>i</a:t>
            </a:r>
            <a:r>
              <a:rPr sz="2400" spc="185" dirty="0">
                <a:latin typeface="Times New Roman" pitchFamily="18" charset="0"/>
                <a:cs typeface="Times New Roman" pitchFamily="18" charset="0"/>
              </a:rPr>
              <a:t>t</a:t>
            </a:r>
            <a:r>
              <a:rPr sz="2400" spc="-20" dirty="0">
                <a:latin typeface="Times New Roman" pitchFamily="18" charset="0"/>
                <a:cs typeface="Times New Roman" pitchFamily="18" charset="0"/>
              </a:rPr>
              <a:t>y  </a:t>
            </a:r>
            <a:r>
              <a:rPr sz="2400" spc="120" dirty="0">
                <a:latin typeface="Times New Roman" pitchFamily="18" charset="0"/>
                <a:cs typeface="Times New Roman" pitchFamily="18" charset="0"/>
              </a:rPr>
              <a:t>across</a:t>
            </a:r>
            <a:r>
              <a:rPr sz="2400" spc="275" dirty="0">
                <a:latin typeface="Times New Roman" pitchFamily="18" charset="0"/>
                <a:cs typeface="Times New Roman" pitchFamily="18" charset="0"/>
              </a:rPr>
              <a:t> </a:t>
            </a:r>
            <a:r>
              <a:rPr sz="2400" spc="100" dirty="0">
                <a:latin typeface="Times New Roman" pitchFamily="18" charset="0"/>
                <a:cs typeface="Times New Roman" pitchFamily="18" charset="0"/>
              </a:rPr>
              <a:t>sites</a:t>
            </a:r>
            <a:endParaRPr sz="2400" dirty="0">
              <a:latin typeface="Times New Roman" pitchFamily="18" charset="0"/>
              <a:cs typeface="Times New Roman" pitchFamily="18" charset="0"/>
            </a:endParaRPr>
          </a:p>
          <a:p>
            <a:pPr marL="767080" marR="8890" lvl="1" indent="-251460">
              <a:lnSpc>
                <a:spcPct val="100000"/>
              </a:lnSpc>
              <a:spcBef>
                <a:spcPts val="425"/>
              </a:spcBef>
              <a:buChar char="•"/>
              <a:tabLst>
                <a:tab pos="767080" algn="l"/>
                <a:tab pos="767715" algn="l"/>
              </a:tabLst>
            </a:pPr>
            <a:r>
              <a:rPr sz="2400" spc="165" dirty="0">
                <a:latin typeface="Times New Roman" pitchFamily="18" charset="0"/>
                <a:cs typeface="Times New Roman" pitchFamily="18" charset="0"/>
              </a:rPr>
              <a:t>a </a:t>
            </a:r>
            <a:r>
              <a:rPr sz="2400" spc="114" dirty="0">
                <a:latin typeface="Times New Roman" pitchFamily="18" charset="0"/>
                <a:cs typeface="Times New Roman" pitchFamily="18" charset="0"/>
              </a:rPr>
              <a:t>transaction </a:t>
            </a:r>
            <a:r>
              <a:rPr sz="2400" spc="75" dirty="0">
                <a:latin typeface="Times New Roman" pitchFamily="18" charset="0"/>
                <a:cs typeface="Times New Roman" pitchFamily="18" charset="0"/>
              </a:rPr>
              <a:t>which </a:t>
            </a:r>
            <a:r>
              <a:rPr sz="2400" spc="120" dirty="0">
                <a:latin typeface="Times New Roman" pitchFamily="18" charset="0"/>
                <a:cs typeface="Times New Roman" pitchFamily="18" charset="0"/>
              </a:rPr>
              <a:t>executes </a:t>
            </a:r>
            <a:r>
              <a:rPr sz="2400" spc="150" dirty="0">
                <a:latin typeface="Times New Roman" pitchFamily="18" charset="0"/>
                <a:cs typeface="Times New Roman" pitchFamily="18" charset="0"/>
              </a:rPr>
              <a:t>at </a:t>
            </a:r>
            <a:r>
              <a:rPr sz="2400" spc="90" dirty="0">
                <a:latin typeface="Times New Roman" pitchFamily="18" charset="0"/>
                <a:cs typeface="Times New Roman" pitchFamily="18" charset="0"/>
              </a:rPr>
              <a:t>multiple </a:t>
            </a:r>
            <a:r>
              <a:rPr sz="2400" spc="85" dirty="0">
                <a:latin typeface="Times New Roman" pitchFamily="18" charset="0"/>
                <a:cs typeface="Times New Roman" pitchFamily="18" charset="0"/>
              </a:rPr>
              <a:t>sites </a:t>
            </a:r>
            <a:r>
              <a:rPr sz="2400" spc="150" dirty="0">
                <a:latin typeface="Times New Roman" pitchFamily="18" charset="0"/>
                <a:cs typeface="Times New Roman" pitchFamily="18" charset="0"/>
              </a:rPr>
              <a:t>must </a:t>
            </a:r>
            <a:r>
              <a:rPr sz="2400" spc="114" dirty="0">
                <a:latin typeface="Times New Roman" pitchFamily="18" charset="0"/>
                <a:cs typeface="Times New Roman" pitchFamily="18" charset="0"/>
              </a:rPr>
              <a:t>either  </a:t>
            </a:r>
            <a:r>
              <a:rPr sz="2400" spc="204" dirty="0">
                <a:latin typeface="Times New Roman" pitchFamily="18" charset="0"/>
                <a:cs typeface="Times New Roman" pitchFamily="18" charset="0"/>
              </a:rPr>
              <a:t>be </a:t>
            </a:r>
            <a:r>
              <a:rPr sz="2400" spc="145" dirty="0">
                <a:latin typeface="Times New Roman" pitchFamily="18" charset="0"/>
                <a:cs typeface="Times New Roman" pitchFamily="18" charset="0"/>
              </a:rPr>
              <a:t>committed </a:t>
            </a:r>
            <a:r>
              <a:rPr sz="2400" spc="150" dirty="0">
                <a:latin typeface="Times New Roman" pitchFamily="18" charset="0"/>
                <a:cs typeface="Times New Roman" pitchFamily="18" charset="0"/>
              </a:rPr>
              <a:t>at </a:t>
            </a:r>
            <a:r>
              <a:rPr sz="2400" dirty="0">
                <a:latin typeface="Times New Roman" pitchFamily="18" charset="0"/>
                <a:cs typeface="Times New Roman" pitchFamily="18" charset="0"/>
              </a:rPr>
              <a:t>all </a:t>
            </a:r>
            <a:r>
              <a:rPr sz="2400" spc="165" dirty="0">
                <a:latin typeface="Times New Roman" pitchFamily="18" charset="0"/>
                <a:cs typeface="Times New Roman" pitchFamily="18" charset="0"/>
              </a:rPr>
              <a:t>the </a:t>
            </a:r>
            <a:r>
              <a:rPr sz="2400" spc="55" dirty="0">
                <a:latin typeface="Times New Roman" pitchFamily="18" charset="0"/>
                <a:cs typeface="Times New Roman" pitchFamily="18" charset="0"/>
              </a:rPr>
              <a:t>sites, </a:t>
            </a:r>
            <a:r>
              <a:rPr sz="2400" spc="125" dirty="0">
                <a:latin typeface="Times New Roman" pitchFamily="18" charset="0"/>
                <a:cs typeface="Times New Roman" pitchFamily="18" charset="0"/>
              </a:rPr>
              <a:t>or </a:t>
            </a:r>
            <a:r>
              <a:rPr sz="2400" spc="175" dirty="0">
                <a:latin typeface="Times New Roman" pitchFamily="18" charset="0"/>
                <a:cs typeface="Times New Roman" pitchFamily="18" charset="0"/>
              </a:rPr>
              <a:t>aborted </a:t>
            </a:r>
            <a:r>
              <a:rPr sz="2400" spc="150" dirty="0">
                <a:latin typeface="Times New Roman" pitchFamily="18" charset="0"/>
                <a:cs typeface="Times New Roman" pitchFamily="18" charset="0"/>
              </a:rPr>
              <a:t>at </a:t>
            </a:r>
            <a:r>
              <a:rPr sz="2400" spc="5" dirty="0">
                <a:latin typeface="Times New Roman" pitchFamily="18" charset="0"/>
                <a:cs typeface="Times New Roman" pitchFamily="18" charset="0"/>
              </a:rPr>
              <a:t>all </a:t>
            </a:r>
            <a:r>
              <a:rPr sz="2400" spc="170" dirty="0">
                <a:latin typeface="Times New Roman" pitchFamily="18" charset="0"/>
                <a:cs typeface="Times New Roman" pitchFamily="18" charset="0"/>
              </a:rPr>
              <a:t>the</a:t>
            </a:r>
            <a:r>
              <a:rPr sz="2400" spc="225" dirty="0">
                <a:latin typeface="Times New Roman" pitchFamily="18" charset="0"/>
                <a:cs typeface="Times New Roman" pitchFamily="18" charset="0"/>
              </a:rPr>
              <a:t> </a:t>
            </a:r>
            <a:r>
              <a:rPr sz="2400" spc="50" dirty="0">
                <a:latin typeface="Times New Roman" pitchFamily="18" charset="0"/>
                <a:cs typeface="Times New Roman" pitchFamily="18" charset="0"/>
              </a:rPr>
              <a:t>sites.</a:t>
            </a:r>
            <a:endParaRPr sz="2400" dirty="0">
              <a:latin typeface="Times New Roman" pitchFamily="18" charset="0"/>
              <a:cs typeface="Times New Roman" pitchFamily="18" charset="0"/>
            </a:endParaRPr>
          </a:p>
          <a:p>
            <a:pPr marL="767080" marR="8255" lvl="1" indent="-251460">
              <a:lnSpc>
                <a:spcPct val="100000"/>
              </a:lnSpc>
              <a:spcBef>
                <a:spcPts val="530"/>
              </a:spcBef>
              <a:buChar char="•"/>
              <a:tabLst>
                <a:tab pos="767080" algn="l"/>
                <a:tab pos="767715" algn="l"/>
                <a:tab pos="1346835" algn="l"/>
                <a:tab pos="2858770" algn="l"/>
                <a:tab pos="3274060" algn="l"/>
                <a:tab pos="4023995" algn="l"/>
                <a:tab pos="4322445" algn="l"/>
                <a:tab pos="5876290" algn="l"/>
                <a:tab pos="7399020" algn="l"/>
                <a:tab pos="7794625" algn="l"/>
              </a:tabLst>
            </a:pPr>
            <a:r>
              <a:rPr sz="2400" spc="165" dirty="0">
                <a:latin typeface="Times New Roman" pitchFamily="18" charset="0"/>
                <a:cs typeface="Times New Roman" pitchFamily="18" charset="0"/>
              </a:rPr>
              <a:t>n</a:t>
            </a:r>
            <a:r>
              <a:rPr sz="2400" spc="215" dirty="0">
                <a:latin typeface="Times New Roman" pitchFamily="18" charset="0"/>
                <a:cs typeface="Times New Roman" pitchFamily="18" charset="0"/>
              </a:rPr>
              <a:t>o</a:t>
            </a:r>
            <a:r>
              <a:rPr sz="2400" spc="140" dirty="0">
                <a:latin typeface="Times New Roman" pitchFamily="18" charset="0"/>
                <a:cs typeface="Times New Roman" pitchFamily="18" charset="0"/>
              </a:rPr>
              <a:t>t	</a:t>
            </a:r>
            <a:r>
              <a:rPr sz="2400" spc="185" dirty="0">
                <a:latin typeface="Times New Roman" pitchFamily="18" charset="0"/>
                <a:cs typeface="Times New Roman" pitchFamily="18" charset="0"/>
              </a:rPr>
              <a:t>a</a:t>
            </a:r>
            <a:r>
              <a:rPr sz="2400" spc="55" dirty="0">
                <a:latin typeface="Times New Roman" pitchFamily="18" charset="0"/>
                <a:cs typeface="Times New Roman" pitchFamily="18" charset="0"/>
              </a:rPr>
              <a:t>cc</a:t>
            </a:r>
            <a:r>
              <a:rPr sz="2400" spc="204" dirty="0">
                <a:latin typeface="Times New Roman" pitchFamily="18" charset="0"/>
                <a:cs typeface="Times New Roman" pitchFamily="18" charset="0"/>
              </a:rPr>
              <a:t>e</a:t>
            </a:r>
            <a:r>
              <a:rPr sz="2400" spc="215" dirty="0">
                <a:latin typeface="Times New Roman" pitchFamily="18" charset="0"/>
                <a:cs typeface="Times New Roman" pitchFamily="18" charset="0"/>
              </a:rPr>
              <a:t>p</a:t>
            </a:r>
            <a:r>
              <a:rPr sz="2400" spc="150" dirty="0">
                <a:latin typeface="Times New Roman" pitchFamily="18" charset="0"/>
                <a:cs typeface="Times New Roman" pitchFamily="18" charset="0"/>
              </a:rPr>
              <a:t>t</a:t>
            </a:r>
            <a:r>
              <a:rPr sz="2400" spc="165" dirty="0">
                <a:latin typeface="Times New Roman" pitchFamily="18" charset="0"/>
                <a:cs typeface="Times New Roman" pitchFamily="18" charset="0"/>
              </a:rPr>
              <a:t>a</a:t>
            </a:r>
            <a:r>
              <a:rPr sz="2400" spc="215" dirty="0">
                <a:latin typeface="Times New Roman" pitchFamily="18" charset="0"/>
                <a:cs typeface="Times New Roman" pitchFamily="18" charset="0"/>
              </a:rPr>
              <a:t>b</a:t>
            </a:r>
            <a:r>
              <a:rPr sz="2400" spc="-70" dirty="0">
                <a:latin typeface="Times New Roman" pitchFamily="18" charset="0"/>
                <a:cs typeface="Times New Roman" pitchFamily="18" charset="0"/>
              </a:rPr>
              <a:t>l</a:t>
            </a:r>
            <a:r>
              <a:rPr sz="2400" spc="195" dirty="0">
                <a:latin typeface="Times New Roman" pitchFamily="18" charset="0"/>
                <a:cs typeface="Times New Roman" pitchFamily="18" charset="0"/>
              </a:rPr>
              <a:t>e</a:t>
            </a:r>
            <a:r>
              <a:rPr sz="2400" dirty="0">
                <a:latin typeface="Times New Roman" pitchFamily="18" charset="0"/>
                <a:cs typeface="Times New Roman" pitchFamily="18" charset="0"/>
              </a:rPr>
              <a:t>	</a:t>
            </a:r>
            <a:r>
              <a:rPr sz="2400" spc="130" dirty="0">
                <a:latin typeface="Times New Roman" pitchFamily="18" charset="0"/>
                <a:cs typeface="Times New Roman" pitchFamily="18" charset="0"/>
              </a:rPr>
              <a:t>t</a:t>
            </a:r>
            <a:r>
              <a:rPr sz="2400" spc="215" dirty="0">
                <a:latin typeface="Times New Roman" pitchFamily="18" charset="0"/>
                <a:cs typeface="Times New Roman" pitchFamily="18" charset="0"/>
              </a:rPr>
              <a:t>o</a:t>
            </a:r>
            <a:r>
              <a:rPr sz="2400" dirty="0">
                <a:latin typeface="Times New Roman" pitchFamily="18" charset="0"/>
                <a:cs typeface="Times New Roman" pitchFamily="18" charset="0"/>
              </a:rPr>
              <a:t>	</a:t>
            </a:r>
            <a:r>
              <a:rPr sz="2400" spc="190" dirty="0">
                <a:latin typeface="Times New Roman" pitchFamily="18" charset="0"/>
                <a:cs typeface="Times New Roman" pitchFamily="18" charset="0"/>
              </a:rPr>
              <a:t>h</a:t>
            </a:r>
            <a:r>
              <a:rPr sz="2400" spc="165" dirty="0">
                <a:latin typeface="Times New Roman" pitchFamily="18" charset="0"/>
                <a:cs typeface="Times New Roman" pitchFamily="18" charset="0"/>
              </a:rPr>
              <a:t>a</a:t>
            </a:r>
            <a:r>
              <a:rPr sz="2400" spc="-55" dirty="0">
                <a:latin typeface="Times New Roman" pitchFamily="18" charset="0"/>
                <a:cs typeface="Times New Roman" pitchFamily="18" charset="0"/>
              </a:rPr>
              <a:t>v</a:t>
            </a:r>
            <a:r>
              <a:rPr sz="2400" spc="195" dirty="0">
                <a:latin typeface="Times New Roman" pitchFamily="18" charset="0"/>
                <a:cs typeface="Times New Roman" pitchFamily="18" charset="0"/>
              </a:rPr>
              <a:t>e</a:t>
            </a:r>
            <a:r>
              <a:rPr sz="2400" dirty="0">
                <a:latin typeface="Times New Roman" pitchFamily="18" charset="0"/>
                <a:cs typeface="Times New Roman" pitchFamily="18" charset="0"/>
              </a:rPr>
              <a:t>	</a:t>
            </a:r>
            <a:r>
              <a:rPr sz="2400" spc="165" dirty="0">
                <a:latin typeface="Times New Roman" pitchFamily="18" charset="0"/>
                <a:cs typeface="Times New Roman" pitchFamily="18" charset="0"/>
              </a:rPr>
              <a:t>a</a:t>
            </a:r>
            <a:r>
              <a:rPr sz="2400" dirty="0">
                <a:latin typeface="Times New Roman" pitchFamily="18" charset="0"/>
                <a:cs typeface="Times New Roman" pitchFamily="18" charset="0"/>
              </a:rPr>
              <a:t>	</a:t>
            </a:r>
            <a:r>
              <a:rPr sz="2400" spc="150" dirty="0">
                <a:latin typeface="Times New Roman" pitchFamily="18" charset="0"/>
                <a:cs typeface="Times New Roman" pitchFamily="18" charset="0"/>
              </a:rPr>
              <a:t>t</a:t>
            </a:r>
            <a:r>
              <a:rPr sz="2400" spc="30" dirty="0">
                <a:latin typeface="Times New Roman" pitchFamily="18" charset="0"/>
                <a:cs typeface="Times New Roman" pitchFamily="18" charset="0"/>
              </a:rPr>
              <a:t>r</a:t>
            </a:r>
            <a:r>
              <a:rPr sz="2400" spc="165" dirty="0">
                <a:latin typeface="Times New Roman" pitchFamily="18" charset="0"/>
                <a:cs typeface="Times New Roman" pitchFamily="18" charset="0"/>
              </a:rPr>
              <a:t>an</a:t>
            </a:r>
            <a:r>
              <a:rPr sz="2400" spc="80" dirty="0">
                <a:latin typeface="Times New Roman" pitchFamily="18" charset="0"/>
                <a:cs typeface="Times New Roman" pitchFamily="18" charset="0"/>
              </a:rPr>
              <a:t>s</a:t>
            </a:r>
            <a:r>
              <a:rPr sz="2400" spc="185" dirty="0">
                <a:latin typeface="Times New Roman" pitchFamily="18" charset="0"/>
                <a:cs typeface="Times New Roman" pitchFamily="18" charset="0"/>
              </a:rPr>
              <a:t>a</a:t>
            </a:r>
            <a:r>
              <a:rPr sz="2400" spc="55" dirty="0">
                <a:latin typeface="Times New Roman" pitchFamily="18" charset="0"/>
                <a:cs typeface="Times New Roman" pitchFamily="18" charset="0"/>
              </a:rPr>
              <a:t>c</a:t>
            </a:r>
            <a:r>
              <a:rPr sz="2400" spc="150" dirty="0">
                <a:latin typeface="Times New Roman" pitchFamily="18" charset="0"/>
                <a:cs typeface="Times New Roman" pitchFamily="18" charset="0"/>
              </a:rPr>
              <a:t>t</a:t>
            </a:r>
            <a:r>
              <a:rPr sz="2400" spc="-90" dirty="0">
                <a:latin typeface="Times New Roman" pitchFamily="18" charset="0"/>
                <a:cs typeface="Times New Roman" pitchFamily="18" charset="0"/>
              </a:rPr>
              <a:t>i</a:t>
            </a:r>
            <a:r>
              <a:rPr sz="2400" spc="215" dirty="0">
                <a:latin typeface="Times New Roman" pitchFamily="18" charset="0"/>
                <a:cs typeface="Times New Roman" pitchFamily="18" charset="0"/>
              </a:rPr>
              <a:t>o</a:t>
            </a:r>
            <a:r>
              <a:rPr sz="2400" spc="165" dirty="0">
                <a:latin typeface="Times New Roman" pitchFamily="18" charset="0"/>
                <a:cs typeface="Times New Roman" pitchFamily="18" charset="0"/>
              </a:rPr>
              <a:t>n</a:t>
            </a:r>
            <a:r>
              <a:rPr sz="2400" dirty="0">
                <a:latin typeface="Times New Roman" pitchFamily="18" charset="0"/>
                <a:cs typeface="Times New Roman" pitchFamily="18" charset="0"/>
              </a:rPr>
              <a:t>	</a:t>
            </a:r>
            <a:r>
              <a:rPr sz="2400" spc="55" dirty="0">
                <a:latin typeface="Times New Roman" pitchFamily="18" charset="0"/>
                <a:cs typeface="Times New Roman" pitchFamily="18" charset="0"/>
              </a:rPr>
              <a:t>c</a:t>
            </a:r>
            <a:r>
              <a:rPr sz="2400" spc="215" dirty="0">
                <a:latin typeface="Times New Roman" pitchFamily="18" charset="0"/>
                <a:cs typeface="Times New Roman" pitchFamily="18" charset="0"/>
              </a:rPr>
              <a:t>omm</a:t>
            </a:r>
            <a:r>
              <a:rPr sz="2400" spc="-70" dirty="0">
                <a:latin typeface="Times New Roman" pitchFamily="18" charset="0"/>
                <a:cs typeface="Times New Roman" pitchFamily="18" charset="0"/>
              </a:rPr>
              <a:t>i</a:t>
            </a:r>
            <a:r>
              <a:rPr sz="2400" spc="130" dirty="0">
                <a:latin typeface="Times New Roman" pitchFamily="18" charset="0"/>
                <a:cs typeface="Times New Roman" pitchFamily="18" charset="0"/>
              </a:rPr>
              <a:t>tt</a:t>
            </a:r>
            <a:r>
              <a:rPr sz="2400" spc="204" dirty="0">
                <a:latin typeface="Times New Roman" pitchFamily="18" charset="0"/>
                <a:cs typeface="Times New Roman" pitchFamily="18" charset="0"/>
              </a:rPr>
              <a:t>e</a:t>
            </a:r>
            <a:r>
              <a:rPr sz="2400" spc="220" dirty="0">
                <a:latin typeface="Times New Roman" pitchFamily="18" charset="0"/>
                <a:cs typeface="Times New Roman" pitchFamily="18" charset="0"/>
              </a:rPr>
              <a:t>d</a:t>
            </a:r>
            <a:r>
              <a:rPr sz="2400" dirty="0">
                <a:latin typeface="Times New Roman" pitchFamily="18" charset="0"/>
                <a:cs typeface="Times New Roman" pitchFamily="18" charset="0"/>
              </a:rPr>
              <a:t>	</a:t>
            </a:r>
            <a:r>
              <a:rPr sz="2400" spc="140" dirty="0">
                <a:latin typeface="Times New Roman" pitchFamily="18" charset="0"/>
                <a:cs typeface="Times New Roman" pitchFamily="18" charset="0"/>
              </a:rPr>
              <a:t>at</a:t>
            </a:r>
            <a:r>
              <a:rPr sz="2400" dirty="0">
                <a:latin typeface="Times New Roman" pitchFamily="18" charset="0"/>
                <a:cs typeface="Times New Roman" pitchFamily="18" charset="0"/>
              </a:rPr>
              <a:t>	</a:t>
            </a:r>
            <a:r>
              <a:rPr sz="2400" spc="215" dirty="0">
                <a:latin typeface="Times New Roman" pitchFamily="18" charset="0"/>
                <a:cs typeface="Times New Roman" pitchFamily="18" charset="0"/>
              </a:rPr>
              <a:t>o</a:t>
            </a:r>
            <a:r>
              <a:rPr sz="2400" spc="165" dirty="0">
                <a:latin typeface="Times New Roman" pitchFamily="18" charset="0"/>
                <a:cs typeface="Times New Roman" pitchFamily="18" charset="0"/>
              </a:rPr>
              <a:t>n</a:t>
            </a:r>
            <a:r>
              <a:rPr sz="2400" spc="140" dirty="0">
                <a:latin typeface="Times New Roman" pitchFamily="18" charset="0"/>
                <a:cs typeface="Times New Roman" pitchFamily="18" charset="0"/>
              </a:rPr>
              <a:t>e  </a:t>
            </a:r>
            <a:r>
              <a:rPr sz="2400" spc="80" dirty="0">
                <a:latin typeface="Times New Roman" pitchFamily="18" charset="0"/>
                <a:cs typeface="Times New Roman" pitchFamily="18" charset="0"/>
              </a:rPr>
              <a:t>site </a:t>
            </a:r>
            <a:r>
              <a:rPr sz="2400" spc="175" dirty="0">
                <a:latin typeface="Times New Roman" pitchFamily="18" charset="0"/>
                <a:cs typeface="Times New Roman" pitchFamily="18" charset="0"/>
              </a:rPr>
              <a:t>and </a:t>
            </a:r>
            <a:r>
              <a:rPr sz="2400" spc="180" dirty="0">
                <a:latin typeface="Times New Roman" pitchFamily="18" charset="0"/>
                <a:cs typeface="Times New Roman" pitchFamily="18" charset="0"/>
              </a:rPr>
              <a:t>aborted </a:t>
            </a:r>
            <a:r>
              <a:rPr sz="2400" spc="140" dirty="0">
                <a:latin typeface="Times New Roman" pitchFamily="18" charset="0"/>
                <a:cs typeface="Times New Roman" pitchFamily="18" charset="0"/>
              </a:rPr>
              <a:t>at</a:t>
            </a:r>
            <a:r>
              <a:rPr sz="2400" spc="480" dirty="0">
                <a:latin typeface="Times New Roman" pitchFamily="18" charset="0"/>
                <a:cs typeface="Times New Roman" pitchFamily="18" charset="0"/>
              </a:rPr>
              <a:t> </a:t>
            </a:r>
            <a:r>
              <a:rPr sz="2400" spc="155" dirty="0">
                <a:latin typeface="Times New Roman" pitchFamily="18" charset="0"/>
                <a:cs typeface="Times New Roman" pitchFamily="18" charset="0"/>
              </a:rPr>
              <a:t>another</a:t>
            </a:r>
            <a:endParaRPr lang="en-US" sz="2400" spc="155" dirty="0">
              <a:latin typeface="Times New Roman" pitchFamily="18" charset="0"/>
              <a:cs typeface="Times New Roman" pitchFamily="18" charset="0"/>
            </a:endParaRPr>
          </a:p>
          <a:p>
            <a:pPr marL="515620" marR="8255" lvl="1">
              <a:lnSpc>
                <a:spcPct val="100000"/>
              </a:lnSpc>
              <a:spcBef>
                <a:spcPts val="530"/>
              </a:spcBef>
              <a:tabLst>
                <a:tab pos="767080" algn="l"/>
                <a:tab pos="767715" algn="l"/>
                <a:tab pos="1346835" algn="l"/>
                <a:tab pos="2858770" algn="l"/>
                <a:tab pos="3274060" algn="l"/>
                <a:tab pos="4023995" algn="l"/>
                <a:tab pos="4322445" algn="l"/>
                <a:tab pos="5876290" algn="l"/>
                <a:tab pos="7399020" algn="l"/>
                <a:tab pos="7794625" algn="l"/>
              </a:tabLst>
            </a:pPr>
            <a:endParaRPr lang="en-US" sz="2400" spc="155" dirty="0">
              <a:latin typeface="Times New Roman" pitchFamily="18" charset="0"/>
              <a:cs typeface="Times New Roman" pitchFamily="18" charset="0"/>
            </a:endParaRPr>
          </a:p>
          <a:p>
            <a:pPr lvl="1"/>
            <a:r>
              <a:rPr lang="en-US" sz="2400" dirty="0">
                <a:latin typeface="Times New Roman" pitchFamily="18" charset="0"/>
                <a:cs typeface="Times New Roman" pitchFamily="18" charset="0"/>
              </a:rPr>
              <a:t>The different distributed commit protocols are −</a:t>
            </a:r>
          </a:p>
          <a:p>
            <a:pPr lvl="1"/>
            <a:r>
              <a:rPr lang="en-US" sz="2400" dirty="0">
                <a:latin typeface="Times New Roman" pitchFamily="18" charset="0"/>
                <a:cs typeface="Times New Roman" pitchFamily="18" charset="0"/>
              </a:rPr>
              <a:t>One-phase commit</a:t>
            </a:r>
          </a:p>
          <a:p>
            <a:pPr lvl="1"/>
            <a:r>
              <a:rPr lang="en-US" sz="2400" dirty="0">
                <a:latin typeface="Times New Roman" pitchFamily="18" charset="0"/>
                <a:cs typeface="Times New Roman" pitchFamily="18" charset="0"/>
              </a:rPr>
              <a:t>Two-phase commit</a:t>
            </a:r>
          </a:p>
          <a:p>
            <a:pPr lvl="1"/>
            <a:r>
              <a:rPr lang="en-US" sz="2400" dirty="0">
                <a:latin typeface="Times New Roman" pitchFamily="18" charset="0"/>
                <a:cs typeface="Times New Roman" pitchFamily="18" charset="0"/>
              </a:rPr>
              <a:t>Three-phase commit</a:t>
            </a:r>
          </a:p>
          <a:p>
            <a:endParaRPr lang="en-US" sz="2000" dirty="0">
              <a:latin typeface="Arial" pitchFamily="34" charset="0"/>
              <a:cs typeface="Arial" pitchFamily="34" charset="0"/>
            </a:endParaRPr>
          </a:p>
        </p:txBody>
      </p:sp>
    </p:spTree>
    <p:extLst>
      <p:ext uri="{BB962C8B-B14F-4D97-AF65-F5344CB8AC3E}">
        <p14:creationId xmlns:p14="http://schemas.microsoft.com/office/powerpoint/2010/main" val="656690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2671" y="914400"/>
            <a:ext cx="7772400" cy="1143000"/>
          </a:xfrm>
        </p:spPr>
        <p:txBody>
          <a:bodyPr>
            <a:normAutofit/>
          </a:bodyPr>
          <a:lstStyle/>
          <a:p>
            <a:pPr lvl="1" algn="l" rtl="0">
              <a:spcBef>
                <a:spcPct val="0"/>
              </a:spcBef>
            </a:pPr>
            <a:r>
              <a:rPr lang="en-US" sz="2800" b="1" kern="1200" dirty="0">
                <a:solidFill>
                  <a:schemeClr val="tx1"/>
                </a:solidFill>
                <a:latin typeface="Times New Roman" pitchFamily="18" charset="0"/>
                <a:ea typeface="+mn-ea"/>
                <a:cs typeface="Times New Roman" pitchFamily="18" charset="0"/>
              </a:rPr>
              <a:t>One-phase commit</a:t>
            </a:r>
            <a:r>
              <a:rPr lang="en-US" sz="2400" b="1" kern="1200" dirty="0">
                <a:solidFill>
                  <a:schemeClr val="tx1"/>
                </a:solidFill>
                <a:latin typeface="Times New Roman" pitchFamily="18" charset="0"/>
                <a:ea typeface="+mn-ea"/>
                <a:cs typeface="Times New Roman" pitchFamily="18" charset="0"/>
              </a:rPr>
              <a:t/>
            </a:r>
            <a:br>
              <a:rPr lang="en-US" sz="2400" b="1" kern="1200" dirty="0">
                <a:solidFill>
                  <a:schemeClr val="tx1"/>
                </a:solidFill>
                <a:latin typeface="Times New Roman" pitchFamily="18" charset="0"/>
                <a:ea typeface="+mn-ea"/>
                <a:cs typeface="Times New Roman" pitchFamily="18" charset="0"/>
              </a:rPr>
            </a:br>
            <a:endParaRPr lang="en-US" sz="2400" b="1" kern="1200" dirty="0">
              <a:solidFill>
                <a:schemeClr val="tx1"/>
              </a:solidFill>
              <a:latin typeface="Times New Roman" pitchFamily="18" charset="0"/>
              <a:ea typeface="+mn-ea"/>
              <a:cs typeface="Times New Roman" pitchFamily="18" charset="0"/>
            </a:endParaRPr>
          </a:p>
        </p:txBody>
      </p:sp>
      <p:sp>
        <p:nvSpPr>
          <p:cNvPr id="3" name="Content Placeholder 2"/>
          <p:cNvSpPr>
            <a:spLocks noGrp="1"/>
          </p:cNvSpPr>
          <p:nvPr>
            <p:ph sz="quarter" idx="1"/>
          </p:nvPr>
        </p:nvSpPr>
        <p:spPr>
          <a:xfrm>
            <a:off x="-1" y="1648690"/>
            <a:ext cx="8977745" cy="4980709"/>
          </a:xfrm>
        </p:spPr>
        <p:txBody>
          <a:bodyPr>
            <a:noAutofit/>
          </a:bodyPr>
          <a:lstStyle/>
          <a:p>
            <a:pPr algn="just"/>
            <a:r>
              <a:rPr lang="en-US" sz="2400" dirty="0">
                <a:latin typeface="Times New Roman" panose="02020603050405020304" pitchFamily="18" charset="0"/>
                <a:cs typeface="Times New Roman" panose="02020603050405020304" pitchFamily="18" charset="0"/>
              </a:rPr>
              <a:t>One-phase commit is the simplest commit protocol. Let us consider that there is a controlling site and a number of slave sites where the transaction is being executed. The steps in distributed commit are −</a:t>
            </a:r>
          </a:p>
          <a:p>
            <a:pPr algn="just"/>
            <a:r>
              <a:rPr lang="en-US" sz="2400" dirty="0">
                <a:latin typeface="Times New Roman" panose="02020603050405020304" pitchFamily="18" charset="0"/>
                <a:cs typeface="Times New Roman" panose="02020603050405020304" pitchFamily="18" charset="0"/>
              </a:rPr>
              <a:t>After each slave has locally completed its transaction, it sends a “DONE” message to the controlling site.</a:t>
            </a:r>
          </a:p>
          <a:p>
            <a:pPr algn="just"/>
            <a:r>
              <a:rPr lang="en-US" sz="2400" dirty="0">
                <a:latin typeface="Times New Roman" panose="02020603050405020304" pitchFamily="18" charset="0"/>
                <a:cs typeface="Times New Roman" panose="02020603050405020304" pitchFamily="18" charset="0"/>
              </a:rPr>
              <a:t>The slaves wait for “Commit” or “Abort” message from the controlling site. This waiting time is called </a:t>
            </a:r>
            <a:r>
              <a:rPr lang="en-US" sz="2400" b="1" dirty="0">
                <a:latin typeface="Times New Roman" panose="02020603050405020304" pitchFamily="18" charset="0"/>
                <a:cs typeface="Times New Roman" panose="02020603050405020304" pitchFamily="18" charset="0"/>
              </a:rPr>
              <a:t>window of vulnerability</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When the controlling site receives “DONE” message from each slave, it makes a decision to commit or abort. This is called the commit point. Then, it sends this message to all the slaves.</a:t>
            </a:r>
          </a:p>
          <a:p>
            <a:pPr algn="just"/>
            <a:r>
              <a:rPr lang="en-US" sz="2400" dirty="0">
                <a:latin typeface="Times New Roman" panose="02020603050405020304" pitchFamily="18" charset="0"/>
                <a:cs typeface="Times New Roman" panose="02020603050405020304" pitchFamily="18" charset="0"/>
              </a:rPr>
              <a:t>On receiving this message, a slave either commits or aborts and then sends an acknowledgement message to the controlling site.</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010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809388"/>
            <a:ext cx="8229600" cy="3046988"/>
          </a:xfrm>
          <a:prstGeom prst="rect">
            <a:avLst/>
          </a:prstGeom>
        </p:spPr>
        <p:txBody>
          <a:bodyPr wrap="square">
            <a:spAutoFit/>
          </a:bodyPr>
          <a:lstStyle/>
          <a:p>
            <a:r>
              <a:rPr lang="en-US" sz="2400" b="1" dirty="0">
                <a:latin typeface="Times New Roman" pitchFamily="18" charset="0"/>
                <a:cs typeface="Times New Roman" pitchFamily="18" charset="0"/>
              </a:rPr>
              <a:t>Two-Phase Commit Protocol</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 Goal - ensure the atomicity of a transaction that executing on multiple sites</a:t>
            </a:r>
          </a:p>
          <a:p>
            <a:r>
              <a:rPr lang="en-US" sz="2400" dirty="0">
                <a:latin typeface="Times New Roman" pitchFamily="18" charset="0"/>
                <a:cs typeface="Times New Roman" pitchFamily="18" charset="0"/>
              </a:rPr>
              <a:t>• Coordinator – the transaction manager of home site where the transaction is originated</a:t>
            </a:r>
          </a:p>
          <a:p>
            <a:r>
              <a:rPr lang="en-US" sz="2400" dirty="0">
                <a:latin typeface="Times New Roman" pitchFamily="18" charset="0"/>
                <a:cs typeface="Times New Roman" pitchFamily="18" charset="0"/>
              </a:rPr>
              <a:t>• Subordinates- transaction manager of site where the sub transactions execute</a:t>
            </a:r>
          </a:p>
        </p:txBody>
      </p:sp>
    </p:spTree>
    <p:extLst>
      <p:ext uri="{BB962C8B-B14F-4D97-AF65-F5344CB8AC3E}">
        <p14:creationId xmlns:p14="http://schemas.microsoft.com/office/powerpoint/2010/main" val="3060193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66255" y="976746"/>
            <a:ext cx="8742218" cy="5616281"/>
          </a:xfrm>
          <a:prstGeom prst="rect">
            <a:avLst/>
          </a:prstGeom>
        </p:spPr>
        <p:txBody>
          <a:bodyPr vert="horz" wrap="square" lIns="0" tIns="12065" rIns="0" bIns="0" rtlCol="0">
            <a:spAutoFit/>
          </a:bodyPr>
          <a:lstStyle/>
          <a:p>
            <a:pPr marL="514984" marR="7620" indent="-502284" algn="just">
              <a:lnSpc>
                <a:spcPct val="100000"/>
              </a:lnSpc>
              <a:spcBef>
                <a:spcPts val="95"/>
              </a:spcBef>
              <a:buAutoNum type="arabicPeriod"/>
              <a:tabLst>
                <a:tab pos="612775" algn="l"/>
              </a:tabLst>
            </a:pPr>
            <a:r>
              <a:rPr sz="2200" spc="45" dirty="0">
                <a:latin typeface="Times New Roman" pitchFamily="18" charset="0"/>
                <a:cs typeface="Times New Roman" pitchFamily="18" charset="0"/>
              </a:rPr>
              <a:t>(Begin </a:t>
            </a:r>
            <a:r>
              <a:rPr sz="2200" spc="130" dirty="0">
                <a:latin typeface="Times New Roman" pitchFamily="18" charset="0"/>
                <a:cs typeface="Times New Roman" pitchFamily="18" charset="0"/>
              </a:rPr>
              <a:t>Phase </a:t>
            </a:r>
            <a:r>
              <a:rPr sz="2200" spc="20" dirty="0">
                <a:latin typeface="Times New Roman" pitchFamily="18" charset="0"/>
                <a:cs typeface="Times New Roman" pitchFamily="18" charset="0"/>
              </a:rPr>
              <a:t>1) </a:t>
            </a:r>
            <a:r>
              <a:rPr sz="2200" spc="65" dirty="0">
                <a:latin typeface="Times New Roman" pitchFamily="18" charset="0"/>
                <a:cs typeface="Times New Roman" pitchFamily="18" charset="0"/>
              </a:rPr>
              <a:t>The </a:t>
            </a:r>
            <a:r>
              <a:rPr sz="2200" spc="125" dirty="0">
                <a:latin typeface="Times New Roman" pitchFamily="18" charset="0"/>
                <a:cs typeface="Times New Roman" pitchFamily="18" charset="0"/>
              </a:rPr>
              <a:t>coordinator </a:t>
            </a:r>
            <a:r>
              <a:rPr sz="2200" spc="145" dirty="0">
                <a:latin typeface="Times New Roman" pitchFamily="18" charset="0"/>
                <a:cs typeface="Times New Roman" pitchFamily="18" charset="0"/>
              </a:rPr>
              <a:t>sends </a:t>
            </a:r>
            <a:r>
              <a:rPr sz="2200" spc="165" dirty="0">
                <a:latin typeface="Times New Roman" pitchFamily="18" charset="0"/>
                <a:cs typeface="Times New Roman" pitchFamily="18" charset="0"/>
              </a:rPr>
              <a:t>a </a:t>
            </a:r>
            <a:r>
              <a:rPr sz="2200" spc="110" dirty="0">
                <a:latin typeface="Times New Roman" pitchFamily="18" charset="0"/>
                <a:cs typeface="Times New Roman" pitchFamily="18" charset="0"/>
              </a:rPr>
              <a:t>Prepare </a:t>
            </a:r>
            <a:r>
              <a:rPr sz="2200" spc="170" dirty="0">
                <a:latin typeface="Times New Roman" pitchFamily="18" charset="0"/>
                <a:cs typeface="Times New Roman" pitchFamily="18" charset="0"/>
              </a:rPr>
              <a:t>message  </a:t>
            </a:r>
            <a:r>
              <a:rPr sz="2200" spc="160" dirty="0">
                <a:latin typeface="Times New Roman" pitchFamily="18" charset="0"/>
                <a:cs typeface="Times New Roman" pitchFamily="18" charset="0"/>
              </a:rPr>
              <a:t>to </a:t>
            </a:r>
            <a:r>
              <a:rPr sz="2200" spc="145" dirty="0">
                <a:latin typeface="Times New Roman" pitchFamily="18" charset="0"/>
                <a:cs typeface="Times New Roman" pitchFamily="18" charset="0"/>
              </a:rPr>
              <a:t>each</a:t>
            </a:r>
            <a:r>
              <a:rPr sz="2200" spc="295" dirty="0">
                <a:latin typeface="Times New Roman" pitchFamily="18" charset="0"/>
                <a:cs typeface="Times New Roman" pitchFamily="18" charset="0"/>
              </a:rPr>
              <a:t> </a:t>
            </a:r>
            <a:r>
              <a:rPr sz="2200" spc="130" dirty="0">
                <a:latin typeface="Times New Roman" pitchFamily="18" charset="0"/>
                <a:cs typeface="Times New Roman" pitchFamily="18" charset="0"/>
              </a:rPr>
              <a:t>subordinates</a:t>
            </a:r>
            <a:r>
              <a:rPr lang="en-US" sz="2200" spc="130" dirty="0">
                <a:latin typeface="Times New Roman" pitchFamily="18" charset="0"/>
                <a:cs typeface="Times New Roman" pitchFamily="18" charset="0"/>
              </a:rPr>
              <a:t>/</a:t>
            </a:r>
            <a:r>
              <a:rPr lang="en-US" sz="2200" spc="105" dirty="0">
                <a:latin typeface="Times New Roman" pitchFamily="18" charset="0"/>
                <a:cs typeface="Times New Roman" pitchFamily="18" charset="0"/>
              </a:rPr>
              <a:t>participants</a:t>
            </a:r>
            <a:endParaRPr sz="2200" dirty="0">
              <a:latin typeface="Times New Roman" pitchFamily="18" charset="0"/>
              <a:cs typeface="Times New Roman" pitchFamily="18" charset="0"/>
            </a:endParaRPr>
          </a:p>
          <a:p>
            <a:pPr marL="514350" indent="-501650">
              <a:lnSpc>
                <a:spcPct val="100000"/>
              </a:lnSpc>
              <a:spcBef>
                <a:spcPts val="525"/>
              </a:spcBef>
              <a:buAutoNum type="arabicPeriod"/>
              <a:tabLst>
                <a:tab pos="514350" algn="l"/>
                <a:tab pos="514984" algn="l"/>
              </a:tabLst>
            </a:pPr>
            <a:r>
              <a:rPr sz="2200" spc="65" dirty="0">
                <a:latin typeface="Times New Roman" pitchFamily="18" charset="0"/>
                <a:cs typeface="Times New Roman" pitchFamily="18" charset="0"/>
              </a:rPr>
              <a:t>The </a:t>
            </a:r>
            <a:r>
              <a:rPr sz="2200" spc="120" dirty="0">
                <a:latin typeface="Times New Roman" pitchFamily="18" charset="0"/>
                <a:cs typeface="Times New Roman" pitchFamily="18" charset="0"/>
              </a:rPr>
              <a:t>coordinator </a:t>
            </a:r>
            <a:r>
              <a:rPr sz="2200" spc="65" dirty="0">
                <a:latin typeface="Times New Roman" pitchFamily="18" charset="0"/>
                <a:cs typeface="Times New Roman" pitchFamily="18" charset="0"/>
              </a:rPr>
              <a:t>waits </a:t>
            </a:r>
            <a:r>
              <a:rPr sz="2200" spc="70" dirty="0">
                <a:latin typeface="Times New Roman" pitchFamily="18" charset="0"/>
                <a:cs typeface="Times New Roman" pitchFamily="18" charset="0"/>
              </a:rPr>
              <a:t>for </a:t>
            </a:r>
            <a:r>
              <a:rPr sz="2200" spc="5" dirty="0">
                <a:latin typeface="Times New Roman" pitchFamily="18" charset="0"/>
                <a:cs typeface="Times New Roman" pitchFamily="18" charset="0"/>
              </a:rPr>
              <a:t>all </a:t>
            </a:r>
            <a:r>
              <a:rPr sz="2200" spc="105" dirty="0">
                <a:latin typeface="Times New Roman" pitchFamily="18" charset="0"/>
                <a:cs typeface="Times New Roman" pitchFamily="18" charset="0"/>
              </a:rPr>
              <a:t>participants </a:t>
            </a:r>
            <a:r>
              <a:rPr sz="2200" spc="160" dirty="0">
                <a:latin typeface="Times New Roman" pitchFamily="18" charset="0"/>
                <a:cs typeface="Times New Roman" pitchFamily="18" charset="0"/>
              </a:rPr>
              <a:t>to</a:t>
            </a:r>
            <a:r>
              <a:rPr sz="2200" spc="610" dirty="0">
                <a:latin typeface="Times New Roman" pitchFamily="18" charset="0"/>
                <a:cs typeface="Times New Roman" pitchFamily="18" charset="0"/>
              </a:rPr>
              <a:t> </a:t>
            </a:r>
            <a:r>
              <a:rPr sz="2200" spc="114" dirty="0">
                <a:latin typeface="Times New Roman" pitchFamily="18" charset="0"/>
                <a:cs typeface="Times New Roman" pitchFamily="18" charset="0"/>
              </a:rPr>
              <a:t>vote</a:t>
            </a:r>
            <a:endParaRPr sz="2200" dirty="0">
              <a:latin typeface="Times New Roman" pitchFamily="18" charset="0"/>
              <a:cs typeface="Times New Roman" pitchFamily="18" charset="0"/>
            </a:endParaRPr>
          </a:p>
          <a:p>
            <a:pPr marL="514350" indent="-501650">
              <a:lnSpc>
                <a:spcPct val="100000"/>
              </a:lnSpc>
              <a:spcBef>
                <a:spcPts val="530"/>
              </a:spcBef>
              <a:buAutoNum type="arabicPeriod"/>
              <a:tabLst>
                <a:tab pos="514350" algn="l"/>
                <a:tab pos="514984" algn="l"/>
              </a:tabLst>
            </a:pPr>
            <a:r>
              <a:rPr sz="2200" spc="45" dirty="0">
                <a:latin typeface="Times New Roman" pitchFamily="18" charset="0"/>
                <a:cs typeface="Times New Roman" pitchFamily="18" charset="0"/>
              </a:rPr>
              <a:t>Each</a:t>
            </a:r>
            <a:r>
              <a:rPr sz="2200" spc="235" dirty="0">
                <a:latin typeface="Times New Roman" pitchFamily="18" charset="0"/>
                <a:cs typeface="Times New Roman" pitchFamily="18" charset="0"/>
              </a:rPr>
              <a:t> </a:t>
            </a:r>
            <a:r>
              <a:rPr sz="2200" spc="130" dirty="0">
                <a:latin typeface="Times New Roman" pitchFamily="18" charset="0"/>
                <a:cs typeface="Times New Roman" pitchFamily="18" charset="0"/>
              </a:rPr>
              <a:t>subordinates</a:t>
            </a:r>
            <a:r>
              <a:rPr lang="en-US" sz="2200" spc="130" dirty="0">
                <a:latin typeface="Times New Roman" pitchFamily="18" charset="0"/>
                <a:cs typeface="Times New Roman" pitchFamily="18" charset="0"/>
              </a:rPr>
              <a:t>/</a:t>
            </a:r>
            <a:r>
              <a:rPr lang="en-US" sz="2200" spc="105" dirty="0">
                <a:latin typeface="Times New Roman" pitchFamily="18" charset="0"/>
                <a:cs typeface="Times New Roman" pitchFamily="18" charset="0"/>
              </a:rPr>
              <a:t>participants</a:t>
            </a:r>
            <a:endParaRPr sz="2200" dirty="0">
              <a:latin typeface="Times New Roman" pitchFamily="18" charset="0"/>
              <a:cs typeface="Times New Roman" pitchFamily="18" charset="0"/>
            </a:endParaRPr>
          </a:p>
          <a:p>
            <a:pPr marL="955675" lvl="1" indent="-502920">
              <a:lnSpc>
                <a:spcPct val="100000"/>
              </a:lnSpc>
              <a:spcBef>
                <a:spcPts val="440"/>
              </a:spcBef>
              <a:buChar char="•"/>
              <a:tabLst>
                <a:tab pos="955675" algn="l"/>
                <a:tab pos="956310" algn="l"/>
              </a:tabLst>
            </a:pPr>
            <a:r>
              <a:rPr sz="2200" spc="100" dirty="0">
                <a:latin typeface="Times New Roman" pitchFamily="18" charset="0"/>
                <a:cs typeface="Times New Roman" pitchFamily="18" charset="0"/>
              </a:rPr>
              <a:t>votes </a:t>
            </a:r>
            <a:r>
              <a:rPr sz="2200" spc="105" dirty="0">
                <a:latin typeface="Times New Roman" pitchFamily="18" charset="0"/>
                <a:cs typeface="Times New Roman" pitchFamily="18" charset="0"/>
              </a:rPr>
              <a:t>Prepared </a:t>
            </a:r>
            <a:r>
              <a:rPr sz="2200" spc="-40" dirty="0">
                <a:latin typeface="Times New Roman" pitchFamily="18" charset="0"/>
                <a:cs typeface="Times New Roman" pitchFamily="18" charset="0"/>
              </a:rPr>
              <a:t>if </a:t>
            </a:r>
            <a:r>
              <a:rPr sz="2200" spc="-30" dirty="0">
                <a:latin typeface="Times New Roman" pitchFamily="18" charset="0"/>
                <a:cs typeface="Times New Roman" pitchFamily="18" charset="0"/>
              </a:rPr>
              <a:t>it‘s </a:t>
            </a:r>
            <a:r>
              <a:rPr sz="2200" spc="100" dirty="0">
                <a:latin typeface="Times New Roman" pitchFamily="18" charset="0"/>
                <a:cs typeface="Times New Roman" pitchFamily="18" charset="0"/>
              </a:rPr>
              <a:t>ready </a:t>
            </a:r>
            <a:r>
              <a:rPr sz="2200" spc="145" dirty="0">
                <a:latin typeface="Times New Roman" pitchFamily="18" charset="0"/>
                <a:cs typeface="Times New Roman" pitchFamily="18" charset="0"/>
              </a:rPr>
              <a:t>to</a:t>
            </a:r>
            <a:r>
              <a:rPr sz="2200" spc="-25" dirty="0">
                <a:latin typeface="Times New Roman" pitchFamily="18" charset="0"/>
                <a:cs typeface="Times New Roman" pitchFamily="18" charset="0"/>
              </a:rPr>
              <a:t> </a:t>
            </a:r>
            <a:r>
              <a:rPr sz="2200" spc="110" dirty="0">
                <a:latin typeface="Times New Roman" pitchFamily="18" charset="0"/>
                <a:cs typeface="Times New Roman" pitchFamily="18" charset="0"/>
              </a:rPr>
              <a:t>commit</a:t>
            </a:r>
            <a:endParaRPr sz="2200" dirty="0">
              <a:latin typeface="Times New Roman" pitchFamily="18" charset="0"/>
              <a:cs typeface="Times New Roman" pitchFamily="18" charset="0"/>
            </a:endParaRPr>
          </a:p>
          <a:p>
            <a:pPr marL="955675" lvl="1" indent="-502920">
              <a:lnSpc>
                <a:spcPct val="100000"/>
              </a:lnSpc>
              <a:spcBef>
                <a:spcPts val="430"/>
              </a:spcBef>
              <a:buChar char="•"/>
              <a:tabLst>
                <a:tab pos="955675" algn="l"/>
                <a:tab pos="956310" algn="l"/>
              </a:tabLst>
            </a:pPr>
            <a:r>
              <a:rPr sz="2200" spc="100" dirty="0">
                <a:latin typeface="Times New Roman" pitchFamily="18" charset="0"/>
                <a:cs typeface="Times New Roman" pitchFamily="18" charset="0"/>
              </a:rPr>
              <a:t>may </a:t>
            </a:r>
            <a:r>
              <a:rPr sz="2200" spc="105" dirty="0">
                <a:latin typeface="Times New Roman" pitchFamily="18" charset="0"/>
                <a:cs typeface="Times New Roman" pitchFamily="18" charset="0"/>
              </a:rPr>
              <a:t>vote </a:t>
            </a:r>
            <a:r>
              <a:rPr sz="2200" spc="125" dirty="0">
                <a:latin typeface="Times New Roman" pitchFamily="18" charset="0"/>
                <a:cs typeface="Times New Roman" pitchFamily="18" charset="0"/>
              </a:rPr>
              <a:t>No </a:t>
            </a:r>
            <a:r>
              <a:rPr sz="2200" spc="65" dirty="0">
                <a:latin typeface="Times New Roman" pitchFamily="18" charset="0"/>
                <a:cs typeface="Times New Roman" pitchFamily="18" charset="0"/>
              </a:rPr>
              <a:t>for </a:t>
            </a:r>
            <a:r>
              <a:rPr sz="2200" spc="85" dirty="0">
                <a:latin typeface="Times New Roman" pitchFamily="18" charset="0"/>
                <a:cs typeface="Times New Roman" pitchFamily="18" charset="0"/>
              </a:rPr>
              <a:t>any</a:t>
            </a:r>
            <a:r>
              <a:rPr sz="2200" spc="520" dirty="0">
                <a:latin typeface="Times New Roman" pitchFamily="18" charset="0"/>
                <a:cs typeface="Times New Roman" pitchFamily="18" charset="0"/>
              </a:rPr>
              <a:t> </a:t>
            </a:r>
            <a:r>
              <a:rPr sz="2200" spc="120" dirty="0">
                <a:latin typeface="Times New Roman" pitchFamily="18" charset="0"/>
                <a:cs typeface="Times New Roman" pitchFamily="18" charset="0"/>
              </a:rPr>
              <a:t>reason</a:t>
            </a:r>
            <a:endParaRPr sz="2200" dirty="0">
              <a:latin typeface="Times New Roman" pitchFamily="18" charset="0"/>
              <a:cs typeface="Times New Roman" pitchFamily="18" charset="0"/>
            </a:endParaRPr>
          </a:p>
          <a:p>
            <a:pPr marL="955675" lvl="1" indent="-502920">
              <a:lnSpc>
                <a:spcPct val="100000"/>
              </a:lnSpc>
              <a:spcBef>
                <a:spcPts val="445"/>
              </a:spcBef>
              <a:buChar char="•"/>
              <a:tabLst>
                <a:tab pos="955675" algn="l"/>
                <a:tab pos="956310" algn="l"/>
              </a:tabLst>
            </a:pPr>
            <a:r>
              <a:rPr sz="2200" spc="100" dirty="0">
                <a:latin typeface="Times New Roman" pitchFamily="18" charset="0"/>
                <a:cs typeface="Times New Roman" pitchFamily="18" charset="0"/>
              </a:rPr>
              <a:t>may </a:t>
            </a:r>
            <a:r>
              <a:rPr sz="2200" spc="80" dirty="0">
                <a:latin typeface="Times New Roman" pitchFamily="18" charset="0"/>
                <a:cs typeface="Times New Roman" pitchFamily="18" charset="0"/>
              </a:rPr>
              <a:t>delay </a:t>
            </a:r>
            <a:r>
              <a:rPr sz="2200" spc="90" dirty="0">
                <a:latin typeface="Times New Roman" pitchFamily="18" charset="0"/>
                <a:cs typeface="Times New Roman" pitchFamily="18" charset="0"/>
              </a:rPr>
              <a:t>voting</a:t>
            </a:r>
            <a:r>
              <a:rPr sz="2200" spc="370" dirty="0">
                <a:latin typeface="Times New Roman" pitchFamily="18" charset="0"/>
                <a:cs typeface="Times New Roman" pitchFamily="18" charset="0"/>
              </a:rPr>
              <a:t> </a:t>
            </a:r>
            <a:r>
              <a:rPr sz="2200" spc="55" dirty="0">
                <a:latin typeface="Times New Roman" pitchFamily="18" charset="0"/>
                <a:cs typeface="Times New Roman" pitchFamily="18" charset="0"/>
              </a:rPr>
              <a:t>indefinitely</a:t>
            </a:r>
            <a:endParaRPr sz="2200" dirty="0">
              <a:latin typeface="Times New Roman" pitchFamily="18" charset="0"/>
              <a:cs typeface="Times New Roman" pitchFamily="18" charset="0"/>
            </a:endParaRPr>
          </a:p>
          <a:p>
            <a:pPr marL="955675" lvl="1" indent="-502920">
              <a:lnSpc>
                <a:spcPct val="100000"/>
              </a:lnSpc>
              <a:spcBef>
                <a:spcPts val="430"/>
              </a:spcBef>
              <a:buChar char="•"/>
              <a:tabLst>
                <a:tab pos="955675" algn="l"/>
                <a:tab pos="956310" algn="l"/>
              </a:tabLst>
            </a:pPr>
            <a:r>
              <a:rPr sz="2200" spc="85" dirty="0">
                <a:latin typeface="Times New Roman" pitchFamily="18" charset="0"/>
                <a:cs typeface="Times New Roman" pitchFamily="18" charset="0"/>
              </a:rPr>
              <a:t>Make </a:t>
            </a:r>
            <a:r>
              <a:rPr sz="2200" spc="105" dirty="0">
                <a:latin typeface="Times New Roman" pitchFamily="18" charset="0"/>
                <a:cs typeface="Times New Roman" pitchFamily="18" charset="0"/>
              </a:rPr>
              <a:t>entry </a:t>
            </a:r>
            <a:r>
              <a:rPr sz="2200" spc="35" dirty="0">
                <a:latin typeface="Times New Roman" pitchFamily="18" charset="0"/>
                <a:cs typeface="Times New Roman" pitchFamily="18" charset="0"/>
              </a:rPr>
              <a:t>in </a:t>
            </a:r>
            <a:r>
              <a:rPr sz="2200" spc="50" dirty="0">
                <a:latin typeface="Times New Roman" pitchFamily="18" charset="0"/>
                <a:cs typeface="Times New Roman" pitchFamily="18" charset="0"/>
              </a:rPr>
              <a:t>local</a:t>
            </a:r>
            <a:r>
              <a:rPr sz="2200" spc="40" dirty="0">
                <a:latin typeface="Times New Roman" pitchFamily="18" charset="0"/>
                <a:cs typeface="Times New Roman" pitchFamily="18" charset="0"/>
              </a:rPr>
              <a:t> </a:t>
            </a:r>
            <a:r>
              <a:rPr sz="2200" spc="105" dirty="0">
                <a:latin typeface="Times New Roman" pitchFamily="18" charset="0"/>
                <a:cs typeface="Times New Roman" pitchFamily="18" charset="0"/>
              </a:rPr>
              <a:t>log</a:t>
            </a:r>
            <a:endParaRPr sz="2200" dirty="0">
              <a:latin typeface="Times New Roman" pitchFamily="18" charset="0"/>
              <a:cs typeface="Times New Roman" pitchFamily="18" charset="0"/>
            </a:endParaRPr>
          </a:p>
          <a:p>
            <a:pPr marL="514984" marR="5080" indent="-502284" algn="just">
              <a:lnSpc>
                <a:spcPct val="100000"/>
              </a:lnSpc>
              <a:spcBef>
                <a:spcPts val="525"/>
              </a:spcBef>
              <a:buAutoNum type="arabicPeriod"/>
              <a:tabLst>
                <a:tab pos="514984" algn="l"/>
              </a:tabLst>
            </a:pPr>
            <a:r>
              <a:rPr sz="2200" spc="45" dirty="0">
                <a:latin typeface="Times New Roman" pitchFamily="18" charset="0"/>
                <a:cs typeface="Times New Roman" pitchFamily="18" charset="0"/>
              </a:rPr>
              <a:t>(Begin </a:t>
            </a:r>
            <a:r>
              <a:rPr sz="2200" spc="130" dirty="0">
                <a:latin typeface="Times New Roman" pitchFamily="18" charset="0"/>
                <a:cs typeface="Times New Roman" pitchFamily="18" charset="0"/>
              </a:rPr>
              <a:t>Phase </a:t>
            </a:r>
            <a:r>
              <a:rPr sz="2200" spc="20" dirty="0">
                <a:latin typeface="Times New Roman" pitchFamily="18" charset="0"/>
                <a:cs typeface="Times New Roman" pitchFamily="18" charset="0"/>
              </a:rPr>
              <a:t>2) </a:t>
            </a:r>
            <a:r>
              <a:rPr sz="2200" spc="-90" dirty="0">
                <a:latin typeface="Times New Roman" pitchFamily="18" charset="0"/>
                <a:cs typeface="Times New Roman" pitchFamily="18" charset="0"/>
              </a:rPr>
              <a:t>If </a:t>
            </a:r>
            <a:r>
              <a:rPr sz="2200" spc="125" dirty="0">
                <a:latin typeface="Times New Roman" pitchFamily="18" charset="0"/>
                <a:cs typeface="Times New Roman" pitchFamily="18" charset="0"/>
              </a:rPr>
              <a:t>coordinator </a:t>
            </a:r>
            <a:r>
              <a:rPr sz="2200" spc="80" dirty="0">
                <a:latin typeface="Times New Roman" pitchFamily="18" charset="0"/>
                <a:cs typeface="Times New Roman" pitchFamily="18" charset="0"/>
              </a:rPr>
              <a:t>receives </a:t>
            </a:r>
            <a:r>
              <a:rPr sz="2200" spc="130" dirty="0">
                <a:latin typeface="Times New Roman" pitchFamily="18" charset="0"/>
                <a:cs typeface="Times New Roman" pitchFamily="18" charset="0"/>
              </a:rPr>
              <a:t>Prepared </a:t>
            </a:r>
            <a:r>
              <a:rPr sz="2200" spc="100" dirty="0">
                <a:latin typeface="Times New Roman" pitchFamily="18" charset="0"/>
                <a:cs typeface="Times New Roman" pitchFamily="18" charset="0"/>
              </a:rPr>
              <a:t>from </a:t>
            </a:r>
            <a:r>
              <a:rPr sz="2200" spc="5" dirty="0">
                <a:latin typeface="Times New Roman" pitchFamily="18" charset="0"/>
                <a:cs typeface="Times New Roman" pitchFamily="18" charset="0"/>
              </a:rPr>
              <a:t>all  </a:t>
            </a:r>
            <a:r>
              <a:rPr sz="2200" spc="90" dirty="0">
                <a:latin typeface="Times New Roman" pitchFamily="18" charset="0"/>
                <a:cs typeface="Times New Roman" pitchFamily="18" charset="0"/>
              </a:rPr>
              <a:t>participants, </a:t>
            </a:r>
            <a:r>
              <a:rPr sz="2200" spc="35" dirty="0">
                <a:latin typeface="Times New Roman" pitchFamily="18" charset="0"/>
                <a:cs typeface="Times New Roman" pitchFamily="18" charset="0"/>
              </a:rPr>
              <a:t>it </a:t>
            </a:r>
            <a:r>
              <a:rPr sz="2200" spc="130" dirty="0">
                <a:latin typeface="Times New Roman" pitchFamily="18" charset="0"/>
                <a:cs typeface="Times New Roman" pitchFamily="18" charset="0"/>
              </a:rPr>
              <a:t>decides </a:t>
            </a:r>
            <a:r>
              <a:rPr sz="2200" spc="170" dirty="0">
                <a:latin typeface="Times New Roman" pitchFamily="18" charset="0"/>
                <a:cs typeface="Times New Roman" pitchFamily="18" charset="0"/>
              </a:rPr>
              <a:t>to </a:t>
            </a:r>
            <a:r>
              <a:rPr sz="2200" spc="100" dirty="0">
                <a:latin typeface="Times New Roman" pitchFamily="18" charset="0"/>
                <a:cs typeface="Times New Roman" pitchFamily="18" charset="0"/>
              </a:rPr>
              <a:t>commit. </a:t>
            </a:r>
            <a:r>
              <a:rPr sz="2200" spc="30" dirty="0">
                <a:latin typeface="Times New Roman" pitchFamily="18" charset="0"/>
                <a:cs typeface="Times New Roman" pitchFamily="18" charset="0"/>
              </a:rPr>
              <a:t>(The </a:t>
            </a:r>
            <a:r>
              <a:rPr sz="2200" spc="114" dirty="0">
                <a:latin typeface="Times New Roman" pitchFamily="18" charset="0"/>
                <a:cs typeface="Times New Roman" pitchFamily="18" charset="0"/>
              </a:rPr>
              <a:t>transaction </a:t>
            </a:r>
            <a:r>
              <a:rPr sz="2200" dirty="0">
                <a:latin typeface="Times New Roman" pitchFamily="18" charset="0"/>
                <a:cs typeface="Times New Roman" pitchFamily="18" charset="0"/>
              </a:rPr>
              <a:t>is </a:t>
            </a:r>
            <a:r>
              <a:rPr sz="2200" spc="135" dirty="0">
                <a:latin typeface="Times New Roman" pitchFamily="18" charset="0"/>
                <a:cs typeface="Times New Roman" pitchFamily="18" charset="0"/>
              </a:rPr>
              <a:t>now  </a:t>
            </a:r>
            <a:r>
              <a:rPr sz="2200" spc="105" dirty="0">
                <a:latin typeface="Times New Roman" pitchFamily="18" charset="0"/>
                <a:cs typeface="Times New Roman" pitchFamily="18" charset="0"/>
              </a:rPr>
              <a:t>committed.) </a:t>
            </a:r>
            <a:r>
              <a:rPr sz="2200" spc="90" dirty="0">
                <a:latin typeface="Times New Roman" pitchFamily="18" charset="0"/>
                <a:cs typeface="Times New Roman" pitchFamily="18" charset="0"/>
              </a:rPr>
              <a:t>Otherwise, </a:t>
            </a:r>
            <a:r>
              <a:rPr sz="2200" spc="35" dirty="0">
                <a:latin typeface="Times New Roman" pitchFamily="18" charset="0"/>
                <a:cs typeface="Times New Roman" pitchFamily="18" charset="0"/>
              </a:rPr>
              <a:t>it </a:t>
            </a:r>
            <a:r>
              <a:rPr sz="2200" spc="125" dirty="0">
                <a:latin typeface="Times New Roman" pitchFamily="18" charset="0"/>
                <a:cs typeface="Times New Roman" pitchFamily="18" charset="0"/>
              </a:rPr>
              <a:t>decides </a:t>
            </a:r>
            <a:r>
              <a:rPr sz="2200" spc="160" dirty="0">
                <a:latin typeface="Times New Roman" pitchFamily="18" charset="0"/>
                <a:cs typeface="Times New Roman" pitchFamily="18" charset="0"/>
              </a:rPr>
              <a:t>to</a:t>
            </a:r>
            <a:r>
              <a:rPr sz="2200" spc="254" dirty="0">
                <a:latin typeface="Times New Roman" pitchFamily="18" charset="0"/>
                <a:cs typeface="Times New Roman" pitchFamily="18" charset="0"/>
              </a:rPr>
              <a:t> </a:t>
            </a:r>
            <a:r>
              <a:rPr sz="2200" spc="170" dirty="0">
                <a:latin typeface="Times New Roman" pitchFamily="18" charset="0"/>
                <a:cs typeface="Times New Roman" pitchFamily="18" charset="0"/>
              </a:rPr>
              <a:t>abort</a:t>
            </a:r>
            <a:endParaRPr sz="2200" dirty="0">
              <a:latin typeface="Times New Roman" pitchFamily="18" charset="0"/>
              <a:cs typeface="Times New Roman" pitchFamily="18" charset="0"/>
            </a:endParaRPr>
          </a:p>
          <a:p>
            <a:pPr marL="514984" marR="6985" indent="-502284" algn="just">
              <a:lnSpc>
                <a:spcPct val="100000"/>
              </a:lnSpc>
              <a:spcBef>
                <a:spcPts val="525"/>
              </a:spcBef>
              <a:buAutoNum type="arabicPeriod"/>
              <a:tabLst>
                <a:tab pos="514984" algn="l"/>
              </a:tabLst>
            </a:pPr>
            <a:r>
              <a:rPr sz="2200" spc="65" dirty="0">
                <a:latin typeface="Times New Roman" pitchFamily="18" charset="0"/>
                <a:cs typeface="Times New Roman" pitchFamily="18" charset="0"/>
              </a:rPr>
              <a:t>The </a:t>
            </a:r>
            <a:r>
              <a:rPr sz="2200" spc="120" dirty="0">
                <a:latin typeface="Times New Roman" pitchFamily="18" charset="0"/>
                <a:cs typeface="Times New Roman" pitchFamily="18" charset="0"/>
              </a:rPr>
              <a:t>coordinator </a:t>
            </a:r>
            <a:r>
              <a:rPr sz="2200" spc="155" dirty="0">
                <a:latin typeface="Times New Roman" pitchFamily="18" charset="0"/>
                <a:cs typeface="Times New Roman" pitchFamily="18" charset="0"/>
              </a:rPr>
              <a:t>sends </a:t>
            </a:r>
            <a:r>
              <a:rPr sz="2200" spc="50" dirty="0">
                <a:latin typeface="Times New Roman" pitchFamily="18" charset="0"/>
                <a:cs typeface="Times New Roman" pitchFamily="18" charset="0"/>
              </a:rPr>
              <a:t>its </a:t>
            </a:r>
            <a:r>
              <a:rPr sz="2200" spc="100" dirty="0">
                <a:latin typeface="Times New Roman" pitchFamily="18" charset="0"/>
                <a:cs typeface="Times New Roman" pitchFamily="18" charset="0"/>
              </a:rPr>
              <a:t>decision </a:t>
            </a:r>
            <a:r>
              <a:rPr sz="2200" spc="160" dirty="0">
                <a:latin typeface="Times New Roman" pitchFamily="18" charset="0"/>
                <a:cs typeface="Times New Roman" pitchFamily="18" charset="0"/>
              </a:rPr>
              <a:t>to </a:t>
            </a:r>
            <a:r>
              <a:rPr sz="2200" spc="5" dirty="0">
                <a:latin typeface="Times New Roman" pitchFamily="18" charset="0"/>
                <a:cs typeface="Times New Roman" pitchFamily="18" charset="0"/>
              </a:rPr>
              <a:t>all </a:t>
            </a:r>
            <a:r>
              <a:rPr sz="2200" spc="105" dirty="0">
                <a:latin typeface="Times New Roman" pitchFamily="18" charset="0"/>
                <a:cs typeface="Times New Roman" pitchFamily="18" charset="0"/>
              </a:rPr>
              <a:t>participants </a:t>
            </a:r>
            <a:r>
              <a:rPr sz="2200" spc="-15" dirty="0">
                <a:latin typeface="Times New Roman" pitchFamily="18" charset="0"/>
                <a:cs typeface="Times New Roman" pitchFamily="18" charset="0"/>
              </a:rPr>
              <a:t>(i.e.  </a:t>
            </a:r>
            <a:r>
              <a:rPr sz="2200" spc="105" dirty="0">
                <a:latin typeface="Times New Roman" pitchFamily="18" charset="0"/>
                <a:cs typeface="Times New Roman" pitchFamily="18" charset="0"/>
              </a:rPr>
              <a:t>Commit </a:t>
            </a:r>
            <a:r>
              <a:rPr sz="2200" spc="125" dirty="0">
                <a:latin typeface="Times New Roman" pitchFamily="18" charset="0"/>
                <a:cs typeface="Times New Roman" pitchFamily="18" charset="0"/>
              </a:rPr>
              <a:t>or </a:t>
            </a:r>
            <a:r>
              <a:rPr sz="2200" spc="80" dirty="0">
                <a:latin typeface="Times New Roman" pitchFamily="18" charset="0"/>
                <a:cs typeface="Times New Roman" pitchFamily="18" charset="0"/>
              </a:rPr>
              <a:t>Abort) </a:t>
            </a:r>
            <a:r>
              <a:rPr sz="2200" spc="185" dirty="0">
                <a:latin typeface="Times New Roman" pitchFamily="18" charset="0"/>
                <a:cs typeface="Times New Roman" pitchFamily="18" charset="0"/>
              </a:rPr>
              <a:t>and </a:t>
            </a:r>
            <a:r>
              <a:rPr sz="2200" spc="180" dirty="0">
                <a:latin typeface="Times New Roman" pitchFamily="18" charset="0"/>
                <a:cs typeface="Times New Roman" pitchFamily="18" charset="0"/>
              </a:rPr>
              <a:t>update </a:t>
            </a:r>
            <a:r>
              <a:rPr sz="2200" spc="120" dirty="0">
                <a:latin typeface="Times New Roman" pitchFamily="18" charset="0"/>
                <a:cs typeface="Times New Roman" pitchFamily="18" charset="0"/>
              </a:rPr>
              <a:t>log</a:t>
            </a:r>
            <a:r>
              <a:rPr sz="2200" spc="655" dirty="0">
                <a:latin typeface="Times New Roman" pitchFamily="18" charset="0"/>
                <a:cs typeface="Times New Roman" pitchFamily="18" charset="0"/>
              </a:rPr>
              <a:t> </a:t>
            </a:r>
            <a:r>
              <a:rPr sz="2200" dirty="0">
                <a:latin typeface="Times New Roman" pitchFamily="18" charset="0"/>
                <a:cs typeface="Times New Roman" pitchFamily="18" charset="0"/>
              </a:rPr>
              <a:t>file</a:t>
            </a:r>
          </a:p>
          <a:p>
            <a:pPr marL="514984" marR="5715" indent="-502284" algn="just">
              <a:lnSpc>
                <a:spcPct val="100000"/>
              </a:lnSpc>
              <a:spcBef>
                <a:spcPts val="530"/>
              </a:spcBef>
              <a:buAutoNum type="arabicPeriod"/>
              <a:tabLst>
                <a:tab pos="514984" algn="l"/>
              </a:tabLst>
            </a:pPr>
            <a:r>
              <a:rPr sz="2200" spc="85" dirty="0">
                <a:latin typeface="Times New Roman" pitchFamily="18" charset="0"/>
                <a:cs typeface="Times New Roman" pitchFamily="18" charset="0"/>
              </a:rPr>
              <a:t>Participants</a:t>
            </a:r>
            <a:r>
              <a:rPr sz="2200" spc="720" dirty="0">
                <a:latin typeface="Times New Roman" pitchFamily="18" charset="0"/>
                <a:cs typeface="Times New Roman" pitchFamily="18" charset="0"/>
              </a:rPr>
              <a:t> </a:t>
            </a:r>
            <a:r>
              <a:rPr sz="2200" spc="125" dirty="0">
                <a:latin typeface="Times New Roman" pitchFamily="18" charset="0"/>
                <a:cs typeface="Times New Roman" pitchFamily="18" charset="0"/>
              </a:rPr>
              <a:t>acknowledge </a:t>
            </a:r>
            <a:r>
              <a:rPr sz="2200" spc="110" dirty="0">
                <a:latin typeface="Times New Roman" pitchFamily="18" charset="0"/>
                <a:cs typeface="Times New Roman" pitchFamily="18" charset="0"/>
              </a:rPr>
              <a:t>receipt </a:t>
            </a:r>
            <a:r>
              <a:rPr sz="2200" spc="65" dirty="0">
                <a:latin typeface="Times New Roman" pitchFamily="18" charset="0"/>
                <a:cs typeface="Times New Roman" pitchFamily="18" charset="0"/>
              </a:rPr>
              <a:t>of </a:t>
            </a:r>
            <a:r>
              <a:rPr sz="2200" spc="105" dirty="0">
                <a:latin typeface="Times New Roman" pitchFamily="18" charset="0"/>
                <a:cs typeface="Times New Roman" pitchFamily="18" charset="0"/>
              </a:rPr>
              <a:t>Commit </a:t>
            </a:r>
            <a:r>
              <a:rPr sz="2200" spc="135" dirty="0">
                <a:latin typeface="Times New Roman" pitchFamily="18" charset="0"/>
                <a:cs typeface="Times New Roman" pitchFamily="18" charset="0"/>
              </a:rPr>
              <a:t>or </a:t>
            </a:r>
            <a:r>
              <a:rPr sz="2200" spc="105" dirty="0">
                <a:latin typeface="Times New Roman" pitchFamily="18" charset="0"/>
                <a:cs typeface="Times New Roman" pitchFamily="18" charset="0"/>
              </a:rPr>
              <a:t>Abort </a:t>
            </a:r>
            <a:r>
              <a:rPr sz="2200" spc="95" dirty="0">
                <a:latin typeface="Times New Roman" pitchFamily="18" charset="0"/>
                <a:cs typeface="Times New Roman" pitchFamily="18" charset="0"/>
              </a:rPr>
              <a:t>by  </a:t>
            </a:r>
            <a:r>
              <a:rPr sz="2200" spc="80" dirty="0">
                <a:latin typeface="Times New Roman" pitchFamily="18" charset="0"/>
                <a:cs typeface="Times New Roman" pitchFamily="18" charset="0"/>
              </a:rPr>
              <a:t>replying</a:t>
            </a:r>
            <a:r>
              <a:rPr sz="2200" spc="204" dirty="0">
                <a:latin typeface="Times New Roman" pitchFamily="18" charset="0"/>
                <a:cs typeface="Times New Roman" pitchFamily="18" charset="0"/>
              </a:rPr>
              <a:t> </a:t>
            </a:r>
            <a:r>
              <a:rPr sz="2200" spc="100" dirty="0">
                <a:latin typeface="Times New Roman" pitchFamily="18" charset="0"/>
                <a:cs typeface="Times New Roman" pitchFamily="18" charset="0"/>
              </a:rPr>
              <a:t>Done.</a:t>
            </a:r>
            <a:endParaRPr sz="2200" dirty="0">
              <a:latin typeface="Times New Roman" pitchFamily="18" charset="0"/>
              <a:cs typeface="Times New Roman" pitchFamily="18" charset="0"/>
            </a:endParaRPr>
          </a:p>
        </p:txBody>
      </p:sp>
    </p:spTree>
    <p:extLst>
      <p:ext uri="{BB962C8B-B14F-4D97-AF65-F5344CB8AC3E}">
        <p14:creationId xmlns:p14="http://schemas.microsoft.com/office/powerpoint/2010/main" val="281058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244" y="773558"/>
            <a:ext cx="7886700" cy="1325563"/>
          </a:xfrm>
        </p:spPr>
        <p:txBody>
          <a:bodyPr>
            <a:normAutofit/>
          </a:bodyPr>
          <a:lstStyle/>
          <a:p>
            <a:r>
              <a:rPr lang="en-US" sz="3200" spc="484" dirty="0">
                <a:latin typeface="Times New Roman" panose="02020603050405020304" pitchFamily="18" charset="0"/>
                <a:cs typeface="Times New Roman" panose="02020603050405020304" pitchFamily="18" charset="0"/>
              </a:rPr>
              <a:t>Case </a:t>
            </a:r>
            <a:r>
              <a:rPr lang="en-US" sz="3200" spc="229" dirty="0">
                <a:latin typeface="Times New Roman" panose="02020603050405020304" pitchFamily="18" charset="0"/>
                <a:cs typeface="Times New Roman" panose="02020603050405020304" pitchFamily="18" charset="0"/>
              </a:rPr>
              <a:t>1:</a:t>
            </a:r>
            <a:r>
              <a:rPr lang="en-US" sz="3200" spc="-300" dirty="0">
                <a:latin typeface="Times New Roman" panose="02020603050405020304" pitchFamily="18" charset="0"/>
                <a:cs typeface="Times New Roman" panose="02020603050405020304" pitchFamily="18" charset="0"/>
              </a:rPr>
              <a:t> </a:t>
            </a:r>
            <a:r>
              <a:rPr lang="en-US" sz="3200" spc="325" dirty="0">
                <a:latin typeface="Times New Roman" panose="02020603050405020304" pitchFamily="18" charset="0"/>
                <a:cs typeface="Times New Roman" panose="02020603050405020304" pitchFamily="18" charset="0"/>
              </a:rPr>
              <a:t>Commit</a:t>
            </a:r>
            <a:endParaRPr lang="en-US" sz="3200" dirty="0">
              <a:latin typeface="Times New Roman" panose="02020603050405020304" pitchFamily="18" charset="0"/>
              <a:cs typeface="Times New Roman" panose="02020603050405020304" pitchFamily="18" charset="0"/>
            </a:endParaRPr>
          </a:p>
        </p:txBody>
      </p:sp>
      <p:sp>
        <p:nvSpPr>
          <p:cNvPr id="4" name="object 3"/>
          <p:cNvSpPr/>
          <p:nvPr/>
        </p:nvSpPr>
        <p:spPr>
          <a:xfrm>
            <a:off x="-76200" y="1672243"/>
            <a:ext cx="8895588" cy="2179319"/>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76200" y="3851562"/>
            <a:ext cx="8895588" cy="2179319"/>
          </a:xfrm>
          <a:prstGeom prst="rect">
            <a:avLst/>
          </a:prstGeom>
          <a:blipFill>
            <a:blip r:embed="rId3" cstate="print"/>
            <a:stretch>
              <a:fillRect/>
            </a:stretch>
          </a:blipFill>
        </p:spPr>
        <p:txBody>
          <a:bodyPr wrap="square" lIns="0" tIns="0" rIns="0" bIns="0" rtlCol="0"/>
          <a:lstStyle/>
          <a:p>
            <a:endParaRPr/>
          </a:p>
        </p:txBody>
      </p:sp>
      <p:sp>
        <p:nvSpPr>
          <p:cNvPr id="7" name="object 5"/>
          <p:cNvSpPr/>
          <p:nvPr/>
        </p:nvSpPr>
        <p:spPr>
          <a:xfrm>
            <a:off x="-76200" y="3886200"/>
            <a:ext cx="8895588" cy="2179319"/>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145001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7087" y="545235"/>
            <a:ext cx="7886700" cy="1325563"/>
          </a:xfrm>
        </p:spPr>
        <p:txBody>
          <a:bodyPr>
            <a:normAutofit/>
          </a:bodyPr>
          <a:lstStyle/>
          <a:p>
            <a:r>
              <a:rPr lang="en-US" sz="3200" spc="484" dirty="0">
                <a:latin typeface="Times New Roman" panose="02020603050405020304" pitchFamily="18" charset="0"/>
                <a:cs typeface="Times New Roman" panose="02020603050405020304" pitchFamily="18" charset="0"/>
              </a:rPr>
              <a:t>Case </a:t>
            </a:r>
            <a:r>
              <a:rPr lang="en-US" sz="3200" spc="229" dirty="0">
                <a:latin typeface="Times New Roman" panose="02020603050405020304" pitchFamily="18" charset="0"/>
                <a:cs typeface="Times New Roman" panose="02020603050405020304" pitchFamily="18" charset="0"/>
              </a:rPr>
              <a:t>2:</a:t>
            </a:r>
            <a:r>
              <a:rPr lang="en-US" sz="3200" spc="-480" dirty="0">
                <a:latin typeface="Times New Roman" panose="02020603050405020304" pitchFamily="18" charset="0"/>
                <a:cs typeface="Times New Roman" panose="02020603050405020304" pitchFamily="18" charset="0"/>
              </a:rPr>
              <a:t> </a:t>
            </a:r>
            <a:r>
              <a:rPr lang="en-US" sz="3200" spc="300" dirty="0">
                <a:latin typeface="Times New Roman" panose="02020603050405020304" pitchFamily="18" charset="0"/>
                <a:cs typeface="Times New Roman" panose="02020603050405020304" pitchFamily="18" charset="0"/>
              </a:rPr>
              <a:t>Abort</a:t>
            </a:r>
            <a:endParaRPr lang="en-US" sz="3200" dirty="0">
              <a:latin typeface="Times New Roman" panose="02020603050405020304" pitchFamily="18" charset="0"/>
              <a:cs typeface="Times New Roman" panose="02020603050405020304" pitchFamily="18" charset="0"/>
            </a:endParaRPr>
          </a:p>
        </p:txBody>
      </p:sp>
      <p:sp>
        <p:nvSpPr>
          <p:cNvPr id="4" name="object 3"/>
          <p:cNvSpPr/>
          <p:nvPr/>
        </p:nvSpPr>
        <p:spPr>
          <a:xfrm>
            <a:off x="152400" y="1592580"/>
            <a:ext cx="8458200" cy="2293619"/>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152400" y="3886199"/>
            <a:ext cx="8458200" cy="2295144"/>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708434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7814" y="933162"/>
            <a:ext cx="7886700" cy="1325563"/>
          </a:xfrm>
        </p:spPr>
        <p:txBody>
          <a:bodyPr>
            <a:normAutofit/>
          </a:bodyPr>
          <a:lstStyle/>
          <a:p>
            <a:r>
              <a:rPr lang="en-US" sz="3200" b="1" dirty="0">
                <a:latin typeface="Times New Roman" panose="02020603050405020304" pitchFamily="18" charset="0"/>
                <a:cs typeface="Times New Roman" panose="02020603050405020304" pitchFamily="18" charset="0"/>
              </a:rPr>
              <a:t>Three Phase Commit</a:t>
            </a:r>
            <a:br>
              <a:rPr lang="en-US" sz="3200" b="1"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628649" y="2029691"/>
            <a:ext cx="8238259" cy="3455753"/>
          </a:xfrm>
          <a:prstGeom prst="rect">
            <a:avLst/>
          </a:prstGeom>
        </p:spPr>
        <p:txBody>
          <a:bodyPr vert="horz" wrap="square" lIns="0" tIns="26034" rIns="0" bIns="0" rtlCol="0">
            <a:spAutoFit/>
          </a:bodyPr>
          <a:lstStyle/>
          <a:p>
            <a:pPr marL="326390" marR="5080" indent="-313690" algn="just">
              <a:lnSpc>
                <a:spcPts val="3170"/>
              </a:lnSpc>
              <a:spcBef>
                <a:spcPts val="204"/>
              </a:spcBef>
              <a:buChar char="•"/>
              <a:tabLst>
                <a:tab pos="327025" algn="l"/>
              </a:tabLst>
            </a:pPr>
            <a:r>
              <a:rPr sz="2400" spc="20" dirty="0">
                <a:latin typeface="Times New Roman" pitchFamily="18" charset="0"/>
                <a:cs typeface="Times New Roman" pitchFamily="18" charset="0"/>
              </a:rPr>
              <a:t>3PC </a:t>
            </a:r>
            <a:r>
              <a:rPr sz="2400" spc="150" dirty="0">
                <a:latin typeface="Times New Roman" pitchFamily="18" charset="0"/>
                <a:cs typeface="Times New Roman" pitchFamily="18" charset="0"/>
              </a:rPr>
              <a:t>prevents </a:t>
            </a:r>
            <a:r>
              <a:rPr sz="2400" spc="110" dirty="0">
                <a:latin typeface="Times New Roman" pitchFamily="18" charset="0"/>
                <a:cs typeface="Times New Roman" pitchFamily="18" charset="0"/>
              </a:rPr>
              <a:t>blocking </a:t>
            </a:r>
            <a:r>
              <a:rPr sz="2400" spc="60" dirty="0">
                <a:latin typeface="Times New Roman" pitchFamily="18" charset="0"/>
                <a:cs typeface="Times New Roman" pitchFamily="18" charset="0"/>
              </a:rPr>
              <a:t>in </a:t>
            </a:r>
            <a:r>
              <a:rPr sz="2400" spc="204" dirty="0">
                <a:latin typeface="Times New Roman" pitchFamily="18" charset="0"/>
                <a:cs typeface="Times New Roman" pitchFamily="18" charset="0"/>
              </a:rPr>
              <a:t>the </a:t>
            </a:r>
            <a:r>
              <a:rPr sz="2400" spc="185" dirty="0">
                <a:latin typeface="Times New Roman" pitchFamily="18" charset="0"/>
                <a:cs typeface="Times New Roman" pitchFamily="18" charset="0"/>
              </a:rPr>
              <a:t>absence </a:t>
            </a:r>
            <a:r>
              <a:rPr sz="2400" spc="90" dirty="0">
                <a:latin typeface="Times New Roman" pitchFamily="18" charset="0"/>
                <a:cs typeface="Times New Roman" pitchFamily="18" charset="0"/>
              </a:rPr>
              <a:t>of  </a:t>
            </a:r>
            <a:r>
              <a:rPr sz="2400" spc="145" dirty="0">
                <a:latin typeface="Times New Roman" pitchFamily="18" charset="0"/>
                <a:cs typeface="Times New Roman" pitchFamily="18" charset="0"/>
              </a:rPr>
              <a:t>communications </a:t>
            </a:r>
            <a:r>
              <a:rPr sz="2400" spc="50" dirty="0">
                <a:latin typeface="Times New Roman" pitchFamily="18" charset="0"/>
                <a:cs typeface="Times New Roman" pitchFamily="18" charset="0"/>
              </a:rPr>
              <a:t>failures. </a:t>
            </a:r>
            <a:r>
              <a:rPr sz="2400" dirty="0">
                <a:latin typeface="Times New Roman" pitchFamily="18" charset="0"/>
                <a:cs typeface="Times New Roman" pitchFamily="18" charset="0"/>
              </a:rPr>
              <a:t>It </a:t>
            </a:r>
            <a:r>
              <a:rPr sz="2400" spc="160" dirty="0">
                <a:latin typeface="Times New Roman" pitchFamily="18" charset="0"/>
                <a:cs typeface="Times New Roman" pitchFamily="18" charset="0"/>
              </a:rPr>
              <a:t>can </a:t>
            </a:r>
            <a:r>
              <a:rPr sz="2400" spc="245" dirty="0">
                <a:latin typeface="Times New Roman" pitchFamily="18" charset="0"/>
                <a:cs typeface="Times New Roman" pitchFamily="18" charset="0"/>
              </a:rPr>
              <a:t>be </a:t>
            </a:r>
            <a:r>
              <a:rPr sz="2400" spc="235" dirty="0">
                <a:latin typeface="Times New Roman" pitchFamily="18" charset="0"/>
                <a:cs typeface="Times New Roman" pitchFamily="18" charset="0"/>
              </a:rPr>
              <a:t>made </a:t>
            </a:r>
            <a:r>
              <a:rPr sz="2400" spc="80" dirty="0">
                <a:latin typeface="Times New Roman" pitchFamily="18" charset="0"/>
                <a:cs typeface="Times New Roman" pitchFamily="18" charset="0"/>
              </a:rPr>
              <a:t>resilient  </a:t>
            </a:r>
            <a:r>
              <a:rPr sz="2400" spc="204" dirty="0">
                <a:latin typeface="Times New Roman" pitchFamily="18" charset="0"/>
                <a:cs typeface="Times New Roman" pitchFamily="18" charset="0"/>
              </a:rPr>
              <a:t>to </a:t>
            </a:r>
            <a:r>
              <a:rPr sz="2400" spc="145" dirty="0">
                <a:latin typeface="Times New Roman" pitchFamily="18" charset="0"/>
                <a:cs typeface="Times New Roman" pitchFamily="18" charset="0"/>
              </a:rPr>
              <a:t>communications </a:t>
            </a:r>
            <a:r>
              <a:rPr sz="2400" spc="50" dirty="0">
                <a:latin typeface="Times New Roman" pitchFamily="18" charset="0"/>
                <a:cs typeface="Times New Roman" pitchFamily="18" charset="0"/>
              </a:rPr>
              <a:t>failures, </a:t>
            </a:r>
            <a:r>
              <a:rPr sz="2400" spc="210" dirty="0">
                <a:latin typeface="Times New Roman" pitchFamily="18" charset="0"/>
                <a:cs typeface="Times New Roman" pitchFamily="18" charset="0"/>
              </a:rPr>
              <a:t>but </a:t>
            </a:r>
            <a:r>
              <a:rPr sz="2400" spc="200" dirty="0">
                <a:latin typeface="Times New Roman" pitchFamily="18" charset="0"/>
                <a:cs typeface="Times New Roman" pitchFamily="18" charset="0"/>
              </a:rPr>
              <a:t>then </a:t>
            </a:r>
            <a:r>
              <a:rPr sz="2400" spc="30" dirty="0">
                <a:latin typeface="Times New Roman" pitchFamily="18" charset="0"/>
                <a:cs typeface="Times New Roman" pitchFamily="18" charset="0"/>
              </a:rPr>
              <a:t>it </a:t>
            </a:r>
            <a:r>
              <a:rPr sz="2400" spc="140" dirty="0">
                <a:latin typeface="Times New Roman" pitchFamily="18" charset="0"/>
                <a:cs typeface="Times New Roman" pitchFamily="18" charset="0"/>
              </a:rPr>
              <a:t>may</a:t>
            </a:r>
            <a:r>
              <a:rPr sz="2400" spc="300" dirty="0">
                <a:latin typeface="Times New Roman" pitchFamily="18" charset="0"/>
                <a:cs typeface="Times New Roman" pitchFamily="18" charset="0"/>
              </a:rPr>
              <a:t> </a:t>
            </a:r>
            <a:r>
              <a:rPr sz="2400" spc="100" dirty="0">
                <a:latin typeface="Times New Roman" pitchFamily="18" charset="0"/>
                <a:cs typeface="Times New Roman" pitchFamily="18" charset="0"/>
              </a:rPr>
              <a:t>block</a:t>
            </a:r>
            <a:endParaRPr sz="2400" dirty="0">
              <a:latin typeface="Times New Roman" pitchFamily="18" charset="0"/>
              <a:cs typeface="Times New Roman" pitchFamily="18" charset="0"/>
            </a:endParaRPr>
          </a:p>
          <a:p>
            <a:pPr marL="326390" marR="9525" indent="-313690" algn="just">
              <a:lnSpc>
                <a:spcPts val="3170"/>
              </a:lnSpc>
              <a:spcBef>
                <a:spcPts val="625"/>
              </a:spcBef>
              <a:buChar char="•"/>
              <a:tabLst>
                <a:tab pos="327025" algn="l"/>
              </a:tabLst>
            </a:pPr>
            <a:r>
              <a:rPr sz="2400" spc="20" dirty="0">
                <a:latin typeface="Times New Roman" pitchFamily="18" charset="0"/>
                <a:cs typeface="Times New Roman" pitchFamily="18" charset="0"/>
              </a:rPr>
              <a:t>3PC </a:t>
            </a:r>
            <a:r>
              <a:rPr sz="2400" dirty="0">
                <a:latin typeface="Times New Roman" pitchFamily="18" charset="0"/>
                <a:cs typeface="Times New Roman" pitchFamily="18" charset="0"/>
              </a:rPr>
              <a:t>is </a:t>
            </a:r>
            <a:r>
              <a:rPr sz="2400" spc="180" dirty="0">
                <a:latin typeface="Times New Roman" pitchFamily="18" charset="0"/>
                <a:cs typeface="Times New Roman" pitchFamily="18" charset="0"/>
              </a:rPr>
              <a:t>much </a:t>
            </a:r>
            <a:r>
              <a:rPr sz="2400" spc="190" dirty="0">
                <a:latin typeface="Times New Roman" pitchFamily="18" charset="0"/>
                <a:cs typeface="Times New Roman" pitchFamily="18" charset="0"/>
              </a:rPr>
              <a:t>more </a:t>
            </a:r>
            <a:r>
              <a:rPr sz="2400" spc="125" dirty="0">
                <a:latin typeface="Times New Roman" pitchFamily="18" charset="0"/>
                <a:cs typeface="Times New Roman" pitchFamily="18" charset="0"/>
              </a:rPr>
              <a:t>complex </a:t>
            </a:r>
            <a:r>
              <a:rPr sz="2400" spc="190" dirty="0">
                <a:latin typeface="Times New Roman" pitchFamily="18" charset="0"/>
                <a:cs typeface="Times New Roman" pitchFamily="18" charset="0"/>
              </a:rPr>
              <a:t>than </a:t>
            </a:r>
            <a:r>
              <a:rPr sz="2400" dirty="0">
                <a:latin typeface="Times New Roman" pitchFamily="18" charset="0"/>
                <a:cs typeface="Times New Roman" pitchFamily="18" charset="0"/>
              </a:rPr>
              <a:t>2PC, </a:t>
            </a:r>
            <a:r>
              <a:rPr sz="2400" spc="210" dirty="0">
                <a:latin typeface="Times New Roman" pitchFamily="18" charset="0"/>
                <a:cs typeface="Times New Roman" pitchFamily="18" charset="0"/>
              </a:rPr>
              <a:t>but </a:t>
            </a:r>
            <a:r>
              <a:rPr sz="2400" spc="80" dirty="0">
                <a:latin typeface="Times New Roman" pitchFamily="18" charset="0"/>
                <a:cs typeface="Times New Roman" pitchFamily="18" charset="0"/>
              </a:rPr>
              <a:t>only  marginally </a:t>
            </a:r>
            <a:r>
              <a:rPr sz="2400" spc="125" dirty="0">
                <a:latin typeface="Times New Roman" pitchFamily="18" charset="0"/>
                <a:cs typeface="Times New Roman" pitchFamily="18" charset="0"/>
              </a:rPr>
              <a:t>improves</a:t>
            </a:r>
            <a:r>
              <a:rPr sz="2400" spc="445" dirty="0">
                <a:latin typeface="Times New Roman" pitchFamily="18" charset="0"/>
                <a:cs typeface="Times New Roman" pitchFamily="18" charset="0"/>
              </a:rPr>
              <a:t> </a:t>
            </a:r>
            <a:r>
              <a:rPr sz="2400" spc="35" dirty="0">
                <a:latin typeface="Times New Roman" pitchFamily="18" charset="0"/>
                <a:cs typeface="Times New Roman" pitchFamily="18" charset="0"/>
              </a:rPr>
              <a:t>reliability</a:t>
            </a:r>
            <a:endParaRPr sz="2400" dirty="0">
              <a:latin typeface="Times New Roman" pitchFamily="18" charset="0"/>
              <a:cs typeface="Times New Roman" pitchFamily="18" charset="0"/>
            </a:endParaRPr>
          </a:p>
          <a:p>
            <a:pPr marL="767080" lvl="1" indent="-251460">
              <a:lnSpc>
                <a:spcPct val="100000"/>
              </a:lnSpc>
              <a:spcBef>
                <a:spcPts val="430"/>
              </a:spcBef>
              <a:buChar char="•"/>
              <a:tabLst>
                <a:tab pos="766445" algn="l"/>
                <a:tab pos="767715" algn="l"/>
              </a:tabLst>
            </a:pPr>
            <a:r>
              <a:rPr sz="2400" spc="120" dirty="0">
                <a:latin typeface="Times New Roman" pitchFamily="18" charset="0"/>
                <a:cs typeface="Times New Roman" pitchFamily="18" charset="0"/>
              </a:rPr>
              <a:t>prevents </a:t>
            </a:r>
            <a:r>
              <a:rPr sz="2400" spc="175" dirty="0">
                <a:latin typeface="Times New Roman" pitchFamily="18" charset="0"/>
                <a:cs typeface="Times New Roman" pitchFamily="18" charset="0"/>
              </a:rPr>
              <a:t>some </a:t>
            </a:r>
            <a:r>
              <a:rPr sz="2400" spc="90" dirty="0">
                <a:latin typeface="Times New Roman" pitchFamily="18" charset="0"/>
                <a:cs typeface="Times New Roman" pitchFamily="18" charset="0"/>
              </a:rPr>
              <a:t>blocking</a:t>
            </a:r>
            <a:r>
              <a:rPr sz="2400" spc="390" dirty="0">
                <a:latin typeface="Times New Roman" pitchFamily="18" charset="0"/>
                <a:cs typeface="Times New Roman" pitchFamily="18" charset="0"/>
              </a:rPr>
              <a:t> </a:t>
            </a:r>
            <a:r>
              <a:rPr sz="2400" spc="85" dirty="0">
                <a:latin typeface="Times New Roman" pitchFamily="18" charset="0"/>
                <a:cs typeface="Times New Roman" pitchFamily="18" charset="0"/>
              </a:rPr>
              <a:t>situations.</a:t>
            </a:r>
            <a:endParaRPr sz="2400" dirty="0">
              <a:latin typeface="Times New Roman" pitchFamily="18" charset="0"/>
              <a:cs typeface="Times New Roman" pitchFamily="18" charset="0"/>
            </a:endParaRPr>
          </a:p>
          <a:p>
            <a:pPr marL="326390" marR="6985" indent="-313690" algn="just">
              <a:lnSpc>
                <a:spcPts val="3170"/>
              </a:lnSpc>
              <a:spcBef>
                <a:spcPts val="735"/>
              </a:spcBef>
              <a:buChar char="•"/>
              <a:tabLst>
                <a:tab pos="327025" algn="l"/>
              </a:tabLst>
            </a:pPr>
            <a:r>
              <a:rPr sz="2400" spc="90" dirty="0">
                <a:latin typeface="Times New Roman" pitchFamily="18" charset="0"/>
                <a:cs typeface="Times New Roman" pitchFamily="18" charset="0"/>
              </a:rPr>
              <a:t>Main </a:t>
            </a:r>
            <a:r>
              <a:rPr sz="2400" spc="85" dirty="0">
                <a:latin typeface="Times New Roman" pitchFamily="18" charset="0"/>
                <a:cs typeface="Times New Roman" pitchFamily="18" charset="0"/>
              </a:rPr>
              <a:t>idea:  </a:t>
            </a:r>
            <a:r>
              <a:rPr sz="2400" spc="180" dirty="0">
                <a:latin typeface="Times New Roman" pitchFamily="18" charset="0"/>
                <a:cs typeface="Times New Roman" pitchFamily="18" charset="0"/>
              </a:rPr>
              <a:t>becoming </a:t>
            </a:r>
            <a:r>
              <a:rPr sz="2400" spc="130" dirty="0">
                <a:latin typeface="Times New Roman" pitchFamily="18" charset="0"/>
                <a:cs typeface="Times New Roman" pitchFamily="18" charset="0"/>
              </a:rPr>
              <a:t>certain </a:t>
            </a:r>
            <a:r>
              <a:rPr sz="2400" spc="220" dirty="0">
                <a:latin typeface="Times New Roman" pitchFamily="18" charset="0"/>
                <a:cs typeface="Times New Roman" pitchFamily="18" charset="0"/>
              </a:rPr>
              <a:t>and </a:t>
            </a:r>
            <a:r>
              <a:rPr sz="2400" spc="140" dirty="0">
                <a:latin typeface="Times New Roman" pitchFamily="18" charset="0"/>
                <a:cs typeface="Times New Roman" pitchFamily="18" charset="0"/>
              </a:rPr>
              <a:t>deciding </a:t>
            </a:r>
            <a:r>
              <a:rPr sz="2400" spc="204" dirty="0">
                <a:latin typeface="Times New Roman" pitchFamily="18" charset="0"/>
                <a:cs typeface="Times New Roman" pitchFamily="18" charset="0"/>
              </a:rPr>
              <a:t>to  </a:t>
            </a:r>
            <a:r>
              <a:rPr sz="2400" spc="150" dirty="0">
                <a:latin typeface="Times New Roman" pitchFamily="18" charset="0"/>
                <a:cs typeface="Times New Roman" pitchFamily="18" charset="0"/>
              </a:rPr>
              <a:t>commit </a:t>
            </a:r>
            <a:r>
              <a:rPr sz="2400" spc="145" dirty="0">
                <a:latin typeface="Times New Roman" pitchFamily="18" charset="0"/>
                <a:cs typeface="Times New Roman" pitchFamily="18" charset="0"/>
              </a:rPr>
              <a:t>are </a:t>
            </a:r>
            <a:r>
              <a:rPr sz="2400" spc="170" dirty="0">
                <a:latin typeface="Times New Roman" pitchFamily="18" charset="0"/>
                <a:cs typeface="Times New Roman" pitchFamily="18" charset="0"/>
              </a:rPr>
              <a:t>separate</a:t>
            </a:r>
            <a:r>
              <a:rPr sz="2400" spc="520" dirty="0">
                <a:latin typeface="Times New Roman" pitchFamily="18" charset="0"/>
                <a:cs typeface="Times New Roman" pitchFamily="18" charset="0"/>
              </a:rPr>
              <a:t> </a:t>
            </a:r>
            <a:r>
              <a:rPr sz="2400" spc="125" dirty="0">
                <a:latin typeface="Times New Roman" pitchFamily="18" charset="0"/>
                <a:cs typeface="Times New Roman" pitchFamily="18" charset="0"/>
              </a:rPr>
              <a:t>steps.</a:t>
            </a:r>
            <a:endParaRPr sz="2400" dirty="0">
              <a:latin typeface="Times New Roman" pitchFamily="18" charset="0"/>
              <a:cs typeface="Times New Roman" pitchFamily="18" charset="0"/>
            </a:endParaRPr>
          </a:p>
        </p:txBody>
      </p:sp>
    </p:spTree>
    <p:extLst>
      <p:ext uri="{BB962C8B-B14F-4D97-AF65-F5344CB8AC3E}">
        <p14:creationId xmlns:p14="http://schemas.microsoft.com/office/powerpoint/2010/main" val="2158854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18654" y="1205345"/>
            <a:ext cx="8825345" cy="5410200"/>
          </a:xfrm>
        </p:spPr>
        <p:txBody>
          <a:bodyPr>
            <a:normAutofit/>
          </a:bodyPr>
          <a:lstStyle/>
          <a:p>
            <a:pPr marL="0" indent="0">
              <a:buNone/>
            </a:pPr>
            <a:r>
              <a:rPr lang="en-US" dirty="0">
                <a:latin typeface="Times New Roman" pitchFamily="18" charset="0"/>
                <a:cs typeface="Times New Roman" pitchFamily="18" charset="0"/>
              </a:rPr>
              <a:t>1. (Begin phase 1) Coordinator sends Request-to prepare to all subordinates/Participants</a:t>
            </a:r>
          </a:p>
          <a:p>
            <a:pPr marL="515620" indent="-502920">
              <a:lnSpc>
                <a:spcPct val="100000"/>
              </a:lnSpc>
              <a:spcBef>
                <a:spcPts val="725"/>
              </a:spcBef>
              <a:buAutoNum type="arabicPeriod" startAt="2"/>
              <a:tabLst>
                <a:tab pos="514984" algn="l"/>
                <a:tab pos="515620" algn="l"/>
              </a:tabLst>
            </a:pPr>
            <a:r>
              <a:rPr lang="en-US" spc="140" dirty="0">
                <a:latin typeface="Times New Roman" pitchFamily="18" charset="0"/>
                <a:cs typeface="Times New Roman" pitchFamily="18" charset="0"/>
              </a:rPr>
              <a:t>Subordinates </a:t>
            </a:r>
            <a:r>
              <a:rPr lang="en-US" spc="145" dirty="0">
                <a:latin typeface="Times New Roman" pitchFamily="18" charset="0"/>
                <a:cs typeface="Times New Roman" pitchFamily="18" charset="0"/>
              </a:rPr>
              <a:t>vote </a:t>
            </a:r>
            <a:r>
              <a:rPr lang="en-US" spc="150" dirty="0">
                <a:latin typeface="Times New Roman" pitchFamily="18" charset="0"/>
                <a:cs typeface="Times New Roman" pitchFamily="18" charset="0"/>
              </a:rPr>
              <a:t>Prepared or </a:t>
            </a:r>
            <a:r>
              <a:rPr lang="en-US" spc="95" dirty="0">
                <a:latin typeface="Times New Roman" pitchFamily="18" charset="0"/>
                <a:cs typeface="Times New Roman" pitchFamily="18" charset="0"/>
              </a:rPr>
              <a:t>No, </a:t>
            </a:r>
            <a:r>
              <a:rPr lang="en-US" spc="100" dirty="0">
                <a:latin typeface="Times New Roman" pitchFamily="18" charset="0"/>
                <a:cs typeface="Times New Roman" pitchFamily="18" charset="0"/>
              </a:rPr>
              <a:t>just </a:t>
            </a:r>
            <a:r>
              <a:rPr lang="en-US" spc="5" dirty="0">
                <a:latin typeface="Times New Roman" pitchFamily="18" charset="0"/>
                <a:cs typeface="Times New Roman" pitchFamily="18" charset="0"/>
              </a:rPr>
              <a:t>like</a:t>
            </a:r>
            <a:r>
              <a:rPr lang="en-US" spc="409" dirty="0">
                <a:latin typeface="Times New Roman" pitchFamily="18" charset="0"/>
                <a:cs typeface="Times New Roman" pitchFamily="18" charset="0"/>
              </a:rPr>
              <a:t> </a:t>
            </a:r>
            <a:r>
              <a:rPr lang="en-US" spc="-5" dirty="0">
                <a:latin typeface="Times New Roman" pitchFamily="18" charset="0"/>
                <a:cs typeface="Times New Roman" pitchFamily="18" charset="0"/>
              </a:rPr>
              <a:t>2PC.</a:t>
            </a:r>
            <a:endParaRPr lang="en-US" dirty="0">
              <a:latin typeface="Times New Roman" pitchFamily="18" charset="0"/>
              <a:cs typeface="Times New Roman" pitchFamily="18" charset="0"/>
            </a:endParaRPr>
          </a:p>
          <a:p>
            <a:pPr marL="515620" marR="6350" indent="-502920" algn="just">
              <a:lnSpc>
                <a:spcPts val="3170"/>
              </a:lnSpc>
              <a:spcBef>
                <a:spcPts val="740"/>
              </a:spcBef>
              <a:buFont typeface="Wingdings 2"/>
              <a:buAutoNum type="arabicPeriod" startAt="2"/>
              <a:tabLst>
                <a:tab pos="633095" algn="l"/>
              </a:tabLst>
            </a:pPr>
            <a:r>
              <a:rPr lang="en-US" spc="-110" dirty="0">
                <a:latin typeface="Times New Roman" pitchFamily="18" charset="0"/>
                <a:cs typeface="Times New Roman" pitchFamily="18" charset="0"/>
              </a:rPr>
              <a:t>If </a:t>
            </a:r>
            <a:r>
              <a:rPr lang="en-US" dirty="0">
                <a:latin typeface="Times New Roman" pitchFamily="18" charset="0"/>
                <a:cs typeface="Times New Roman" pitchFamily="18" charset="0"/>
              </a:rPr>
              <a:t>Coordinator</a:t>
            </a:r>
            <a:r>
              <a:rPr lang="en-US" spc="-95" dirty="0">
                <a:latin typeface="Times New Roman" pitchFamily="18" charset="0"/>
                <a:cs typeface="Times New Roman" pitchFamily="18" charset="0"/>
              </a:rPr>
              <a:t> </a:t>
            </a:r>
            <a:r>
              <a:rPr lang="en-US" spc="95" dirty="0">
                <a:latin typeface="Times New Roman" pitchFamily="18" charset="0"/>
                <a:cs typeface="Times New Roman" pitchFamily="18" charset="0"/>
              </a:rPr>
              <a:t>receives </a:t>
            </a:r>
            <a:r>
              <a:rPr lang="en-US" spc="150" dirty="0">
                <a:latin typeface="Times New Roman" pitchFamily="18" charset="0"/>
                <a:cs typeface="Times New Roman" pitchFamily="18" charset="0"/>
              </a:rPr>
              <a:t>Prepared </a:t>
            </a:r>
            <a:r>
              <a:rPr lang="en-US" spc="120" dirty="0">
                <a:latin typeface="Times New Roman" pitchFamily="18" charset="0"/>
                <a:cs typeface="Times New Roman" pitchFamily="18" charset="0"/>
              </a:rPr>
              <a:t>from </a:t>
            </a:r>
            <a:r>
              <a:rPr lang="en-US" dirty="0">
                <a:latin typeface="Times New Roman" pitchFamily="18" charset="0"/>
                <a:cs typeface="Times New Roman" pitchFamily="18" charset="0"/>
              </a:rPr>
              <a:t>all </a:t>
            </a:r>
            <a:r>
              <a:rPr lang="en-US" spc="110" dirty="0">
                <a:latin typeface="Times New Roman" pitchFamily="18" charset="0"/>
                <a:cs typeface="Times New Roman" pitchFamily="18" charset="0"/>
              </a:rPr>
              <a:t>participants, </a:t>
            </a:r>
            <a:r>
              <a:rPr lang="en-US" spc="210" dirty="0">
                <a:latin typeface="Times New Roman" pitchFamily="18" charset="0"/>
                <a:cs typeface="Times New Roman" pitchFamily="18" charset="0"/>
              </a:rPr>
              <a:t>then  </a:t>
            </a:r>
            <a:r>
              <a:rPr lang="en-US" spc="130" dirty="0">
                <a:latin typeface="Times New Roman" pitchFamily="18" charset="0"/>
                <a:cs typeface="Times New Roman" pitchFamily="18" charset="0"/>
              </a:rPr>
              <a:t>(begin </a:t>
            </a:r>
            <a:r>
              <a:rPr lang="en-US" spc="195" dirty="0">
                <a:latin typeface="Times New Roman" pitchFamily="18" charset="0"/>
                <a:cs typeface="Times New Roman" pitchFamily="18" charset="0"/>
              </a:rPr>
              <a:t>phase </a:t>
            </a:r>
            <a:r>
              <a:rPr lang="en-US" spc="20" dirty="0">
                <a:latin typeface="Times New Roman" pitchFamily="18" charset="0"/>
                <a:cs typeface="Times New Roman" pitchFamily="18" charset="0"/>
              </a:rPr>
              <a:t>2) </a:t>
            </a:r>
            <a:r>
              <a:rPr lang="en-US" spc="30" dirty="0">
                <a:latin typeface="Times New Roman" pitchFamily="18" charset="0"/>
                <a:cs typeface="Times New Roman" pitchFamily="18" charset="0"/>
              </a:rPr>
              <a:t>it </a:t>
            </a:r>
            <a:r>
              <a:rPr lang="en-US" spc="180" dirty="0">
                <a:latin typeface="Times New Roman" pitchFamily="18" charset="0"/>
                <a:cs typeface="Times New Roman" pitchFamily="18" charset="0"/>
              </a:rPr>
              <a:t>sends </a:t>
            </a:r>
            <a:r>
              <a:rPr lang="en-US" spc="125" dirty="0">
                <a:latin typeface="Times New Roman" pitchFamily="18" charset="0"/>
                <a:cs typeface="Times New Roman" pitchFamily="18" charset="0"/>
              </a:rPr>
              <a:t>Pre-Commit </a:t>
            </a:r>
            <a:r>
              <a:rPr lang="en-US" spc="190" dirty="0">
                <a:latin typeface="Times New Roman" pitchFamily="18" charset="0"/>
                <a:cs typeface="Times New Roman" pitchFamily="18" charset="0"/>
              </a:rPr>
              <a:t>to </a:t>
            </a:r>
            <a:r>
              <a:rPr lang="en-US" spc="10" dirty="0">
                <a:latin typeface="Times New Roman" pitchFamily="18" charset="0"/>
                <a:cs typeface="Times New Roman" pitchFamily="18" charset="0"/>
              </a:rPr>
              <a:t>all  </a:t>
            </a:r>
            <a:r>
              <a:rPr lang="en-US" spc="135" dirty="0">
                <a:latin typeface="Times New Roman" pitchFamily="18" charset="0"/>
                <a:cs typeface="Times New Roman" pitchFamily="18" charset="0"/>
              </a:rPr>
              <a:t>subordinates</a:t>
            </a:r>
            <a:r>
              <a:rPr lang="en-US" dirty="0">
                <a:latin typeface="Times New Roman" pitchFamily="18" charset="0"/>
                <a:cs typeface="Times New Roman" pitchFamily="18" charset="0"/>
              </a:rPr>
              <a:t>/Participants</a:t>
            </a:r>
            <a:r>
              <a:rPr lang="en-US" spc="135" dirty="0">
                <a:latin typeface="Times New Roman" pitchFamily="18" charset="0"/>
                <a:cs typeface="Times New Roman" pitchFamily="18" charset="0"/>
              </a:rPr>
              <a:t>.</a:t>
            </a:r>
            <a:endParaRPr lang="en-US" dirty="0">
              <a:latin typeface="Times New Roman" pitchFamily="18" charset="0"/>
              <a:cs typeface="Times New Roman" pitchFamily="18" charset="0"/>
            </a:endParaRPr>
          </a:p>
          <a:p>
            <a:pPr marL="515620" marR="6350" indent="-502920" algn="just">
              <a:lnSpc>
                <a:spcPts val="3170"/>
              </a:lnSpc>
              <a:spcBef>
                <a:spcPts val="615"/>
              </a:spcBef>
              <a:buFont typeface="Wingdings 2"/>
              <a:buAutoNum type="arabicPeriod" startAt="2"/>
              <a:tabLst>
                <a:tab pos="515620" algn="l"/>
              </a:tabLst>
            </a:pPr>
            <a:r>
              <a:rPr lang="en-US" spc="145" dirty="0">
                <a:latin typeface="Times New Roman" pitchFamily="18" charset="0"/>
                <a:cs typeface="Times New Roman" pitchFamily="18" charset="0"/>
              </a:rPr>
              <a:t>Subordinates</a:t>
            </a:r>
            <a:r>
              <a:rPr lang="en-US" dirty="0">
                <a:latin typeface="Times New Roman" pitchFamily="18" charset="0"/>
                <a:cs typeface="Times New Roman" pitchFamily="18" charset="0"/>
              </a:rPr>
              <a:t>/Participants </a:t>
            </a:r>
            <a:r>
              <a:rPr lang="en-US" spc="75" dirty="0">
                <a:latin typeface="Times New Roman" pitchFamily="18" charset="0"/>
                <a:cs typeface="Times New Roman" pitchFamily="18" charset="0"/>
              </a:rPr>
              <a:t>wait </a:t>
            </a:r>
            <a:r>
              <a:rPr lang="en-US" spc="85" dirty="0">
                <a:latin typeface="Times New Roman" pitchFamily="18" charset="0"/>
                <a:cs typeface="Times New Roman" pitchFamily="18" charset="0"/>
              </a:rPr>
              <a:t>for</a:t>
            </a:r>
            <a:r>
              <a:rPr lang="en-US" spc="830" dirty="0">
                <a:latin typeface="Times New Roman" pitchFamily="18" charset="0"/>
                <a:cs typeface="Times New Roman" pitchFamily="18" charset="0"/>
              </a:rPr>
              <a:t> </a:t>
            </a:r>
            <a:r>
              <a:rPr lang="en-US" spc="130" dirty="0">
                <a:latin typeface="Times New Roman" pitchFamily="18" charset="0"/>
                <a:cs typeface="Times New Roman" pitchFamily="18" charset="0"/>
              </a:rPr>
              <a:t>Abort </a:t>
            </a:r>
            <a:r>
              <a:rPr lang="en-US" spc="150" dirty="0">
                <a:latin typeface="Times New Roman" pitchFamily="18" charset="0"/>
                <a:cs typeface="Times New Roman" pitchFamily="18" charset="0"/>
              </a:rPr>
              <a:t>or </a:t>
            </a:r>
            <a:r>
              <a:rPr lang="en-US" spc="105" dirty="0">
                <a:latin typeface="Times New Roman" pitchFamily="18" charset="0"/>
                <a:cs typeface="Times New Roman" pitchFamily="18" charset="0"/>
              </a:rPr>
              <a:t>Pre-Commit.  </a:t>
            </a:r>
            <a:r>
              <a:rPr lang="en-US" spc="155" dirty="0">
                <a:latin typeface="Times New Roman" pitchFamily="18" charset="0"/>
                <a:cs typeface="Times New Roman" pitchFamily="18" charset="0"/>
              </a:rPr>
              <a:t>subordinates </a:t>
            </a:r>
            <a:r>
              <a:rPr lang="en-US" spc="145" dirty="0">
                <a:latin typeface="Times New Roman" pitchFamily="18" charset="0"/>
                <a:cs typeface="Times New Roman" pitchFamily="18" charset="0"/>
              </a:rPr>
              <a:t>acknowledges</a:t>
            </a:r>
            <a:r>
              <a:rPr lang="en-US" spc="395" dirty="0">
                <a:latin typeface="Times New Roman" pitchFamily="18" charset="0"/>
                <a:cs typeface="Times New Roman" pitchFamily="18" charset="0"/>
              </a:rPr>
              <a:t> </a:t>
            </a:r>
            <a:r>
              <a:rPr lang="en-US" spc="120" dirty="0">
                <a:latin typeface="Times New Roman" pitchFamily="18" charset="0"/>
                <a:cs typeface="Times New Roman" pitchFamily="18" charset="0"/>
              </a:rPr>
              <a:t>Pre-commit.</a:t>
            </a:r>
            <a:endParaRPr lang="en-US" dirty="0">
              <a:latin typeface="Times New Roman" pitchFamily="18" charset="0"/>
              <a:cs typeface="Times New Roman" pitchFamily="18" charset="0"/>
            </a:endParaRPr>
          </a:p>
          <a:p>
            <a:pPr marL="515620" marR="5080" indent="-502920" algn="just">
              <a:lnSpc>
                <a:spcPts val="3170"/>
              </a:lnSpc>
              <a:spcBef>
                <a:spcPts val="630"/>
              </a:spcBef>
              <a:buAutoNum type="arabicPeriod" startAt="2"/>
              <a:tabLst>
                <a:tab pos="515620" algn="l"/>
              </a:tabLst>
            </a:pPr>
            <a:r>
              <a:rPr lang="en-US" spc="50" dirty="0">
                <a:latin typeface="Times New Roman" pitchFamily="18" charset="0"/>
                <a:cs typeface="Times New Roman" pitchFamily="18" charset="0"/>
              </a:rPr>
              <a:t>After </a:t>
            </a:r>
            <a:r>
              <a:rPr lang="en-US" dirty="0">
                <a:latin typeface="Times New Roman" pitchFamily="18" charset="0"/>
                <a:cs typeface="Times New Roman" pitchFamily="18" charset="0"/>
              </a:rPr>
              <a:t>Coordinator</a:t>
            </a:r>
            <a:r>
              <a:rPr lang="en-US" spc="-95" dirty="0">
                <a:latin typeface="Times New Roman" pitchFamily="18" charset="0"/>
                <a:cs typeface="Times New Roman" pitchFamily="18" charset="0"/>
              </a:rPr>
              <a:t> </a:t>
            </a:r>
            <a:r>
              <a:rPr lang="en-US" spc="90" dirty="0">
                <a:latin typeface="Times New Roman" pitchFamily="18" charset="0"/>
                <a:cs typeface="Times New Roman" pitchFamily="18" charset="0"/>
              </a:rPr>
              <a:t>receives </a:t>
            </a:r>
            <a:r>
              <a:rPr lang="en-US" spc="95" dirty="0" err="1">
                <a:latin typeface="Times New Roman" pitchFamily="18" charset="0"/>
                <a:cs typeface="Times New Roman" pitchFamily="18" charset="0"/>
              </a:rPr>
              <a:t>acks</a:t>
            </a:r>
            <a:r>
              <a:rPr lang="en-US" spc="95" dirty="0">
                <a:latin typeface="Times New Roman" pitchFamily="18" charset="0"/>
                <a:cs typeface="Times New Roman" pitchFamily="18" charset="0"/>
              </a:rPr>
              <a:t> </a:t>
            </a:r>
            <a:r>
              <a:rPr lang="en-US" spc="120" dirty="0">
                <a:latin typeface="Times New Roman" pitchFamily="18" charset="0"/>
                <a:cs typeface="Times New Roman" pitchFamily="18" charset="0"/>
              </a:rPr>
              <a:t>from </a:t>
            </a:r>
            <a:r>
              <a:rPr lang="en-US" dirty="0">
                <a:latin typeface="Times New Roman" pitchFamily="18" charset="0"/>
                <a:cs typeface="Times New Roman" pitchFamily="18" charset="0"/>
              </a:rPr>
              <a:t>all </a:t>
            </a:r>
            <a:r>
              <a:rPr lang="en-US" spc="140" dirty="0">
                <a:latin typeface="Times New Roman" pitchFamily="18" charset="0"/>
                <a:cs typeface="Times New Roman" pitchFamily="18" charset="0"/>
              </a:rPr>
              <a:t>subordinates, </a:t>
            </a:r>
            <a:r>
              <a:rPr lang="en-US" spc="165" dirty="0">
                <a:latin typeface="Times New Roman" pitchFamily="18" charset="0"/>
                <a:cs typeface="Times New Roman" pitchFamily="18" charset="0"/>
              </a:rPr>
              <a:t>or  </a:t>
            </a:r>
            <a:r>
              <a:rPr lang="en-US" spc="135" dirty="0">
                <a:latin typeface="Times New Roman" pitchFamily="18" charset="0"/>
                <a:cs typeface="Times New Roman" pitchFamily="18" charset="0"/>
              </a:rPr>
              <a:t>times </a:t>
            </a:r>
            <a:r>
              <a:rPr lang="en-US" spc="210" dirty="0">
                <a:latin typeface="Times New Roman" pitchFamily="18" charset="0"/>
                <a:cs typeface="Times New Roman" pitchFamily="18" charset="0"/>
              </a:rPr>
              <a:t>out </a:t>
            </a:r>
            <a:r>
              <a:rPr lang="en-US" spc="225" dirty="0">
                <a:latin typeface="Times New Roman" pitchFamily="18" charset="0"/>
                <a:cs typeface="Times New Roman" pitchFamily="18" charset="0"/>
              </a:rPr>
              <a:t>on </a:t>
            </a:r>
            <a:r>
              <a:rPr lang="en-US" spc="215" dirty="0">
                <a:latin typeface="Times New Roman" pitchFamily="18" charset="0"/>
                <a:cs typeface="Times New Roman" pitchFamily="18" charset="0"/>
              </a:rPr>
              <a:t>some </a:t>
            </a:r>
            <a:r>
              <a:rPr lang="en-US" spc="75" dirty="0">
                <a:latin typeface="Times New Roman" pitchFamily="18" charset="0"/>
                <a:cs typeface="Times New Roman" pitchFamily="18" charset="0"/>
              </a:rPr>
              <a:t>of </a:t>
            </a:r>
            <a:r>
              <a:rPr lang="en-US" spc="160" dirty="0">
                <a:latin typeface="Times New Roman" pitchFamily="18" charset="0"/>
                <a:cs typeface="Times New Roman" pitchFamily="18" charset="0"/>
              </a:rPr>
              <a:t>them, </a:t>
            </a:r>
            <a:r>
              <a:rPr lang="en-US" spc="45" dirty="0">
                <a:latin typeface="Times New Roman" pitchFamily="18" charset="0"/>
                <a:cs typeface="Times New Roman" pitchFamily="18" charset="0"/>
              </a:rPr>
              <a:t>it </a:t>
            </a:r>
            <a:r>
              <a:rPr lang="en-US" spc="130" dirty="0">
                <a:latin typeface="Times New Roman" pitchFamily="18" charset="0"/>
                <a:cs typeface="Times New Roman" pitchFamily="18" charset="0"/>
              </a:rPr>
              <a:t>(begin </a:t>
            </a:r>
            <a:r>
              <a:rPr lang="en-US" spc="110" dirty="0">
                <a:latin typeface="Times New Roman" pitchFamily="18" charset="0"/>
                <a:cs typeface="Times New Roman" pitchFamily="18" charset="0"/>
              </a:rPr>
              <a:t>third  </a:t>
            </a:r>
            <a:r>
              <a:rPr lang="en-US" spc="150" dirty="0">
                <a:latin typeface="Times New Roman" pitchFamily="18" charset="0"/>
                <a:cs typeface="Times New Roman" pitchFamily="18" charset="0"/>
              </a:rPr>
              <a:t>phase) </a:t>
            </a:r>
            <a:r>
              <a:rPr lang="en-US" spc="180" dirty="0">
                <a:latin typeface="Times New Roman" pitchFamily="18" charset="0"/>
                <a:cs typeface="Times New Roman" pitchFamily="18" charset="0"/>
              </a:rPr>
              <a:t>sends </a:t>
            </a:r>
            <a:r>
              <a:rPr lang="en-US" spc="125" dirty="0">
                <a:latin typeface="Times New Roman" pitchFamily="18" charset="0"/>
                <a:cs typeface="Times New Roman" pitchFamily="18" charset="0"/>
              </a:rPr>
              <a:t>Commit </a:t>
            </a:r>
            <a:r>
              <a:rPr lang="en-US" spc="204" dirty="0">
                <a:latin typeface="Times New Roman" pitchFamily="18" charset="0"/>
                <a:cs typeface="Times New Roman" pitchFamily="18" charset="0"/>
              </a:rPr>
              <a:t>to </a:t>
            </a:r>
            <a:r>
              <a:rPr lang="en-US" dirty="0">
                <a:latin typeface="Times New Roman" pitchFamily="18" charset="0"/>
                <a:cs typeface="Times New Roman" pitchFamily="18" charset="0"/>
              </a:rPr>
              <a:t>all </a:t>
            </a:r>
            <a:r>
              <a:rPr lang="en-US" spc="125" dirty="0">
                <a:latin typeface="Times New Roman" pitchFamily="18" charset="0"/>
                <a:cs typeface="Times New Roman" pitchFamily="18" charset="0"/>
              </a:rPr>
              <a:t>participants (that </a:t>
            </a:r>
            <a:r>
              <a:rPr lang="en-US" spc="145" dirty="0">
                <a:latin typeface="Times New Roman" pitchFamily="18" charset="0"/>
                <a:cs typeface="Times New Roman" pitchFamily="18" charset="0"/>
              </a:rPr>
              <a:t>are  </a:t>
            </a:r>
            <a:r>
              <a:rPr lang="en-US" spc="125" dirty="0">
                <a:latin typeface="Times New Roman" pitchFamily="18" charset="0"/>
                <a:cs typeface="Times New Roman" pitchFamily="18" charset="0"/>
              </a:rPr>
              <a:t>up)</a:t>
            </a:r>
            <a:endParaRPr lang="en-US"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2472093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500" y="808472"/>
            <a:ext cx="7886700" cy="590838"/>
          </a:xfrm>
        </p:spPr>
        <p:txBody>
          <a:bodyPr>
            <a:normAutofit/>
          </a:bodyPr>
          <a:lstStyle/>
          <a:p>
            <a:r>
              <a:rPr lang="en-US" sz="2200" b="1" spc="345" dirty="0">
                <a:latin typeface="Times New Roman" panose="02020603050405020304" pitchFamily="18" charset="0"/>
                <a:cs typeface="Times New Roman" panose="02020603050405020304" pitchFamily="18" charset="0"/>
              </a:rPr>
              <a:t>Three </a:t>
            </a:r>
            <a:r>
              <a:rPr lang="en-US" sz="2200" b="1" spc="540" dirty="0">
                <a:latin typeface="Times New Roman" panose="02020603050405020304" pitchFamily="18" charset="0"/>
                <a:cs typeface="Times New Roman" panose="02020603050405020304" pitchFamily="18" charset="0"/>
              </a:rPr>
              <a:t>Phase</a:t>
            </a:r>
            <a:r>
              <a:rPr lang="en-US" sz="2200" b="1" spc="-254" dirty="0">
                <a:latin typeface="Times New Roman" panose="02020603050405020304" pitchFamily="18" charset="0"/>
                <a:cs typeface="Times New Roman" panose="02020603050405020304" pitchFamily="18" charset="0"/>
              </a:rPr>
              <a:t> </a:t>
            </a:r>
            <a:r>
              <a:rPr lang="en-US" sz="2200" b="1" spc="325" dirty="0">
                <a:latin typeface="Times New Roman" panose="02020603050405020304" pitchFamily="18" charset="0"/>
                <a:cs typeface="Times New Roman" panose="02020603050405020304" pitchFamily="18" charset="0"/>
              </a:rPr>
              <a:t>Commit</a:t>
            </a:r>
            <a:endParaRPr lang="en-US" sz="2200" dirty="0">
              <a:latin typeface="Times New Roman" panose="02020603050405020304" pitchFamily="18" charset="0"/>
              <a:cs typeface="Times New Roman" panose="02020603050405020304" pitchFamily="18" charset="0"/>
            </a:endParaRPr>
          </a:p>
        </p:txBody>
      </p:sp>
      <p:sp>
        <p:nvSpPr>
          <p:cNvPr id="4" name="object 3"/>
          <p:cNvSpPr/>
          <p:nvPr/>
        </p:nvSpPr>
        <p:spPr>
          <a:xfrm>
            <a:off x="419100" y="1287780"/>
            <a:ext cx="8191500" cy="2598420"/>
          </a:xfrm>
          <a:prstGeom prst="rect">
            <a:avLst/>
          </a:prstGeom>
          <a:blipFill>
            <a:blip r:embed="rId2" cstate="print"/>
            <a:stretch>
              <a:fillRect/>
            </a:stretch>
          </a:blipFill>
        </p:spPr>
        <p:txBody>
          <a:bodyPr wrap="square" lIns="0" tIns="0" rIns="0" bIns="0" rtlCol="0"/>
          <a:lstStyle/>
          <a:p>
            <a:endParaRPr sz="2200">
              <a:latin typeface="Times New Roman" panose="02020603050405020304" pitchFamily="18" charset="0"/>
              <a:cs typeface="Times New Roman" panose="02020603050405020304" pitchFamily="18" charset="0"/>
            </a:endParaRPr>
          </a:p>
        </p:txBody>
      </p:sp>
      <p:sp>
        <p:nvSpPr>
          <p:cNvPr id="5" name="object 5"/>
          <p:cNvSpPr/>
          <p:nvPr/>
        </p:nvSpPr>
        <p:spPr>
          <a:xfrm>
            <a:off x="419100" y="3886200"/>
            <a:ext cx="8191500" cy="2598419"/>
          </a:xfrm>
          <a:prstGeom prst="rect">
            <a:avLst/>
          </a:prstGeom>
          <a:blipFill>
            <a:blip r:embed="rId3" cstate="print"/>
            <a:stretch>
              <a:fillRect/>
            </a:stretch>
          </a:blipFill>
        </p:spPr>
        <p:txBody>
          <a:bodyPr wrap="square" lIns="0" tIns="0" rIns="0" bIns="0" rtlCol="0"/>
          <a:lstStyle/>
          <a:p>
            <a:endParaRPr sz="2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7008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618" y="881532"/>
            <a:ext cx="7886700" cy="662782"/>
          </a:xfrm>
        </p:spPr>
        <p:txBody>
          <a:bodyPr>
            <a:normAutofit/>
          </a:bodyPr>
          <a:lstStyle/>
          <a:p>
            <a:r>
              <a:rPr lang="en-US" sz="3200" b="1" dirty="0">
                <a:latin typeface="Times New Roman" panose="02020603050405020304" pitchFamily="18" charset="0"/>
                <a:cs typeface="Times New Roman" panose="02020603050405020304" pitchFamily="18" charset="0"/>
              </a:rPr>
              <a:t>Data Warehousing and </a:t>
            </a:r>
            <a:r>
              <a:rPr lang="en-US" sz="3200" b="1" dirty="0" smtClean="0">
                <a:latin typeface="Times New Roman" panose="02020603050405020304" pitchFamily="18" charset="0"/>
                <a:cs typeface="Times New Roman" panose="02020603050405020304" pitchFamily="18" charset="0"/>
              </a:rPr>
              <a:t>Mining</a:t>
            </a:r>
            <a:endParaRPr lang="en-US" sz="32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309039" y="1544314"/>
            <a:ext cx="8521063" cy="3003386"/>
          </a:xfrm>
          <a:prstGeom prst="rect">
            <a:avLst/>
          </a:prstGeom>
        </p:spPr>
        <p:txBody>
          <a:bodyPr vert="horz" wrap="square" lIns="0" tIns="48260" rIns="0" bIns="0" rtlCol="0">
            <a:spAutoFit/>
          </a:bodyPr>
          <a:lstStyle/>
          <a:p>
            <a:pPr algn="just"/>
            <a:r>
              <a:rPr lang="en-US" sz="2400" b="1" dirty="0">
                <a:latin typeface="Times New Roman" panose="02020603050405020304" pitchFamily="18" charset="0"/>
                <a:cs typeface="Times New Roman" panose="02020603050405020304" pitchFamily="18" charset="0"/>
              </a:rPr>
              <a:t>What is Data Warehousing?</a:t>
            </a:r>
          </a:p>
          <a:p>
            <a:pPr algn="just"/>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Data Warehousing</a:t>
            </a:r>
            <a:r>
              <a:rPr lang="en-US" sz="2400" dirty="0">
                <a:latin typeface="Times New Roman" panose="02020603050405020304" pitchFamily="18" charset="0"/>
                <a:cs typeface="Times New Roman" panose="02020603050405020304" pitchFamily="18" charset="0"/>
              </a:rPr>
              <a:t> (DW) is process for collecting and managing data from varied sources to provide meaningful business insights. A Data warehouse is typically used to connect and analyze business data from heterogeneous sources.</a:t>
            </a:r>
          </a:p>
          <a:p>
            <a:pPr algn="just"/>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is a blend of technologies and components which aids the strategic use of data. </a:t>
            </a:r>
          </a:p>
          <a:p>
            <a:pPr algn="just"/>
            <a:endParaRPr lang="en-US" sz="2400"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2903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618" y="881532"/>
            <a:ext cx="7886700" cy="662782"/>
          </a:xfrm>
        </p:spPr>
        <p:txBody>
          <a:bodyPr>
            <a:normAutofit/>
          </a:bodyPr>
          <a:lstStyle/>
          <a:p>
            <a:r>
              <a:rPr lang="en-US" sz="3200" b="1" dirty="0">
                <a:latin typeface="Times New Roman" panose="02020603050405020304" pitchFamily="18" charset="0"/>
                <a:cs typeface="Times New Roman" panose="02020603050405020304" pitchFamily="18" charset="0"/>
              </a:rPr>
              <a:t>Data Warehousing and </a:t>
            </a:r>
            <a:r>
              <a:rPr lang="en-US" sz="3200" b="1" dirty="0" smtClean="0">
                <a:latin typeface="Times New Roman" panose="02020603050405020304" pitchFamily="18" charset="0"/>
                <a:cs typeface="Times New Roman" panose="02020603050405020304" pitchFamily="18" charset="0"/>
              </a:rPr>
              <a:t>Mining</a:t>
            </a:r>
            <a:endParaRPr lang="en-US" sz="32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349984" y="1544314"/>
            <a:ext cx="8097982" cy="4850046"/>
          </a:xfrm>
          <a:prstGeom prst="rect">
            <a:avLst/>
          </a:prstGeom>
        </p:spPr>
        <p:txBody>
          <a:bodyPr vert="horz" wrap="square" lIns="0" tIns="48260" rIns="0" bIns="0" rtlCol="0">
            <a:spAutoFit/>
          </a:bodyPr>
          <a:lstStyle/>
          <a:p>
            <a:pPr algn="just"/>
            <a:r>
              <a:rPr lang="en-US" sz="2400" b="1" dirty="0" smtClean="0">
                <a:latin typeface="Times New Roman" panose="02020603050405020304" pitchFamily="18" charset="0"/>
                <a:cs typeface="Times New Roman" panose="02020603050405020304" pitchFamily="18" charset="0"/>
              </a:rPr>
              <a:t>Functions </a:t>
            </a:r>
            <a:r>
              <a:rPr lang="en-US" sz="2400" b="1" dirty="0">
                <a:latin typeface="Times New Roman" panose="02020603050405020304" pitchFamily="18" charset="0"/>
                <a:cs typeface="Times New Roman" panose="02020603050405020304" pitchFamily="18" charset="0"/>
              </a:rPr>
              <a:t>of Data Warehouse Tools and Utilities</a:t>
            </a:r>
          </a:p>
          <a:p>
            <a:pPr algn="just"/>
            <a:r>
              <a:rPr lang="en-US" sz="2400" dirty="0">
                <a:latin typeface="Times New Roman" panose="02020603050405020304" pitchFamily="18" charset="0"/>
                <a:cs typeface="Times New Roman" panose="02020603050405020304" pitchFamily="18" charset="0"/>
              </a:rPr>
              <a:t>The following are the functions of data warehouse tools and utilities −</a:t>
            </a:r>
          </a:p>
          <a:p>
            <a:pPr algn="just"/>
            <a:r>
              <a:rPr lang="en-US" sz="2400" b="1" dirty="0">
                <a:latin typeface="Times New Roman" panose="02020603050405020304" pitchFamily="18" charset="0"/>
                <a:cs typeface="Times New Roman" panose="02020603050405020304" pitchFamily="18" charset="0"/>
              </a:rPr>
              <a:t>Data Extraction</a:t>
            </a:r>
            <a:r>
              <a:rPr lang="en-US" sz="2400" dirty="0">
                <a:latin typeface="Times New Roman" panose="02020603050405020304" pitchFamily="18" charset="0"/>
                <a:cs typeface="Times New Roman" panose="02020603050405020304" pitchFamily="18" charset="0"/>
              </a:rPr>
              <a:t> − Involves gathering data from multiple heterogeneous sources.</a:t>
            </a:r>
          </a:p>
          <a:p>
            <a:pPr algn="just"/>
            <a:r>
              <a:rPr lang="en-US" sz="2400" b="1" dirty="0">
                <a:latin typeface="Times New Roman" panose="02020603050405020304" pitchFamily="18" charset="0"/>
                <a:cs typeface="Times New Roman" panose="02020603050405020304" pitchFamily="18" charset="0"/>
              </a:rPr>
              <a:t>Data Cleaning</a:t>
            </a:r>
            <a:r>
              <a:rPr lang="en-US" sz="2400" dirty="0">
                <a:latin typeface="Times New Roman" panose="02020603050405020304" pitchFamily="18" charset="0"/>
                <a:cs typeface="Times New Roman" panose="02020603050405020304" pitchFamily="18" charset="0"/>
              </a:rPr>
              <a:t> − Involves finding and correcting the errors in data.</a:t>
            </a:r>
          </a:p>
          <a:p>
            <a:pPr algn="just"/>
            <a:r>
              <a:rPr lang="en-US" sz="2400" b="1" dirty="0">
                <a:latin typeface="Times New Roman" panose="02020603050405020304" pitchFamily="18" charset="0"/>
                <a:cs typeface="Times New Roman" panose="02020603050405020304" pitchFamily="18" charset="0"/>
              </a:rPr>
              <a:t>Data Transformation</a:t>
            </a:r>
            <a:r>
              <a:rPr lang="en-US" sz="2400" dirty="0">
                <a:latin typeface="Times New Roman" panose="02020603050405020304" pitchFamily="18" charset="0"/>
                <a:cs typeface="Times New Roman" panose="02020603050405020304" pitchFamily="18" charset="0"/>
              </a:rPr>
              <a:t> − Involves converting the data from legacy format to warehouse format.</a:t>
            </a:r>
          </a:p>
          <a:p>
            <a:pPr algn="just"/>
            <a:r>
              <a:rPr lang="en-US" sz="2400" b="1" dirty="0">
                <a:latin typeface="Times New Roman" panose="02020603050405020304" pitchFamily="18" charset="0"/>
                <a:cs typeface="Times New Roman" panose="02020603050405020304" pitchFamily="18" charset="0"/>
              </a:rPr>
              <a:t>Data Loading</a:t>
            </a:r>
            <a:r>
              <a:rPr lang="en-US" sz="2400" dirty="0">
                <a:latin typeface="Times New Roman" panose="02020603050405020304" pitchFamily="18" charset="0"/>
                <a:cs typeface="Times New Roman" panose="02020603050405020304" pitchFamily="18" charset="0"/>
              </a:rPr>
              <a:t> − Involves sorting, summarizing, consolidating, checking integrity, and building indices and partitions.</a:t>
            </a:r>
          </a:p>
          <a:p>
            <a:pPr algn="just"/>
            <a:r>
              <a:rPr lang="en-US" sz="2400" b="1" dirty="0">
                <a:latin typeface="Times New Roman" panose="02020603050405020304" pitchFamily="18" charset="0"/>
                <a:cs typeface="Times New Roman" panose="02020603050405020304" pitchFamily="18" charset="0"/>
              </a:rPr>
              <a:t>Refreshing</a:t>
            </a:r>
            <a:r>
              <a:rPr lang="en-US" sz="2400" dirty="0">
                <a:latin typeface="Times New Roman" panose="02020603050405020304" pitchFamily="18" charset="0"/>
                <a:cs typeface="Times New Roman" panose="02020603050405020304" pitchFamily="18" charset="0"/>
              </a:rPr>
              <a:t> − Involves updating from data sources to warehouse.</a:t>
            </a:r>
          </a:p>
          <a:p>
            <a:pPr algn="just"/>
            <a:r>
              <a:rPr lang="en-US" sz="2400" b="1" dirty="0" smtClean="0">
                <a:solidFill>
                  <a:srgbClr val="FF0000"/>
                </a:solidFill>
                <a:latin typeface="Times New Roman" panose="02020603050405020304" pitchFamily="18" charset="0"/>
                <a:cs typeface="Times New Roman" panose="02020603050405020304" pitchFamily="18" charset="0"/>
              </a:rPr>
              <a:t>Que</a:t>
            </a:r>
            <a:r>
              <a:rPr lang="en-US" sz="2400" b="1" dirty="0">
                <a:solidFill>
                  <a:srgbClr val="FF0000"/>
                </a:solidFill>
                <a:latin typeface="Times New Roman" panose="02020603050405020304" pitchFamily="18" charset="0"/>
                <a:cs typeface="Times New Roman" panose="02020603050405020304" pitchFamily="18" charset="0"/>
              </a:rPr>
              <a:t>.  Who needs Data warehouse</a:t>
            </a:r>
            <a:r>
              <a:rPr lang="en-US" sz="2400" b="1" dirty="0" smtClean="0">
                <a:solidFill>
                  <a:srgbClr val="FF0000"/>
                </a:solidFill>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1221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310" y="778040"/>
            <a:ext cx="8305800" cy="563562"/>
          </a:xfrm>
        </p:spPr>
        <p:txBody>
          <a:bodyPr>
            <a:normAutofit/>
          </a:bodyPr>
          <a:lstStyle/>
          <a:p>
            <a:r>
              <a:rPr lang="en-US" sz="3200" b="1" dirty="0">
                <a:latin typeface="Times New Roman" panose="02020603050405020304" pitchFamily="18" charset="0"/>
                <a:cs typeface="Times New Roman" panose="02020603050405020304" pitchFamily="18" charset="0"/>
              </a:rPr>
              <a:t>Data Warehousing</a:t>
            </a:r>
          </a:p>
        </p:txBody>
      </p:sp>
      <p:sp>
        <p:nvSpPr>
          <p:cNvPr id="4" name="object 5"/>
          <p:cNvSpPr txBox="1"/>
          <p:nvPr/>
        </p:nvSpPr>
        <p:spPr>
          <a:xfrm>
            <a:off x="140326" y="1209946"/>
            <a:ext cx="8841740" cy="2747034"/>
          </a:xfrm>
          <a:prstGeom prst="rect">
            <a:avLst/>
          </a:prstGeom>
        </p:spPr>
        <p:txBody>
          <a:bodyPr vert="horz" wrap="square" lIns="0" tIns="66675" rIns="0" bIns="0" rtlCol="0">
            <a:spAutoFit/>
          </a:bodyPr>
          <a:lstStyle/>
          <a:p>
            <a:pPr marL="12700" algn="just">
              <a:lnSpc>
                <a:spcPct val="100000"/>
              </a:lnSpc>
              <a:spcBef>
                <a:spcPts val="525"/>
              </a:spcBef>
            </a:pPr>
            <a:r>
              <a:rPr sz="2000" spc="95" dirty="0">
                <a:solidFill>
                  <a:schemeClr val="tx1"/>
                </a:solidFill>
                <a:latin typeface="Times New Roman" panose="02020603050405020304" pitchFamily="18" charset="0"/>
                <a:cs typeface="Times New Roman" panose="02020603050405020304" pitchFamily="18" charset="0"/>
              </a:rPr>
              <a:t>Data </a:t>
            </a:r>
            <a:r>
              <a:rPr sz="2000" spc="100" dirty="0">
                <a:solidFill>
                  <a:schemeClr val="tx1"/>
                </a:solidFill>
                <a:latin typeface="Times New Roman" panose="02020603050405020304" pitchFamily="18" charset="0"/>
                <a:cs typeface="Times New Roman" panose="02020603050405020304" pitchFamily="18" charset="0"/>
              </a:rPr>
              <a:t>sources </a:t>
            </a:r>
            <a:r>
              <a:rPr sz="2000" spc="114" dirty="0">
                <a:solidFill>
                  <a:schemeClr val="tx1"/>
                </a:solidFill>
                <a:latin typeface="Times New Roman" panose="02020603050405020304" pitchFamily="18" charset="0"/>
                <a:cs typeface="Times New Roman" panose="02020603050405020304" pitchFamily="18" charset="0"/>
              </a:rPr>
              <a:t>often </a:t>
            </a:r>
            <a:r>
              <a:rPr sz="2000" spc="110" dirty="0">
                <a:solidFill>
                  <a:schemeClr val="tx1"/>
                </a:solidFill>
                <a:latin typeface="Times New Roman" panose="02020603050405020304" pitchFamily="18" charset="0"/>
                <a:cs typeface="Times New Roman" panose="02020603050405020304" pitchFamily="18" charset="0"/>
              </a:rPr>
              <a:t>store </a:t>
            </a:r>
            <a:r>
              <a:rPr sz="2000" spc="60" dirty="0">
                <a:solidFill>
                  <a:schemeClr val="tx1"/>
                </a:solidFill>
                <a:latin typeface="Times New Roman" panose="02020603050405020304" pitchFamily="18" charset="0"/>
                <a:cs typeface="Times New Roman" panose="02020603050405020304" pitchFamily="18" charset="0"/>
              </a:rPr>
              <a:t>only </a:t>
            </a:r>
            <a:r>
              <a:rPr sz="2000" spc="95" dirty="0">
                <a:solidFill>
                  <a:schemeClr val="tx1"/>
                </a:solidFill>
                <a:latin typeface="Times New Roman" panose="02020603050405020304" pitchFamily="18" charset="0"/>
                <a:cs typeface="Times New Roman" panose="02020603050405020304" pitchFamily="18" charset="0"/>
              </a:rPr>
              <a:t>current </a:t>
            </a:r>
            <a:r>
              <a:rPr sz="2000" spc="100" dirty="0">
                <a:solidFill>
                  <a:schemeClr val="tx1"/>
                </a:solidFill>
                <a:latin typeface="Times New Roman" panose="02020603050405020304" pitchFamily="18" charset="0"/>
                <a:cs typeface="Times New Roman" panose="02020603050405020304" pitchFamily="18" charset="0"/>
              </a:rPr>
              <a:t>data, </a:t>
            </a:r>
            <a:r>
              <a:rPr sz="2000" spc="145" dirty="0">
                <a:solidFill>
                  <a:schemeClr val="tx1"/>
                </a:solidFill>
                <a:latin typeface="Times New Roman" panose="02020603050405020304" pitchFamily="18" charset="0"/>
                <a:cs typeface="Times New Roman" panose="02020603050405020304" pitchFamily="18" charset="0"/>
              </a:rPr>
              <a:t>not </a:t>
            </a:r>
            <a:r>
              <a:rPr sz="2000" spc="55" dirty="0">
                <a:solidFill>
                  <a:schemeClr val="tx1"/>
                </a:solidFill>
                <a:latin typeface="Times New Roman" panose="02020603050405020304" pitchFamily="18" charset="0"/>
                <a:cs typeface="Times New Roman" panose="02020603050405020304" pitchFamily="18" charset="0"/>
              </a:rPr>
              <a:t>historical</a:t>
            </a:r>
            <a:r>
              <a:rPr sz="2000" spc="240" dirty="0">
                <a:solidFill>
                  <a:schemeClr val="tx1"/>
                </a:solidFill>
                <a:latin typeface="Times New Roman" panose="02020603050405020304" pitchFamily="18" charset="0"/>
                <a:cs typeface="Times New Roman" panose="02020603050405020304" pitchFamily="18" charset="0"/>
              </a:rPr>
              <a:t> </a:t>
            </a:r>
            <a:r>
              <a:rPr sz="2000" spc="145" dirty="0">
                <a:solidFill>
                  <a:schemeClr val="tx1"/>
                </a:solidFill>
                <a:latin typeface="Times New Roman" panose="02020603050405020304" pitchFamily="18" charset="0"/>
                <a:cs typeface="Times New Roman" panose="02020603050405020304" pitchFamily="18" charset="0"/>
              </a:rPr>
              <a:t>data</a:t>
            </a:r>
            <a:endParaRPr sz="2000" dirty="0">
              <a:solidFill>
                <a:schemeClr val="tx1"/>
              </a:solidFill>
              <a:latin typeface="Times New Roman" panose="02020603050405020304" pitchFamily="18" charset="0"/>
              <a:cs typeface="Times New Roman" panose="02020603050405020304" pitchFamily="18" charset="0"/>
            </a:endParaRPr>
          </a:p>
          <a:p>
            <a:pPr marL="12700" marR="5080" algn="just">
              <a:lnSpc>
                <a:spcPct val="100600"/>
              </a:lnSpc>
              <a:spcBef>
                <a:spcPts val="420"/>
              </a:spcBef>
            </a:pPr>
            <a:r>
              <a:rPr sz="2000" spc="105" dirty="0">
                <a:solidFill>
                  <a:schemeClr val="tx1"/>
                </a:solidFill>
                <a:latin typeface="Times New Roman" panose="02020603050405020304" pitchFamily="18" charset="0"/>
                <a:cs typeface="Times New Roman" panose="02020603050405020304" pitchFamily="18" charset="0"/>
              </a:rPr>
              <a:t>Corporate </a:t>
            </a:r>
            <a:r>
              <a:rPr sz="2000" spc="85" dirty="0">
                <a:solidFill>
                  <a:schemeClr val="tx1"/>
                </a:solidFill>
                <a:latin typeface="Times New Roman" panose="02020603050405020304" pitchFamily="18" charset="0"/>
                <a:cs typeface="Times New Roman" panose="02020603050405020304" pitchFamily="18" charset="0"/>
              </a:rPr>
              <a:t>decision </a:t>
            </a:r>
            <a:r>
              <a:rPr sz="2000" spc="95" dirty="0">
                <a:solidFill>
                  <a:schemeClr val="tx1"/>
                </a:solidFill>
                <a:latin typeface="Times New Roman" panose="02020603050405020304" pitchFamily="18" charset="0"/>
                <a:cs typeface="Times New Roman" panose="02020603050405020304" pitchFamily="18" charset="0"/>
              </a:rPr>
              <a:t>making </a:t>
            </a:r>
            <a:r>
              <a:rPr sz="2000" spc="85" dirty="0">
                <a:solidFill>
                  <a:schemeClr val="tx1"/>
                </a:solidFill>
                <a:latin typeface="Times New Roman" panose="02020603050405020304" pitchFamily="18" charset="0"/>
                <a:cs typeface="Times New Roman" panose="02020603050405020304" pitchFamily="18" charset="0"/>
              </a:rPr>
              <a:t>requires </a:t>
            </a:r>
            <a:r>
              <a:rPr sz="2000" spc="140" dirty="0">
                <a:solidFill>
                  <a:schemeClr val="tx1"/>
                </a:solidFill>
                <a:latin typeface="Times New Roman" panose="02020603050405020304" pitchFamily="18" charset="0"/>
                <a:cs typeface="Times New Roman" panose="02020603050405020304" pitchFamily="18" charset="0"/>
              </a:rPr>
              <a:t>a </a:t>
            </a:r>
            <a:r>
              <a:rPr sz="2000" spc="70" dirty="0">
                <a:solidFill>
                  <a:schemeClr val="tx1"/>
                </a:solidFill>
                <a:latin typeface="Times New Roman" panose="02020603050405020304" pitchFamily="18" charset="0"/>
                <a:cs typeface="Times New Roman" panose="02020603050405020304" pitchFamily="18" charset="0"/>
              </a:rPr>
              <a:t>unified </a:t>
            </a:r>
            <a:r>
              <a:rPr sz="2000" spc="30" dirty="0">
                <a:solidFill>
                  <a:schemeClr val="tx1"/>
                </a:solidFill>
                <a:latin typeface="Times New Roman" panose="02020603050405020304" pitchFamily="18" charset="0"/>
                <a:cs typeface="Times New Roman" panose="02020603050405020304" pitchFamily="18" charset="0"/>
              </a:rPr>
              <a:t>view </a:t>
            </a:r>
            <a:r>
              <a:rPr sz="2000" spc="60" dirty="0">
                <a:solidFill>
                  <a:schemeClr val="tx1"/>
                </a:solidFill>
                <a:latin typeface="Times New Roman" panose="02020603050405020304" pitchFamily="18" charset="0"/>
                <a:cs typeface="Times New Roman" panose="02020603050405020304" pitchFamily="18" charset="0"/>
              </a:rPr>
              <a:t>of </a:t>
            </a:r>
            <a:r>
              <a:rPr sz="2000" spc="10" dirty="0">
                <a:solidFill>
                  <a:schemeClr val="tx1"/>
                </a:solidFill>
                <a:latin typeface="Times New Roman" panose="02020603050405020304" pitchFamily="18" charset="0"/>
                <a:cs typeface="Times New Roman" panose="02020603050405020304" pitchFamily="18" charset="0"/>
              </a:rPr>
              <a:t>all </a:t>
            </a:r>
            <a:r>
              <a:rPr sz="2000" spc="85" dirty="0">
                <a:solidFill>
                  <a:schemeClr val="tx1"/>
                </a:solidFill>
                <a:latin typeface="Times New Roman" panose="02020603050405020304" pitchFamily="18" charset="0"/>
                <a:cs typeface="Times New Roman" panose="02020603050405020304" pitchFamily="18" charset="0"/>
              </a:rPr>
              <a:t>organizational </a:t>
            </a:r>
            <a:r>
              <a:rPr sz="2000" spc="105" dirty="0">
                <a:solidFill>
                  <a:schemeClr val="tx1"/>
                </a:solidFill>
                <a:latin typeface="Times New Roman" panose="02020603050405020304" pitchFamily="18" charset="0"/>
                <a:cs typeface="Times New Roman" panose="02020603050405020304" pitchFamily="18" charset="0"/>
              </a:rPr>
              <a:t>data, </a:t>
            </a:r>
            <a:r>
              <a:rPr sz="2000" spc="75" dirty="0">
                <a:solidFill>
                  <a:schemeClr val="tx1"/>
                </a:solidFill>
                <a:latin typeface="Times New Roman" panose="02020603050405020304" pitchFamily="18" charset="0"/>
                <a:cs typeface="Times New Roman" panose="02020603050405020304" pitchFamily="18" charset="0"/>
              </a:rPr>
              <a:t>including  </a:t>
            </a:r>
            <a:r>
              <a:rPr sz="2000" spc="55" dirty="0">
                <a:solidFill>
                  <a:schemeClr val="tx1"/>
                </a:solidFill>
                <a:latin typeface="Times New Roman" panose="02020603050405020304" pitchFamily="18" charset="0"/>
                <a:cs typeface="Times New Roman" panose="02020603050405020304" pitchFamily="18" charset="0"/>
              </a:rPr>
              <a:t>historical</a:t>
            </a:r>
            <a:r>
              <a:rPr sz="2000" spc="180" dirty="0">
                <a:solidFill>
                  <a:schemeClr val="tx1"/>
                </a:solidFill>
                <a:latin typeface="Times New Roman" panose="02020603050405020304" pitchFamily="18" charset="0"/>
                <a:cs typeface="Times New Roman" panose="02020603050405020304" pitchFamily="18" charset="0"/>
              </a:rPr>
              <a:t> </a:t>
            </a:r>
            <a:r>
              <a:rPr sz="2000" spc="145" dirty="0">
                <a:solidFill>
                  <a:schemeClr val="tx1"/>
                </a:solidFill>
                <a:latin typeface="Times New Roman" panose="02020603050405020304" pitchFamily="18" charset="0"/>
                <a:cs typeface="Times New Roman" panose="02020603050405020304" pitchFamily="18" charset="0"/>
              </a:rPr>
              <a:t>data</a:t>
            </a:r>
            <a:endParaRPr sz="2000" dirty="0">
              <a:solidFill>
                <a:schemeClr val="tx1"/>
              </a:solidFill>
              <a:latin typeface="Times New Roman" panose="02020603050405020304" pitchFamily="18" charset="0"/>
              <a:cs typeface="Times New Roman" panose="02020603050405020304" pitchFamily="18" charset="0"/>
            </a:endParaRPr>
          </a:p>
          <a:p>
            <a:pPr marL="12700" marR="464820" algn="just">
              <a:lnSpc>
                <a:spcPct val="100600"/>
              </a:lnSpc>
              <a:spcBef>
                <a:spcPts val="420"/>
              </a:spcBef>
            </a:pPr>
            <a:r>
              <a:rPr sz="2000" spc="-105" dirty="0">
                <a:solidFill>
                  <a:schemeClr val="tx1"/>
                </a:solidFill>
                <a:latin typeface="Times New Roman" panose="02020603050405020304" pitchFamily="18" charset="0"/>
                <a:cs typeface="Times New Roman" panose="02020603050405020304" pitchFamily="18" charset="0"/>
              </a:rPr>
              <a:t>A </a:t>
            </a:r>
            <a:r>
              <a:rPr sz="2000" spc="190" dirty="0">
                <a:solidFill>
                  <a:schemeClr val="tx1"/>
                </a:solidFill>
                <a:latin typeface="Times New Roman" panose="02020603050405020304" pitchFamily="18" charset="0"/>
                <a:cs typeface="Times New Roman" panose="02020603050405020304" pitchFamily="18" charset="0"/>
              </a:rPr>
              <a:t>data </a:t>
            </a:r>
            <a:r>
              <a:rPr sz="2000" spc="165" dirty="0">
                <a:solidFill>
                  <a:schemeClr val="tx1"/>
                </a:solidFill>
                <a:latin typeface="Times New Roman" panose="02020603050405020304" pitchFamily="18" charset="0"/>
                <a:cs typeface="Times New Roman" panose="02020603050405020304" pitchFamily="18" charset="0"/>
              </a:rPr>
              <a:t>warehouse </a:t>
            </a:r>
            <a:r>
              <a:rPr sz="2000" spc="5" dirty="0">
                <a:solidFill>
                  <a:schemeClr val="tx1"/>
                </a:solidFill>
                <a:latin typeface="Times New Roman" panose="02020603050405020304" pitchFamily="18" charset="0"/>
                <a:cs typeface="Times New Roman" panose="02020603050405020304" pitchFamily="18" charset="0"/>
              </a:rPr>
              <a:t>is </a:t>
            </a:r>
            <a:r>
              <a:rPr sz="2000" spc="140" dirty="0">
                <a:solidFill>
                  <a:schemeClr val="tx1"/>
                </a:solidFill>
                <a:latin typeface="Times New Roman" panose="02020603050405020304" pitchFamily="18" charset="0"/>
                <a:cs typeface="Times New Roman" panose="02020603050405020304" pitchFamily="18" charset="0"/>
              </a:rPr>
              <a:t>a </a:t>
            </a:r>
            <a:r>
              <a:rPr sz="2000" spc="95" dirty="0">
                <a:solidFill>
                  <a:schemeClr val="tx1"/>
                </a:solidFill>
                <a:latin typeface="Times New Roman" panose="02020603050405020304" pitchFamily="18" charset="0"/>
                <a:cs typeface="Times New Roman" panose="02020603050405020304" pitchFamily="18" charset="0"/>
              </a:rPr>
              <a:t>repository </a:t>
            </a:r>
            <a:r>
              <a:rPr sz="2000" spc="35" dirty="0">
                <a:solidFill>
                  <a:schemeClr val="tx1"/>
                </a:solidFill>
                <a:latin typeface="Times New Roman" panose="02020603050405020304" pitchFamily="18" charset="0"/>
                <a:cs typeface="Times New Roman" panose="02020603050405020304" pitchFamily="18" charset="0"/>
              </a:rPr>
              <a:t>(archive) </a:t>
            </a:r>
            <a:r>
              <a:rPr sz="2000" spc="60" dirty="0">
                <a:solidFill>
                  <a:schemeClr val="tx1"/>
                </a:solidFill>
                <a:latin typeface="Times New Roman" panose="02020603050405020304" pitchFamily="18" charset="0"/>
                <a:cs typeface="Times New Roman" panose="02020603050405020304" pitchFamily="18" charset="0"/>
              </a:rPr>
              <a:t>of </a:t>
            </a:r>
            <a:r>
              <a:rPr sz="2000" spc="90" dirty="0">
                <a:solidFill>
                  <a:schemeClr val="tx1"/>
                </a:solidFill>
                <a:latin typeface="Times New Roman" panose="02020603050405020304" pitchFamily="18" charset="0"/>
                <a:cs typeface="Times New Roman" panose="02020603050405020304" pitchFamily="18" charset="0"/>
              </a:rPr>
              <a:t>information </a:t>
            </a:r>
            <a:r>
              <a:rPr sz="2000" spc="135" dirty="0">
                <a:solidFill>
                  <a:schemeClr val="tx1"/>
                </a:solidFill>
                <a:latin typeface="Times New Roman" panose="02020603050405020304" pitchFamily="18" charset="0"/>
                <a:cs typeface="Times New Roman" panose="02020603050405020304" pitchFamily="18" charset="0"/>
              </a:rPr>
              <a:t>gathered </a:t>
            </a:r>
            <a:r>
              <a:rPr sz="2000" spc="90" dirty="0">
                <a:solidFill>
                  <a:schemeClr val="tx1"/>
                </a:solidFill>
                <a:latin typeface="Times New Roman" panose="02020603050405020304" pitchFamily="18" charset="0"/>
                <a:cs typeface="Times New Roman" panose="02020603050405020304" pitchFamily="18" charset="0"/>
              </a:rPr>
              <a:t>from </a:t>
            </a:r>
            <a:r>
              <a:rPr sz="2000" spc="75" dirty="0">
                <a:solidFill>
                  <a:schemeClr val="tx1"/>
                </a:solidFill>
                <a:latin typeface="Times New Roman" panose="02020603050405020304" pitchFamily="18" charset="0"/>
                <a:cs typeface="Times New Roman" panose="02020603050405020304" pitchFamily="18" charset="0"/>
              </a:rPr>
              <a:t>multiple  </a:t>
            </a:r>
            <a:r>
              <a:rPr sz="2000" spc="80" dirty="0">
                <a:solidFill>
                  <a:schemeClr val="tx1"/>
                </a:solidFill>
                <a:latin typeface="Times New Roman" panose="02020603050405020304" pitchFamily="18" charset="0"/>
                <a:cs typeface="Times New Roman" panose="02020603050405020304" pitchFamily="18" charset="0"/>
              </a:rPr>
              <a:t>sources, </a:t>
            </a:r>
            <a:r>
              <a:rPr sz="2000" spc="120" dirty="0">
                <a:solidFill>
                  <a:schemeClr val="tx1"/>
                </a:solidFill>
                <a:latin typeface="Times New Roman" panose="02020603050405020304" pitchFamily="18" charset="0"/>
                <a:cs typeface="Times New Roman" panose="02020603050405020304" pitchFamily="18" charset="0"/>
              </a:rPr>
              <a:t>stored </a:t>
            </a:r>
            <a:r>
              <a:rPr sz="2000" spc="135" dirty="0">
                <a:solidFill>
                  <a:schemeClr val="tx1"/>
                </a:solidFill>
                <a:latin typeface="Times New Roman" panose="02020603050405020304" pitchFamily="18" charset="0"/>
                <a:cs typeface="Times New Roman" panose="02020603050405020304" pitchFamily="18" charset="0"/>
              </a:rPr>
              <a:t>under </a:t>
            </a:r>
            <a:r>
              <a:rPr sz="2000" spc="140" dirty="0">
                <a:solidFill>
                  <a:schemeClr val="tx1"/>
                </a:solidFill>
                <a:latin typeface="Times New Roman" panose="02020603050405020304" pitchFamily="18" charset="0"/>
                <a:cs typeface="Times New Roman" panose="02020603050405020304" pitchFamily="18" charset="0"/>
              </a:rPr>
              <a:t>a </a:t>
            </a:r>
            <a:r>
              <a:rPr sz="2000" spc="70" dirty="0">
                <a:solidFill>
                  <a:schemeClr val="tx1"/>
                </a:solidFill>
                <a:latin typeface="Times New Roman" panose="02020603050405020304" pitchFamily="18" charset="0"/>
                <a:cs typeface="Times New Roman" panose="02020603050405020304" pitchFamily="18" charset="0"/>
              </a:rPr>
              <a:t>unified </a:t>
            </a:r>
            <a:r>
              <a:rPr sz="2000" spc="100" dirty="0">
                <a:solidFill>
                  <a:schemeClr val="tx1"/>
                </a:solidFill>
                <a:latin typeface="Times New Roman" panose="02020603050405020304" pitchFamily="18" charset="0"/>
                <a:cs typeface="Times New Roman" panose="02020603050405020304" pitchFamily="18" charset="0"/>
              </a:rPr>
              <a:t>schema, </a:t>
            </a:r>
            <a:r>
              <a:rPr sz="2000" spc="120" dirty="0">
                <a:solidFill>
                  <a:schemeClr val="tx1"/>
                </a:solidFill>
                <a:latin typeface="Times New Roman" panose="02020603050405020304" pitchFamily="18" charset="0"/>
                <a:cs typeface="Times New Roman" panose="02020603050405020304" pitchFamily="18" charset="0"/>
              </a:rPr>
              <a:t>at </a:t>
            </a:r>
            <a:r>
              <a:rPr sz="2000" spc="140" dirty="0">
                <a:solidFill>
                  <a:schemeClr val="tx1"/>
                </a:solidFill>
                <a:latin typeface="Times New Roman" panose="02020603050405020304" pitchFamily="18" charset="0"/>
                <a:cs typeface="Times New Roman" panose="02020603050405020304" pitchFamily="18" charset="0"/>
              </a:rPr>
              <a:t>a </a:t>
            </a:r>
            <a:r>
              <a:rPr sz="2000" spc="75" dirty="0">
                <a:solidFill>
                  <a:schemeClr val="tx1"/>
                </a:solidFill>
                <a:latin typeface="Times New Roman" panose="02020603050405020304" pitchFamily="18" charset="0"/>
                <a:cs typeface="Times New Roman" panose="02020603050405020304" pitchFamily="18" charset="0"/>
              </a:rPr>
              <a:t>single</a:t>
            </a:r>
            <a:r>
              <a:rPr sz="2000" spc="170" dirty="0">
                <a:solidFill>
                  <a:schemeClr val="tx1"/>
                </a:solidFill>
                <a:latin typeface="Times New Roman" panose="02020603050405020304" pitchFamily="18" charset="0"/>
                <a:cs typeface="Times New Roman" panose="02020603050405020304" pitchFamily="18" charset="0"/>
              </a:rPr>
              <a:t> </a:t>
            </a:r>
            <a:r>
              <a:rPr sz="2000" spc="75" dirty="0">
                <a:solidFill>
                  <a:schemeClr val="tx1"/>
                </a:solidFill>
                <a:latin typeface="Times New Roman" panose="02020603050405020304" pitchFamily="18" charset="0"/>
                <a:cs typeface="Times New Roman" panose="02020603050405020304" pitchFamily="18" charset="0"/>
              </a:rPr>
              <a:t>site</a:t>
            </a:r>
            <a:endParaRPr sz="2000" dirty="0">
              <a:solidFill>
                <a:schemeClr val="tx1"/>
              </a:solidFill>
              <a:latin typeface="Times New Roman" panose="02020603050405020304" pitchFamily="18" charset="0"/>
              <a:cs typeface="Times New Roman" panose="02020603050405020304" pitchFamily="18" charset="0"/>
            </a:endParaRPr>
          </a:p>
          <a:p>
            <a:pPr marL="829310" indent="-314325" algn="just">
              <a:lnSpc>
                <a:spcPct val="100000"/>
              </a:lnSpc>
              <a:spcBef>
                <a:spcPts val="420"/>
              </a:spcBef>
              <a:buChar char="–"/>
              <a:tabLst>
                <a:tab pos="829310" algn="l"/>
                <a:tab pos="829944" algn="l"/>
              </a:tabLst>
            </a:pPr>
            <a:r>
              <a:rPr sz="2000" spc="55" dirty="0">
                <a:solidFill>
                  <a:schemeClr val="tx1"/>
                </a:solidFill>
                <a:latin typeface="Times New Roman" panose="02020603050405020304" pitchFamily="18" charset="0"/>
                <a:cs typeface="Times New Roman" panose="02020603050405020304" pitchFamily="18" charset="0"/>
              </a:rPr>
              <a:t>Greatly </a:t>
            </a:r>
            <a:r>
              <a:rPr sz="2000" spc="50" dirty="0">
                <a:solidFill>
                  <a:schemeClr val="tx1"/>
                </a:solidFill>
                <a:latin typeface="Times New Roman" panose="02020603050405020304" pitchFamily="18" charset="0"/>
                <a:cs typeface="Times New Roman" panose="02020603050405020304" pitchFamily="18" charset="0"/>
              </a:rPr>
              <a:t>simplifies </a:t>
            </a:r>
            <a:r>
              <a:rPr sz="2000" spc="90" dirty="0">
                <a:solidFill>
                  <a:schemeClr val="tx1"/>
                </a:solidFill>
                <a:latin typeface="Times New Roman" panose="02020603050405020304" pitchFamily="18" charset="0"/>
                <a:cs typeface="Times New Roman" panose="02020603050405020304" pitchFamily="18" charset="0"/>
              </a:rPr>
              <a:t>querying, </a:t>
            </a:r>
            <a:r>
              <a:rPr sz="2000" spc="100" dirty="0">
                <a:solidFill>
                  <a:schemeClr val="tx1"/>
                </a:solidFill>
                <a:latin typeface="Times New Roman" panose="02020603050405020304" pitchFamily="18" charset="0"/>
                <a:cs typeface="Times New Roman" panose="02020603050405020304" pitchFamily="18" charset="0"/>
              </a:rPr>
              <a:t>permits study </a:t>
            </a:r>
            <a:r>
              <a:rPr sz="2000" spc="60" dirty="0">
                <a:solidFill>
                  <a:schemeClr val="tx1"/>
                </a:solidFill>
                <a:latin typeface="Times New Roman" panose="02020603050405020304" pitchFamily="18" charset="0"/>
                <a:cs typeface="Times New Roman" panose="02020603050405020304" pitchFamily="18" charset="0"/>
              </a:rPr>
              <a:t>of historical</a:t>
            </a:r>
            <a:r>
              <a:rPr sz="2000" spc="335" dirty="0">
                <a:solidFill>
                  <a:schemeClr val="tx1"/>
                </a:solidFill>
                <a:latin typeface="Times New Roman" panose="02020603050405020304" pitchFamily="18" charset="0"/>
                <a:cs typeface="Times New Roman" panose="02020603050405020304" pitchFamily="18" charset="0"/>
              </a:rPr>
              <a:t> </a:t>
            </a:r>
            <a:r>
              <a:rPr sz="2000" spc="110" dirty="0">
                <a:solidFill>
                  <a:schemeClr val="tx1"/>
                </a:solidFill>
                <a:latin typeface="Times New Roman" panose="02020603050405020304" pitchFamily="18" charset="0"/>
                <a:cs typeface="Times New Roman" panose="02020603050405020304" pitchFamily="18" charset="0"/>
              </a:rPr>
              <a:t>trends</a:t>
            </a:r>
            <a:endParaRPr sz="2000" dirty="0">
              <a:solidFill>
                <a:schemeClr val="tx1"/>
              </a:solidFill>
              <a:latin typeface="Times New Roman" panose="02020603050405020304" pitchFamily="18" charset="0"/>
              <a:cs typeface="Times New Roman" panose="02020603050405020304" pitchFamily="18" charset="0"/>
            </a:endParaRPr>
          </a:p>
          <a:p>
            <a:pPr marL="829310" indent="-314325" algn="just">
              <a:lnSpc>
                <a:spcPct val="100000"/>
              </a:lnSpc>
              <a:spcBef>
                <a:spcPts val="420"/>
              </a:spcBef>
              <a:buChar char="–"/>
              <a:tabLst>
                <a:tab pos="829310" algn="l"/>
                <a:tab pos="829944" algn="l"/>
              </a:tabLst>
            </a:pPr>
            <a:r>
              <a:rPr sz="2000" spc="50" dirty="0">
                <a:solidFill>
                  <a:schemeClr val="tx1"/>
                </a:solidFill>
                <a:latin typeface="Times New Roman" panose="02020603050405020304" pitchFamily="18" charset="0"/>
                <a:cs typeface="Times New Roman" panose="02020603050405020304" pitchFamily="18" charset="0"/>
              </a:rPr>
              <a:t>Shifts </a:t>
            </a:r>
            <a:r>
              <a:rPr sz="2000" spc="85" dirty="0">
                <a:solidFill>
                  <a:schemeClr val="tx1"/>
                </a:solidFill>
                <a:latin typeface="Times New Roman" panose="02020603050405020304" pitchFamily="18" charset="0"/>
                <a:cs typeface="Times New Roman" panose="02020603050405020304" pitchFamily="18" charset="0"/>
              </a:rPr>
              <a:t>decision </a:t>
            </a:r>
            <a:r>
              <a:rPr sz="2000" spc="130" dirty="0">
                <a:solidFill>
                  <a:schemeClr val="tx1"/>
                </a:solidFill>
                <a:latin typeface="Times New Roman" panose="02020603050405020304" pitchFamily="18" charset="0"/>
                <a:cs typeface="Times New Roman" panose="02020603050405020304" pitchFamily="18" charset="0"/>
              </a:rPr>
              <a:t>support </a:t>
            </a:r>
            <a:r>
              <a:rPr sz="2000" spc="114" dirty="0">
                <a:solidFill>
                  <a:schemeClr val="tx1"/>
                </a:solidFill>
                <a:latin typeface="Times New Roman" panose="02020603050405020304" pitchFamily="18" charset="0"/>
                <a:cs typeface="Times New Roman" panose="02020603050405020304" pitchFamily="18" charset="0"/>
              </a:rPr>
              <a:t>query </a:t>
            </a:r>
            <a:r>
              <a:rPr sz="2000" spc="105" dirty="0">
                <a:solidFill>
                  <a:schemeClr val="tx1"/>
                </a:solidFill>
                <a:latin typeface="Times New Roman" panose="02020603050405020304" pitchFamily="18" charset="0"/>
                <a:cs typeface="Times New Roman" panose="02020603050405020304" pitchFamily="18" charset="0"/>
              </a:rPr>
              <a:t>load </a:t>
            </a:r>
            <a:r>
              <a:rPr sz="2000" spc="80" dirty="0">
                <a:solidFill>
                  <a:schemeClr val="tx1"/>
                </a:solidFill>
                <a:latin typeface="Times New Roman" panose="02020603050405020304" pitchFamily="18" charset="0"/>
                <a:cs typeface="Times New Roman" panose="02020603050405020304" pitchFamily="18" charset="0"/>
              </a:rPr>
              <a:t>away </a:t>
            </a:r>
            <a:r>
              <a:rPr sz="2000" spc="90" dirty="0">
                <a:solidFill>
                  <a:schemeClr val="tx1"/>
                </a:solidFill>
                <a:latin typeface="Times New Roman" panose="02020603050405020304" pitchFamily="18" charset="0"/>
                <a:cs typeface="Times New Roman" panose="02020603050405020304" pitchFamily="18" charset="0"/>
              </a:rPr>
              <a:t>from </a:t>
            </a:r>
            <a:r>
              <a:rPr sz="2000" spc="95" dirty="0">
                <a:solidFill>
                  <a:schemeClr val="tx1"/>
                </a:solidFill>
                <a:latin typeface="Times New Roman" panose="02020603050405020304" pitchFamily="18" charset="0"/>
                <a:cs typeface="Times New Roman" panose="02020603050405020304" pitchFamily="18" charset="0"/>
              </a:rPr>
              <a:t>transaction </a:t>
            </a:r>
            <a:r>
              <a:rPr sz="2000" spc="100" dirty="0">
                <a:solidFill>
                  <a:schemeClr val="tx1"/>
                </a:solidFill>
                <a:latin typeface="Times New Roman" panose="02020603050405020304" pitchFamily="18" charset="0"/>
                <a:cs typeface="Times New Roman" panose="02020603050405020304" pitchFamily="18" charset="0"/>
              </a:rPr>
              <a:t>processing</a:t>
            </a:r>
            <a:r>
              <a:rPr sz="2000" spc="295" dirty="0">
                <a:solidFill>
                  <a:schemeClr val="tx1"/>
                </a:solidFill>
                <a:latin typeface="Times New Roman" panose="02020603050405020304" pitchFamily="18" charset="0"/>
                <a:cs typeface="Times New Roman" panose="02020603050405020304" pitchFamily="18" charset="0"/>
              </a:rPr>
              <a:t> </a:t>
            </a:r>
            <a:r>
              <a:rPr sz="2000" spc="95" dirty="0">
                <a:solidFill>
                  <a:schemeClr val="tx1"/>
                </a:solidFill>
                <a:latin typeface="Times New Roman" panose="02020603050405020304" pitchFamily="18" charset="0"/>
                <a:cs typeface="Times New Roman" panose="02020603050405020304" pitchFamily="18" charset="0"/>
              </a:rPr>
              <a:t>systems</a:t>
            </a:r>
            <a:endParaRPr sz="2000" dirty="0">
              <a:solidFill>
                <a:schemeClr val="tx1"/>
              </a:solidFill>
              <a:latin typeface="Times New Roman" panose="02020603050405020304" pitchFamily="18" charset="0"/>
              <a:cs typeface="Times New Roman" panose="02020603050405020304" pitchFamily="18" charset="0"/>
            </a:endParaRPr>
          </a:p>
        </p:txBody>
      </p:sp>
      <p:sp>
        <p:nvSpPr>
          <p:cNvPr id="5" name="object 7"/>
          <p:cNvSpPr/>
          <p:nvPr/>
        </p:nvSpPr>
        <p:spPr>
          <a:xfrm>
            <a:off x="1529496" y="4117709"/>
            <a:ext cx="6317995" cy="2511691"/>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580191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0108" y="1080656"/>
            <a:ext cx="8728364" cy="5509200"/>
          </a:xfrm>
          <a:prstGeom prst="rect">
            <a:avLst/>
          </a:prstGeom>
        </p:spPr>
        <p:txBody>
          <a:bodyPr wrap="square">
            <a:spAutoFit/>
          </a:bodyPr>
          <a:lstStyle/>
          <a:p>
            <a:pPr algn="just"/>
            <a:r>
              <a:rPr lang="en-US" sz="2200" dirty="0">
                <a:latin typeface="Times New Roman" pitchFamily="18" charset="0"/>
                <a:cs typeface="Times New Roman" pitchFamily="18" charset="0"/>
              </a:rPr>
              <a:t>Design Issues</a:t>
            </a:r>
          </a:p>
          <a:p>
            <a:pPr algn="just"/>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When and how to gather data</a:t>
            </a:r>
          </a:p>
          <a:p>
            <a:pPr algn="just"/>
            <a:r>
              <a:rPr lang="en-US" sz="2200" dirty="0">
                <a:latin typeface="Times New Roman" pitchFamily="18" charset="0"/>
                <a:cs typeface="Times New Roman" pitchFamily="18" charset="0"/>
              </a:rPr>
              <a:t>– Source driven architecture: data sources transmit new information to</a:t>
            </a:r>
          </a:p>
          <a:p>
            <a:pPr algn="just"/>
            <a:r>
              <a:rPr lang="en-US" sz="2200" dirty="0">
                <a:latin typeface="Times New Roman" pitchFamily="18" charset="0"/>
                <a:cs typeface="Times New Roman" pitchFamily="18" charset="0"/>
              </a:rPr>
              <a:t>warehouse, either continuously or periodically (e.g., at night)</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Destination driven architecture: warehouse periodically requests new</a:t>
            </a:r>
          </a:p>
          <a:p>
            <a:pPr algn="just"/>
            <a:r>
              <a:rPr lang="en-US" sz="2200" dirty="0">
                <a:latin typeface="Times New Roman" pitchFamily="18" charset="0"/>
                <a:cs typeface="Times New Roman" pitchFamily="18" charset="0"/>
              </a:rPr>
              <a:t>information from data sources</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Keeping warehouse exactly synchronized with data sources (e.g., using  two-phase commit) is too expensive</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Data/updates are periodically downloaded form online transaction processing (OLTP) systems.</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What schema to use</a:t>
            </a:r>
          </a:p>
          <a:p>
            <a:pPr algn="just"/>
            <a:r>
              <a:rPr lang="en-US" sz="2200" dirty="0">
                <a:latin typeface="Times New Roman" pitchFamily="18" charset="0"/>
                <a:cs typeface="Times New Roman" pitchFamily="18" charset="0"/>
              </a:rPr>
              <a:t>– Schema integration</a:t>
            </a:r>
          </a:p>
        </p:txBody>
      </p:sp>
    </p:spTree>
    <p:extLst>
      <p:ext uri="{BB962C8B-B14F-4D97-AF65-F5344CB8AC3E}">
        <p14:creationId xmlns:p14="http://schemas.microsoft.com/office/powerpoint/2010/main" val="3368994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txBox="1"/>
          <p:nvPr/>
        </p:nvSpPr>
        <p:spPr>
          <a:xfrm>
            <a:off x="381000" y="1267691"/>
            <a:ext cx="8624455" cy="3164841"/>
          </a:xfrm>
          <a:prstGeom prst="rect">
            <a:avLst/>
          </a:prstGeom>
        </p:spPr>
        <p:txBody>
          <a:bodyPr vert="horz" wrap="square" lIns="0" tIns="77470" rIns="0" bIns="0" rtlCol="0">
            <a:spAutoFit/>
          </a:bodyPr>
          <a:lstStyle/>
          <a:p>
            <a:pPr marL="342900" indent="-342900">
              <a:lnSpc>
                <a:spcPct val="100000"/>
              </a:lnSpc>
              <a:spcBef>
                <a:spcPts val="610"/>
              </a:spcBef>
              <a:buFont typeface="Arial" pitchFamily="34" charset="0"/>
              <a:buChar char="•"/>
            </a:pPr>
            <a:r>
              <a:rPr sz="2200" dirty="0">
                <a:latin typeface="Times New Roman" pitchFamily="18" charset="0"/>
                <a:cs typeface="Times New Roman" pitchFamily="18" charset="0"/>
              </a:rPr>
              <a:t>Data cleansing</a:t>
            </a:r>
          </a:p>
          <a:p>
            <a:pPr indent="-313690">
              <a:lnSpc>
                <a:spcPct val="100000"/>
              </a:lnSpc>
              <a:spcBef>
                <a:spcPts val="515"/>
              </a:spcBef>
              <a:buChar char="–"/>
              <a:tabLst>
                <a:tab pos="829310" algn="l"/>
                <a:tab pos="829944" algn="l"/>
              </a:tabLst>
            </a:pPr>
            <a:r>
              <a:rPr sz="2200" dirty="0">
                <a:latin typeface="Times New Roman" pitchFamily="18" charset="0"/>
                <a:cs typeface="Times New Roman" pitchFamily="18" charset="0"/>
              </a:rPr>
              <a:t>E.g.:correct mistakes in addresses</a:t>
            </a:r>
          </a:p>
          <a:p>
            <a:pPr indent="-313690">
              <a:lnSpc>
                <a:spcPct val="100000"/>
              </a:lnSpc>
              <a:spcBef>
                <a:spcPts val="505"/>
              </a:spcBef>
              <a:buChar char="–"/>
              <a:tabLst>
                <a:tab pos="829310" algn="l"/>
                <a:tab pos="829944" algn="l"/>
              </a:tabLst>
            </a:pPr>
            <a:r>
              <a:rPr sz="2200" dirty="0">
                <a:latin typeface="Times New Roman" pitchFamily="18" charset="0"/>
                <a:cs typeface="Times New Roman" pitchFamily="18" charset="0"/>
              </a:rPr>
              <a:t>Merge address lists from different sources and </a:t>
            </a:r>
            <a:r>
              <a:rPr lang="en-US" sz="2200" dirty="0">
                <a:latin typeface="Times New Roman" pitchFamily="18" charset="0"/>
                <a:cs typeface="Times New Roman" pitchFamily="18" charset="0"/>
              </a:rPr>
              <a:t>remove </a:t>
            </a:r>
            <a:r>
              <a:rPr sz="2200" dirty="0">
                <a:latin typeface="Times New Roman" pitchFamily="18" charset="0"/>
                <a:cs typeface="Times New Roman" pitchFamily="18" charset="0"/>
              </a:rPr>
              <a:t>duplicates</a:t>
            </a:r>
          </a:p>
          <a:p>
            <a:pPr marL="342900" indent="-342900">
              <a:lnSpc>
                <a:spcPct val="100000"/>
              </a:lnSpc>
              <a:spcBef>
                <a:spcPts val="450"/>
              </a:spcBef>
              <a:buFont typeface="Arial" pitchFamily="34" charset="0"/>
              <a:buChar char="•"/>
            </a:pPr>
            <a:r>
              <a:rPr sz="2200" dirty="0">
                <a:latin typeface="Times New Roman" pitchFamily="18" charset="0"/>
                <a:cs typeface="Times New Roman" pitchFamily="18" charset="0"/>
              </a:rPr>
              <a:t>What data to summarize</a:t>
            </a:r>
          </a:p>
          <a:p>
            <a:pPr indent="-313690">
              <a:lnSpc>
                <a:spcPct val="100000"/>
              </a:lnSpc>
              <a:spcBef>
                <a:spcPts val="495"/>
              </a:spcBef>
              <a:buChar char="–"/>
              <a:tabLst>
                <a:tab pos="829310" algn="l"/>
                <a:tab pos="829944" algn="l"/>
              </a:tabLst>
            </a:pPr>
            <a:r>
              <a:rPr sz="2200" dirty="0">
                <a:latin typeface="Times New Roman" pitchFamily="18" charset="0"/>
                <a:cs typeface="Times New Roman" pitchFamily="18" charset="0"/>
              </a:rPr>
              <a:t>Raw data may be too large to store on-line</a:t>
            </a:r>
          </a:p>
          <a:p>
            <a:pPr indent="-313690">
              <a:lnSpc>
                <a:spcPct val="100000"/>
              </a:lnSpc>
              <a:spcBef>
                <a:spcPts val="515"/>
              </a:spcBef>
              <a:buChar char="–"/>
              <a:tabLst>
                <a:tab pos="829310" algn="l"/>
                <a:tab pos="829944" algn="l"/>
              </a:tabLst>
            </a:pPr>
            <a:r>
              <a:rPr sz="2200" dirty="0">
                <a:latin typeface="Times New Roman" pitchFamily="18" charset="0"/>
                <a:cs typeface="Times New Roman" pitchFamily="18" charset="0"/>
              </a:rPr>
              <a:t>Aggregate values (totals/subtotals) often suffice</a:t>
            </a:r>
          </a:p>
          <a:p>
            <a:pPr marR="744220" indent="-313690">
              <a:lnSpc>
                <a:spcPct val="101600"/>
              </a:lnSpc>
              <a:spcBef>
                <a:spcPts val="470"/>
              </a:spcBef>
              <a:buChar char="–"/>
              <a:tabLst>
                <a:tab pos="829310" algn="l"/>
                <a:tab pos="829944" algn="l"/>
              </a:tabLst>
            </a:pPr>
            <a:r>
              <a:rPr sz="2200" dirty="0">
                <a:latin typeface="Times New Roman" pitchFamily="18" charset="0"/>
                <a:cs typeface="Times New Roman" pitchFamily="18" charset="0"/>
              </a:rPr>
              <a:t>Queries on raw data can often be transformed by query  optimizer to use aggregate values</a:t>
            </a:r>
          </a:p>
        </p:txBody>
      </p:sp>
    </p:spTree>
    <p:extLst>
      <p:ext uri="{BB962C8B-B14F-4D97-AF65-F5344CB8AC3E}">
        <p14:creationId xmlns:p14="http://schemas.microsoft.com/office/powerpoint/2010/main" val="2342475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745" y="935182"/>
            <a:ext cx="8305800" cy="868362"/>
          </a:xfrm>
        </p:spPr>
        <p:txBody>
          <a:bodyPr>
            <a:normAutofit fontScale="90000"/>
          </a:bodyPr>
          <a:lstStyle/>
          <a:p>
            <a:r>
              <a:rPr lang="en-US" sz="3600" b="1" dirty="0">
                <a:latin typeface="Times New Roman" panose="02020603050405020304" pitchFamily="18" charset="0"/>
                <a:cs typeface="Times New Roman" panose="02020603050405020304" pitchFamily="18" charset="0"/>
              </a:rPr>
              <a:t>Warehouse Schemas</a:t>
            </a:r>
            <a:r>
              <a:rPr lang="en-US" b="1" dirty="0">
                <a:latin typeface="Arial" pitchFamily="34" charset="0"/>
                <a:cs typeface="Arial" pitchFamily="34" charset="0"/>
              </a:rPr>
              <a:t/>
            </a:r>
            <a:br>
              <a:rPr lang="en-US" b="1" dirty="0">
                <a:latin typeface="Arial" pitchFamily="34" charset="0"/>
                <a:cs typeface="Arial" pitchFamily="34" charset="0"/>
              </a:rPr>
            </a:br>
            <a:endParaRPr lang="en-US" dirty="0"/>
          </a:p>
        </p:txBody>
      </p:sp>
      <p:sp>
        <p:nvSpPr>
          <p:cNvPr id="4" name="object 4"/>
          <p:cNvSpPr txBox="1"/>
          <p:nvPr/>
        </p:nvSpPr>
        <p:spPr>
          <a:xfrm>
            <a:off x="214744" y="1475509"/>
            <a:ext cx="8721437" cy="5250540"/>
          </a:xfrm>
          <a:prstGeom prst="rect">
            <a:avLst/>
          </a:prstGeom>
        </p:spPr>
        <p:txBody>
          <a:bodyPr vert="horz" wrap="square" lIns="0" tIns="12065" rIns="0" bIns="0" rtlCol="0">
            <a:spAutoFit/>
          </a:bodyPr>
          <a:lstStyle/>
          <a:p>
            <a:pPr marL="12700" marR="5080">
              <a:lnSpc>
                <a:spcPct val="101499"/>
              </a:lnSpc>
              <a:spcBef>
                <a:spcPts val="95"/>
              </a:spcBef>
            </a:pPr>
            <a:r>
              <a:rPr lang="en-US" sz="2000" dirty="0">
                <a:latin typeface="Times New Roman" pitchFamily="18" charset="0"/>
                <a:cs typeface="Times New Roman" pitchFamily="18" charset="0"/>
              </a:rPr>
              <a:t>A database uses </a:t>
            </a:r>
            <a:r>
              <a:rPr lang="en-US" sz="2000" b="1" dirty="0">
                <a:latin typeface="Times New Roman" pitchFamily="18" charset="0"/>
                <a:cs typeface="Times New Roman" pitchFamily="18" charset="0"/>
              </a:rPr>
              <a:t>relational model</a:t>
            </a:r>
            <a:r>
              <a:rPr lang="en-US" sz="2000" dirty="0">
                <a:latin typeface="Times New Roman" pitchFamily="18" charset="0"/>
                <a:cs typeface="Times New Roman" pitchFamily="18" charset="0"/>
              </a:rPr>
              <a:t>, while a data warehouse uses </a:t>
            </a:r>
            <a:r>
              <a:rPr lang="en-US" sz="2000" b="1" dirty="0">
                <a:latin typeface="Times New Roman" pitchFamily="18" charset="0"/>
                <a:cs typeface="Times New Roman" pitchFamily="18" charset="0"/>
              </a:rPr>
              <a:t>Star, Snowflake, and Fact Constellation schema. </a:t>
            </a:r>
          </a:p>
          <a:p>
            <a:r>
              <a:rPr lang="en-US" sz="2000" b="1" dirty="0" smtClean="0">
                <a:latin typeface="Times New Roman" pitchFamily="18" charset="0"/>
                <a:cs typeface="Times New Roman" pitchFamily="18" charset="0"/>
              </a:rPr>
              <a:t>Star </a:t>
            </a:r>
            <a:r>
              <a:rPr lang="en-US" sz="2000" b="1" dirty="0">
                <a:latin typeface="Times New Roman" pitchFamily="18" charset="0"/>
                <a:cs typeface="Times New Roman" pitchFamily="18" charset="0"/>
              </a:rPr>
              <a:t>Schema:-</a:t>
            </a:r>
          </a:p>
          <a:p>
            <a:r>
              <a:rPr lang="en-US" sz="2000" dirty="0">
                <a:latin typeface="Times New Roman" pitchFamily="18" charset="0"/>
                <a:cs typeface="Times New Roman" pitchFamily="18" charset="0"/>
              </a:rPr>
              <a:t>The star schema is the simplest data warehouse schema. It is called star schema because the structure of star schema resembles a  star, with points radiating from the center.</a:t>
            </a:r>
          </a:p>
          <a:p>
            <a:r>
              <a:rPr lang="en-US" sz="2000" b="1" dirty="0" smtClean="0">
                <a:latin typeface="Times New Roman" pitchFamily="18" charset="0"/>
                <a:cs typeface="Times New Roman" pitchFamily="18" charset="0"/>
              </a:rPr>
              <a:t>Snowflake </a:t>
            </a:r>
            <a:r>
              <a:rPr lang="en-US" sz="2000" b="1" dirty="0">
                <a:latin typeface="Times New Roman" pitchFamily="18" charset="0"/>
                <a:cs typeface="Times New Roman" pitchFamily="18" charset="0"/>
              </a:rPr>
              <a:t>Schema:-</a:t>
            </a:r>
          </a:p>
          <a:p>
            <a:r>
              <a:rPr lang="en-US" sz="2000" dirty="0">
                <a:latin typeface="Times New Roman" pitchFamily="18" charset="0"/>
                <a:cs typeface="Times New Roman" pitchFamily="18" charset="0"/>
              </a:rPr>
              <a:t>Snowflake schema is an extension of star schema means it is more complex than star schema.</a:t>
            </a:r>
          </a:p>
          <a:p>
            <a:r>
              <a:rPr lang="en-US" sz="2000" dirty="0">
                <a:latin typeface="Times New Roman" pitchFamily="18" charset="0"/>
                <a:cs typeface="Times New Roman" pitchFamily="18" charset="0"/>
              </a:rPr>
              <a:t>In star schema each dimension is represented by a single dimension table whereas in snowflake schema each dimension is grouped into multiple lookup table to eliminate the redundancy.</a:t>
            </a:r>
          </a:p>
          <a:p>
            <a:endParaRPr lang="en-US" sz="2000" b="1" dirty="0">
              <a:latin typeface="Times New Roman" pitchFamily="18" charset="0"/>
              <a:cs typeface="Times New Roman" pitchFamily="18" charset="0"/>
            </a:endParaRPr>
          </a:p>
          <a:p>
            <a:r>
              <a:rPr lang="en-US" sz="2000" b="1" dirty="0">
                <a:latin typeface="Times New Roman" pitchFamily="18" charset="0"/>
                <a:cs typeface="Times New Roman" pitchFamily="18" charset="0"/>
              </a:rPr>
              <a:t>Fact Constellation Schema:-</a:t>
            </a:r>
          </a:p>
          <a:p>
            <a:r>
              <a:rPr lang="en-US" sz="2000" dirty="0">
                <a:latin typeface="Times New Roman" pitchFamily="18" charset="0"/>
                <a:cs typeface="Times New Roman" pitchFamily="18" charset="0"/>
              </a:rPr>
              <a:t>A fact constellation schema has more than one fact table. For each star schema, it is possible to create fact constellation schema by splitting the original star schema into more star schemes</a:t>
            </a:r>
            <a:r>
              <a:rPr lang="en-US" sz="2000" dirty="0" smtClean="0">
                <a:latin typeface="Times New Roman" pitchFamily="18" charset="0"/>
                <a:cs typeface="Times New Roman" pitchFamily="18" charset="0"/>
              </a:rPr>
              <a:t>.</a:t>
            </a:r>
            <a:endParaRPr lang="en-US" sz="2000" dirty="0"/>
          </a:p>
        </p:txBody>
      </p:sp>
    </p:spTree>
    <p:extLst>
      <p:ext uri="{BB962C8B-B14F-4D97-AF65-F5344CB8AC3E}">
        <p14:creationId xmlns:p14="http://schemas.microsoft.com/office/powerpoint/2010/main" val="2906298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454" y="883227"/>
            <a:ext cx="7772400" cy="1143000"/>
          </a:xfrm>
        </p:spPr>
        <p:txBody>
          <a:bodyPr>
            <a:normAutofit fontScale="90000"/>
          </a:bodyPr>
          <a:lstStyle/>
          <a:p>
            <a:r>
              <a:rPr lang="en-US" sz="3600" b="1" dirty="0">
                <a:latin typeface="Times New Roman" panose="02020603050405020304" pitchFamily="18" charset="0"/>
                <a:cs typeface="Times New Roman" panose="02020603050405020304" pitchFamily="18" charset="0"/>
              </a:rPr>
              <a:t>Introduction of Data Mining</a:t>
            </a:r>
            <a:r>
              <a:rPr lang="en-US" b="1" dirty="0">
                <a:latin typeface="Arial" pitchFamily="34" charset="0"/>
                <a:cs typeface="Arial" pitchFamily="34" charset="0"/>
              </a:rPr>
              <a:t/>
            </a:r>
            <a:br>
              <a:rPr lang="en-US" b="1" dirty="0">
                <a:latin typeface="Arial" pitchFamily="34" charset="0"/>
                <a:cs typeface="Arial" pitchFamily="34" charset="0"/>
              </a:rPr>
            </a:br>
            <a:endParaRPr lang="en-US" dirty="0"/>
          </a:p>
        </p:txBody>
      </p:sp>
      <p:sp>
        <p:nvSpPr>
          <p:cNvPr id="4" name="object 4"/>
          <p:cNvSpPr txBox="1"/>
          <p:nvPr/>
        </p:nvSpPr>
        <p:spPr>
          <a:xfrm>
            <a:off x="242454" y="1454727"/>
            <a:ext cx="8790710" cy="5150192"/>
          </a:xfrm>
          <a:prstGeom prst="rect">
            <a:avLst/>
          </a:prstGeom>
        </p:spPr>
        <p:txBody>
          <a:bodyPr vert="horz" wrap="square" lIns="0" tIns="11430" rIns="0" bIns="0" rtlCol="0">
            <a:spAutoFit/>
          </a:bodyPr>
          <a:lstStyle/>
          <a:p>
            <a:pPr marL="12700" marR="5080">
              <a:lnSpc>
                <a:spcPct val="101600"/>
              </a:lnSpc>
              <a:spcBef>
                <a:spcPts val="90"/>
              </a:spcBef>
            </a:pPr>
            <a:r>
              <a:rPr sz="2000" spc="114" dirty="0">
                <a:solidFill>
                  <a:srgbClr val="3F3F3F"/>
                </a:solidFill>
                <a:latin typeface="Times New Roman" pitchFamily="18" charset="0"/>
                <a:cs typeface="Times New Roman" pitchFamily="18" charset="0"/>
              </a:rPr>
              <a:t>Data </a:t>
            </a:r>
            <a:r>
              <a:rPr sz="2000" spc="110" dirty="0">
                <a:solidFill>
                  <a:srgbClr val="3F3F3F"/>
                </a:solidFill>
                <a:latin typeface="Times New Roman" pitchFamily="18" charset="0"/>
                <a:cs typeface="Times New Roman" pitchFamily="18" charset="0"/>
              </a:rPr>
              <a:t>mining </a:t>
            </a:r>
            <a:r>
              <a:rPr sz="2000" spc="20" dirty="0">
                <a:solidFill>
                  <a:srgbClr val="3F3F3F"/>
                </a:solidFill>
                <a:latin typeface="Times New Roman" pitchFamily="18" charset="0"/>
                <a:cs typeface="Times New Roman" pitchFamily="18" charset="0"/>
              </a:rPr>
              <a:t>is </a:t>
            </a:r>
            <a:r>
              <a:rPr sz="2000" spc="160" dirty="0">
                <a:solidFill>
                  <a:srgbClr val="3F3F3F"/>
                </a:solidFill>
                <a:latin typeface="Times New Roman" pitchFamily="18" charset="0"/>
                <a:cs typeface="Times New Roman" pitchFamily="18" charset="0"/>
              </a:rPr>
              <a:t>the </a:t>
            </a:r>
            <a:r>
              <a:rPr sz="2000" spc="125" dirty="0">
                <a:solidFill>
                  <a:srgbClr val="3F3F3F"/>
                </a:solidFill>
                <a:latin typeface="Times New Roman" pitchFamily="18" charset="0"/>
                <a:cs typeface="Times New Roman" pitchFamily="18" charset="0"/>
              </a:rPr>
              <a:t>process </a:t>
            </a:r>
            <a:r>
              <a:rPr sz="2000" spc="70" dirty="0">
                <a:solidFill>
                  <a:srgbClr val="3F3F3F"/>
                </a:solidFill>
                <a:latin typeface="Times New Roman" pitchFamily="18" charset="0"/>
                <a:cs typeface="Times New Roman" pitchFamily="18" charset="0"/>
              </a:rPr>
              <a:t>of </a:t>
            </a:r>
            <a:r>
              <a:rPr sz="2000" spc="100" dirty="0">
                <a:solidFill>
                  <a:srgbClr val="3F3F3F"/>
                </a:solidFill>
                <a:latin typeface="Times New Roman" pitchFamily="18" charset="0"/>
                <a:cs typeface="Times New Roman" pitchFamily="18" charset="0"/>
              </a:rPr>
              <a:t>semi-automatically </a:t>
            </a:r>
            <a:r>
              <a:rPr sz="2000" spc="85" dirty="0">
                <a:solidFill>
                  <a:srgbClr val="3F3F3F"/>
                </a:solidFill>
                <a:latin typeface="Times New Roman" pitchFamily="18" charset="0"/>
                <a:cs typeface="Times New Roman" pitchFamily="18" charset="0"/>
              </a:rPr>
              <a:t>analyzing </a:t>
            </a:r>
            <a:r>
              <a:rPr sz="2000" spc="105" dirty="0">
                <a:solidFill>
                  <a:srgbClr val="3F3F3F"/>
                </a:solidFill>
                <a:latin typeface="Times New Roman" pitchFamily="18" charset="0"/>
                <a:cs typeface="Times New Roman" pitchFamily="18" charset="0"/>
              </a:rPr>
              <a:t>large </a:t>
            </a:r>
            <a:r>
              <a:rPr sz="2000" spc="155" dirty="0">
                <a:solidFill>
                  <a:srgbClr val="3F3F3F"/>
                </a:solidFill>
                <a:latin typeface="Times New Roman" pitchFamily="18" charset="0"/>
                <a:cs typeface="Times New Roman" pitchFamily="18" charset="0"/>
              </a:rPr>
              <a:t>databases  </a:t>
            </a:r>
            <a:r>
              <a:rPr sz="2000" spc="170" dirty="0">
                <a:solidFill>
                  <a:srgbClr val="3F3F3F"/>
                </a:solidFill>
                <a:latin typeface="Times New Roman" pitchFamily="18" charset="0"/>
                <a:cs typeface="Times New Roman" pitchFamily="18" charset="0"/>
              </a:rPr>
              <a:t>to </a:t>
            </a:r>
            <a:r>
              <a:rPr sz="2000" spc="70" dirty="0">
                <a:solidFill>
                  <a:srgbClr val="3F3F3F"/>
                </a:solidFill>
                <a:latin typeface="Times New Roman" pitchFamily="18" charset="0"/>
                <a:cs typeface="Times New Roman" pitchFamily="18" charset="0"/>
              </a:rPr>
              <a:t>find </a:t>
            </a:r>
            <a:r>
              <a:rPr sz="2000" spc="85" dirty="0">
                <a:solidFill>
                  <a:srgbClr val="3F3F3F"/>
                </a:solidFill>
                <a:latin typeface="Times New Roman" pitchFamily="18" charset="0"/>
                <a:cs typeface="Times New Roman" pitchFamily="18" charset="0"/>
              </a:rPr>
              <a:t>useful</a:t>
            </a:r>
            <a:r>
              <a:rPr sz="2000" spc="390" dirty="0">
                <a:solidFill>
                  <a:srgbClr val="3F3F3F"/>
                </a:solidFill>
                <a:latin typeface="Times New Roman" pitchFamily="18" charset="0"/>
                <a:cs typeface="Times New Roman" pitchFamily="18" charset="0"/>
              </a:rPr>
              <a:t> </a:t>
            </a:r>
            <a:r>
              <a:rPr sz="2000" spc="135" dirty="0">
                <a:solidFill>
                  <a:srgbClr val="3F3F3F"/>
                </a:solidFill>
                <a:latin typeface="Times New Roman" pitchFamily="18" charset="0"/>
                <a:cs typeface="Times New Roman" pitchFamily="18" charset="0"/>
              </a:rPr>
              <a:t>patterns</a:t>
            </a:r>
            <a:endParaRPr sz="2000" dirty="0">
              <a:latin typeface="Times New Roman" pitchFamily="18" charset="0"/>
              <a:cs typeface="Times New Roman" pitchFamily="18" charset="0"/>
            </a:endParaRPr>
          </a:p>
          <a:p>
            <a:pPr marL="12700">
              <a:lnSpc>
                <a:spcPct val="100000"/>
              </a:lnSpc>
              <a:spcBef>
                <a:spcPts val="515"/>
              </a:spcBef>
            </a:pPr>
            <a:r>
              <a:rPr sz="2000" spc="150" dirty="0">
                <a:solidFill>
                  <a:srgbClr val="000099"/>
                </a:solidFill>
                <a:latin typeface="Times New Roman" pitchFamily="18" charset="0"/>
                <a:cs typeface="Times New Roman" pitchFamily="18" charset="0"/>
              </a:rPr>
              <a:t>Prediction </a:t>
            </a:r>
            <a:r>
              <a:rPr sz="2000" spc="165" dirty="0">
                <a:solidFill>
                  <a:srgbClr val="3F3F3F"/>
                </a:solidFill>
                <a:latin typeface="Times New Roman" pitchFamily="18" charset="0"/>
                <a:cs typeface="Times New Roman" pitchFamily="18" charset="0"/>
              </a:rPr>
              <a:t>based </a:t>
            </a:r>
            <a:r>
              <a:rPr sz="2000" spc="190" dirty="0">
                <a:solidFill>
                  <a:srgbClr val="3F3F3F"/>
                </a:solidFill>
                <a:latin typeface="Times New Roman" pitchFamily="18" charset="0"/>
                <a:cs typeface="Times New Roman" pitchFamily="18" charset="0"/>
              </a:rPr>
              <a:t>on </a:t>
            </a:r>
            <a:r>
              <a:rPr sz="2000" spc="145" dirty="0">
                <a:solidFill>
                  <a:srgbClr val="3F3F3F"/>
                </a:solidFill>
                <a:latin typeface="Times New Roman" pitchFamily="18" charset="0"/>
                <a:cs typeface="Times New Roman" pitchFamily="18" charset="0"/>
              </a:rPr>
              <a:t>past</a:t>
            </a:r>
            <a:r>
              <a:rPr sz="2000" spc="340" dirty="0">
                <a:solidFill>
                  <a:srgbClr val="3F3F3F"/>
                </a:solidFill>
                <a:latin typeface="Times New Roman" pitchFamily="18" charset="0"/>
                <a:cs typeface="Times New Roman" pitchFamily="18" charset="0"/>
              </a:rPr>
              <a:t> </a:t>
            </a:r>
            <a:r>
              <a:rPr sz="2000" spc="95" dirty="0">
                <a:solidFill>
                  <a:srgbClr val="3F3F3F"/>
                </a:solidFill>
                <a:latin typeface="Times New Roman" pitchFamily="18" charset="0"/>
                <a:cs typeface="Times New Roman" pitchFamily="18" charset="0"/>
              </a:rPr>
              <a:t>history</a:t>
            </a:r>
            <a:endParaRPr sz="2000" dirty="0">
              <a:latin typeface="Times New Roman" pitchFamily="18" charset="0"/>
              <a:cs typeface="Times New Roman" pitchFamily="18" charset="0"/>
            </a:endParaRPr>
          </a:p>
          <a:p>
            <a:pPr marL="829310" marR="86995" indent="-313690">
              <a:lnSpc>
                <a:spcPct val="101600"/>
              </a:lnSpc>
              <a:spcBef>
                <a:spcPts val="470"/>
              </a:spcBef>
              <a:buChar char="–"/>
              <a:tabLst>
                <a:tab pos="829310" algn="l"/>
                <a:tab pos="829944" algn="l"/>
              </a:tabLst>
            </a:pPr>
            <a:r>
              <a:rPr sz="2000" spc="85" dirty="0">
                <a:latin typeface="Times New Roman" pitchFamily="18" charset="0"/>
                <a:cs typeface="Times New Roman" pitchFamily="18" charset="0"/>
              </a:rPr>
              <a:t>Predict </a:t>
            </a:r>
            <a:r>
              <a:rPr sz="2000" spc="-40" dirty="0">
                <a:latin typeface="Times New Roman" pitchFamily="18" charset="0"/>
                <a:cs typeface="Times New Roman" pitchFamily="18" charset="0"/>
              </a:rPr>
              <a:t>if </a:t>
            </a:r>
            <a:r>
              <a:rPr sz="2000" spc="160" dirty="0">
                <a:latin typeface="Times New Roman" pitchFamily="18" charset="0"/>
                <a:cs typeface="Times New Roman" pitchFamily="18" charset="0"/>
              </a:rPr>
              <a:t>a </a:t>
            </a:r>
            <a:r>
              <a:rPr sz="2000" spc="90" dirty="0">
                <a:latin typeface="Times New Roman" pitchFamily="18" charset="0"/>
                <a:cs typeface="Times New Roman" pitchFamily="18" charset="0"/>
              </a:rPr>
              <a:t>credit </a:t>
            </a:r>
            <a:r>
              <a:rPr sz="2000" spc="114" dirty="0">
                <a:latin typeface="Times New Roman" pitchFamily="18" charset="0"/>
                <a:cs typeface="Times New Roman" pitchFamily="18" charset="0"/>
              </a:rPr>
              <a:t>card </a:t>
            </a:r>
            <a:r>
              <a:rPr sz="2000" spc="110" dirty="0">
                <a:latin typeface="Times New Roman" pitchFamily="18" charset="0"/>
                <a:cs typeface="Times New Roman" pitchFamily="18" charset="0"/>
              </a:rPr>
              <a:t>applicant </a:t>
            </a:r>
            <a:r>
              <a:rPr sz="2000" spc="155" dirty="0">
                <a:latin typeface="Times New Roman" pitchFamily="18" charset="0"/>
                <a:cs typeface="Times New Roman" pitchFamily="18" charset="0"/>
              </a:rPr>
              <a:t>poses </a:t>
            </a:r>
            <a:r>
              <a:rPr sz="2000" spc="160" dirty="0">
                <a:latin typeface="Times New Roman" pitchFamily="18" charset="0"/>
                <a:cs typeface="Times New Roman" pitchFamily="18" charset="0"/>
              </a:rPr>
              <a:t>a </a:t>
            </a:r>
            <a:r>
              <a:rPr sz="2000" spc="210" dirty="0">
                <a:latin typeface="Times New Roman" pitchFamily="18" charset="0"/>
                <a:cs typeface="Times New Roman" pitchFamily="18" charset="0"/>
              </a:rPr>
              <a:t>good </a:t>
            </a:r>
            <a:r>
              <a:rPr sz="2000" spc="95" dirty="0">
                <a:latin typeface="Times New Roman" pitchFamily="18" charset="0"/>
                <a:cs typeface="Times New Roman" pitchFamily="18" charset="0"/>
              </a:rPr>
              <a:t>credit </a:t>
            </a:r>
            <a:r>
              <a:rPr sz="2000" spc="25" dirty="0">
                <a:latin typeface="Times New Roman" pitchFamily="18" charset="0"/>
                <a:cs typeface="Times New Roman" pitchFamily="18" charset="0"/>
              </a:rPr>
              <a:t>risk, </a:t>
            </a:r>
            <a:r>
              <a:rPr sz="2000" spc="170" dirty="0">
                <a:latin typeface="Times New Roman" pitchFamily="18" charset="0"/>
                <a:cs typeface="Times New Roman" pitchFamily="18" charset="0"/>
              </a:rPr>
              <a:t>based </a:t>
            </a:r>
            <a:r>
              <a:rPr sz="2000" spc="190" dirty="0">
                <a:latin typeface="Times New Roman" pitchFamily="18" charset="0"/>
                <a:cs typeface="Times New Roman" pitchFamily="18" charset="0"/>
              </a:rPr>
              <a:t>on  </a:t>
            </a:r>
            <a:r>
              <a:rPr sz="2000" spc="175" dirty="0">
                <a:latin typeface="Times New Roman" pitchFamily="18" charset="0"/>
                <a:cs typeface="Times New Roman" pitchFamily="18" charset="0"/>
              </a:rPr>
              <a:t>some </a:t>
            </a:r>
            <a:r>
              <a:rPr sz="2000" spc="120" dirty="0">
                <a:latin typeface="Times New Roman" pitchFamily="18" charset="0"/>
                <a:cs typeface="Times New Roman" pitchFamily="18" charset="0"/>
              </a:rPr>
              <a:t>attributes </a:t>
            </a:r>
            <a:r>
              <a:rPr sz="2000" spc="85" dirty="0">
                <a:latin typeface="Times New Roman" pitchFamily="18" charset="0"/>
                <a:cs typeface="Times New Roman" pitchFamily="18" charset="0"/>
              </a:rPr>
              <a:t>(income, </a:t>
            </a:r>
            <a:r>
              <a:rPr sz="2000" spc="120" dirty="0">
                <a:latin typeface="Times New Roman" pitchFamily="18" charset="0"/>
                <a:cs typeface="Times New Roman" pitchFamily="18" charset="0"/>
              </a:rPr>
              <a:t>job </a:t>
            </a:r>
            <a:r>
              <a:rPr sz="2000" spc="95" dirty="0">
                <a:latin typeface="Times New Roman" pitchFamily="18" charset="0"/>
                <a:cs typeface="Times New Roman" pitchFamily="18" charset="0"/>
              </a:rPr>
              <a:t>type, </a:t>
            </a:r>
            <a:r>
              <a:rPr sz="2000" spc="125" dirty="0">
                <a:latin typeface="Times New Roman" pitchFamily="18" charset="0"/>
                <a:cs typeface="Times New Roman" pitchFamily="18" charset="0"/>
              </a:rPr>
              <a:t>age, </a:t>
            </a:r>
            <a:r>
              <a:rPr sz="2000" spc="-55" dirty="0">
                <a:latin typeface="Times New Roman" pitchFamily="18" charset="0"/>
                <a:cs typeface="Times New Roman" pitchFamily="18" charset="0"/>
              </a:rPr>
              <a:t>..) </a:t>
            </a:r>
            <a:r>
              <a:rPr sz="2000" spc="180" dirty="0">
                <a:latin typeface="Times New Roman" pitchFamily="18" charset="0"/>
                <a:cs typeface="Times New Roman" pitchFamily="18" charset="0"/>
              </a:rPr>
              <a:t>and </a:t>
            </a:r>
            <a:r>
              <a:rPr sz="2000" spc="145" dirty="0">
                <a:latin typeface="Times New Roman" pitchFamily="18" charset="0"/>
                <a:cs typeface="Times New Roman" pitchFamily="18" charset="0"/>
              </a:rPr>
              <a:t>past</a:t>
            </a:r>
            <a:r>
              <a:rPr sz="2000" spc="605" dirty="0">
                <a:latin typeface="Times New Roman" pitchFamily="18" charset="0"/>
                <a:cs typeface="Times New Roman" pitchFamily="18" charset="0"/>
              </a:rPr>
              <a:t> </a:t>
            </a:r>
            <a:r>
              <a:rPr sz="2000" spc="95" dirty="0">
                <a:latin typeface="Times New Roman" pitchFamily="18" charset="0"/>
                <a:cs typeface="Times New Roman" pitchFamily="18" charset="0"/>
              </a:rPr>
              <a:t>history</a:t>
            </a:r>
            <a:endParaRPr sz="2000" dirty="0">
              <a:latin typeface="Times New Roman" pitchFamily="18" charset="0"/>
              <a:cs typeface="Times New Roman" pitchFamily="18" charset="0"/>
            </a:endParaRPr>
          </a:p>
          <a:p>
            <a:pPr marL="829310" marR="784225" indent="-313690">
              <a:lnSpc>
                <a:spcPct val="101600"/>
              </a:lnSpc>
              <a:spcBef>
                <a:spcPts val="475"/>
              </a:spcBef>
              <a:buChar char="–"/>
              <a:tabLst>
                <a:tab pos="829310" algn="l"/>
                <a:tab pos="829944" algn="l"/>
              </a:tabLst>
            </a:pPr>
            <a:r>
              <a:rPr sz="2000" spc="85" dirty="0">
                <a:latin typeface="Times New Roman" pitchFamily="18" charset="0"/>
                <a:cs typeface="Times New Roman" pitchFamily="18" charset="0"/>
              </a:rPr>
              <a:t>Predict </a:t>
            </a:r>
            <a:r>
              <a:rPr sz="2000" spc="-40" dirty="0">
                <a:latin typeface="Times New Roman" pitchFamily="18" charset="0"/>
                <a:cs typeface="Times New Roman" pitchFamily="18" charset="0"/>
              </a:rPr>
              <a:t>if </a:t>
            </a:r>
            <a:r>
              <a:rPr sz="2000" spc="160" dirty="0">
                <a:latin typeface="Times New Roman" pitchFamily="18" charset="0"/>
                <a:cs typeface="Times New Roman" pitchFamily="18" charset="0"/>
              </a:rPr>
              <a:t>a </a:t>
            </a:r>
            <a:r>
              <a:rPr sz="2000" spc="145" dirty="0">
                <a:latin typeface="Times New Roman" pitchFamily="18" charset="0"/>
                <a:cs typeface="Times New Roman" pitchFamily="18" charset="0"/>
              </a:rPr>
              <a:t>pattern </a:t>
            </a:r>
            <a:r>
              <a:rPr sz="2000" spc="70" dirty="0">
                <a:latin typeface="Times New Roman" pitchFamily="18" charset="0"/>
                <a:cs typeface="Times New Roman" pitchFamily="18" charset="0"/>
              </a:rPr>
              <a:t>of </a:t>
            </a:r>
            <a:r>
              <a:rPr sz="2000" spc="185" dirty="0">
                <a:latin typeface="Times New Roman" pitchFamily="18" charset="0"/>
                <a:cs typeface="Times New Roman" pitchFamily="18" charset="0"/>
              </a:rPr>
              <a:t>phone </a:t>
            </a:r>
            <a:r>
              <a:rPr sz="2000" spc="60" dirty="0">
                <a:latin typeface="Times New Roman" pitchFamily="18" charset="0"/>
                <a:cs typeface="Times New Roman" pitchFamily="18" charset="0"/>
              </a:rPr>
              <a:t>calling </a:t>
            </a:r>
            <a:r>
              <a:rPr sz="2000" spc="114" dirty="0">
                <a:latin typeface="Times New Roman" pitchFamily="18" charset="0"/>
                <a:cs typeface="Times New Roman" pitchFamily="18" charset="0"/>
              </a:rPr>
              <a:t>card </a:t>
            </a:r>
            <a:r>
              <a:rPr sz="2000" spc="160" dirty="0">
                <a:latin typeface="Times New Roman" pitchFamily="18" charset="0"/>
                <a:cs typeface="Times New Roman" pitchFamily="18" charset="0"/>
              </a:rPr>
              <a:t>usage </a:t>
            </a:r>
            <a:r>
              <a:rPr sz="2000" spc="10" dirty="0">
                <a:latin typeface="Times New Roman" pitchFamily="18" charset="0"/>
                <a:cs typeface="Times New Roman" pitchFamily="18" charset="0"/>
              </a:rPr>
              <a:t>is </a:t>
            </a:r>
            <a:r>
              <a:rPr sz="2000" spc="-5" dirty="0">
                <a:latin typeface="Times New Roman" pitchFamily="18" charset="0"/>
                <a:cs typeface="Times New Roman" pitchFamily="18" charset="0"/>
              </a:rPr>
              <a:t>likely </a:t>
            </a:r>
            <a:r>
              <a:rPr sz="2000" spc="170" dirty="0">
                <a:latin typeface="Times New Roman" pitchFamily="18" charset="0"/>
                <a:cs typeface="Times New Roman" pitchFamily="18" charset="0"/>
              </a:rPr>
              <a:t>to </a:t>
            </a:r>
            <a:r>
              <a:rPr sz="2000" spc="200" dirty="0">
                <a:latin typeface="Times New Roman" pitchFamily="18" charset="0"/>
                <a:cs typeface="Times New Roman" pitchFamily="18" charset="0"/>
              </a:rPr>
              <a:t>be  </a:t>
            </a:r>
            <a:r>
              <a:rPr sz="2000" spc="114" dirty="0">
                <a:latin typeface="Times New Roman" pitchFamily="18" charset="0"/>
                <a:cs typeface="Times New Roman" pitchFamily="18" charset="0"/>
              </a:rPr>
              <a:t>fraudulent</a:t>
            </a:r>
            <a:endParaRPr sz="2000" dirty="0">
              <a:latin typeface="Times New Roman" pitchFamily="18" charset="0"/>
              <a:cs typeface="Times New Roman" pitchFamily="18" charset="0"/>
            </a:endParaRPr>
          </a:p>
          <a:p>
            <a:pPr marL="12700">
              <a:lnSpc>
                <a:spcPct val="100000"/>
              </a:lnSpc>
              <a:spcBef>
                <a:spcPts val="505"/>
              </a:spcBef>
            </a:pPr>
            <a:r>
              <a:rPr sz="2000" spc="150" dirty="0">
                <a:solidFill>
                  <a:srgbClr val="3F3F3F"/>
                </a:solidFill>
                <a:latin typeface="Times New Roman" pitchFamily="18" charset="0"/>
                <a:cs typeface="Times New Roman" pitchFamily="18" charset="0"/>
              </a:rPr>
              <a:t>Some </a:t>
            </a:r>
            <a:r>
              <a:rPr sz="2000" spc="120" dirty="0">
                <a:solidFill>
                  <a:srgbClr val="3F3F3F"/>
                </a:solidFill>
                <a:latin typeface="Times New Roman" pitchFamily="18" charset="0"/>
                <a:cs typeface="Times New Roman" pitchFamily="18" charset="0"/>
              </a:rPr>
              <a:t>examples </a:t>
            </a:r>
            <a:r>
              <a:rPr sz="2000" spc="70" dirty="0">
                <a:solidFill>
                  <a:srgbClr val="3F3F3F"/>
                </a:solidFill>
                <a:latin typeface="Times New Roman" pitchFamily="18" charset="0"/>
                <a:cs typeface="Times New Roman" pitchFamily="18" charset="0"/>
              </a:rPr>
              <a:t>of </a:t>
            </a:r>
            <a:r>
              <a:rPr sz="2000" spc="105" dirty="0">
                <a:solidFill>
                  <a:srgbClr val="3F3F3F"/>
                </a:solidFill>
                <a:latin typeface="Times New Roman" pitchFamily="18" charset="0"/>
                <a:cs typeface="Times New Roman" pitchFamily="18" charset="0"/>
              </a:rPr>
              <a:t>prediction</a:t>
            </a:r>
            <a:r>
              <a:rPr sz="2000" spc="465" dirty="0">
                <a:solidFill>
                  <a:srgbClr val="3F3F3F"/>
                </a:solidFill>
                <a:latin typeface="Times New Roman" pitchFamily="18" charset="0"/>
                <a:cs typeface="Times New Roman" pitchFamily="18" charset="0"/>
              </a:rPr>
              <a:t> </a:t>
            </a:r>
            <a:r>
              <a:rPr sz="2000" spc="105" dirty="0">
                <a:solidFill>
                  <a:srgbClr val="3F3F3F"/>
                </a:solidFill>
                <a:latin typeface="Times New Roman" pitchFamily="18" charset="0"/>
                <a:cs typeface="Times New Roman" pitchFamily="18" charset="0"/>
              </a:rPr>
              <a:t>mechanisms:</a:t>
            </a:r>
            <a:endParaRPr sz="2000" dirty="0">
              <a:latin typeface="Times New Roman" pitchFamily="18" charset="0"/>
              <a:cs typeface="Times New Roman" pitchFamily="18" charset="0"/>
            </a:endParaRPr>
          </a:p>
          <a:p>
            <a:pPr marL="829310" indent="-313690">
              <a:lnSpc>
                <a:spcPct val="100000"/>
              </a:lnSpc>
              <a:spcBef>
                <a:spcPts val="515"/>
              </a:spcBef>
              <a:buChar char="–"/>
              <a:tabLst>
                <a:tab pos="829310" algn="l"/>
                <a:tab pos="829944" algn="l"/>
              </a:tabLst>
            </a:pPr>
            <a:r>
              <a:rPr sz="2000" spc="110" dirty="0">
                <a:solidFill>
                  <a:srgbClr val="000099"/>
                </a:solidFill>
                <a:latin typeface="Times New Roman" pitchFamily="18" charset="0"/>
                <a:cs typeface="Times New Roman" pitchFamily="18" charset="0"/>
              </a:rPr>
              <a:t>Classification</a:t>
            </a:r>
            <a:endParaRPr sz="2000" dirty="0">
              <a:latin typeface="Times New Roman" pitchFamily="18" charset="0"/>
              <a:cs typeface="Times New Roman" pitchFamily="18" charset="0"/>
            </a:endParaRPr>
          </a:p>
          <a:p>
            <a:pPr marL="1269365" marR="537845" lvl="1" indent="-250825">
              <a:lnSpc>
                <a:spcPct val="100600"/>
              </a:lnSpc>
              <a:spcBef>
                <a:spcPts val="430"/>
              </a:spcBef>
              <a:buChar char="•"/>
              <a:tabLst>
                <a:tab pos="1269365" algn="l"/>
                <a:tab pos="1270000" algn="l"/>
              </a:tabLst>
            </a:pPr>
            <a:r>
              <a:rPr sz="2000" spc="40" dirty="0">
                <a:latin typeface="Times New Roman" pitchFamily="18" charset="0"/>
                <a:cs typeface="Times New Roman" pitchFamily="18" charset="0"/>
              </a:rPr>
              <a:t>Given </a:t>
            </a:r>
            <a:r>
              <a:rPr sz="2000" spc="140" dirty="0">
                <a:latin typeface="Times New Roman" pitchFamily="18" charset="0"/>
                <a:cs typeface="Times New Roman" pitchFamily="18" charset="0"/>
              </a:rPr>
              <a:t>a </a:t>
            </a:r>
            <a:r>
              <a:rPr sz="2000" spc="114" dirty="0">
                <a:latin typeface="Times New Roman" pitchFamily="18" charset="0"/>
                <a:cs typeface="Times New Roman" pitchFamily="18" charset="0"/>
              </a:rPr>
              <a:t>new </a:t>
            </a:r>
            <a:r>
              <a:rPr sz="2000" spc="100" dirty="0">
                <a:latin typeface="Times New Roman" pitchFamily="18" charset="0"/>
                <a:cs typeface="Times New Roman" pitchFamily="18" charset="0"/>
              </a:rPr>
              <a:t>item </a:t>
            </a:r>
            <a:r>
              <a:rPr sz="2000" spc="120" dirty="0">
                <a:latin typeface="Times New Roman" pitchFamily="18" charset="0"/>
                <a:cs typeface="Times New Roman" pitchFamily="18" charset="0"/>
              </a:rPr>
              <a:t>whose </a:t>
            </a:r>
            <a:r>
              <a:rPr sz="2000" spc="55" dirty="0">
                <a:latin typeface="Times New Roman" pitchFamily="18" charset="0"/>
                <a:cs typeface="Times New Roman" pitchFamily="18" charset="0"/>
              </a:rPr>
              <a:t>class </a:t>
            </a:r>
            <a:r>
              <a:rPr sz="2000" spc="15" dirty="0">
                <a:latin typeface="Times New Roman" pitchFamily="18" charset="0"/>
                <a:cs typeface="Times New Roman" pitchFamily="18" charset="0"/>
              </a:rPr>
              <a:t>is </a:t>
            </a:r>
            <a:r>
              <a:rPr sz="2000" spc="90" dirty="0">
                <a:latin typeface="Times New Roman" pitchFamily="18" charset="0"/>
                <a:cs typeface="Times New Roman" pitchFamily="18" charset="0"/>
              </a:rPr>
              <a:t>unknown, </a:t>
            </a:r>
            <a:r>
              <a:rPr sz="2000" spc="95" dirty="0">
                <a:latin typeface="Times New Roman" pitchFamily="18" charset="0"/>
                <a:cs typeface="Times New Roman" pitchFamily="18" charset="0"/>
              </a:rPr>
              <a:t>predict </a:t>
            </a:r>
            <a:r>
              <a:rPr sz="2000" spc="145" dirty="0">
                <a:latin typeface="Times New Roman" pitchFamily="18" charset="0"/>
                <a:cs typeface="Times New Roman" pitchFamily="18" charset="0"/>
              </a:rPr>
              <a:t>to </a:t>
            </a:r>
            <a:r>
              <a:rPr sz="2000" spc="55" dirty="0">
                <a:latin typeface="Times New Roman" pitchFamily="18" charset="0"/>
                <a:cs typeface="Times New Roman" pitchFamily="18" charset="0"/>
              </a:rPr>
              <a:t>which class </a:t>
            </a:r>
            <a:r>
              <a:rPr sz="2000" spc="35" dirty="0">
                <a:latin typeface="Times New Roman" pitchFamily="18" charset="0"/>
                <a:cs typeface="Times New Roman" pitchFamily="18" charset="0"/>
              </a:rPr>
              <a:t>it  </a:t>
            </a:r>
            <a:r>
              <a:rPr sz="2000" spc="125" dirty="0">
                <a:latin typeface="Times New Roman" pitchFamily="18" charset="0"/>
                <a:cs typeface="Times New Roman" pitchFamily="18" charset="0"/>
              </a:rPr>
              <a:t>belongs</a:t>
            </a:r>
            <a:r>
              <a:rPr lang="en-US" sz="2000" spc="125" dirty="0">
                <a:latin typeface="Times New Roman" pitchFamily="18" charset="0"/>
                <a:cs typeface="Times New Roman" pitchFamily="18" charset="0"/>
              </a:rPr>
              <a:t>(</a:t>
            </a:r>
            <a:r>
              <a:rPr lang="en-US" sz="2000" spc="125" dirty="0" err="1">
                <a:latin typeface="Times New Roman" pitchFamily="18" charset="0"/>
                <a:cs typeface="Times New Roman" pitchFamily="18" charset="0"/>
              </a:rPr>
              <a:t>eg</a:t>
            </a:r>
            <a:r>
              <a:rPr lang="en-US" sz="2000" spc="125" dirty="0">
                <a:latin typeface="Times New Roman" pitchFamily="18" charset="0"/>
                <a:cs typeface="Times New Roman" pitchFamily="18" charset="0"/>
              </a:rPr>
              <a:t>. Bank loan Manager, Marketing manager)</a:t>
            </a:r>
            <a:endParaRPr sz="2000" dirty="0">
              <a:latin typeface="Times New Roman" pitchFamily="18" charset="0"/>
              <a:cs typeface="Times New Roman" pitchFamily="18" charset="0"/>
            </a:endParaRPr>
          </a:p>
          <a:p>
            <a:pPr marL="829310" indent="-313690">
              <a:lnSpc>
                <a:spcPct val="100000"/>
              </a:lnSpc>
              <a:spcBef>
                <a:spcPts val="505"/>
              </a:spcBef>
              <a:buChar char="–"/>
              <a:tabLst>
                <a:tab pos="829310" algn="l"/>
                <a:tab pos="829944" algn="l"/>
              </a:tabLst>
            </a:pPr>
            <a:r>
              <a:rPr sz="2000" spc="150" dirty="0">
                <a:solidFill>
                  <a:srgbClr val="000099"/>
                </a:solidFill>
                <a:latin typeface="Times New Roman" pitchFamily="18" charset="0"/>
                <a:cs typeface="Times New Roman" pitchFamily="18" charset="0"/>
              </a:rPr>
              <a:t>Regression</a:t>
            </a:r>
            <a:r>
              <a:rPr sz="2000" spc="204" dirty="0">
                <a:solidFill>
                  <a:srgbClr val="000099"/>
                </a:solidFill>
                <a:latin typeface="Times New Roman" pitchFamily="18" charset="0"/>
                <a:cs typeface="Times New Roman" pitchFamily="18" charset="0"/>
              </a:rPr>
              <a:t> </a:t>
            </a:r>
            <a:r>
              <a:rPr sz="2000" spc="110" dirty="0">
                <a:latin typeface="Times New Roman" pitchFamily="18" charset="0"/>
                <a:cs typeface="Times New Roman" pitchFamily="18" charset="0"/>
              </a:rPr>
              <a:t>formulae</a:t>
            </a:r>
            <a:endParaRPr sz="2000" dirty="0">
              <a:latin typeface="Times New Roman" pitchFamily="18" charset="0"/>
              <a:cs typeface="Times New Roman" pitchFamily="18" charset="0"/>
            </a:endParaRPr>
          </a:p>
          <a:p>
            <a:pPr marL="1269365" marR="127000" lvl="1" indent="-250825">
              <a:lnSpc>
                <a:spcPct val="100600"/>
              </a:lnSpc>
              <a:spcBef>
                <a:spcPts val="430"/>
              </a:spcBef>
              <a:buChar char="•"/>
              <a:tabLst>
                <a:tab pos="1269365" algn="l"/>
                <a:tab pos="1270000" algn="l"/>
              </a:tabLst>
            </a:pPr>
            <a:r>
              <a:rPr sz="2000" spc="40" dirty="0">
                <a:latin typeface="Times New Roman" pitchFamily="18" charset="0"/>
                <a:cs typeface="Times New Roman" pitchFamily="18" charset="0"/>
              </a:rPr>
              <a:t>Given </a:t>
            </a:r>
            <a:r>
              <a:rPr sz="2000" spc="140" dirty="0">
                <a:latin typeface="Times New Roman" pitchFamily="18" charset="0"/>
                <a:cs typeface="Times New Roman" pitchFamily="18" charset="0"/>
              </a:rPr>
              <a:t>a </a:t>
            </a:r>
            <a:r>
              <a:rPr sz="2000" spc="120" dirty="0">
                <a:latin typeface="Times New Roman" pitchFamily="18" charset="0"/>
                <a:cs typeface="Times New Roman" pitchFamily="18" charset="0"/>
              </a:rPr>
              <a:t>set </a:t>
            </a:r>
            <a:r>
              <a:rPr sz="2000" spc="60" dirty="0">
                <a:latin typeface="Times New Roman" pitchFamily="18" charset="0"/>
                <a:cs typeface="Times New Roman" pitchFamily="18" charset="0"/>
              </a:rPr>
              <a:t>of </a:t>
            </a:r>
            <a:r>
              <a:rPr sz="2000" spc="125" dirty="0">
                <a:latin typeface="Times New Roman" pitchFamily="18" charset="0"/>
                <a:cs typeface="Times New Roman" pitchFamily="18" charset="0"/>
              </a:rPr>
              <a:t>mappings </a:t>
            </a:r>
            <a:r>
              <a:rPr sz="2000" spc="65" dirty="0">
                <a:latin typeface="Times New Roman" pitchFamily="18" charset="0"/>
                <a:cs typeface="Times New Roman" pitchFamily="18" charset="0"/>
              </a:rPr>
              <a:t>for </a:t>
            </a:r>
            <a:r>
              <a:rPr sz="2000" spc="140" dirty="0">
                <a:latin typeface="Times New Roman" pitchFamily="18" charset="0"/>
                <a:cs typeface="Times New Roman" pitchFamily="18" charset="0"/>
              </a:rPr>
              <a:t>an </a:t>
            </a:r>
            <a:r>
              <a:rPr sz="2000" spc="110" dirty="0">
                <a:latin typeface="Times New Roman" pitchFamily="18" charset="0"/>
                <a:cs typeface="Times New Roman" pitchFamily="18" charset="0"/>
              </a:rPr>
              <a:t>unknown </a:t>
            </a:r>
            <a:r>
              <a:rPr sz="2000" spc="70" dirty="0">
                <a:latin typeface="Times New Roman" pitchFamily="18" charset="0"/>
                <a:cs typeface="Times New Roman" pitchFamily="18" charset="0"/>
              </a:rPr>
              <a:t>function, </a:t>
            </a:r>
            <a:r>
              <a:rPr sz="2000" spc="95" dirty="0">
                <a:latin typeface="Times New Roman" pitchFamily="18" charset="0"/>
                <a:cs typeface="Times New Roman" pitchFamily="18" charset="0"/>
              </a:rPr>
              <a:t>predict </a:t>
            </a:r>
            <a:r>
              <a:rPr sz="2000" spc="145" dirty="0">
                <a:latin typeface="Times New Roman" pitchFamily="18" charset="0"/>
                <a:cs typeface="Times New Roman" pitchFamily="18" charset="0"/>
              </a:rPr>
              <a:t>the </a:t>
            </a:r>
            <a:r>
              <a:rPr sz="2000" spc="85" dirty="0">
                <a:latin typeface="Times New Roman" pitchFamily="18" charset="0"/>
                <a:cs typeface="Times New Roman" pitchFamily="18" charset="0"/>
              </a:rPr>
              <a:t>function  </a:t>
            </a:r>
            <a:r>
              <a:rPr sz="2000" spc="75" dirty="0">
                <a:latin typeface="Times New Roman" pitchFamily="18" charset="0"/>
                <a:cs typeface="Times New Roman" pitchFamily="18" charset="0"/>
              </a:rPr>
              <a:t>result </a:t>
            </a:r>
            <a:r>
              <a:rPr sz="2000" spc="60" dirty="0">
                <a:latin typeface="Times New Roman" pitchFamily="18" charset="0"/>
                <a:cs typeface="Times New Roman" pitchFamily="18" charset="0"/>
              </a:rPr>
              <a:t>for </a:t>
            </a:r>
            <a:r>
              <a:rPr sz="2000" spc="140" dirty="0">
                <a:latin typeface="Times New Roman" pitchFamily="18" charset="0"/>
                <a:cs typeface="Times New Roman" pitchFamily="18" charset="0"/>
              </a:rPr>
              <a:t>a </a:t>
            </a:r>
            <a:r>
              <a:rPr sz="2000" spc="114" dirty="0">
                <a:latin typeface="Times New Roman" pitchFamily="18" charset="0"/>
                <a:cs typeface="Times New Roman" pitchFamily="18" charset="0"/>
              </a:rPr>
              <a:t>new </a:t>
            </a:r>
            <a:r>
              <a:rPr sz="2000" spc="125" dirty="0">
                <a:latin typeface="Times New Roman" pitchFamily="18" charset="0"/>
                <a:cs typeface="Times New Roman" pitchFamily="18" charset="0"/>
              </a:rPr>
              <a:t>parameter</a:t>
            </a:r>
            <a:r>
              <a:rPr sz="2000" spc="459" dirty="0">
                <a:latin typeface="Times New Roman" pitchFamily="18" charset="0"/>
                <a:cs typeface="Times New Roman" pitchFamily="18" charset="0"/>
              </a:rPr>
              <a:t> </a:t>
            </a:r>
            <a:r>
              <a:rPr sz="2000" spc="65" dirty="0">
                <a:latin typeface="Times New Roman" pitchFamily="18" charset="0"/>
                <a:cs typeface="Times New Roman" pitchFamily="18" charset="0"/>
              </a:rPr>
              <a:t>value</a:t>
            </a:r>
            <a:endParaRPr sz="2000" dirty="0">
              <a:latin typeface="Times New Roman" pitchFamily="18" charset="0"/>
              <a:cs typeface="Times New Roman" pitchFamily="18" charset="0"/>
            </a:endParaRPr>
          </a:p>
        </p:txBody>
      </p:sp>
    </p:spTree>
    <p:extLst>
      <p:ext uri="{BB962C8B-B14F-4D97-AF65-F5344CB8AC3E}">
        <p14:creationId xmlns:p14="http://schemas.microsoft.com/office/powerpoint/2010/main" val="2321769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558" y="1307236"/>
            <a:ext cx="7886700" cy="909491"/>
          </a:xfrm>
        </p:spPr>
        <p:txBody>
          <a:bodyPr>
            <a:normAutofit fontScale="90000"/>
          </a:bodyPr>
          <a:lstStyle/>
          <a:p>
            <a:r>
              <a:rPr lang="en-US" sz="3200" dirty="0">
                <a:latin typeface="Times New Roman" panose="02020603050405020304" pitchFamily="18" charset="0"/>
                <a:cs typeface="Times New Roman" panose="02020603050405020304" pitchFamily="18" charset="0"/>
              </a:rPr>
              <a:t>Classification rules</a:t>
            </a:r>
            <a:r>
              <a:rPr lang="en-US" dirty="0">
                <a:latin typeface="Arial" pitchFamily="34" charset="0"/>
                <a:cs typeface="Arial" pitchFamily="34" charset="0"/>
              </a:rPr>
              <a:t/>
            </a:r>
            <a:br>
              <a:rPr lang="en-US" dirty="0">
                <a:latin typeface="Arial" pitchFamily="34" charset="0"/>
                <a:cs typeface="Arial" pitchFamily="34" charset="0"/>
              </a:rPr>
            </a:br>
            <a:endParaRPr lang="en-US" dirty="0"/>
          </a:p>
        </p:txBody>
      </p:sp>
      <p:sp>
        <p:nvSpPr>
          <p:cNvPr id="3" name="Content Placeholder 2"/>
          <p:cNvSpPr>
            <a:spLocks noGrp="1"/>
          </p:cNvSpPr>
          <p:nvPr>
            <p:ph sz="quarter" idx="1"/>
          </p:nvPr>
        </p:nvSpPr>
        <p:spPr>
          <a:xfrm>
            <a:off x="351558" y="2216727"/>
            <a:ext cx="7886700" cy="2871066"/>
          </a:xfrm>
        </p:spPr>
        <p:txBody>
          <a:bodyPr/>
          <a:lstStyle/>
          <a:p>
            <a:r>
              <a:rPr lang="en-US" sz="2800" dirty="0">
                <a:latin typeface="Times New Roman" panose="02020603050405020304" pitchFamily="18" charset="0"/>
                <a:cs typeface="Times New Roman" panose="02020603050405020304" pitchFamily="18" charset="0"/>
              </a:rPr>
              <a:t>Decision tree.</a:t>
            </a:r>
          </a:p>
          <a:p>
            <a:r>
              <a:rPr lang="en-US" sz="2800" dirty="0">
                <a:latin typeface="Times New Roman" panose="02020603050405020304" pitchFamily="18" charset="0"/>
                <a:cs typeface="Times New Roman" panose="02020603050405020304" pitchFamily="18" charset="0"/>
              </a:rPr>
              <a:t>Regression</a:t>
            </a:r>
          </a:p>
          <a:p>
            <a:r>
              <a:rPr lang="en-US" sz="2800" dirty="0">
                <a:latin typeface="Times New Roman" panose="02020603050405020304" pitchFamily="18" charset="0"/>
                <a:cs typeface="Times New Roman" panose="02020603050405020304" pitchFamily="18" charset="0"/>
              </a:rPr>
              <a:t>Association Rules</a:t>
            </a:r>
          </a:p>
          <a:p>
            <a:r>
              <a:rPr lang="en-US" sz="2800" dirty="0">
                <a:latin typeface="Times New Roman" panose="02020603050405020304" pitchFamily="18" charset="0"/>
                <a:cs typeface="Times New Roman" panose="02020603050405020304" pitchFamily="18" charset="0"/>
              </a:rPr>
              <a:t>Support</a:t>
            </a:r>
          </a:p>
          <a:p>
            <a:r>
              <a:rPr lang="en-US" sz="2800" dirty="0">
                <a:latin typeface="Times New Roman" panose="02020603050405020304" pitchFamily="18" charset="0"/>
                <a:cs typeface="Times New Roman" panose="02020603050405020304" pitchFamily="18" charset="0"/>
              </a:rPr>
              <a:t>Confidence</a:t>
            </a:r>
          </a:p>
          <a:p>
            <a:endParaRPr lang="en-US" dirty="0"/>
          </a:p>
        </p:txBody>
      </p:sp>
    </p:spTree>
    <p:extLst>
      <p:ext uri="{BB962C8B-B14F-4D97-AF65-F5344CB8AC3E}">
        <p14:creationId xmlns:p14="http://schemas.microsoft.com/office/powerpoint/2010/main" val="502835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7814" y="850035"/>
            <a:ext cx="7886700" cy="1325563"/>
          </a:xfrm>
        </p:spPr>
        <p:txBody>
          <a:bodyPr>
            <a:normAutofit/>
          </a:bodyPr>
          <a:lstStyle/>
          <a:p>
            <a:r>
              <a:rPr lang="en-US" sz="3200" b="1" dirty="0">
                <a:latin typeface="Times New Roman" panose="02020603050405020304" pitchFamily="18" charset="0"/>
                <a:cs typeface="Times New Roman" panose="02020603050405020304" pitchFamily="18" charset="0"/>
              </a:rPr>
              <a:t>Clustering</a:t>
            </a: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object 4"/>
          <p:cNvSpPr txBox="1">
            <a:spLocks/>
          </p:cNvSpPr>
          <p:nvPr/>
        </p:nvSpPr>
        <p:spPr>
          <a:xfrm>
            <a:off x="163503" y="1512816"/>
            <a:ext cx="8816994" cy="4860433"/>
          </a:xfrm>
          <a:prstGeom prst="rect">
            <a:avLst/>
          </a:prstGeom>
        </p:spPr>
        <p:txBody>
          <a:bodyPr vert="horz" wrap="square" lIns="0" tIns="12065" rIns="0" bIns="0" rtlCol="0">
            <a:sp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109220" marR="480695">
              <a:spcBef>
                <a:spcPts val="95"/>
              </a:spcBef>
            </a:pPr>
            <a:r>
              <a:rPr lang="en-US" sz="2200" spc="15" dirty="0">
                <a:latin typeface="Times New Roman" pitchFamily="18" charset="0"/>
                <a:cs typeface="Times New Roman" pitchFamily="18" charset="0"/>
              </a:rPr>
              <a:t>Clustering: Intuitively, finding clusters of points in the given data  such that similar points lie in the same cluster</a:t>
            </a:r>
          </a:p>
          <a:p>
            <a:pPr marL="109220">
              <a:spcBef>
                <a:spcPts val="525"/>
              </a:spcBef>
            </a:pPr>
            <a:r>
              <a:rPr lang="en-US" sz="2200" spc="15" dirty="0">
                <a:latin typeface="Times New Roman" pitchFamily="18" charset="0"/>
                <a:cs typeface="Times New Roman" pitchFamily="18" charset="0"/>
              </a:rPr>
              <a:t>Can be formalized using distance metrics in several ways</a:t>
            </a:r>
          </a:p>
          <a:p>
            <a:pPr marL="925830" marR="48895" indent="-313690">
              <a:lnSpc>
                <a:spcPts val="2640"/>
              </a:lnSpc>
              <a:spcBef>
                <a:spcPts val="620"/>
              </a:spcBef>
              <a:buFont typeface="Wingdings 2"/>
              <a:buChar char="–"/>
              <a:tabLst>
                <a:tab pos="925830" algn="l"/>
                <a:tab pos="926465" algn="l"/>
              </a:tabLst>
            </a:pPr>
            <a:r>
              <a:rPr lang="en-US" sz="2200" spc="15" dirty="0">
                <a:latin typeface="Times New Roman" pitchFamily="18" charset="0"/>
                <a:cs typeface="Times New Roman" pitchFamily="18" charset="0"/>
              </a:rPr>
              <a:t>Group points into </a:t>
            </a:r>
            <a:r>
              <a:rPr lang="en-US" sz="2200" spc="15" dirty="0" err="1">
                <a:latin typeface="Times New Roman" pitchFamily="18" charset="0"/>
                <a:cs typeface="Times New Roman" pitchFamily="18" charset="0"/>
              </a:rPr>
              <a:t>ksets</a:t>
            </a:r>
            <a:r>
              <a:rPr lang="en-US" sz="2200" spc="15" dirty="0">
                <a:latin typeface="Times New Roman" pitchFamily="18" charset="0"/>
                <a:cs typeface="Times New Roman" pitchFamily="18" charset="0"/>
              </a:rPr>
              <a:t> (for a given k) such that the average  distance of points from the centroid of their assigned group  is minimized</a:t>
            </a:r>
          </a:p>
          <a:p>
            <a:pPr marL="1366520" marR="5080" lvl="1" indent="-251460">
              <a:lnSpc>
                <a:spcPct val="101600"/>
              </a:lnSpc>
              <a:spcBef>
                <a:spcPts val="385"/>
              </a:spcBef>
              <a:buFont typeface="Wingdings 2"/>
              <a:buChar char="•"/>
              <a:tabLst>
                <a:tab pos="1365885" algn="l"/>
                <a:tab pos="1366520" algn="l"/>
              </a:tabLst>
            </a:pPr>
            <a:r>
              <a:rPr lang="en-US" sz="2200" spc="15" dirty="0">
                <a:latin typeface="Times New Roman" pitchFamily="18" charset="0"/>
                <a:cs typeface="Times New Roman" pitchFamily="18" charset="0"/>
              </a:rPr>
              <a:t>Centroid: point defined by taking average of coordinates in each  dimension.</a:t>
            </a:r>
          </a:p>
          <a:p>
            <a:pPr marL="925830" marR="417195" indent="-313690">
              <a:spcBef>
                <a:spcPts val="530"/>
              </a:spcBef>
              <a:buFont typeface="Wingdings 2"/>
              <a:buChar char="–"/>
              <a:tabLst>
                <a:tab pos="925830" algn="l"/>
                <a:tab pos="926465" algn="l"/>
              </a:tabLst>
            </a:pPr>
            <a:r>
              <a:rPr lang="en-US" sz="2200" spc="15" dirty="0">
                <a:latin typeface="Times New Roman" pitchFamily="18" charset="0"/>
                <a:cs typeface="Times New Roman" pitchFamily="18" charset="0"/>
              </a:rPr>
              <a:t>Data mining systems aim at clustering techniques that can  handle very large data sets</a:t>
            </a:r>
          </a:p>
          <a:p>
            <a:pPr marL="925830" indent="-313690">
              <a:spcBef>
                <a:spcPts val="525"/>
              </a:spcBef>
              <a:buFont typeface="Wingdings 2"/>
              <a:buChar char="–"/>
              <a:tabLst>
                <a:tab pos="925830" algn="l"/>
                <a:tab pos="926465" algn="l"/>
              </a:tabLst>
            </a:pPr>
            <a:r>
              <a:rPr lang="en-US" sz="2200" spc="15" dirty="0">
                <a:latin typeface="Times New Roman" pitchFamily="18" charset="0"/>
                <a:cs typeface="Times New Roman" pitchFamily="18" charset="0"/>
              </a:rPr>
              <a:t>E.g., the Birch clustering </a:t>
            </a:r>
            <a:r>
              <a:rPr lang="en-US" sz="2200" spc="15" dirty="0" smtClean="0">
                <a:latin typeface="Times New Roman" pitchFamily="18" charset="0"/>
                <a:cs typeface="Times New Roman" pitchFamily="18" charset="0"/>
              </a:rPr>
              <a:t>algorithm </a:t>
            </a:r>
          </a:p>
          <a:p>
            <a:pPr marL="925830" indent="-313690">
              <a:spcBef>
                <a:spcPts val="525"/>
              </a:spcBef>
              <a:buFont typeface="Wingdings 2"/>
              <a:buChar char="–"/>
              <a:tabLst>
                <a:tab pos="925830" algn="l"/>
                <a:tab pos="926465" algn="l"/>
              </a:tabLst>
            </a:pPr>
            <a:r>
              <a:rPr lang="en-US" sz="2200" spc="15" dirty="0" smtClean="0">
                <a:latin typeface="Times New Roman" pitchFamily="18" charset="0"/>
                <a:cs typeface="Times New Roman" pitchFamily="18" charset="0"/>
              </a:rPr>
              <a:t>k </a:t>
            </a:r>
            <a:r>
              <a:rPr lang="en-US" sz="2200" spc="15" dirty="0">
                <a:latin typeface="Times New Roman" pitchFamily="18" charset="0"/>
                <a:cs typeface="Times New Roman" pitchFamily="18" charset="0"/>
              </a:rPr>
              <a:t>means</a:t>
            </a:r>
          </a:p>
          <a:p>
            <a:pPr marL="925830" indent="-313690">
              <a:spcBef>
                <a:spcPts val="525"/>
              </a:spcBef>
              <a:buFont typeface="Wingdings 2"/>
              <a:buChar char="–"/>
              <a:tabLst>
                <a:tab pos="925830" algn="l"/>
                <a:tab pos="926465" algn="l"/>
              </a:tabLst>
            </a:pPr>
            <a:r>
              <a:rPr lang="en-US" sz="2200" spc="15" dirty="0" smtClean="0">
                <a:latin typeface="Times New Roman" pitchFamily="18" charset="0"/>
                <a:cs typeface="Times New Roman" pitchFamily="18" charset="0"/>
              </a:rPr>
              <a:t>fuzzy </a:t>
            </a:r>
            <a:r>
              <a:rPr lang="en-US" sz="2200" spc="15" dirty="0">
                <a:latin typeface="Times New Roman" pitchFamily="18" charset="0"/>
                <a:cs typeface="Times New Roman" pitchFamily="18" charset="0"/>
              </a:rPr>
              <a:t>c means</a:t>
            </a:r>
          </a:p>
        </p:txBody>
      </p:sp>
    </p:spTree>
    <p:extLst>
      <p:ext uri="{BB962C8B-B14F-4D97-AF65-F5344CB8AC3E}">
        <p14:creationId xmlns:p14="http://schemas.microsoft.com/office/powerpoint/2010/main" val="927913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TotalTime>
  <Words>4248</Words>
  <Application>Microsoft Office PowerPoint</Application>
  <PresentationFormat>On-screen Show (4:3)</PresentationFormat>
  <Paragraphs>396</Paragraphs>
  <Slides>66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66</vt:i4>
      </vt:variant>
    </vt:vector>
  </HeadingPairs>
  <TitlesOfParts>
    <vt:vector size="72" baseType="lpstr">
      <vt:lpstr>Arial</vt:lpstr>
      <vt:lpstr>Calibri</vt:lpstr>
      <vt:lpstr>Cambria</vt:lpstr>
      <vt:lpstr>Times New Roman</vt:lpstr>
      <vt:lpstr>Wingdings 2</vt:lpstr>
      <vt:lpstr>Office Theme</vt:lpstr>
      <vt:lpstr>PowerPoint Presentation</vt:lpstr>
      <vt:lpstr>PowerPoint Presentation</vt:lpstr>
      <vt:lpstr>PowerPoint Presentation</vt:lpstr>
      <vt:lpstr>Centralized Systems </vt:lpstr>
      <vt:lpstr>Advantages:  Since all data is stored at a single location only thus it is easier to access and coordinate data.  The centralized database has very minimal data redundancy since all data is stored in a single place.  It is cheaper in comparison to all other databases available.  Disadvantages:  The data traffic in the case of a centralized database is more. If any kind of system failure occurs in the centralized system then the entire data will be destroyed.</vt:lpstr>
      <vt:lpstr>Client-Server Systems</vt:lpstr>
      <vt:lpstr>Client-Server Systems </vt:lpstr>
      <vt:lpstr>PowerPoint Presentation</vt:lpstr>
      <vt:lpstr>PowerPoint Presentation</vt:lpstr>
      <vt:lpstr>PowerPoint Presentation</vt:lpstr>
      <vt:lpstr>Transaction System Processes</vt:lpstr>
      <vt:lpstr>Transaction Server Process Structure</vt:lpstr>
      <vt:lpstr>Transaction Server Processes </vt:lpstr>
      <vt:lpstr>PowerPoint Presentation</vt:lpstr>
      <vt:lpstr>Data Servers </vt:lpstr>
      <vt:lpstr>Data Servers </vt:lpstr>
      <vt:lpstr>PowerPoint Presentation</vt:lpstr>
      <vt:lpstr>Parallel Systems</vt:lpstr>
      <vt:lpstr>Speed-Up and Scale-Up</vt:lpstr>
      <vt:lpstr>Speedup</vt:lpstr>
      <vt:lpstr>Scaleup</vt:lpstr>
      <vt:lpstr>Batch and Transaction Scaleup</vt:lpstr>
      <vt:lpstr>Factors Limiting Speedup and Scale-up</vt:lpstr>
      <vt:lpstr>Interconnection Network Architectures</vt:lpstr>
      <vt:lpstr>Interconnection Architectures</vt:lpstr>
      <vt:lpstr>PowerPoint Presentation</vt:lpstr>
      <vt:lpstr>Parallel Database Architectures</vt:lpstr>
      <vt:lpstr>Shared Memory</vt:lpstr>
      <vt:lpstr>Shared Disk</vt:lpstr>
      <vt:lpstr>Shared Nothing </vt:lpstr>
      <vt:lpstr>Hierarchical</vt:lpstr>
      <vt:lpstr>I/O Parallelism</vt:lpstr>
      <vt:lpstr>PowerPoint Presentation</vt:lpstr>
      <vt:lpstr>Distributed Systems</vt:lpstr>
      <vt:lpstr>Characteristic of Distributed systems</vt:lpstr>
      <vt:lpstr>Application of Distributed systems</vt:lpstr>
      <vt:lpstr>Distributed Databases </vt:lpstr>
      <vt:lpstr>Distributed Databases </vt:lpstr>
      <vt:lpstr>Trade-offs in Distributed Systems</vt:lpstr>
      <vt:lpstr>Trade-offs in Distributed Systems</vt:lpstr>
      <vt:lpstr>Data Replication </vt:lpstr>
      <vt:lpstr>PowerPoint Presentation</vt:lpstr>
      <vt:lpstr>Data Fragmentation</vt:lpstr>
      <vt:lpstr>Data Transparency </vt:lpstr>
      <vt:lpstr>Naming of Data Items - Criteria </vt:lpstr>
      <vt:lpstr>Distributed Transactions </vt:lpstr>
      <vt:lpstr>Transaction System Architecture</vt:lpstr>
      <vt:lpstr>System Failure Modes </vt:lpstr>
      <vt:lpstr>Commit Protocols </vt:lpstr>
      <vt:lpstr>One-phase commit </vt:lpstr>
      <vt:lpstr>PowerPoint Presentation</vt:lpstr>
      <vt:lpstr>PowerPoint Presentation</vt:lpstr>
      <vt:lpstr>Case 1: Commit</vt:lpstr>
      <vt:lpstr>Case 2: Abort</vt:lpstr>
      <vt:lpstr>Three Phase Commit </vt:lpstr>
      <vt:lpstr>PowerPoint Presentation</vt:lpstr>
      <vt:lpstr>Three Phase Commit</vt:lpstr>
      <vt:lpstr>Data Warehousing and Mining</vt:lpstr>
      <vt:lpstr>Data Warehousing and Mining</vt:lpstr>
      <vt:lpstr>Data Warehousing</vt:lpstr>
      <vt:lpstr>PowerPoint Presentation</vt:lpstr>
      <vt:lpstr>PowerPoint Presentation</vt:lpstr>
      <vt:lpstr>Warehouse Schemas </vt:lpstr>
      <vt:lpstr>Introduction of Data Mining </vt:lpstr>
      <vt:lpstr>Classification rules </vt:lpstr>
      <vt:lpstr>Clustering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Admin</cp:lastModifiedBy>
  <cp:revision>55</cp:revision>
  <dcterms:created xsi:type="dcterms:W3CDTF">2018-03-07T17:43:46Z</dcterms:created>
  <dcterms:modified xsi:type="dcterms:W3CDTF">2024-06-18T05:32:09Z</dcterms:modified>
</cp:coreProperties>
</file>