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y="6858000" cx="9144000"/>
  <p:notesSz cx="6888150" cy="10018700"/>
  <p:embeddedFontLst>
    <p:embeddedFont>
      <p:font typeface="Inter"/>
      <p:regular r:id="rId46"/>
      <p:bold r:id="rId47"/>
    </p:embeddedFont>
    <p:embeddedFont>
      <p:font typeface="Libre Baskerville"/>
      <p:regular r:id="rId48"/>
      <p:bold r:id="rId49"/>
      <p: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1" roundtripDataSignature="AMtx7miM8ECtcgl0JwZgs8gvbJ/6QCQh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9C5381F-F93A-49BA-A224-3A457CFC6CF1}">
  <a:tblStyle styleId="{B9C5381F-F93A-49BA-A224-3A457CFC6CF1}"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b="off" i="off"/>
      <a:tcStyle>
        <a:fill>
          <a:solidFill>
            <a:srgbClr val="D0DEEF"/>
          </a:solidFill>
        </a:fill>
      </a:tcStyle>
    </a:band1H>
    <a:band2H>
      <a:tcTxStyle b="off" i="off"/>
    </a:band2H>
    <a:band1V>
      <a:tcTxStyle b="off" i="off"/>
      <a:tcStyle>
        <a:fill>
          <a:solidFill>
            <a:srgbClr val="D0DEEF"/>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Inter-regular.fntdata"/><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LibreBaskerville-regular.fntdata"/><Relationship Id="rId47" Type="http://schemas.openxmlformats.org/officeDocument/2006/relationships/font" Target="fonts/Inter-bold.fntdata"/><Relationship Id="rId49" Type="http://schemas.openxmlformats.org/officeDocument/2006/relationships/font" Target="fonts/LibreBaskerville-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customschemas.google.com/relationships/presentationmetadata" Target="metadata"/><Relationship Id="rId50" Type="http://schemas.openxmlformats.org/officeDocument/2006/relationships/font" Target="fonts/LibreBaskerville-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84871" cy="502676"/>
          </a:xfrm>
          <a:prstGeom prst="rect">
            <a:avLst/>
          </a:prstGeom>
          <a:noFill/>
          <a:ln>
            <a:noFill/>
          </a:ln>
        </p:spPr>
        <p:txBody>
          <a:bodyPr anchorCtr="0" anchor="t" bIns="48300" lIns="96600" spcFirstLastPara="1" rIns="96600" wrap="square" tIns="48300">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01698" y="0"/>
            <a:ext cx="2984871" cy="502676"/>
          </a:xfrm>
          <a:prstGeom prst="rect">
            <a:avLst/>
          </a:prstGeom>
          <a:noFill/>
          <a:ln>
            <a:noFill/>
          </a:ln>
        </p:spPr>
        <p:txBody>
          <a:bodyPr anchorCtr="0" anchor="t" bIns="48300" lIns="96600" spcFirstLastPara="1" rIns="96600" wrap="square" tIns="48300">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516039"/>
            <a:ext cx="2984871" cy="502674"/>
          </a:xfrm>
          <a:prstGeom prst="rect">
            <a:avLst/>
          </a:prstGeom>
          <a:noFill/>
          <a:ln>
            <a:noFill/>
          </a:ln>
        </p:spPr>
        <p:txBody>
          <a:bodyPr anchorCtr="0" anchor="b" bIns="48300" lIns="96600" spcFirstLastPara="1" rIns="96600" wrap="square" tIns="48300">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01698" y="9516039"/>
            <a:ext cx="2984871" cy="502674"/>
          </a:xfrm>
          <a:prstGeom prst="rect">
            <a:avLst/>
          </a:prstGeom>
          <a:noFill/>
          <a:ln>
            <a:noFill/>
          </a:ln>
        </p:spPr>
        <p:txBody>
          <a:bodyPr anchorCtr="0" anchor="b" bIns="48300" lIns="96600" spcFirstLastPara="1" rIns="96600" wrap="square" tIns="483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1: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1: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68" name="Google Shape;68;p1:notes"/>
          <p:cNvSpPr txBox="1"/>
          <p:nvPr>
            <p:ph idx="12" type="sldNum"/>
          </p:nvPr>
        </p:nvSpPr>
        <p:spPr>
          <a:xfrm>
            <a:off x="3901698" y="9516039"/>
            <a:ext cx="2984871" cy="502674"/>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3: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82" name="Google Shape;82;p3: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4: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88" name="Google Shape;88;p4: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01" name="Google Shape;101;p2: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07" name="Google Shape;107;p5: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13" name="Google Shape;113;p6: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18" name="Google Shape;118;p7: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8: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23" name="Google Shape;123;p8: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29" name="Google Shape;129;p9: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36" name="Google Shape;136;p10: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42" name="Google Shape;142;p11: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2: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47" name="Google Shape;147;p12: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3: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54" name="Google Shape;154;p13: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4: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61" name="Google Shape;161;p14: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5: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67" name="Google Shape;167;p15: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6: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73" name="Google Shape;173;p16: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7: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79" name="Google Shape;179;p17: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8: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87" name="Google Shape;187;p18: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9: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95" name="Google Shape;195;p19: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1: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00" name="Google Shape;200;p21: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2: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10" name="Google Shape;210;p22: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3: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18" name="Google Shape;218;p23: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4: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24" name="Google Shape;224;p24: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5: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31" name="Google Shape;231;p25: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6: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36" name="Google Shape;236;p26: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7: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43" name="Google Shape;243;p27: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8: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49" name="Google Shape;249;p28: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9: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54" name="Google Shape;254;p29: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30: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60" name="Google Shape;260;p30: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1: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66" name="Google Shape;266;p31: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32: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73" name="Google Shape;273;p32: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33: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78" name="Google Shape;278;p33: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4: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86" name="Google Shape;286;p34: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5: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94" name="Google Shape;294;p35: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6: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02" name="Google Shape;302;p36: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37: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07" name="Google Shape;307;p37: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8: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13" name="Google Shape;313;p38: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9: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18" name="Google Shape;318;p39: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40: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25" name="Google Shape;325;p40: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8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8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8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8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8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1" name="Shape 21"/>
        <p:cNvGrpSpPr/>
        <p:nvPr/>
      </p:nvGrpSpPr>
      <p:grpSpPr>
        <a:xfrm>
          <a:off x="0" y="0"/>
          <a:ext cx="0" cy="0"/>
          <a:chOff x="0" y="0"/>
          <a:chExt cx="0" cy="0"/>
        </a:xfrm>
      </p:grpSpPr>
      <p:sp>
        <p:nvSpPr>
          <p:cNvPr id="22" name="Google Shape;22;p88"/>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88"/>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4" name="Google Shape;24;p88"/>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88"/>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6" name="Google Shape;26;p88"/>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8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8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8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8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8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8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8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 name="Shape 35"/>
        <p:cNvGrpSpPr/>
        <p:nvPr/>
      </p:nvGrpSpPr>
      <p:grpSpPr>
        <a:xfrm>
          <a:off x="0" y="0"/>
          <a:ext cx="0" cy="0"/>
          <a:chOff x="0" y="0"/>
          <a:chExt cx="0" cy="0"/>
        </a:xfrm>
      </p:grpSpPr>
      <p:sp>
        <p:nvSpPr>
          <p:cNvPr id="36" name="Google Shape;36;p9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9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9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9" name="Shape 39"/>
        <p:cNvGrpSpPr/>
        <p:nvPr/>
      </p:nvGrpSpPr>
      <p:grpSpPr>
        <a:xfrm>
          <a:off x="0" y="0"/>
          <a:ext cx="0" cy="0"/>
          <a:chOff x="0" y="0"/>
          <a:chExt cx="0" cy="0"/>
        </a:xfrm>
      </p:grpSpPr>
      <p:sp>
        <p:nvSpPr>
          <p:cNvPr id="40" name="Google Shape;40;p91"/>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91"/>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2" name="Google Shape;42;p91"/>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3" name="Google Shape;43;p9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9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9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6" name="Shape 46"/>
        <p:cNvGrpSpPr/>
        <p:nvPr/>
      </p:nvGrpSpPr>
      <p:grpSpPr>
        <a:xfrm>
          <a:off x="0" y="0"/>
          <a:ext cx="0" cy="0"/>
          <a:chOff x="0" y="0"/>
          <a:chExt cx="0" cy="0"/>
        </a:xfrm>
      </p:grpSpPr>
      <p:sp>
        <p:nvSpPr>
          <p:cNvPr id="47" name="Google Shape;47;p92"/>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92"/>
          <p:cNvSpPr/>
          <p:nvPr>
            <p:ph idx="2" type="pic"/>
          </p:nvPr>
        </p:nvSpPr>
        <p:spPr>
          <a:xfrm>
            <a:off x="3887391" y="987426"/>
            <a:ext cx="4629150" cy="4873625"/>
          </a:xfrm>
          <a:prstGeom prst="rect">
            <a:avLst/>
          </a:prstGeom>
          <a:noFill/>
          <a:ln>
            <a:noFill/>
          </a:ln>
        </p:spPr>
      </p:sp>
      <p:sp>
        <p:nvSpPr>
          <p:cNvPr id="49" name="Google Shape;49;p92"/>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0" name="Google Shape;50;p9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9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9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3" name="Shape 53"/>
        <p:cNvGrpSpPr/>
        <p:nvPr/>
      </p:nvGrpSpPr>
      <p:grpSpPr>
        <a:xfrm>
          <a:off x="0" y="0"/>
          <a:ext cx="0" cy="0"/>
          <a:chOff x="0" y="0"/>
          <a:chExt cx="0" cy="0"/>
        </a:xfrm>
      </p:grpSpPr>
      <p:sp>
        <p:nvSpPr>
          <p:cNvPr id="54" name="Google Shape;54;p9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93"/>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9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9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9" name="Shape 59"/>
        <p:cNvGrpSpPr/>
        <p:nvPr/>
      </p:nvGrpSpPr>
      <p:grpSpPr>
        <a:xfrm>
          <a:off x="0" y="0"/>
          <a:ext cx="0" cy="0"/>
          <a:chOff x="0" y="0"/>
          <a:chExt cx="0" cy="0"/>
        </a:xfrm>
      </p:grpSpPr>
      <p:sp>
        <p:nvSpPr>
          <p:cNvPr id="60" name="Google Shape;60;p94"/>
          <p:cNvSpPr txBox="1"/>
          <p:nvPr>
            <p:ph type="title"/>
          </p:nvPr>
        </p:nvSpPr>
        <p:spPr>
          <a:xfrm rot="5400000">
            <a:off x="4623593" y="2285206"/>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4"/>
          <p:cNvSpPr txBox="1"/>
          <p:nvPr>
            <p:ph idx="1" type="body"/>
          </p:nvPr>
        </p:nvSpPr>
        <p:spPr>
          <a:xfrm rot="5400000">
            <a:off x="623093"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9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0"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8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8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8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8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8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www.simplilearn.com/tutorials/sql-tutorial/primary-key-in-sql" TargetMode="Externa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0.png"/><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3.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8.png"/><Relationship Id="rId4" Type="http://schemas.openxmlformats.org/officeDocument/2006/relationships/image" Target="../media/image1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hyperlink" Target="https://www.javatpoint.com/dbms-first-normal-form" TargetMode="External"/><Relationship Id="rId4" Type="http://schemas.openxmlformats.org/officeDocument/2006/relationships/hyperlink" Target="https://www.javatpoint.com/dbms-second-normal-form" TargetMode="External"/><Relationship Id="rId5" Type="http://schemas.openxmlformats.org/officeDocument/2006/relationships/hyperlink" Target="https://www.javatpoint.com/dbms-third-normal-form" TargetMode="External"/><Relationship Id="rId6" Type="http://schemas.openxmlformats.org/officeDocument/2006/relationships/hyperlink" Target="https://www.javatpoint.com/dbms-forth-normal-form" TargetMode="External"/><Relationship Id="rId7" Type="http://schemas.openxmlformats.org/officeDocument/2006/relationships/hyperlink" Target="https://www.javatpoint.com/dbms-fifth-normal-for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1" name="Google Shape;71;p1"/>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72" name="Google Shape;72;p1"/>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73" name="Google Shape;73;p1"/>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1" i="0" sz="1600" u="none" cap="none" strike="noStrike">
              <a:solidFill>
                <a:schemeClr val="lt1"/>
              </a:solidFill>
              <a:latin typeface="Arial"/>
              <a:ea typeface="Arial"/>
              <a:cs typeface="Arial"/>
              <a:sym typeface="Arial"/>
            </a:endParaRPr>
          </a:p>
        </p:txBody>
      </p:sp>
      <p:sp>
        <p:nvSpPr>
          <p:cNvPr id="74" name="Google Shape;74;p1"/>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 name="Google Shape;75;p1"/>
          <p:cNvSpPr txBox="1"/>
          <p:nvPr/>
        </p:nvSpPr>
        <p:spPr>
          <a:xfrm>
            <a:off x="450376" y="1460311"/>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 name="Google Shape;76;p1"/>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7" name="Google Shape;77;p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8" name="Google Shape;78;p1"/>
          <p:cNvSpPr txBox="1"/>
          <p:nvPr/>
        </p:nvSpPr>
        <p:spPr>
          <a:xfrm>
            <a:off x="628650" y="1320476"/>
            <a:ext cx="7648500" cy="267761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Times New Roman"/>
                <a:ea typeface="Times New Roman"/>
                <a:cs typeface="Times New Roman"/>
                <a:sym typeface="Times New Roman"/>
              </a:rPr>
              <a:t>Third Year Engineering</a:t>
            </a:r>
            <a:endParaRPr b="1"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CC00CC"/>
                </a:solidFill>
                <a:latin typeface="Times New Roman"/>
                <a:ea typeface="Times New Roman"/>
                <a:cs typeface="Times New Roman"/>
                <a:sym typeface="Times New Roman"/>
              </a:rPr>
              <a:t>21BTCS502-Database Management System</a:t>
            </a:r>
            <a:endParaRPr b="1" i="0" sz="2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br>
              <a:rPr b="0" i="0" lang="en-US" sz="2800" u="none" cap="none" strike="noStrike">
                <a:solidFill>
                  <a:srgbClr val="000000"/>
                </a:solidFill>
                <a:latin typeface="Arial"/>
                <a:ea typeface="Arial"/>
                <a:cs typeface="Arial"/>
                <a:sym typeface="Arial"/>
              </a:rPr>
            </a:br>
            <a:r>
              <a:rPr b="1" i="0" lang="en-US" sz="2800" u="none" cap="none" strike="noStrike">
                <a:solidFill>
                  <a:srgbClr val="FF0000"/>
                </a:solidFill>
                <a:latin typeface="Times New Roman"/>
                <a:ea typeface="Times New Roman"/>
                <a:cs typeface="Times New Roman"/>
                <a:sym typeface="Times New Roman"/>
              </a:rPr>
              <a:t>Class - T.Y. (Division-)</a:t>
            </a:r>
            <a:endParaRPr b="1" i="0" sz="28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0000"/>
                </a:solidFill>
                <a:latin typeface="Times New Roman"/>
                <a:ea typeface="Times New Roman"/>
                <a:cs typeface="Times New Roman"/>
                <a:sym typeface="Times New Roman"/>
              </a:rPr>
              <a:t> </a:t>
            </a:r>
            <a:endParaRPr b="1" i="0" sz="2800" u="none" cap="none" strike="noStrike">
              <a:solidFill>
                <a:srgbClr val="FF0000"/>
              </a:solidFill>
              <a:latin typeface="Times New Roman"/>
              <a:ea typeface="Times New Roman"/>
              <a:cs typeface="Times New Roman"/>
              <a:sym typeface="Times New Roman"/>
            </a:endParaRPr>
          </a:p>
        </p:txBody>
      </p:sp>
      <p:sp>
        <p:nvSpPr>
          <p:cNvPr id="79" name="Google Shape;79;p1"/>
          <p:cNvSpPr txBox="1"/>
          <p:nvPr/>
        </p:nvSpPr>
        <p:spPr>
          <a:xfrm>
            <a:off x="2128800" y="4616127"/>
            <a:ext cx="4648200" cy="138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CC00CC"/>
                </a:solidFill>
                <a:latin typeface="Times New Roman"/>
                <a:ea typeface="Times New Roman"/>
                <a:cs typeface="Times New Roman"/>
                <a:sym typeface="Times New Roman"/>
              </a:rPr>
              <a:t>AY 202</a:t>
            </a:r>
            <a:r>
              <a:rPr lang="en-US" sz="2800">
                <a:solidFill>
                  <a:srgbClr val="CC00CC"/>
                </a:solidFill>
                <a:latin typeface="Times New Roman"/>
                <a:ea typeface="Times New Roman"/>
                <a:cs typeface="Times New Roman"/>
                <a:sym typeface="Times New Roman"/>
              </a:rPr>
              <a:t>4</a:t>
            </a:r>
            <a:r>
              <a:rPr b="0" i="0" lang="en-US" sz="2800" u="none" cap="none" strike="noStrike">
                <a:solidFill>
                  <a:srgbClr val="CC00CC"/>
                </a:solidFill>
                <a:latin typeface="Times New Roman"/>
                <a:ea typeface="Times New Roman"/>
                <a:cs typeface="Times New Roman"/>
                <a:sym typeface="Times New Roman"/>
              </a:rPr>
              <a:t>-202</a:t>
            </a:r>
            <a:r>
              <a:rPr lang="en-US" sz="2800">
                <a:solidFill>
                  <a:srgbClr val="CC00CC"/>
                </a:solidFill>
                <a:latin typeface="Times New Roman"/>
                <a:ea typeface="Times New Roman"/>
                <a:cs typeface="Times New Roman"/>
                <a:sym typeface="Times New Roman"/>
              </a:rPr>
              <a:t>5</a:t>
            </a:r>
            <a:r>
              <a:rPr b="0" i="0" lang="en-US" sz="2800" u="none" cap="none" strike="noStrike">
                <a:solidFill>
                  <a:srgbClr val="CC00CC"/>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CC00CC"/>
                </a:solidFill>
                <a:latin typeface="Times New Roman"/>
                <a:ea typeface="Times New Roman"/>
                <a:cs typeface="Times New Roman"/>
                <a:sym typeface="Times New Roman"/>
              </a:rPr>
              <a:t>SEM-I</a:t>
            </a:r>
            <a:endParaRPr b="1"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85" name="Google Shape;85;p3"/>
          <p:cNvSpPr txBox="1"/>
          <p:nvPr/>
        </p:nvSpPr>
        <p:spPr>
          <a:xfrm>
            <a:off x="772998" y="2109916"/>
            <a:ext cx="7551000" cy="138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Times New Roman"/>
                <a:ea typeface="Times New Roman"/>
                <a:cs typeface="Times New Roman"/>
                <a:sym typeface="Times New Roman"/>
              </a:rPr>
              <a:t>Unit – II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Times New Roman"/>
                <a:ea typeface="Times New Roman"/>
                <a:cs typeface="Times New Roman"/>
                <a:sym typeface="Times New Roman"/>
              </a:rPr>
              <a:t>Database Design</a:t>
            </a:r>
            <a:endParaRPr b="1" i="0" sz="4000" u="none" cap="none" strike="noStrike">
              <a:solidFill>
                <a:srgbClr val="000000"/>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91" name="Google Shape;91;p4"/>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92" name="Google Shape;92;p4"/>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93" name="Google Shape;93;p4"/>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94" name="Google Shape;94;p4"/>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 name="Google Shape;95;p4"/>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 name="Google Shape;96;p4"/>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97" name="Google Shape;97;p4"/>
          <p:cNvSpPr txBox="1"/>
          <p:nvPr/>
        </p:nvSpPr>
        <p:spPr>
          <a:xfrm>
            <a:off x="497728" y="1259402"/>
            <a:ext cx="8338800" cy="4792800"/>
          </a:xfrm>
          <a:prstGeom prst="rect">
            <a:avLst/>
          </a:prstGeom>
          <a:noFill/>
          <a:ln>
            <a:noFill/>
          </a:ln>
        </p:spPr>
        <p:txBody>
          <a:bodyPr anchorCtr="0" anchor="t" bIns="45700" lIns="91425" spcFirstLastPara="1" rIns="91425" wrap="square" tIns="45700">
            <a:normAutofit lnSpcReduction="10000"/>
          </a:bodyPr>
          <a:lstStyle/>
          <a:p>
            <a:pPr indent="-228600" lvl="0" marL="228600" marR="0" rtl="0" algn="l">
              <a:lnSpc>
                <a:spcPct val="80000"/>
              </a:lnSpc>
              <a:spcBef>
                <a:spcPts val="0"/>
              </a:spcBef>
              <a:spcAft>
                <a:spcPts val="0"/>
              </a:spcAft>
              <a:buClr>
                <a:srgbClr val="000000"/>
              </a:buClr>
              <a:buSzPts val="3200"/>
              <a:buFont typeface="Arial"/>
              <a:buNone/>
            </a:pPr>
            <a:r>
              <a:rPr b="1" i="0" lang="en-US" sz="3200" u="none" cap="none" strike="noStrike">
                <a:solidFill>
                  <a:srgbClr val="C00000"/>
                </a:solidFill>
                <a:latin typeface="Times New Roman"/>
                <a:ea typeface="Times New Roman"/>
                <a:cs typeface="Times New Roman"/>
                <a:sym typeface="Times New Roman"/>
              </a:rPr>
              <a:t> 	Syllabus</a:t>
            </a:r>
            <a:endParaRPr b="1" i="0" sz="3200" u="none" cap="none" strike="noStrike">
              <a:solidFill>
                <a:srgbClr val="C00000"/>
              </a:solidFill>
              <a:latin typeface="Times New Roman"/>
              <a:ea typeface="Times New Roman"/>
              <a:cs typeface="Times New Roman"/>
              <a:sym typeface="Times New Roman"/>
            </a:endParaRPr>
          </a:p>
          <a:p>
            <a:pPr indent="-228600" lvl="0" marL="228600" marR="0" rtl="0" algn="l">
              <a:lnSpc>
                <a:spcPct val="80000"/>
              </a:lnSpc>
              <a:spcBef>
                <a:spcPts val="0"/>
              </a:spcBef>
              <a:spcAft>
                <a:spcPts val="0"/>
              </a:spcAft>
              <a:buClr>
                <a:srgbClr val="000000"/>
              </a:buClr>
              <a:buSzPts val="3200"/>
              <a:buFont typeface="Arial"/>
              <a:buNone/>
            </a:pPr>
            <a:r>
              <a:rPr b="1" i="0" lang="en-US" sz="3200" u="none" cap="none" strike="noStrike">
                <a:solidFill>
                  <a:srgbClr val="C00000"/>
                </a:solidFill>
                <a:latin typeface="Times New Roman"/>
                <a:ea typeface="Times New Roman"/>
                <a:cs typeface="Times New Roman"/>
                <a:sym typeface="Times New Roman"/>
              </a:rPr>
              <a:t>			</a:t>
            </a:r>
            <a:endParaRPr b="1" i="0" sz="2800" u="none" cap="none" strike="noStrike">
              <a:solidFill>
                <a:srgbClr val="C00000"/>
              </a:solidFill>
              <a:latin typeface="Times New Roman"/>
              <a:ea typeface="Times New Roman"/>
              <a:cs typeface="Times New Roman"/>
              <a:sym typeface="Times New Roman"/>
            </a:endParaRPr>
          </a:p>
          <a:p>
            <a:pPr indent="-374650" lvl="0" marL="457200" marR="0" rtl="0" algn="just">
              <a:lnSpc>
                <a:spcPct val="150000"/>
              </a:lnSpc>
              <a:spcBef>
                <a:spcPts val="0"/>
              </a:spcBef>
              <a:spcAft>
                <a:spcPts val="0"/>
              </a:spcAft>
              <a:buClr>
                <a:srgbClr val="0070C0"/>
              </a:buClr>
              <a:buSzPts val="2300"/>
              <a:buFont typeface="Times New Roman"/>
              <a:buChar char="●"/>
            </a:pPr>
            <a:r>
              <a:rPr b="1" i="0" lang="en-US" sz="2300" u="none" cap="none" strike="noStrike">
                <a:solidFill>
                  <a:srgbClr val="0070C0"/>
                </a:solidFill>
                <a:latin typeface="Times New Roman"/>
                <a:ea typeface="Times New Roman"/>
                <a:cs typeface="Times New Roman"/>
                <a:sym typeface="Times New Roman"/>
              </a:rPr>
              <a:t>Functional   Dependency, Purpose   of   Normalization, Data   Redundancy   and   Update Anomalies, Functional   Dependency   Single   Valued   Dependencies.  </a:t>
            </a:r>
            <a:endParaRPr b="1" i="0" sz="2300" u="none" cap="none" strike="noStrike">
              <a:solidFill>
                <a:srgbClr val="0070C0"/>
              </a:solidFill>
              <a:latin typeface="Times New Roman"/>
              <a:ea typeface="Times New Roman"/>
              <a:cs typeface="Times New Roman"/>
              <a:sym typeface="Times New Roman"/>
            </a:endParaRPr>
          </a:p>
          <a:p>
            <a:pPr indent="-374650" lvl="0" marL="457200" marR="0" rtl="0" algn="just">
              <a:lnSpc>
                <a:spcPct val="150000"/>
              </a:lnSpc>
              <a:spcBef>
                <a:spcPts val="0"/>
              </a:spcBef>
              <a:spcAft>
                <a:spcPts val="0"/>
              </a:spcAft>
              <a:buClr>
                <a:srgbClr val="0070C0"/>
              </a:buClr>
              <a:buSzPts val="2300"/>
              <a:buFont typeface="Times New Roman"/>
              <a:buChar char="●"/>
            </a:pPr>
            <a:r>
              <a:rPr b="1" i="0" lang="en-US" sz="2300" u="none" cap="none" strike="noStrike">
                <a:solidFill>
                  <a:srgbClr val="0070C0"/>
                </a:solidFill>
                <a:latin typeface="Times New Roman"/>
                <a:ea typeface="Times New Roman"/>
                <a:cs typeface="Times New Roman"/>
                <a:sym typeface="Times New Roman"/>
              </a:rPr>
              <a:t> Single   Valued Normalization: 1NF, 2NF, 3NF, BCNF.</a:t>
            </a:r>
            <a:endParaRPr b="0" i="0" sz="1400" u="none" cap="none" strike="noStrike">
              <a:solidFill>
                <a:srgbClr val="000000"/>
              </a:solidFill>
              <a:latin typeface="Arial"/>
              <a:ea typeface="Arial"/>
              <a:cs typeface="Arial"/>
              <a:sym typeface="Arial"/>
            </a:endParaRPr>
          </a:p>
          <a:p>
            <a:pPr indent="-374650" lvl="0" marL="457200" marR="0" rtl="0" algn="just">
              <a:lnSpc>
                <a:spcPct val="150000"/>
              </a:lnSpc>
              <a:spcBef>
                <a:spcPts val="0"/>
              </a:spcBef>
              <a:spcAft>
                <a:spcPts val="0"/>
              </a:spcAft>
              <a:buClr>
                <a:srgbClr val="0070C0"/>
              </a:buClr>
              <a:buSzPts val="2300"/>
              <a:buFont typeface="Times New Roman"/>
              <a:buChar char="●"/>
            </a:pPr>
            <a:r>
              <a:rPr b="1" i="0" lang="en-US" sz="2300" u="none" cap="none" strike="noStrike">
                <a:solidFill>
                  <a:srgbClr val="0070C0"/>
                </a:solidFill>
                <a:latin typeface="Times New Roman"/>
                <a:ea typeface="Times New Roman"/>
                <a:cs typeface="Times New Roman"/>
                <a:sym typeface="Times New Roman"/>
              </a:rPr>
              <a:t> Decomposition: lossless join decomposition and dependency preservation.</a:t>
            </a:r>
            <a:endParaRPr b="1" i="0" sz="2300" u="none" cap="none" strike="noStrike">
              <a:solidFill>
                <a:srgbClr val="0070C0"/>
              </a:solidFill>
              <a:latin typeface="Times New Roman"/>
              <a:ea typeface="Times New Roman"/>
              <a:cs typeface="Times New Roman"/>
              <a:sym typeface="Times New Roman"/>
            </a:endParaRPr>
          </a:p>
          <a:p>
            <a:pPr indent="-374650" lvl="0" marL="457200" marR="0" rtl="0" algn="just">
              <a:lnSpc>
                <a:spcPct val="150000"/>
              </a:lnSpc>
              <a:spcBef>
                <a:spcPts val="0"/>
              </a:spcBef>
              <a:spcAft>
                <a:spcPts val="0"/>
              </a:spcAft>
              <a:buClr>
                <a:srgbClr val="0070C0"/>
              </a:buClr>
              <a:buSzPts val="2300"/>
              <a:buFont typeface="Times New Roman"/>
              <a:buChar char="●"/>
            </a:pPr>
            <a:r>
              <a:rPr b="1" i="0" lang="en-US" sz="2300" u="none" cap="none" strike="noStrike">
                <a:solidFill>
                  <a:srgbClr val="0070C0"/>
                </a:solidFill>
                <a:latin typeface="Times New Roman"/>
                <a:ea typeface="Times New Roman"/>
                <a:cs typeface="Times New Roman"/>
                <a:sym typeface="Times New Roman"/>
              </a:rPr>
              <a:t>Multi valued Normalization (4NF), Join Dependencies and the Fifth Normal Form. </a:t>
            </a:r>
            <a:endParaRPr b="1" i="0" sz="2300" u="none" cap="none" strike="noStrike">
              <a:solidFill>
                <a:srgbClr val="0070C0"/>
              </a:solidFill>
              <a:latin typeface="Times New Roman"/>
              <a:ea typeface="Times New Roman"/>
              <a:cs typeface="Times New Roman"/>
              <a:sym typeface="Times New Roman"/>
            </a:endParaRPr>
          </a:p>
        </p:txBody>
      </p:sp>
      <p:sp>
        <p:nvSpPr>
          <p:cNvPr id="98" name="Google Shape;98;p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
          <p:cNvSpPr txBox="1"/>
          <p:nvPr>
            <p:ph type="title"/>
          </p:nvPr>
        </p:nvSpPr>
        <p:spPr>
          <a:xfrm>
            <a:off x="299884" y="1042220"/>
            <a:ext cx="7005484" cy="57943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50000"/>
              <a:buNone/>
            </a:pPr>
            <a:r>
              <a:rPr lang="en-US" sz="4000">
                <a:solidFill>
                  <a:srgbClr val="C00000"/>
                </a:solidFill>
                <a:latin typeface="Times New Roman"/>
                <a:ea typeface="Times New Roman"/>
                <a:cs typeface="Times New Roman"/>
                <a:sym typeface="Times New Roman"/>
              </a:rPr>
              <a:t>Functional</a:t>
            </a:r>
            <a:r>
              <a:rPr lang="en-US">
                <a:solidFill>
                  <a:srgbClr val="C00000"/>
                </a:solidFill>
                <a:latin typeface="Times New Roman"/>
                <a:ea typeface="Times New Roman"/>
                <a:cs typeface="Times New Roman"/>
                <a:sym typeface="Times New Roman"/>
              </a:rPr>
              <a:t>   Dependency</a:t>
            </a:r>
            <a:endParaRPr>
              <a:solidFill>
                <a:srgbClr val="C00000"/>
              </a:solidFill>
            </a:endParaRPr>
          </a:p>
        </p:txBody>
      </p:sp>
      <p:sp>
        <p:nvSpPr>
          <p:cNvPr id="104" name="Google Shape;104;p2"/>
          <p:cNvSpPr txBox="1"/>
          <p:nvPr>
            <p:ph idx="1" type="body"/>
          </p:nvPr>
        </p:nvSpPr>
        <p:spPr>
          <a:xfrm>
            <a:off x="299884" y="1455174"/>
            <a:ext cx="8229600" cy="4296698"/>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2100">
                <a:latin typeface="Times New Roman"/>
                <a:ea typeface="Times New Roman"/>
                <a:cs typeface="Times New Roman"/>
                <a:sym typeface="Times New Roman"/>
              </a:rPr>
              <a:t>Functional dependency in DBMS refers to the relationship between attributes within a table where one attribute's value uniquely determines another's.</a:t>
            </a:r>
            <a:endParaRPr sz="21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100">
                <a:latin typeface="Times New Roman"/>
                <a:ea typeface="Times New Roman"/>
                <a:cs typeface="Times New Roman"/>
                <a:sym typeface="Times New Roman"/>
              </a:rPr>
              <a:t>Key points include:</a:t>
            </a:r>
            <a:endParaRPr sz="2100">
              <a:latin typeface="Times New Roman"/>
              <a:ea typeface="Times New Roman"/>
              <a:cs typeface="Times New Roman"/>
              <a:sym typeface="Times New Roman"/>
            </a:endParaRPr>
          </a:p>
          <a:p>
            <a:pPr indent="-361950" lvl="0" marL="457200" rtl="0" algn="l">
              <a:lnSpc>
                <a:spcPct val="115000"/>
              </a:lnSpc>
              <a:spcBef>
                <a:spcPts val="1200"/>
              </a:spcBef>
              <a:spcAft>
                <a:spcPts val="0"/>
              </a:spcAft>
              <a:buSzPts val="2100"/>
              <a:buChar char="●"/>
            </a:pPr>
            <a:r>
              <a:rPr lang="en-US" sz="2100">
                <a:latin typeface="Times New Roman"/>
                <a:ea typeface="Times New Roman"/>
                <a:cs typeface="Times New Roman"/>
                <a:sym typeface="Times New Roman"/>
              </a:rPr>
              <a:t>Functional Dependency (FD) defines how one attribute relates to another within a database.</a:t>
            </a:r>
            <a:endParaRPr sz="2100">
              <a:latin typeface="Times New Roman"/>
              <a:ea typeface="Times New Roman"/>
              <a:cs typeface="Times New Roman"/>
              <a:sym typeface="Times New Roman"/>
            </a:endParaRPr>
          </a:p>
          <a:p>
            <a:pPr indent="-285750" lvl="0" marL="457200" rtl="0" algn="l">
              <a:lnSpc>
                <a:spcPct val="115000"/>
              </a:lnSpc>
              <a:spcBef>
                <a:spcPts val="0"/>
              </a:spcBef>
              <a:spcAft>
                <a:spcPts val="0"/>
              </a:spcAft>
              <a:buSzPts val="900"/>
              <a:buChar char="●"/>
            </a:pPr>
            <a:r>
              <a:rPr lang="en-US" sz="2200">
                <a:latin typeface="Times New Roman"/>
                <a:ea typeface="Times New Roman"/>
                <a:cs typeface="Times New Roman"/>
                <a:sym typeface="Times New Roman"/>
              </a:rPr>
              <a:t>It ensures data integrity by linking attributes in a structured manner.</a:t>
            </a:r>
            <a:endParaRPr sz="2200">
              <a:latin typeface="Times New Roman"/>
              <a:ea typeface="Times New Roman"/>
              <a:cs typeface="Times New Roman"/>
              <a:sym typeface="Times New Roman"/>
            </a:endParaRPr>
          </a:p>
          <a:p>
            <a:pPr indent="-279400" lvl="0" marL="457200" rtl="0" algn="l">
              <a:lnSpc>
                <a:spcPct val="115000"/>
              </a:lnSpc>
              <a:spcBef>
                <a:spcPts val="0"/>
              </a:spcBef>
              <a:spcAft>
                <a:spcPts val="0"/>
              </a:spcAft>
              <a:buSzPts val="800"/>
              <a:buChar char="●"/>
            </a:pPr>
            <a:r>
              <a:rPr lang="en-US" sz="2100">
                <a:latin typeface="Times New Roman"/>
                <a:ea typeface="Times New Roman"/>
                <a:cs typeface="Times New Roman"/>
                <a:sym typeface="Times New Roman"/>
              </a:rPr>
              <a:t>Denoted by an arrow (→), e.g., X→YX \rightarrow YX→Y, where XXX determines YYY.</a:t>
            </a:r>
            <a:endParaRPr sz="2100">
              <a:latin typeface="Times New Roman"/>
              <a:ea typeface="Times New Roman"/>
              <a:cs typeface="Times New Roman"/>
              <a:sym typeface="Times New Roman"/>
            </a:endParaRPr>
          </a:p>
          <a:p>
            <a:pPr indent="-279400" lvl="0" marL="457200" rtl="0" algn="l">
              <a:lnSpc>
                <a:spcPct val="115000"/>
              </a:lnSpc>
              <a:spcBef>
                <a:spcPts val="0"/>
              </a:spcBef>
              <a:spcAft>
                <a:spcPts val="0"/>
              </a:spcAft>
              <a:buSzPts val="800"/>
              <a:buChar char="●"/>
            </a:pPr>
            <a:r>
              <a:rPr lang="en-US" sz="2100">
                <a:latin typeface="Times New Roman"/>
                <a:ea typeface="Times New Roman"/>
                <a:cs typeface="Times New Roman"/>
                <a:sym typeface="Times New Roman"/>
              </a:rPr>
              <a:t>XXX is the determinant attribute, and YYY is the dependent attribute.</a:t>
            </a:r>
            <a:endParaRPr sz="2100">
              <a:latin typeface="Times New Roman"/>
              <a:ea typeface="Times New Roman"/>
              <a:cs typeface="Times New Roman"/>
              <a:sym typeface="Times New Roman"/>
            </a:endParaRPr>
          </a:p>
          <a:p>
            <a:pPr indent="-279400" lvl="0" marL="457200" rtl="0" algn="l">
              <a:lnSpc>
                <a:spcPct val="115000"/>
              </a:lnSpc>
              <a:spcBef>
                <a:spcPts val="0"/>
              </a:spcBef>
              <a:spcAft>
                <a:spcPts val="0"/>
              </a:spcAft>
              <a:buSzPts val="800"/>
              <a:buChar char="●"/>
            </a:pPr>
            <a:r>
              <a:rPr lang="en-US" sz="2100">
                <a:latin typeface="Times New Roman"/>
                <a:ea typeface="Times New Roman"/>
                <a:cs typeface="Times New Roman"/>
                <a:sym typeface="Times New Roman"/>
              </a:rPr>
              <a:t>Example: sid→snamesid \rightarrow snamesid→sname means the student ID sid uniquely determines the student's name sname.</a:t>
            </a:r>
            <a:endParaRPr sz="2100">
              <a:latin typeface="Times New Roman"/>
              <a:ea typeface="Times New Roman"/>
              <a:cs typeface="Times New Roman"/>
              <a:sym typeface="Times New Roman"/>
            </a:endParaRPr>
          </a:p>
          <a:p>
            <a:pPr indent="0" lvl="0" marL="457200" rtl="0" algn="just">
              <a:lnSpc>
                <a:spcPct val="90000"/>
              </a:lnSpc>
              <a:spcBef>
                <a:spcPts val="1200"/>
              </a:spcBef>
              <a:spcAft>
                <a:spcPts val="0"/>
              </a:spcAft>
              <a:buNone/>
            </a:pPr>
            <a:r>
              <a:t/>
            </a:r>
            <a:endParaRPr sz="2400">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txBox="1"/>
          <p:nvPr>
            <p:ph type="title"/>
          </p:nvPr>
        </p:nvSpPr>
        <p:spPr>
          <a:xfrm>
            <a:off x="548148" y="1005349"/>
            <a:ext cx="7772400" cy="7318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solidFill>
                  <a:srgbClr val="C00000"/>
                </a:solidFill>
              </a:rPr>
              <a:t>Types of Functional Dependency</a:t>
            </a:r>
            <a:endParaRPr/>
          </a:p>
        </p:txBody>
      </p:sp>
      <p:sp>
        <p:nvSpPr>
          <p:cNvPr id="110" name="Google Shape;110;p5"/>
          <p:cNvSpPr txBox="1"/>
          <p:nvPr>
            <p:ph idx="1" type="body"/>
          </p:nvPr>
        </p:nvSpPr>
        <p:spPr>
          <a:xfrm>
            <a:off x="381000" y="1831258"/>
            <a:ext cx="8458200" cy="465803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1.Multivalued dependency</a:t>
            </a:r>
            <a:endParaRPr/>
          </a:p>
          <a:p>
            <a:pPr indent="0" lvl="0" marL="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2.Trivial functional dependency </a:t>
            </a:r>
            <a:endParaRPr/>
          </a:p>
          <a:p>
            <a:pPr indent="0" lvl="0" marL="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3.Non-trivial functional dependency </a:t>
            </a:r>
            <a:endParaRPr/>
          </a:p>
          <a:p>
            <a:pPr indent="0" lvl="0" marL="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4.Transitive dependency</a:t>
            </a:r>
            <a:endParaRPr/>
          </a:p>
          <a:p>
            <a:pPr indent="0" lvl="0" marL="0" rtl="0" algn="l">
              <a:lnSpc>
                <a:spcPct val="90000"/>
              </a:lnSpc>
              <a:spcBef>
                <a:spcPts val="1000"/>
              </a:spcBef>
              <a:spcAft>
                <a:spcPts val="0"/>
              </a:spcAft>
              <a:buSzPts val="1800"/>
              <a:buNone/>
            </a:pPr>
            <a:r>
              <a:rPr b="1" lang="en-US" sz="2400">
                <a:solidFill>
                  <a:srgbClr val="FF0000"/>
                </a:solidFill>
                <a:latin typeface="Times New Roman"/>
                <a:ea typeface="Times New Roman"/>
                <a:cs typeface="Times New Roman"/>
                <a:sym typeface="Times New Roman"/>
              </a:rPr>
              <a:t>1. Multivalued dependency</a:t>
            </a:r>
            <a:r>
              <a:rPr b="1" lang="en-US" sz="2400">
                <a:latin typeface="Times New Roman"/>
                <a:ea typeface="Times New Roman"/>
                <a:cs typeface="Times New Roman"/>
                <a:sym typeface="Times New Roman"/>
              </a:rPr>
              <a:t>-</a:t>
            </a:r>
            <a:r>
              <a:rPr lang="en-US" sz="2400">
                <a:latin typeface="Times New Roman"/>
                <a:ea typeface="Times New Roman"/>
                <a:cs typeface="Times New Roman"/>
                <a:sym typeface="Times New Roman"/>
              </a:rPr>
              <a:t>Multivalued dependency occurs in the situation where there are multiple independent multivalued attributes in a single table.</a:t>
            </a:r>
            <a:endParaRPr/>
          </a:p>
          <a:p>
            <a:pPr indent="0" lvl="0" marL="0" rtl="0" algn="l">
              <a:lnSpc>
                <a:spcPct val="90000"/>
              </a:lnSpc>
              <a:spcBef>
                <a:spcPts val="1000"/>
              </a:spcBef>
              <a:spcAft>
                <a:spcPts val="0"/>
              </a:spcAft>
              <a:buSzPts val="1800"/>
              <a:buNone/>
            </a:pPr>
            <a:r>
              <a:rPr b="1" lang="en-US" sz="2400">
                <a:solidFill>
                  <a:srgbClr val="FF0000"/>
                </a:solidFill>
                <a:latin typeface="Times New Roman"/>
                <a:ea typeface="Times New Roman"/>
                <a:cs typeface="Times New Roman"/>
                <a:sym typeface="Times New Roman"/>
              </a:rPr>
              <a:t>2. Trivial functional dependency -</a:t>
            </a:r>
            <a:r>
              <a:rPr lang="en-US" sz="2400">
                <a:latin typeface="Times New Roman"/>
                <a:ea typeface="Times New Roman"/>
                <a:cs typeface="Times New Roman"/>
                <a:sym typeface="Times New Roman"/>
              </a:rPr>
              <a:t>The Trivial dependency is a set of attributes which are called a trivial if the set of attributes are included in that attribute. </a:t>
            </a:r>
            <a:endParaRPr/>
          </a:p>
          <a:p>
            <a:pPr indent="0" lvl="0" marL="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So, X -&gt; Y is a trivial functional dependency if Y is a subset of X. </a:t>
            </a:r>
            <a:endParaRPr/>
          </a:p>
          <a:p>
            <a:pPr indent="0" lvl="0" marL="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txBox="1"/>
          <p:nvPr>
            <p:ph idx="1" type="body"/>
          </p:nvPr>
        </p:nvSpPr>
        <p:spPr>
          <a:xfrm>
            <a:off x="334297" y="1664110"/>
            <a:ext cx="8382000" cy="59436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1000"/>
              </a:spcBef>
              <a:spcAft>
                <a:spcPts val="0"/>
              </a:spcAft>
              <a:buSzPts val="1800"/>
              <a:buNone/>
            </a:pPr>
            <a:r>
              <a:rPr b="1" lang="en-US" sz="2400">
                <a:latin typeface="Times New Roman"/>
                <a:ea typeface="Times New Roman"/>
                <a:cs typeface="Times New Roman"/>
                <a:sym typeface="Times New Roman"/>
              </a:rPr>
              <a:t>3. </a:t>
            </a:r>
            <a:r>
              <a:rPr b="1" lang="en-US" sz="2400">
                <a:solidFill>
                  <a:srgbClr val="FF0000"/>
                </a:solidFill>
                <a:latin typeface="Times New Roman"/>
                <a:ea typeface="Times New Roman"/>
                <a:cs typeface="Times New Roman"/>
                <a:sym typeface="Times New Roman"/>
              </a:rPr>
              <a:t>Non-trivial functional dependency-</a:t>
            </a:r>
            <a:endParaRPr/>
          </a:p>
          <a:p>
            <a:pPr indent="0" lvl="0" marL="0" rtl="0" algn="just">
              <a:lnSpc>
                <a:spcPct val="90000"/>
              </a:lnSpc>
              <a:spcBef>
                <a:spcPts val="1000"/>
              </a:spcBef>
              <a:spcAft>
                <a:spcPts val="0"/>
              </a:spcAft>
              <a:buSzPts val="1800"/>
              <a:buNone/>
            </a:pPr>
            <a:r>
              <a:rPr lang="en-US" sz="2400">
                <a:latin typeface="Times New Roman"/>
                <a:ea typeface="Times New Roman"/>
                <a:cs typeface="Times New Roman"/>
                <a:sym typeface="Times New Roman"/>
              </a:rPr>
              <a:t>Functional dependency which also known as a nontrivial dependency occurs when A-&gt;B holds true where B is not a subset of A. In a relationship, if attribute B is not a subset of attribute A, then it is considered as a non-trivial dependency. </a:t>
            </a:r>
            <a:endParaRPr/>
          </a:p>
          <a:p>
            <a:pPr indent="0" lvl="0" marL="0" rtl="0" algn="just">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a:p>
            <a:pPr indent="0" lvl="0" marL="0" rtl="0" algn="just">
              <a:lnSpc>
                <a:spcPct val="90000"/>
              </a:lnSpc>
              <a:spcBef>
                <a:spcPts val="1000"/>
              </a:spcBef>
              <a:spcAft>
                <a:spcPts val="0"/>
              </a:spcAft>
              <a:buSzPts val="1800"/>
              <a:buNone/>
            </a:pPr>
            <a:r>
              <a:rPr b="1" lang="en-US" sz="2400">
                <a:latin typeface="Times New Roman"/>
                <a:ea typeface="Times New Roman"/>
                <a:cs typeface="Times New Roman"/>
                <a:sym typeface="Times New Roman"/>
              </a:rPr>
              <a:t>4. </a:t>
            </a:r>
            <a:r>
              <a:rPr b="1" lang="en-US" sz="2400">
                <a:solidFill>
                  <a:srgbClr val="FF0000"/>
                </a:solidFill>
                <a:latin typeface="Times New Roman"/>
                <a:ea typeface="Times New Roman"/>
                <a:cs typeface="Times New Roman"/>
                <a:sym typeface="Times New Roman"/>
              </a:rPr>
              <a:t>Transitive dependency-</a:t>
            </a:r>
            <a:endParaRPr/>
          </a:p>
          <a:p>
            <a:pPr indent="0" lvl="0" marL="0" rtl="0" algn="just">
              <a:lnSpc>
                <a:spcPct val="90000"/>
              </a:lnSpc>
              <a:spcBef>
                <a:spcPts val="1000"/>
              </a:spcBef>
              <a:spcAft>
                <a:spcPts val="0"/>
              </a:spcAft>
              <a:buSzPts val="1800"/>
              <a:buNone/>
            </a:pPr>
            <a:r>
              <a:rPr lang="en-US" sz="2400">
                <a:latin typeface="Times New Roman"/>
                <a:ea typeface="Times New Roman"/>
                <a:cs typeface="Times New Roman"/>
                <a:sym typeface="Times New Roman"/>
              </a:rPr>
              <a:t>A transitive is a type of functional dependency which happens when t is indirectly formed by two functional dependencies. </a:t>
            </a:r>
            <a:endParaRPr b="1" sz="2400">
              <a:latin typeface="Times New Roman"/>
              <a:ea typeface="Times New Roman"/>
              <a:cs typeface="Times New Roman"/>
              <a:sym typeface="Times New Roman"/>
            </a:endParaRPr>
          </a:p>
          <a:p>
            <a:pPr indent="0" lvl="0" marL="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a:p>
            <a:pPr indent="0" lvl="0" marL="0" rtl="0" algn="l">
              <a:lnSpc>
                <a:spcPct val="90000"/>
              </a:lnSpc>
              <a:spcBef>
                <a:spcPts val="1000"/>
              </a:spcBef>
              <a:spcAft>
                <a:spcPts val="0"/>
              </a:spcAft>
              <a:buSzPts val="1800"/>
              <a:buNone/>
            </a:pPr>
            <a:r>
              <a:rPr b="1" lang="en-US" sz="2400">
                <a:latin typeface="Times New Roman"/>
                <a:ea typeface="Times New Roman"/>
                <a:cs typeface="Times New Roman"/>
                <a:sym typeface="Times New Roman"/>
              </a:rPr>
              <a:t> </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7"/>
          <p:cNvSpPr txBox="1"/>
          <p:nvPr/>
        </p:nvSpPr>
        <p:spPr>
          <a:xfrm>
            <a:off x="344129" y="1086464"/>
            <a:ext cx="8534400" cy="48936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00000"/>
                </a:solidFill>
                <a:latin typeface="Times New Roman"/>
                <a:ea typeface="Times New Roman"/>
                <a:cs typeface="Times New Roman"/>
                <a:sym typeface="Times New Roman"/>
              </a:rPr>
              <a:t>Properties of functional dependencies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400"/>
              <a:buFont typeface="Arial"/>
              <a:buAutoNum type="arabicPeriod"/>
            </a:pPr>
            <a:r>
              <a:rPr b="0" i="0" lang="en-US" sz="2400" u="none" cap="none" strike="noStrike">
                <a:solidFill>
                  <a:srgbClr val="FF0000"/>
                </a:solidFill>
                <a:latin typeface="Times New Roman"/>
                <a:ea typeface="Times New Roman"/>
                <a:cs typeface="Times New Roman"/>
                <a:sym typeface="Times New Roman"/>
              </a:rPr>
              <a:t>Reflexivity:</a:t>
            </a:r>
            <a:r>
              <a:rPr b="0" i="0" lang="en-US" sz="2400" u="none" cap="none" strike="noStrike">
                <a:solidFill>
                  <a:srgbClr val="000000"/>
                </a:solidFill>
                <a:latin typeface="Times New Roman"/>
                <a:ea typeface="Times New Roman"/>
                <a:cs typeface="Times New Roman"/>
                <a:sym typeface="Times New Roman"/>
              </a:rPr>
              <a:t>      If    Y is a subset of X then X  🡪 Y and it is always valid.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                                       e.g. sid🡪sid</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2. </a:t>
            </a:r>
            <a:r>
              <a:rPr b="0" i="0" lang="en-US" sz="2400" u="none" cap="none" strike="noStrike">
                <a:solidFill>
                  <a:srgbClr val="FF0000"/>
                </a:solidFill>
                <a:latin typeface="Times New Roman"/>
                <a:ea typeface="Times New Roman"/>
                <a:cs typeface="Times New Roman"/>
                <a:sym typeface="Times New Roman"/>
              </a:rPr>
              <a:t>Augmentation:</a:t>
            </a:r>
            <a:r>
              <a:rPr b="0" i="0" lang="en-US" sz="2400" u="none" cap="none" strike="noStrike">
                <a:solidFill>
                  <a:srgbClr val="000000"/>
                </a:solidFill>
                <a:latin typeface="Times New Roman"/>
                <a:ea typeface="Times New Roman"/>
                <a:cs typeface="Times New Roman"/>
                <a:sym typeface="Times New Roman"/>
              </a:rPr>
              <a:t>  if  X  🡪 Y   then   XZ 🡪 YZ</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                              e.g. sidphoneno 🡪 snamephoneno</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3. </a:t>
            </a:r>
            <a:r>
              <a:rPr b="0" i="0" lang="en-US" sz="2400" u="none" cap="none" strike="noStrike">
                <a:solidFill>
                  <a:srgbClr val="FF0000"/>
                </a:solidFill>
                <a:latin typeface="Times New Roman"/>
                <a:ea typeface="Times New Roman"/>
                <a:cs typeface="Times New Roman"/>
                <a:sym typeface="Times New Roman"/>
              </a:rPr>
              <a:t>Transitive:</a:t>
            </a:r>
            <a:r>
              <a:rPr b="0" i="0" lang="en-US" sz="2400" u="none" cap="none" strike="noStrike">
                <a:solidFill>
                  <a:srgbClr val="000000"/>
                </a:solidFill>
                <a:latin typeface="Times New Roman"/>
                <a:ea typeface="Times New Roman"/>
                <a:cs typeface="Times New Roman"/>
                <a:sym typeface="Times New Roman"/>
              </a:rPr>
              <a:t>         if   X  🡪 Y    and     Y 🡪  Z    then    X  🡪 Z</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   e.g.  sid 🡪 sname            and sname 🡪city         then      sid 🡪city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4. </a:t>
            </a:r>
            <a:r>
              <a:rPr b="0" i="0" lang="en-US" sz="2400" u="none" cap="none" strike="noStrike">
                <a:solidFill>
                  <a:srgbClr val="FF0000"/>
                </a:solidFill>
                <a:latin typeface="Times New Roman"/>
                <a:ea typeface="Times New Roman"/>
                <a:cs typeface="Times New Roman"/>
                <a:sym typeface="Times New Roman"/>
              </a:rPr>
              <a:t>Union: </a:t>
            </a:r>
            <a:r>
              <a:rPr b="0" i="0" lang="en-US" sz="2400" u="none" cap="none" strike="noStrike">
                <a:solidFill>
                  <a:srgbClr val="000000"/>
                </a:solidFill>
                <a:latin typeface="Times New Roman"/>
                <a:ea typeface="Times New Roman"/>
                <a:cs typeface="Times New Roman"/>
                <a:sym typeface="Times New Roman"/>
              </a:rPr>
              <a:t>               If X  🡪 Y   and        X  🡪 Z    then X  🡪Y Z</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5. </a:t>
            </a:r>
            <a:r>
              <a:rPr b="0" i="0" lang="en-US" sz="2400" u="none" cap="none" strike="noStrike">
                <a:solidFill>
                  <a:srgbClr val="FF0000"/>
                </a:solidFill>
                <a:latin typeface="Times New Roman"/>
                <a:ea typeface="Times New Roman"/>
                <a:cs typeface="Times New Roman"/>
                <a:sym typeface="Times New Roman"/>
              </a:rPr>
              <a:t>Decomposition: </a:t>
            </a:r>
            <a:r>
              <a:rPr b="0" i="0" lang="en-US" sz="2400" u="none" cap="none" strike="noStrike">
                <a:solidFill>
                  <a:srgbClr val="000000"/>
                </a:solidFill>
                <a:latin typeface="Times New Roman"/>
                <a:ea typeface="Times New Roman"/>
                <a:cs typeface="Times New Roman"/>
                <a:sym typeface="Times New Roman"/>
              </a:rPr>
              <a:t>if    X  🡪Y Z    then X  🡪 Y     and X  🡪 Z </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8"/>
          <p:cNvSpPr txBox="1"/>
          <p:nvPr>
            <p:ph type="title"/>
          </p:nvPr>
        </p:nvSpPr>
        <p:spPr>
          <a:xfrm>
            <a:off x="432619" y="1054510"/>
            <a:ext cx="7452851" cy="7159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sz="3600">
                <a:solidFill>
                  <a:srgbClr val="C00000"/>
                </a:solidFill>
                <a:latin typeface="Times New Roman"/>
                <a:ea typeface="Times New Roman"/>
                <a:cs typeface="Times New Roman"/>
                <a:sym typeface="Times New Roman"/>
              </a:rPr>
              <a:t>Purpose of Normalization</a:t>
            </a:r>
            <a:endParaRPr sz="3600">
              <a:solidFill>
                <a:srgbClr val="C00000"/>
              </a:solidFill>
            </a:endParaRPr>
          </a:p>
        </p:txBody>
      </p:sp>
      <p:sp>
        <p:nvSpPr>
          <p:cNvPr id="126" name="Google Shape;126;p8"/>
          <p:cNvSpPr txBox="1"/>
          <p:nvPr>
            <p:ph idx="1" type="body"/>
          </p:nvPr>
        </p:nvSpPr>
        <p:spPr>
          <a:xfrm>
            <a:off x="304800" y="2010696"/>
            <a:ext cx="8458200" cy="4953000"/>
          </a:xfrm>
          <a:prstGeom prst="rect">
            <a:avLst/>
          </a:prstGeom>
          <a:noFill/>
          <a:ln>
            <a:noFill/>
          </a:ln>
        </p:spPr>
        <p:txBody>
          <a:bodyPr anchorCtr="0" anchor="t" bIns="45700" lIns="91425" spcFirstLastPara="1" rIns="91425" wrap="square" tIns="45700">
            <a:normAutofit/>
          </a:bodyPr>
          <a:lstStyle/>
          <a:p>
            <a:pPr indent="-342900" lvl="0" marL="457200" rtl="0" algn="just">
              <a:lnSpc>
                <a:spcPct val="90000"/>
              </a:lnSpc>
              <a:spcBef>
                <a:spcPts val="1000"/>
              </a:spcBef>
              <a:spcAft>
                <a:spcPts val="0"/>
              </a:spcAft>
              <a:buSzPts val="1800"/>
              <a:buChar char="•"/>
            </a:pPr>
            <a:r>
              <a:rPr lang="en-US" sz="2400">
                <a:latin typeface="Times New Roman"/>
                <a:ea typeface="Times New Roman"/>
                <a:cs typeface="Times New Roman"/>
                <a:sym typeface="Times New Roman"/>
              </a:rPr>
              <a:t>If a database design is not perfect, it may contain anomalies, which are like a bad dream for any database administrator. Managing a database with anomalies is next to impossible.</a:t>
            </a:r>
            <a:endParaRPr/>
          </a:p>
          <a:p>
            <a:pPr indent="-342900" lvl="0" marL="457200" rtl="0" algn="just">
              <a:lnSpc>
                <a:spcPct val="90000"/>
              </a:lnSpc>
              <a:spcBef>
                <a:spcPts val="1000"/>
              </a:spcBef>
              <a:spcAft>
                <a:spcPts val="0"/>
              </a:spcAft>
              <a:buSzPts val="1800"/>
              <a:buChar char="•"/>
            </a:pPr>
            <a:r>
              <a:rPr b="1" lang="en-US" sz="2400">
                <a:solidFill>
                  <a:srgbClr val="FF0000"/>
                </a:solidFill>
                <a:latin typeface="Times New Roman"/>
                <a:ea typeface="Times New Roman"/>
                <a:cs typeface="Times New Roman"/>
                <a:sym typeface="Times New Roman"/>
              </a:rPr>
              <a:t>Update anomalies</a:t>
            </a:r>
            <a:r>
              <a:rPr lang="en-US" sz="2400">
                <a:solidFill>
                  <a:srgbClr val="FF0000"/>
                </a:solidFill>
                <a:latin typeface="Times New Roman"/>
                <a:ea typeface="Times New Roman"/>
                <a:cs typeface="Times New Roman"/>
                <a:sym typeface="Times New Roman"/>
              </a:rPr>
              <a:t> </a:t>
            </a:r>
            <a:r>
              <a:rPr lang="en-US" sz="2400">
                <a:latin typeface="Times New Roman"/>
                <a:ea typeface="Times New Roman"/>
                <a:cs typeface="Times New Roman"/>
                <a:sym typeface="Times New Roman"/>
              </a:rPr>
              <a:t>− If data items are scattered and are not linked to each other properly, then it could lead to strange situations. </a:t>
            </a:r>
            <a:endParaRPr/>
          </a:p>
          <a:p>
            <a:pPr indent="-342900" lvl="0" marL="457200" rtl="0" algn="just">
              <a:lnSpc>
                <a:spcPct val="90000"/>
              </a:lnSpc>
              <a:spcBef>
                <a:spcPts val="1000"/>
              </a:spcBef>
              <a:spcAft>
                <a:spcPts val="0"/>
              </a:spcAft>
              <a:buSzPts val="1800"/>
              <a:buChar char="•"/>
            </a:pPr>
            <a:r>
              <a:rPr b="1" lang="en-US" sz="2400">
                <a:solidFill>
                  <a:srgbClr val="FF0000"/>
                </a:solidFill>
                <a:latin typeface="Times New Roman"/>
                <a:ea typeface="Times New Roman"/>
                <a:cs typeface="Times New Roman"/>
                <a:sym typeface="Times New Roman"/>
              </a:rPr>
              <a:t>Deletion anomalies</a:t>
            </a:r>
            <a:r>
              <a:rPr lang="en-US" sz="2400">
                <a:solidFill>
                  <a:srgbClr val="FF0000"/>
                </a:solidFill>
                <a:latin typeface="Times New Roman"/>
                <a:ea typeface="Times New Roman"/>
                <a:cs typeface="Times New Roman"/>
                <a:sym typeface="Times New Roman"/>
              </a:rPr>
              <a:t> </a:t>
            </a:r>
            <a:r>
              <a:rPr lang="en-US" sz="2400">
                <a:latin typeface="Times New Roman"/>
                <a:ea typeface="Times New Roman"/>
                <a:cs typeface="Times New Roman"/>
                <a:sym typeface="Times New Roman"/>
              </a:rPr>
              <a:t>− We tried to delete a record, but parts of it was left undeleted because of unawareness, the data is also saved somewhere else.</a:t>
            </a:r>
            <a:endParaRPr/>
          </a:p>
          <a:p>
            <a:pPr indent="-342900" lvl="0" marL="457200" rtl="0" algn="just">
              <a:lnSpc>
                <a:spcPct val="90000"/>
              </a:lnSpc>
              <a:spcBef>
                <a:spcPts val="1000"/>
              </a:spcBef>
              <a:spcAft>
                <a:spcPts val="0"/>
              </a:spcAft>
              <a:buSzPts val="1800"/>
              <a:buChar char="•"/>
            </a:pPr>
            <a:r>
              <a:rPr b="1" lang="en-US" sz="2400">
                <a:solidFill>
                  <a:srgbClr val="FF0000"/>
                </a:solidFill>
                <a:latin typeface="Times New Roman"/>
                <a:ea typeface="Times New Roman"/>
                <a:cs typeface="Times New Roman"/>
                <a:sym typeface="Times New Roman"/>
              </a:rPr>
              <a:t>Insert anomalies</a:t>
            </a:r>
            <a:r>
              <a:rPr lang="en-US" sz="2400">
                <a:solidFill>
                  <a:srgbClr val="FF0000"/>
                </a:solidFill>
                <a:latin typeface="Times New Roman"/>
                <a:ea typeface="Times New Roman"/>
                <a:cs typeface="Times New Roman"/>
                <a:sym typeface="Times New Roman"/>
              </a:rPr>
              <a:t> </a:t>
            </a:r>
            <a:r>
              <a:rPr lang="en-US" sz="2400">
                <a:latin typeface="Times New Roman"/>
                <a:ea typeface="Times New Roman"/>
                <a:cs typeface="Times New Roman"/>
                <a:sym typeface="Times New Roman"/>
              </a:rPr>
              <a:t>− We tried to insert data in a record that does not exist at all.</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9"/>
          <p:cNvSpPr txBox="1"/>
          <p:nvPr>
            <p:ph type="title"/>
          </p:nvPr>
        </p:nvSpPr>
        <p:spPr>
          <a:xfrm>
            <a:off x="381000" y="1327354"/>
            <a:ext cx="7772400" cy="6556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sz="3600">
                <a:solidFill>
                  <a:srgbClr val="C00000"/>
                </a:solidFill>
                <a:latin typeface="Times New Roman"/>
                <a:ea typeface="Times New Roman"/>
                <a:cs typeface="Times New Roman"/>
                <a:sym typeface="Times New Roman"/>
              </a:rPr>
              <a:t>Data Redundancy and Update Anomalies</a:t>
            </a:r>
            <a:endParaRPr sz="3600">
              <a:solidFill>
                <a:srgbClr val="C00000"/>
              </a:solidFill>
            </a:endParaRPr>
          </a:p>
        </p:txBody>
      </p:sp>
      <p:pic>
        <p:nvPicPr>
          <p:cNvPr id="132" name="Google Shape;132;p9"/>
          <p:cNvPicPr preferRelativeResize="0"/>
          <p:nvPr>
            <p:ph idx="1" type="body"/>
          </p:nvPr>
        </p:nvPicPr>
        <p:blipFill rotWithShape="1">
          <a:blip r:embed="rId3">
            <a:alphaModFix/>
          </a:blip>
          <a:srcRect b="0" l="0" r="0" t="0"/>
          <a:stretch/>
        </p:blipFill>
        <p:spPr>
          <a:xfrm>
            <a:off x="459658" y="2362199"/>
            <a:ext cx="8305800" cy="1694815"/>
          </a:xfrm>
          <a:prstGeom prst="rect">
            <a:avLst/>
          </a:prstGeom>
          <a:noFill/>
          <a:ln>
            <a:noFill/>
          </a:ln>
        </p:spPr>
      </p:pic>
      <p:pic>
        <p:nvPicPr>
          <p:cNvPr id="133" name="Google Shape;133;p9"/>
          <p:cNvPicPr preferRelativeResize="0"/>
          <p:nvPr/>
        </p:nvPicPr>
        <p:blipFill rotWithShape="1">
          <a:blip r:embed="rId4">
            <a:alphaModFix/>
          </a:blip>
          <a:srcRect b="0" l="0" r="0" t="0"/>
          <a:stretch/>
        </p:blipFill>
        <p:spPr>
          <a:xfrm>
            <a:off x="381000" y="4436221"/>
            <a:ext cx="8305800" cy="12001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0"/>
          <p:cNvSpPr txBox="1"/>
          <p:nvPr>
            <p:ph type="title"/>
          </p:nvPr>
        </p:nvSpPr>
        <p:spPr>
          <a:xfrm>
            <a:off x="511277" y="1121542"/>
            <a:ext cx="7772400" cy="6556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sz="3600">
                <a:solidFill>
                  <a:srgbClr val="C00000"/>
                </a:solidFill>
                <a:latin typeface="Times New Roman"/>
                <a:ea typeface="Times New Roman"/>
                <a:cs typeface="Times New Roman"/>
                <a:sym typeface="Times New Roman"/>
              </a:rPr>
              <a:t>Normalization</a:t>
            </a:r>
            <a:endParaRPr sz="3600">
              <a:solidFill>
                <a:srgbClr val="C00000"/>
              </a:solidFill>
            </a:endParaRPr>
          </a:p>
        </p:txBody>
      </p:sp>
      <p:sp>
        <p:nvSpPr>
          <p:cNvPr id="139" name="Google Shape;139;p10"/>
          <p:cNvSpPr txBox="1"/>
          <p:nvPr>
            <p:ph idx="1" type="body"/>
          </p:nvPr>
        </p:nvSpPr>
        <p:spPr>
          <a:xfrm>
            <a:off x="206477" y="2013154"/>
            <a:ext cx="8382000" cy="5410200"/>
          </a:xfrm>
          <a:prstGeom prst="rect">
            <a:avLst/>
          </a:prstGeom>
          <a:noFill/>
          <a:ln>
            <a:noFill/>
          </a:ln>
        </p:spPr>
        <p:txBody>
          <a:bodyPr anchorCtr="0" anchor="t" bIns="45700" lIns="91425" spcFirstLastPara="1" rIns="91425" wrap="square" tIns="45700">
            <a:normAutofit/>
          </a:bodyPr>
          <a:lstStyle/>
          <a:p>
            <a:pPr indent="-342900" lvl="0" marL="457200" rtl="0" algn="just">
              <a:lnSpc>
                <a:spcPct val="90000"/>
              </a:lnSpc>
              <a:spcBef>
                <a:spcPts val="1000"/>
              </a:spcBef>
              <a:spcAft>
                <a:spcPts val="0"/>
              </a:spcAft>
              <a:buSzPts val="1800"/>
              <a:buChar char="•"/>
            </a:pPr>
            <a:r>
              <a:rPr lang="en-US" sz="2400">
                <a:latin typeface="Times New Roman"/>
                <a:ea typeface="Times New Roman"/>
                <a:cs typeface="Times New Roman"/>
                <a:sym typeface="Times New Roman"/>
              </a:rPr>
              <a:t>Normalization is a database design technique that reduces data redundancy and eliminates undesirable characteristics like Insertion, Update and Deletion Anomalies.	</a:t>
            </a:r>
            <a:endParaRPr/>
          </a:p>
          <a:p>
            <a:pPr indent="0" lvl="0" marL="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     Types of Normal forms</a:t>
            </a:r>
            <a:endParaRPr/>
          </a:p>
          <a:p>
            <a:pPr indent="0" lvl="0" marL="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                 1. First Normal Form</a:t>
            </a:r>
            <a:endParaRPr/>
          </a:p>
          <a:p>
            <a:pPr indent="0" lvl="0" marL="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                 2. Second Normal Form</a:t>
            </a:r>
            <a:endParaRPr/>
          </a:p>
          <a:p>
            <a:pPr indent="0" lvl="0" marL="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                 3. Third Normal Form</a:t>
            </a:r>
            <a:endParaRPr/>
          </a:p>
          <a:p>
            <a:pPr indent="0" lvl="0" marL="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                 4. BCNF (Boyce Codd Normal Form)</a:t>
            </a:r>
            <a:endParaRPr/>
          </a:p>
          <a:p>
            <a:pPr indent="0" lvl="0" marL="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                 5. Fifth Normal Form</a:t>
            </a:r>
            <a:endParaRPr sz="2400">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1"/>
          <p:cNvSpPr txBox="1"/>
          <p:nvPr/>
        </p:nvSpPr>
        <p:spPr>
          <a:xfrm>
            <a:off x="306029" y="1168989"/>
            <a:ext cx="8610600" cy="48936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Times New Roman"/>
                <a:ea typeface="Times New Roman"/>
                <a:cs typeface="Times New Roman"/>
                <a:sym typeface="Times New Roman"/>
              </a:rPr>
              <a:t>1st Normal Form (1NF)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51565E"/>
                </a:solidFill>
                <a:latin typeface="Times New Roman"/>
                <a:ea typeface="Times New Roman"/>
                <a:cs typeface="Times New Roman"/>
                <a:sym typeface="Times New Roman"/>
              </a:rPr>
              <a:t> A table is referred to as being in its First Normal Form if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Times New Roman"/>
                <a:ea typeface="Times New Roman"/>
                <a:cs typeface="Times New Roman"/>
                <a:sym typeface="Times New Roman"/>
              </a:rPr>
              <a:t>   atomicity of the table is 1.</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rgbClr val="51565E"/>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51565E"/>
                </a:solidFill>
                <a:latin typeface="Times New Roman"/>
                <a:ea typeface="Times New Roman"/>
                <a:cs typeface="Times New Roman"/>
                <a:sym typeface="Times New Roman"/>
              </a:rPr>
              <a:t> Here, atomicity states that a single cell cannot hold multiple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Times New Roman"/>
                <a:ea typeface="Times New Roman"/>
                <a:cs typeface="Times New Roman"/>
                <a:sym typeface="Times New Roman"/>
              </a:rPr>
              <a:t>  values. It must hold only a single-valued attribute.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rgbClr val="51565E"/>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51565E"/>
                </a:solidFill>
                <a:latin typeface="Times New Roman"/>
                <a:ea typeface="Times New Roman"/>
                <a:cs typeface="Times New Roman"/>
                <a:sym typeface="Times New Roman"/>
              </a:rPr>
              <a:t>  The First normal form </a:t>
            </a:r>
            <a:r>
              <a:rPr b="1" i="0" lang="en-US" sz="2400" u="none" cap="none" strike="noStrike">
                <a:solidFill>
                  <a:srgbClr val="51565E"/>
                </a:solidFill>
                <a:latin typeface="Times New Roman"/>
                <a:ea typeface="Times New Roman"/>
                <a:cs typeface="Times New Roman"/>
                <a:sym typeface="Times New Roman"/>
              </a:rPr>
              <a:t>disallows</a:t>
            </a:r>
            <a:r>
              <a:rPr b="0" i="0" lang="en-US" sz="2400" u="none" cap="none" strike="noStrike">
                <a:solidFill>
                  <a:srgbClr val="51565E"/>
                </a:solidFill>
                <a:latin typeface="Times New Roman"/>
                <a:ea typeface="Times New Roman"/>
                <a:cs typeface="Times New Roman"/>
                <a:sym typeface="Times New Roman"/>
              </a:rPr>
              <a:t> the multi-valued attribute, composite attribute, and their combinations.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rgbClr val="51565E"/>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Times New Roman"/>
                <a:ea typeface="Times New Roman"/>
                <a:cs typeface="Times New Roman"/>
                <a:sym typeface="Times New Roman"/>
              </a:rPr>
              <a:t>Let’s understand the First Normal Form with the help of an example.</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2"/>
          <p:cNvSpPr txBox="1"/>
          <p:nvPr/>
        </p:nvSpPr>
        <p:spPr>
          <a:xfrm>
            <a:off x="410497" y="1123336"/>
            <a:ext cx="7924800" cy="120032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Times New Roman"/>
                <a:ea typeface="Times New Roman"/>
                <a:cs typeface="Times New Roman"/>
                <a:sym typeface="Times New Roman"/>
              </a:rPr>
              <a:t>Below is a students’ record table that has information about student roll number, student name, student course, and age of the student.</a:t>
            </a:r>
            <a:endParaRPr b="0" i="0" sz="2400" u="none" cap="none" strike="noStrike">
              <a:solidFill>
                <a:srgbClr val="000000"/>
              </a:solidFill>
              <a:latin typeface="Times New Roman"/>
              <a:ea typeface="Times New Roman"/>
              <a:cs typeface="Times New Roman"/>
              <a:sym typeface="Times New Roman"/>
            </a:endParaRPr>
          </a:p>
        </p:txBody>
      </p:sp>
      <p:sp>
        <p:nvSpPr>
          <p:cNvPr id="150" name="Google Shape;150;p12"/>
          <p:cNvSpPr txBox="1"/>
          <p:nvPr/>
        </p:nvSpPr>
        <p:spPr>
          <a:xfrm>
            <a:off x="267929" y="5491316"/>
            <a:ext cx="8534400" cy="83099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Times New Roman"/>
                <a:ea typeface="Times New Roman"/>
                <a:cs typeface="Times New Roman"/>
                <a:sym typeface="Times New Roman"/>
              </a:rPr>
              <a:t>In the students record table, you can see that the course column has two values. Thus it does not follow the First Normal Form. </a:t>
            </a:r>
            <a:endParaRPr b="0" i="0" sz="2400" u="none" cap="none" strike="noStrike">
              <a:solidFill>
                <a:srgbClr val="000000"/>
              </a:solidFill>
              <a:latin typeface="Times New Roman"/>
              <a:ea typeface="Times New Roman"/>
              <a:cs typeface="Times New Roman"/>
              <a:sym typeface="Times New Roman"/>
            </a:endParaRPr>
          </a:p>
        </p:txBody>
      </p:sp>
      <p:pic>
        <p:nvPicPr>
          <p:cNvPr id="151" name="Google Shape;151;p12"/>
          <p:cNvPicPr preferRelativeResize="0"/>
          <p:nvPr/>
        </p:nvPicPr>
        <p:blipFill rotWithShape="1">
          <a:blip r:embed="rId3">
            <a:alphaModFix/>
          </a:blip>
          <a:srcRect b="0" l="0" r="0" t="0"/>
          <a:stretch/>
        </p:blipFill>
        <p:spPr>
          <a:xfrm>
            <a:off x="1209368" y="2323665"/>
            <a:ext cx="5943600" cy="3048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3"/>
          <p:cNvSpPr txBox="1"/>
          <p:nvPr/>
        </p:nvSpPr>
        <p:spPr>
          <a:xfrm>
            <a:off x="533400" y="974438"/>
            <a:ext cx="784860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Times New Roman"/>
                <a:ea typeface="Times New Roman"/>
                <a:cs typeface="Times New Roman"/>
                <a:sym typeface="Times New Roman"/>
              </a:rPr>
              <a:t>Now, if you use the First Normal Form to the previous table, you get the below table as a result.</a:t>
            </a:r>
            <a:endParaRPr b="0" i="0" sz="2400" u="none" cap="none" strike="noStrike">
              <a:solidFill>
                <a:srgbClr val="000000"/>
              </a:solidFill>
              <a:latin typeface="Times New Roman"/>
              <a:ea typeface="Times New Roman"/>
              <a:cs typeface="Times New Roman"/>
              <a:sym typeface="Times New Roman"/>
            </a:endParaRPr>
          </a:p>
        </p:txBody>
      </p:sp>
      <p:pic>
        <p:nvPicPr>
          <p:cNvPr id="157" name="Google Shape;157;p13"/>
          <p:cNvPicPr preferRelativeResize="0"/>
          <p:nvPr/>
        </p:nvPicPr>
        <p:blipFill rotWithShape="1">
          <a:blip r:embed="rId3">
            <a:alphaModFix/>
          </a:blip>
          <a:srcRect b="0" l="0" r="0" t="0"/>
          <a:stretch/>
        </p:blipFill>
        <p:spPr>
          <a:xfrm>
            <a:off x="1364226" y="2048797"/>
            <a:ext cx="5943600" cy="3429000"/>
          </a:xfrm>
          <a:prstGeom prst="rect">
            <a:avLst/>
          </a:prstGeom>
          <a:noFill/>
          <a:ln>
            <a:noFill/>
          </a:ln>
        </p:spPr>
      </p:pic>
      <p:sp>
        <p:nvSpPr>
          <p:cNvPr id="158" name="Google Shape;158;p13"/>
          <p:cNvSpPr txBox="1"/>
          <p:nvPr/>
        </p:nvSpPr>
        <p:spPr>
          <a:xfrm>
            <a:off x="533400" y="5598049"/>
            <a:ext cx="784860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Times New Roman"/>
                <a:ea typeface="Times New Roman"/>
                <a:cs typeface="Times New Roman"/>
                <a:sym typeface="Times New Roman"/>
              </a:rPr>
              <a:t>By applying the First Normal Form, you achieve atomicity, and also every column has unique values.</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4"/>
          <p:cNvSpPr txBox="1"/>
          <p:nvPr/>
        </p:nvSpPr>
        <p:spPr>
          <a:xfrm>
            <a:off x="276532" y="981365"/>
            <a:ext cx="8648700" cy="317009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Times New Roman"/>
                <a:ea typeface="Times New Roman"/>
                <a:cs typeface="Times New Roman"/>
                <a:sym typeface="Times New Roman"/>
              </a:rPr>
              <a:t>Before proceeding with the Second Normal Form, get familiar with Candidate Key and Super Key.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1565E"/>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Times New Roman"/>
                <a:ea typeface="Times New Roman"/>
                <a:cs typeface="Times New Roman"/>
                <a:sym typeface="Times New Roman"/>
              </a:rPr>
              <a:t>Candidate Key</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A candidate key is a set of one or more columns that can identify a record uniquely in a table, and you can use each candidate key as a </a:t>
            </a:r>
            <a:r>
              <a:rPr b="0" i="0" lang="en-US" sz="2400" u="sng" cap="none" strike="noStrike">
                <a:solidFill>
                  <a:srgbClr val="000000"/>
                </a:solidFill>
                <a:latin typeface="Times New Roman"/>
                <a:ea typeface="Times New Roman"/>
                <a:cs typeface="Times New Roman"/>
                <a:sym typeface="Times New Roman"/>
                <a:hlinkClick r:id="rId3">
                  <a:extLst>
                    <a:ext uri="{A12FA001-AC4F-418D-AE19-62706E023703}">
                      <ahyp:hlinkClr val="tx"/>
                    </a:ext>
                  </a:extLst>
                </a:hlinkClick>
              </a:rPr>
              <a:t>Primary Key.</a:t>
            </a:r>
            <a:endParaRPr b="0" i="0" sz="24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Now, let’s use an example to understand this better.</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pic>
        <p:nvPicPr>
          <p:cNvPr descr="normalizationinsql_13." id="164" name="Google Shape;164;p14"/>
          <p:cNvPicPr preferRelativeResize="0"/>
          <p:nvPr/>
        </p:nvPicPr>
        <p:blipFill rotWithShape="1">
          <a:blip r:embed="rId4">
            <a:alphaModFix/>
          </a:blip>
          <a:srcRect b="0" l="0" r="0" t="0"/>
          <a:stretch/>
        </p:blipFill>
        <p:spPr>
          <a:xfrm>
            <a:off x="424016" y="3979298"/>
            <a:ext cx="8090719" cy="270172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5"/>
          <p:cNvSpPr txBox="1"/>
          <p:nvPr/>
        </p:nvSpPr>
        <p:spPr>
          <a:xfrm>
            <a:off x="381000" y="1031630"/>
            <a:ext cx="8686800"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Times New Roman"/>
                <a:ea typeface="Times New Roman"/>
                <a:cs typeface="Times New Roman"/>
                <a:sym typeface="Times New Roman"/>
              </a:rPr>
              <a:t>Super Key</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Times New Roman"/>
                <a:ea typeface="Times New Roman"/>
                <a:cs typeface="Times New Roman"/>
                <a:sym typeface="Times New Roman"/>
              </a:rPr>
              <a:t>Super key is a set of over one key that can identify a record uniquely in a table, and the Primary Key is a subset of Super Key.</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Times New Roman"/>
                <a:ea typeface="Times New Roman"/>
                <a:cs typeface="Times New Roman"/>
                <a:sym typeface="Times New Roman"/>
              </a:rPr>
              <a:t>Let’s understand this with the help of an example.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pic>
        <p:nvPicPr>
          <p:cNvPr id="170" name="Google Shape;170;p15"/>
          <p:cNvPicPr preferRelativeResize="0"/>
          <p:nvPr/>
        </p:nvPicPr>
        <p:blipFill rotWithShape="1">
          <a:blip r:embed="rId3">
            <a:alphaModFix/>
          </a:blip>
          <a:srcRect b="0" l="0" r="0" t="0"/>
          <a:stretch/>
        </p:blipFill>
        <p:spPr>
          <a:xfrm>
            <a:off x="381000" y="2674374"/>
            <a:ext cx="8746354" cy="39158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6"/>
          <p:cNvSpPr txBox="1"/>
          <p:nvPr/>
        </p:nvSpPr>
        <p:spPr>
          <a:xfrm>
            <a:off x="385916" y="1206924"/>
            <a:ext cx="84582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Times New Roman"/>
                <a:ea typeface="Times New Roman"/>
                <a:cs typeface="Times New Roman"/>
                <a:sym typeface="Times New Roman"/>
              </a:rPr>
              <a:t>Second Normal Form (2NF)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Times New Roman"/>
              <a:ea typeface="Times New Roman"/>
              <a:cs typeface="Times New Roman"/>
              <a:sym typeface="Times New Roman"/>
            </a:endParaRPr>
          </a:p>
        </p:txBody>
      </p:sp>
      <p:sp>
        <p:nvSpPr>
          <p:cNvPr id="176" name="Google Shape;176;p16"/>
          <p:cNvSpPr txBox="1"/>
          <p:nvPr/>
        </p:nvSpPr>
        <p:spPr>
          <a:xfrm>
            <a:off x="307258" y="2079523"/>
            <a:ext cx="8458200" cy="230832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In the 2NF, relational must be in 1NF.</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In the second normal form, all non-key attributes are fully functional dependent on the primary key</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rgbClr val="333333"/>
                </a:solidFill>
                <a:latin typeface="Times New Roman"/>
                <a:ea typeface="Times New Roman"/>
                <a:cs typeface="Times New Roman"/>
                <a:sym typeface="Times New Roman"/>
              </a:rPr>
              <a:t>Example:</a:t>
            </a:r>
            <a:r>
              <a:rPr b="0" i="0" lang="en-US" sz="2400" u="none" cap="none" strike="noStrike">
                <a:solidFill>
                  <a:srgbClr val="333333"/>
                </a:solidFill>
                <a:latin typeface="Times New Roman"/>
                <a:ea typeface="Times New Roman"/>
                <a:cs typeface="Times New Roman"/>
                <a:sym typeface="Times New Roman"/>
              </a:rPr>
              <a:t> Let's assume, a school can store the data of teachers and the subjects they teach. In a school, a teacher can teach more than one subject.</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7"/>
          <p:cNvSpPr txBox="1"/>
          <p:nvPr>
            <p:ph idx="1" type="body"/>
          </p:nvPr>
        </p:nvSpPr>
        <p:spPr>
          <a:xfrm>
            <a:off x="760794" y="1173382"/>
            <a:ext cx="78867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b="1" lang="en-US" sz="1600">
                <a:solidFill>
                  <a:srgbClr val="333333"/>
                </a:solidFill>
                <a:latin typeface="Times New Roman"/>
                <a:ea typeface="Times New Roman"/>
                <a:cs typeface="Times New Roman"/>
                <a:sym typeface="Times New Roman"/>
              </a:rPr>
              <a:t>TEACHER table</a:t>
            </a:r>
            <a:endParaRPr sz="16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a:p>
        </p:txBody>
      </p:sp>
      <p:sp>
        <p:nvSpPr>
          <p:cNvPr id="182" name="Google Shape;182;p1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aphicFrame>
        <p:nvGraphicFramePr>
          <p:cNvPr id="183" name="Google Shape;183;p17"/>
          <p:cNvGraphicFramePr/>
          <p:nvPr/>
        </p:nvGraphicFramePr>
        <p:xfrm>
          <a:off x="760794" y="1765259"/>
          <a:ext cx="3000000" cy="3000000"/>
        </p:xfrm>
        <a:graphic>
          <a:graphicData uri="http://schemas.openxmlformats.org/drawingml/2006/table">
            <a:tbl>
              <a:tblPr>
                <a:noFill/>
                <a:tableStyleId>{B9C5381F-F93A-49BA-A224-3A457CFC6CF1}</a:tableStyleId>
              </a:tblPr>
              <a:tblGrid>
                <a:gridCol w="2241950"/>
                <a:gridCol w="2241950"/>
                <a:gridCol w="2241950"/>
              </a:tblGrid>
              <a:tr h="3932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0000"/>
                          </a:solidFill>
                        </a:rPr>
                        <a:t>TEACHER_ID</a:t>
                      </a:r>
                      <a:endParaRPr sz="1400" u="none" cap="none" strike="noStrike">
                        <a:solidFill>
                          <a:srgbClr val="000000"/>
                        </a:solidFill>
                        <a:latin typeface="times new roman"/>
                        <a:ea typeface="times new roman"/>
                        <a:cs typeface="times new roman"/>
                        <a:sym typeface="times new roman"/>
                      </a:endParaRPr>
                    </a:p>
                  </a:txBody>
                  <a:tcPr marT="76200" marB="76200" marR="76200" marL="762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0000"/>
                          </a:solidFill>
                        </a:rPr>
                        <a:t>SUBJECT</a:t>
                      </a:r>
                      <a:endParaRPr sz="1400" u="none" cap="none" strike="noStrike">
                        <a:solidFill>
                          <a:srgbClr val="000000"/>
                        </a:solidFill>
                        <a:latin typeface="times new roman"/>
                        <a:ea typeface="times new roman"/>
                        <a:cs typeface="times new roman"/>
                        <a:sym typeface="times new roman"/>
                      </a:endParaRPr>
                    </a:p>
                  </a:txBody>
                  <a:tcPr marT="76200" marB="76200" marR="76200" marL="762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0000"/>
                          </a:solidFill>
                        </a:rPr>
                        <a:t>TEACHER_AGE</a:t>
                      </a:r>
                      <a:endParaRPr sz="1400" u="none" cap="none" strike="noStrike">
                        <a:solidFill>
                          <a:srgbClr val="000000"/>
                        </a:solidFill>
                        <a:latin typeface="times new roman"/>
                        <a:ea typeface="times new roman"/>
                        <a:cs typeface="times new roman"/>
                        <a:sym typeface="times new roman"/>
                      </a:endParaRPr>
                    </a:p>
                  </a:txBody>
                  <a:tcPr marT="76200" marB="76200" marR="76200" marL="76200"/>
                </a:tc>
              </a:tr>
              <a:tr h="34642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25</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Chemistry</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30</a:t>
                      </a:r>
                      <a:endParaRPr sz="1400" u="none" cap="none" strike="noStrike">
                        <a:solidFill>
                          <a:srgbClr val="333333"/>
                        </a:solidFill>
                        <a:latin typeface="Inter"/>
                        <a:ea typeface="Inter"/>
                        <a:cs typeface="Inter"/>
                        <a:sym typeface="Inter"/>
                      </a:endParaRPr>
                    </a:p>
                  </a:txBody>
                  <a:tcPr marT="50800" marB="50800" marR="50800" marL="50800"/>
                </a:tc>
              </a:tr>
              <a:tr h="34642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25</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Biology</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30</a:t>
                      </a:r>
                      <a:endParaRPr sz="1400" u="none" cap="none" strike="noStrike">
                        <a:solidFill>
                          <a:srgbClr val="333333"/>
                        </a:solidFill>
                        <a:latin typeface="Inter"/>
                        <a:ea typeface="Inter"/>
                        <a:cs typeface="Inter"/>
                        <a:sym typeface="Inter"/>
                      </a:endParaRPr>
                    </a:p>
                  </a:txBody>
                  <a:tcPr marT="50800" marB="50800" marR="50800" marL="50800"/>
                </a:tc>
              </a:tr>
              <a:tr h="34642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47</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English</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35</a:t>
                      </a:r>
                      <a:endParaRPr sz="1400" u="none" cap="none" strike="noStrike">
                        <a:solidFill>
                          <a:srgbClr val="333333"/>
                        </a:solidFill>
                        <a:latin typeface="Inter"/>
                        <a:ea typeface="Inter"/>
                        <a:cs typeface="Inter"/>
                        <a:sym typeface="Inter"/>
                      </a:endParaRPr>
                    </a:p>
                  </a:txBody>
                  <a:tcPr marT="50800" marB="50800" marR="50800" marL="50800"/>
                </a:tc>
              </a:tr>
              <a:tr h="34642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83</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Math</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38</a:t>
                      </a:r>
                      <a:endParaRPr sz="1400" u="none" cap="none" strike="noStrike">
                        <a:solidFill>
                          <a:srgbClr val="333333"/>
                        </a:solidFill>
                        <a:latin typeface="Inter"/>
                        <a:ea typeface="Inter"/>
                        <a:cs typeface="Inter"/>
                        <a:sym typeface="Inter"/>
                      </a:endParaRPr>
                    </a:p>
                  </a:txBody>
                  <a:tcPr marT="50800" marB="50800" marR="50800" marL="50800"/>
                </a:tc>
              </a:tr>
              <a:tr h="34642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83</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Computer</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38</a:t>
                      </a:r>
                      <a:endParaRPr sz="1400" u="none" cap="none" strike="noStrike">
                        <a:solidFill>
                          <a:srgbClr val="333333"/>
                        </a:solidFill>
                        <a:latin typeface="Inter"/>
                        <a:ea typeface="Inter"/>
                        <a:cs typeface="Inter"/>
                        <a:sym typeface="Inter"/>
                      </a:endParaRPr>
                    </a:p>
                  </a:txBody>
                  <a:tcPr marT="50800" marB="50800" marR="50800" marL="50800"/>
                </a:tc>
              </a:tr>
            </a:tbl>
          </a:graphicData>
        </a:graphic>
      </p:graphicFrame>
      <p:sp>
        <p:nvSpPr>
          <p:cNvPr id="184" name="Google Shape;184;p17"/>
          <p:cNvSpPr/>
          <p:nvPr/>
        </p:nvSpPr>
        <p:spPr>
          <a:xfrm>
            <a:off x="457200" y="4177605"/>
            <a:ext cx="7664245" cy="193899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333333"/>
                </a:solidFill>
                <a:latin typeface="Times New Roman"/>
                <a:ea typeface="Times New Roman"/>
                <a:cs typeface="Times New Roman"/>
                <a:sym typeface="Times New Roman"/>
              </a:rPr>
              <a:t>In the given table, non-prime attribute TEACHER_AGE is dependent on TEACHER_ID which is a proper subset of a candidate key. </a:t>
            </a:r>
            <a:r>
              <a:rPr b="1" i="0" lang="en-US" sz="2400" u="none" cap="none" strike="noStrike">
                <a:solidFill>
                  <a:srgbClr val="333333"/>
                </a:solidFill>
                <a:latin typeface="Times New Roman"/>
                <a:ea typeface="Times New Roman"/>
                <a:cs typeface="Times New Roman"/>
                <a:sym typeface="Times New Roman"/>
              </a:rPr>
              <a:t>That's why it violates the rule for 2NF.</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333333"/>
                </a:solidFill>
                <a:latin typeface="Times New Roman"/>
                <a:ea typeface="Times New Roman"/>
                <a:cs typeface="Times New Roman"/>
                <a:sym typeface="Times New Roman"/>
              </a:rPr>
              <a:t>To convert the given table into 2NF, we decompose it into two tables:</a:t>
            </a:r>
            <a:endParaRPr b="0" i="0" sz="2400" u="none" cap="none" strike="noStrike">
              <a:solidFill>
                <a:srgbClr val="333333"/>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8"/>
          <p:cNvSpPr txBox="1"/>
          <p:nvPr/>
        </p:nvSpPr>
        <p:spPr>
          <a:xfrm>
            <a:off x="533400" y="1038156"/>
            <a:ext cx="457200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333333"/>
                </a:solidFill>
                <a:latin typeface="Times New Roman"/>
                <a:ea typeface="Times New Roman"/>
                <a:cs typeface="Times New Roman"/>
                <a:sym typeface="Times New Roman"/>
              </a:rPr>
              <a:t>TEACHER_DETAIL table:</a:t>
            </a:r>
            <a:endParaRPr b="1" i="0" sz="1600" u="none" cap="none" strike="noStrike">
              <a:solidFill>
                <a:srgbClr val="000000"/>
              </a:solidFill>
              <a:latin typeface="Times New Roman"/>
              <a:ea typeface="Times New Roman"/>
              <a:cs typeface="Times New Roman"/>
              <a:sym typeface="Times New Roman"/>
            </a:endParaRPr>
          </a:p>
        </p:txBody>
      </p:sp>
      <p:graphicFrame>
        <p:nvGraphicFramePr>
          <p:cNvPr id="190" name="Google Shape;190;p18"/>
          <p:cNvGraphicFramePr/>
          <p:nvPr/>
        </p:nvGraphicFramePr>
        <p:xfrm>
          <a:off x="1905000" y="1644445"/>
          <a:ext cx="3000000" cy="3000000"/>
        </p:xfrm>
        <a:graphic>
          <a:graphicData uri="http://schemas.openxmlformats.org/drawingml/2006/table">
            <a:tbl>
              <a:tblPr>
                <a:noFill/>
                <a:tableStyleId>{B9C5381F-F93A-49BA-A224-3A457CFC6CF1}</a:tableStyleId>
              </a:tblPr>
              <a:tblGrid>
                <a:gridCol w="2628900"/>
                <a:gridCol w="2628900"/>
              </a:tblGrid>
              <a:tr h="2032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rgbClr val="000000"/>
                          </a:solidFill>
                        </a:rPr>
                        <a:t>TEACHER_ID</a:t>
                      </a:r>
                      <a:endParaRPr sz="1600" u="none" cap="none" strike="noStrike">
                        <a:solidFill>
                          <a:srgbClr val="000000"/>
                        </a:solidFill>
                        <a:latin typeface="times new roman"/>
                        <a:ea typeface="times new roman"/>
                        <a:cs typeface="times new roman"/>
                        <a:sym typeface="times new roman"/>
                      </a:endParaRPr>
                    </a:p>
                  </a:txBody>
                  <a:tcPr marT="76200" marB="76200" marR="76200" marL="76200"/>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rgbClr val="000000"/>
                          </a:solidFill>
                        </a:rPr>
                        <a:t>TEACHER_AGE</a:t>
                      </a:r>
                      <a:endParaRPr sz="1600" u="none" cap="none" strike="noStrike">
                        <a:solidFill>
                          <a:srgbClr val="000000"/>
                        </a:solidFill>
                        <a:latin typeface="times new roman"/>
                        <a:ea typeface="times new roman"/>
                        <a:cs typeface="times new roman"/>
                        <a:sym typeface="times new roman"/>
                      </a:endParaRPr>
                    </a:p>
                  </a:txBody>
                  <a:tcPr marT="76200" marB="76200" marR="76200" marL="76200"/>
                </a:tc>
              </a:tr>
              <a:tr h="2032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rgbClr val="333333"/>
                          </a:solidFill>
                        </a:rPr>
                        <a:t>25</a:t>
                      </a:r>
                      <a:endParaRPr sz="16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rgbClr val="333333"/>
                          </a:solidFill>
                        </a:rPr>
                        <a:t>30</a:t>
                      </a:r>
                      <a:endParaRPr sz="1600" u="none" cap="none" strike="noStrike">
                        <a:solidFill>
                          <a:srgbClr val="333333"/>
                        </a:solidFill>
                        <a:latin typeface="Inter"/>
                        <a:ea typeface="Inter"/>
                        <a:cs typeface="Inter"/>
                        <a:sym typeface="Inter"/>
                      </a:endParaRPr>
                    </a:p>
                  </a:txBody>
                  <a:tcPr marT="50800" marB="50800" marR="50800" marL="50800"/>
                </a:tc>
              </a:tr>
              <a:tr h="2032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rgbClr val="333333"/>
                          </a:solidFill>
                        </a:rPr>
                        <a:t>47</a:t>
                      </a:r>
                      <a:endParaRPr sz="16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rgbClr val="333333"/>
                          </a:solidFill>
                        </a:rPr>
                        <a:t>35</a:t>
                      </a:r>
                      <a:endParaRPr sz="1600" u="none" cap="none" strike="noStrike">
                        <a:solidFill>
                          <a:srgbClr val="333333"/>
                        </a:solidFill>
                        <a:latin typeface="Inter"/>
                        <a:ea typeface="Inter"/>
                        <a:cs typeface="Inter"/>
                        <a:sym typeface="Inter"/>
                      </a:endParaRPr>
                    </a:p>
                  </a:txBody>
                  <a:tcPr marT="50800" marB="50800" marR="50800" marL="50800"/>
                </a:tc>
              </a:tr>
              <a:tr h="2032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rgbClr val="333333"/>
                          </a:solidFill>
                        </a:rPr>
                        <a:t>83</a:t>
                      </a:r>
                      <a:endParaRPr sz="16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rgbClr val="333333"/>
                          </a:solidFill>
                        </a:rPr>
                        <a:t>38</a:t>
                      </a:r>
                      <a:endParaRPr sz="1600" u="none" cap="none" strike="noStrike">
                        <a:solidFill>
                          <a:srgbClr val="333333"/>
                        </a:solidFill>
                        <a:latin typeface="Inter"/>
                        <a:ea typeface="Inter"/>
                        <a:cs typeface="Inter"/>
                        <a:sym typeface="Inter"/>
                      </a:endParaRPr>
                    </a:p>
                  </a:txBody>
                  <a:tcPr marT="50800" marB="50800" marR="50800" marL="50800"/>
                </a:tc>
              </a:tr>
            </a:tbl>
          </a:graphicData>
        </a:graphic>
      </p:graphicFrame>
      <p:sp>
        <p:nvSpPr>
          <p:cNvPr id="191" name="Google Shape;191;p18"/>
          <p:cNvSpPr txBox="1"/>
          <p:nvPr/>
        </p:nvSpPr>
        <p:spPr>
          <a:xfrm>
            <a:off x="533400" y="3429000"/>
            <a:ext cx="457200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333333"/>
                </a:solidFill>
                <a:latin typeface="Times New Roman"/>
                <a:ea typeface="Times New Roman"/>
                <a:cs typeface="Times New Roman"/>
                <a:sym typeface="Times New Roman"/>
              </a:rPr>
              <a:t>TEACHER_SUBJECT table:</a:t>
            </a:r>
            <a:endParaRPr b="0" i="0" sz="1600" u="none" cap="none" strike="noStrike">
              <a:solidFill>
                <a:srgbClr val="000000"/>
              </a:solidFill>
              <a:latin typeface="Times New Roman"/>
              <a:ea typeface="Times New Roman"/>
              <a:cs typeface="Times New Roman"/>
              <a:sym typeface="Times New Roman"/>
            </a:endParaRPr>
          </a:p>
        </p:txBody>
      </p:sp>
      <p:graphicFrame>
        <p:nvGraphicFramePr>
          <p:cNvPr id="192" name="Google Shape;192;p18"/>
          <p:cNvGraphicFramePr/>
          <p:nvPr/>
        </p:nvGraphicFramePr>
        <p:xfrm>
          <a:off x="1905000" y="3941567"/>
          <a:ext cx="3000000" cy="3000000"/>
        </p:xfrm>
        <a:graphic>
          <a:graphicData uri="http://schemas.openxmlformats.org/drawingml/2006/table">
            <a:tbl>
              <a:tblPr>
                <a:noFill/>
                <a:tableStyleId>{B9C5381F-F93A-49BA-A224-3A457CFC6CF1}</a:tableStyleId>
              </a:tblPr>
              <a:tblGrid>
                <a:gridCol w="2628900"/>
                <a:gridCol w="2628900"/>
              </a:tblGrid>
              <a:tr h="42395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rgbClr val="000000"/>
                          </a:solidFill>
                        </a:rPr>
                        <a:t>TEACHER_ID</a:t>
                      </a:r>
                      <a:endParaRPr sz="1600" u="none" cap="none" strike="noStrike">
                        <a:solidFill>
                          <a:srgbClr val="000000"/>
                        </a:solidFill>
                        <a:latin typeface="times new roman"/>
                        <a:ea typeface="times new roman"/>
                        <a:cs typeface="times new roman"/>
                        <a:sym typeface="times new roman"/>
                      </a:endParaRPr>
                    </a:p>
                  </a:txBody>
                  <a:tcPr marT="76200" marB="76200" marR="76200" marL="76200"/>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rgbClr val="000000"/>
                          </a:solidFill>
                        </a:rPr>
                        <a:t>SUBJECT</a:t>
                      </a:r>
                      <a:endParaRPr sz="1600" u="none" cap="none" strike="noStrike">
                        <a:solidFill>
                          <a:srgbClr val="000000"/>
                        </a:solidFill>
                        <a:latin typeface="times new roman"/>
                        <a:ea typeface="times new roman"/>
                        <a:cs typeface="times new roman"/>
                        <a:sym typeface="times new roman"/>
                      </a:endParaRPr>
                    </a:p>
                  </a:txBody>
                  <a:tcPr marT="76200" marB="76200" marR="76200" marL="76200"/>
                </a:tc>
              </a:tr>
              <a:tr h="2032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rgbClr val="333333"/>
                          </a:solidFill>
                        </a:rPr>
                        <a:t>25</a:t>
                      </a:r>
                      <a:endParaRPr sz="16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rgbClr val="333333"/>
                          </a:solidFill>
                        </a:rPr>
                        <a:t>Chemistry</a:t>
                      </a:r>
                      <a:endParaRPr sz="1600" u="none" cap="none" strike="noStrike">
                        <a:solidFill>
                          <a:srgbClr val="333333"/>
                        </a:solidFill>
                        <a:latin typeface="Inter"/>
                        <a:ea typeface="Inter"/>
                        <a:cs typeface="Inter"/>
                        <a:sym typeface="Inter"/>
                      </a:endParaRPr>
                    </a:p>
                  </a:txBody>
                  <a:tcPr marT="50800" marB="50800" marR="50800" marL="50800"/>
                </a:tc>
              </a:tr>
              <a:tr h="2032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rgbClr val="333333"/>
                          </a:solidFill>
                        </a:rPr>
                        <a:t>25</a:t>
                      </a:r>
                      <a:endParaRPr sz="16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rgbClr val="333333"/>
                          </a:solidFill>
                        </a:rPr>
                        <a:t>Biology</a:t>
                      </a:r>
                      <a:endParaRPr sz="1600" u="none" cap="none" strike="noStrike">
                        <a:solidFill>
                          <a:srgbClr val="333333"/>
                        </a:solidFill>
                        <a:latin typeface="Inter"/>
                        <a:ea typeface="Inter"/>
                        <a:cs typeface="Inter"/>
                        <a:sym typeface="Inter"/>
                      </a:endParaRPr>
                    </a:p>
                  </a:txBody>
                  <a:tcPr marT="50800" marB="50800" marR="50800" marL="50800"/>
                </a:tc>
              </a:tr>
              <a:tr h="2032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rgbClr val="333333"/>
                          </a:solidFill>
                        </a:rPr>
                        <a:t>47</a:t>
                      </a:r>
                      <a:endParaRPr sz="16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rgbClr val="333333"/>
                          </a:solidFill>
                        </a:rPr>
                        <a:t>English</a:t>
                      </a:r>
                      <a:endParaRPr sz="1600" u="none" cap="none" strike="noStrike">
                        <a:solidFill>
                          <a:srgbClr val="333333"/>
                        </a:solidFill>
                        <a:latin typeface="Inter"/>
                        <a:ea typeface="Inter"/>
                        <a:cs typeface="Inter"/>
                        <a:sym typeface="Inter"/>
                      </a:endParaRPr>
                    </a:p>
                  </a:txBody>
                  <a:tcPr marT="50800" marB="50800" marR="50800" marL="50800"/>
                </a:tc>
              </a:tr>
              <a:tr h="2032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rgbClr val="333333"/>
                          </a:solidFill>
                        </a:rPr>
                        <a:t>83</a:t>
                      </a:r>
                      <a:endParaRPr sz="16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rgbClr val="333333"/>
                          </a:solidFill>
                        </a:rPr>
                        <a:t>Math</a:t>
                      </a:r>
                      <a:endParaRPr sz="1600" u="none" cap="none" strike="noStrike">
                        <a:solidFill>
                          <a:srgbClr val="333333"/>
                        </a:solidFill>
                        <a:latin typeface="Inter"/>
                        <a:ea typeface="Inter"/>
                        <a:cs typeface="Inter"/>
                        <a:sym typeface="Inter"/>
                      </a:endParaRPr>
                    </a:p>
                  </a:txBody>
                  <a:tcPr marT="50800" marB="50800" marR="50800" marL="50800"/>
                </a:tc>
              </a:tr>
              <a:tr h="2032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rgbClr val="333333"/>
                          </a:solidFill>
                        </a:rPr>
                        <a:t>83</a:t>
                      </a:r>
                      <a:endParaRPr sz="16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rgbClr val="333333"/>
                          </a:solidFill>
                        </a:rPr>
                        <a:t>Computer</a:t>
                      </a:r>
                      <a:endParaRPr sz="1600" u="none" cap="none" strike="noStrike">
                        <a:solidFill>
                          <a:srgbClr val="333333"/>
                        </a:solidFill>
                        <a:latin typeface="Inter"/>
                        <a:ea typeface="Inter"/>
                        <a:cs typeface="Inter"/>
                        <a:sym typeface="Inter"/>
                      </a:endParaRPr>
                    </a:p>
                  </a:txBody>
                  <a:tcPr marT="50800" marB="50800" marR="50800" marL="50800"/>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9"/>
          <p:cNvSpPr txBox="1"/>
          <p:nvPr/>
        </p:nvSpPr>
        <p:spPr>
          <a:xfrm>
            <a:off x="304800" y="1103671"/>
            <a:ext cx="8534400" cy="563231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Times New Roman"/>
                <a:ea typeface="Times New Roman"/>
                <a:cs typeface="Times New Roman"/>
                <a:sym typeface="Times New Roman"/>
              </a:rPr>
              <a:t>Third Normal Form (3NF)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272C37"/>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A relation will be in 3NF if it is in 2NF and not contain any transitive partial dependency.</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3NF is used to reduce the data duplication. It is also used to achieve the data integrity.</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If there is no transitive dependency for non-prime attributes, then the relation must be in third normal form.</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333333"/>
                </a:solidFill>
                <a:latin typeface="Times New Roman"/>
                <a:ea typeface="Times New Roman"/>
                <a:cs typeface="Times New Roman"/>
                <a:sym typeface="Times New Roman"/>
              </a:rPr>
              <a:t>A relation is in third normal form if it holds atleast one of the following conditions for every non-trivial function dependency</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333333"/>
                </a:solidFill>
                <a:latin typeface="Times New Roman"/>
                <a:ea typeface="Times New Roman"/>
                <a:cs typeface="Times New Roman"/>
                <a:sym typeface="Times New Roman"/>
              </a:rPr>
              <a:t> X → Y.</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AutoNum type="arabicPeriod"/>
            </a:pPr>
            <a:r>
              <a:rPr b="0" i="0" lang="en-US" sz="2400" u="none" cap="none" strike="noStrike">
                <a:solidFill>
                  <a:srgbClr val="000000"/>
                </a:solidFill>
                <a:latin typeface="Times New Roman"/>
                <a:ea typeface="Times New Roman"/>
                <a:cs typeface="Times New Roman"/>
                <a:sym typeface="Times New Roman"/>
              </a:rPr>
              <a:t>X is a super key.</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AutoNum type="arabicPeriod"/>
            </a:pPr>
            <a:r>
              <a:rPr b="0" i="0" lang="en-US" sz="2400" u="none" cap="none" strike="noStrike">
                <a:solidFill>
                  <a:srgbClr val="000000"/>
                </a:solidFill>
                <a:latin typeface="Times New Roman"/>
                <a:ea typeface="Times New Roman"/>
                <a:cs typeface="Times New Roman"/>
                <a:sym typeface="Times New Roman"/>
              </a:rPr>
              <a:t>Y is a prime attribute, i.e., each element of Y is part of some candidate key.</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rgbClr val="333333"/>
                </a:solidFill>
                <a:latin typeface="Times New Roman"/>
                <a:ea typeface="Times New Roman"/>
                <a:cs typeface="Times New Roman"/>
                <a:sym typeface="Times New Roman"/>
              </a:rPr>
              <a:t>Example:</a:t>
            </a:r>
            <a:endParaRPr b="0" i="0" sz="2400" u="none" cap="none" strike="noStrike">
              <a:solidFill>
                <a:srgbClr val="333333"/>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1"/>
          <p:cNvSpPr txBox="1"/>
          <p:nvPr/>
        </p:nvSpPr>
        <p:spPr>
          <a:xfrm>
            <a:off x="457199" y="915101"/>
            <a:ext cx="457200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0000"/>
                </a:solidFill>
                <a:latin typeface="Times New Roman"/>
                <a:ea typeface="Times New Roman"/>
                <a:cs typeface="Times New Roman"/>
                <a:sym typeface="Times New Roman"/>
              </a:rPr>
              <a:t>EMPLOYEE_DETAIL table:</a:t>
            </a:r>
            <a:endParaRPr b="0" i="0" sz="1600" u="none" cap="none" strike="noStrike">
              <a:solidFill>
                <a:srgbClr val="FF0000"/>
              </a:solidFill>
              <a:latin typeface="Times New Roman"/>
              <a:ea typeface="Times New Roman"/>
              <a:cs typeface="Times New Roman"/>
              <a:sym typeface="Times New Roman"/>
            </a:endParaRPr>
          </a:p>
        </p:txBody>
      </p:sp>
      <p:graphicFrame>
        <p:nvGraphicFramePr>
          <p:cNvPr id="203" name="Google Shape;203;p21"/>
          <p:cNvGraphicFramePr/>
          <p:nvPr/>
        </p:nvGraphicFramePr>
        <p:xfrm>
          <a:off x="790268" y="1284433"/>
          <a:ext cx="3000000" cy="3000000"/>
        </p:xfrm>
        <a:graphic>
          <a:graphicData uri="http://schemas.openxmlformats.org/drawingml/2006/table">
            <a:tbl>
              <a:tblPr>
                <a:noFill/>
                <a:tableStyleId>{B9C5381F-F93A-49BA-A224-3A457CFC6CF1}</a:tableStyleId>
              </a:tblPr>
              <a:tblGrid>
                <a:gridCol w="1386850"/>
                <a:gridCol w="1386850"/>
                <a:gridCol w="1386850"/>
                <a:gridCol w="1386850"/>
                <a:gridCol w="1386850"/>
              </a:tblGrid>
              <a:tr h="1778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0000"/>
                          </a:solidFill>
                        </a:rPr>
                        <a:t>EMP_ID</a:t>
                      </a:r>
                      <a:endParaRPr sz="1400" u="none" cap="none" strike="noStrike">
                        <a:solidFill>
                          <a:srgbClr val="000000"/>
                        </a:solidFill>
                        <a:latin typeface="times new roman"/>
                        <a:ea typeface="times new roman"/>
                        <a:cs typeface="times new roman"/>
                        <a:sym typeface="times new roman"/>
                      </a:endParaRPr>
                    </a:p>
                  </a:txBody>
                  <a:tcPr marT="76200" marB="76200" marR="76200" marL="762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0000"/>
                          </a:solidFill>
                        </a:rPr>
                        <a:t>EMP_NAME</a:t>
                      </a:r>
                      <a:endParaRPr sz="1400" u="none" cap="none" strike="noStrike">
                        <a:solidFill>
                          <a:srgbClr val="000000"/>
                        </a:solidFill>
                        <a:latin typeface="times new roman"/>
                        <a:ea typeface="times new roman"/>
                        <a:cs typeface="times new roman"/>
                        <a:sym typeface="times new roman"/>
                      </a:endParaRPr>
                    </a:p>
                  </a:txBody>
                  <a:tcPr marT="76200" marB="76200" marR="76200" marL="762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0000"/>
                          </a:solidFill>
                        </a:rPr>
                        <a:t>EMP_ZIP</a:t>
                      </a:r>
                      <a:endParaRPr sz="1400" u="none" cap="none" strike="noStrike">
                        <a:solidFill>
                          <a:srgbClr val="000000"/>
                        </a:solidFill>
                        <a:latin typeface="times new roman"/>
                        <a:ea typeface="times new roman"/>
                        <a:cs typeface="times new roman"/>
                        <a:sym typeface="times new roman"/>
                      </a:endParaRPr>
                    </a:p>
                  </a:txBody>
                  <a:tcPr marT="76200" marB="76200" marR="76200" marL="762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0000"/>
                          </a:solidFill>
                        </a:rPr>
                        <a:t>EMP_STATE</a:t>
                      </a:r>
                      <a:endParaRPr sz="1400" u="none" cap="none" strike="noStrike">
                        <a:solidFill>
                          <a:srgbClr val="000000"/>
                        </a:solidFill>
                        <a:latin typeface="times new roman"/>
                        <a:ea typeface="times new roman"/>
                        <a:cs typeface="times new roman"/>
                        <a:sym typeface="times new roman"/>
                      </a:endParaRPr>
                    </a:p>
                  </a:txBody>
                  <a:tcPr marT="76200" marB="76200" marR="76200" marL="762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0000"/>
                          </a:solidFill>
                        </a:rPr>
                        <a:t>EMP_CITY</a:t>
                      </a:r>
                      <a:endParaRPr sz="1400" u="none" cap="none" strike="noStrike">
                        <a:solidFill>
                          <a:srgbClr val="000000"/>
                        </a:solidFill>
                        <a:latin typeface="times new roman"/>
                        <a:ea typeface="times new roman"/>
                        <a:cs typeface="times new roman"/>
                        <a:sym typeface="times new roman"/>
                      </a:endParaRPr>
                    </a:p>
                  </a:txBody>
                  <a:tcPr marT="76200" marB="76200" marR="76200" marL="76200"/>
                </a:tc>
              </a:tr>
              <a:tr h="1778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222</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Harry</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201010</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UP</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Noida</a:t>
                      </a:r>
                      <a:endParaRPr sz="1400" u="none" cap="none" strike="noStrike">
                        <a:solidFill>
                          <a:srgbClr val="333333"/>
                        </a:solidFill>
                        <a:latin typeface="Inter"/>
                        <a:ea typeface="Inter"/>
                        <a:cs typeface="Inter"/>
                        <a:sym typeface="Inter"/>
                      </a:endParaRPr>
                    </a:p>
                  </a:txBody>
                  <a:tcPr marT="50800" marB="50800" marR="50800" marL="50800"/>
                </a:tc>
              </a:tr>
              <a:tr h="1778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333</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Stephan</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02228</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US</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Boston</a:t>
                      </a:r>
                      <a:endParaRPr sz="1400" u="none" cap="none" strike="noStrike">
                        <a:solidFill>
                          <a:srgbClr val="333333"/>
                        </a:solidFill>
                        <a:latin typeface="Inter"/>
                        <a:ea typeface="Inter"/>
                        <a:cs typeface="Inter"/>
                        <a:sym typeface="Inter"/>
                      </a:endParaRPr>
                    </a:p>
                  </a:txBody>
                  <a:tcPr marT="50800" marB="50800" marR="50800" marL="50800"/>
                </a:tc>
              </a:tr>
              <a:tr h="1778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444</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Lan</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60007</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US</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Chicago</a:t>
                      </a:r>
                      <a:endParaRPr sz="1400" u="none" cap="none" strike="noStrike">
                        <a:solidFill>
                          <a:srgbClr val="333333"/>
                        </a:solidFill>
                        <a:latin typeface="Inter"/>
                        <a:ea typeface="Inter"/>
                        <a:cs typeface="Inter"/>
                        <a:sym typeface="Inter"/>
                      </a:endParaRPr>
                    </a:p>
                  </a:txBody>
                  <a:tcPr marT="50800" marB="50800" marR="50800" marL="50800"/>
                </a:tc>
              </a:tr>
              <a:tr h="1778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555</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Katharine</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06389</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UK</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Norwich</a:t>
                      </a:r>
                      <a:endParaRPr sz="1400" u="none" cap="none" strike="noStrike">
                        <a:solidFill>
                          <a:srgbClr val="333333"/>
                        </a:solidFill>
                        <a:latin typeface="Inter"/>
                        <a:ea typeface="Inter"/>
                        <a:cs typeface="Inter"/>
                        <a:sym typeface="Inter"/>
                      </a:endParaRPr>
                    </a:p>
                  </a:txBody>
                  <a:tcPr marT="50800" marB="50800" marR="50800" marL="50800"/>
                </a:tc>
              </a:tr>
              <a:tr h="1778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666</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John</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462007</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MP</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Bhopal</a:t>
                      </a:r>
                      <a:endParaRPr sz="1400" u="none" cap="none" strike="noStrike">
                        <a:solidFill>
                          <a:srgbClr val="333333"/>
                        </a:solidFill>
                        <a:latin typeface="Inter"/>
                        <a:ea typeface="Inter"/>
                        <a:cs typeface="Inter"/>
                        <a:sym typeface="Inter"/>
                      </a:endParaRPr>
                    </a:p>
                  </a:txBody>
                  <a:tcPr marT="50800" marB="50800" marR="50800" marL="50800"/>
                </a:tc>
              </a:tr>
            </a:tbl>
          </a:graphicData>
        </a:graphic>
      </p:graphicFrame>
      <p:sp>
        <p:nvSpPr>
          <p:cNvPr id="204" name="Google Shape;204;p21"/>
          <p:cNvSpPr txBox="1"/>
          <p:nvPr/>
        </p:nvSpPr>
        <p:spPr>
          <a:xfrm>
            <a:off x="457200" y="3331705"/>
            <a:ext cx="8229600" cy="92333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Times New Roman"/>
                <a:ea typeface="Times New Roman"/>
                <a:cs typeface="Times New Roman"/>
                <a:sym typeface="Times New Roman"/>
              </a:rPr>
              <a:t>Super key in the table above:</a:t>
            </a:r>
            <a:endParaRPr b="0" i="0" sz="1800" u="none" cap="none" strike="noStrike">
              <a:solidFill>
                <a:srgbClr val="FF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Times New Roman"/>
                <a:ea typeface="Times New Roman"/>
                <a:cs typeface="Times New Roman"/>
                <a:sym typeface="Times New Roman"/>
              </a:rPr>
              <a:t>{EMP_ID}, {EMP_ID, EMP_NAME}, {EMP_ID, EMP_NAME, EMP_ZIP}....so on  </a:t>
            </a:r>
            <a:endParaRPr b="0" i="0" sz="1400" u="none" cap="none" strike="noStrike">
              <a:solidFill>
                <a:srgbClr val="000000"/>
              </a:solidFill>
              <a:latin typeface="Arial"/>
              <a:ea typeface="Arial"/>
              <a:cs typeface="Arial"/>
              <a:sym typeface="Arial"/>
            </a:endParaRPr>
          </a:p>
        </p:txBody>
      </p:sp>
      <p:sp>
        <p:nvSpPr>
          <p:cNvPr id="205" name="Google Shape;205;p21"/>
          <p:cNvSpPr txBox="1"/>
          <p:nvPr/>
        </p:nvSpPr>
        <p:spPr>
          <a:xfrm>
            <a:off x="464048" y="4019007"/>
            <a:ext cx="8451351"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Times New Roman"/>
                <a:ea typeface="Times New Roman"/>
                <a:cs typeface="Times New Roman"/>
                <a:sym typeface="Times New Roman"/>
              </a:rPr>
              <a:t>Candidate key:</a:t>
            </a:r>
            <a:r>
              <a:rPr b="0" i="0" lang="en-US" sz="1800" u="none" cap="none" strike="noStrike">
                <a:solidFill>
                  <a:srgbClr val="333333"/>
                </a:solidFill>
                <a:latin typeface="Times New Roman"/>
                <a:ea typeface="Times New Roman"/>
                <a:cs typeface="Times New Roman"/>
                <a:sym typeface="Times New Roman"/>
              </a:rPr>
              <a:t> {EMP_ID}</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Times New Roman"/>
                <a:ea typeface="Times New Roman"/>
                <a:cs typeface="Times New Roman"/>
                <a:sym typeface="Times New Roman"/>
              </a:rPr>
              <a:t>Non-prime attributes:</a:t>
            </a:r>
            <a:r>
              <a:rPr b="0" i="0" lang="en-US" sz="1800" u="none" cap="none" strike="noStrike">
                <a:solidFill>
                  <a:srgbClr val="333333"/>
                </a:solidFill>
                <a:latin typeface="Times New Roman"/>
                <a:ea typeface="Times New Roman"/>
                <a:cs typeface="Times New Roman"/>
                <a:sym typeface="Times New Roman"/>
              </a:rPr>
              <a:t> In the given table, all attributes except EMP_ID are non-prime</a:t>
            </a:r>
            <a:r>
              <a:rPr b="0" i="0" lang="en-US" sz="1400" u="none" cap="none" strike="noStrike">
                <a:solidFill>
                  <a:srgbClr val="333333"/>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206" name="Google Shape;206;p21"/>
          <p:cNvSpPr txBox="1"/>
          <p:nvPr/>
        </p:nvSpPr>
        <p:spPr>
          <a:xfrm>
            <a:off x="464048" y="4878763"/>
            <a:ext cx="8298952" cy="92333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rgbClr val="333333"/>
                </a:solidFill>
                <a:latin typeface="Times New Roman"/>
                <a:ea typeface="Times New Roman"/>
                <a:cs typeface="Times New Roman"/>
                <a:sym typeface="Times New Roman"/>
              </a:rPr>
              <a:t>Here, EMP_STATE &amp; EMP_CITY dependent on EMP_ZIP and EMP_ZIP dependent on EMP_ID. The non-prime attributes (EMP_STATE, EMP_CITY) transitively dependent on super key(EMP_ID). It violates the rule of third normal form.</a:t>
            </a:r>
            <a:endParaRPr b="0" i="0" sz="1800" u="none" cap="none" strike="noStrike">
              <a:solidFill>
                <a:srgbClr val="000000"/>
              </a:solidFill>
              <a:latin typeface="Times New Roman"/>
              <a:ea typeface="Times New Roman"/>
              <a:cs typeface="Times New Roman"/>
              <a:sym typeface="Times New Roman"/>
            </a:endParaRPr>
          </a:p>
        </p:txBody>
      </p:sp>
      <p:sp>
        <p:nvSpPr>
          <p:cNvPr id="207" name="Google Shape;207;p21"/>
          <p:cNvSpPr txBox="1"/>
          <p:nvPr/>
        </p:nvSpPr>
        <p:spPr>
          <a:xfrm>
            <a:off x="457199" y="5794387"/>
            <a:ext cx="8451351"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rgbClr val="333333"/>
                </a:solidFill>
                <a:latin typeface="Times New Roman"/>
                <a:ea typeface="Times New Roman"/>
                <a:cs typeface="Times New Roman"/>
                <a:sym typeface="Times New Roman"/>
              </a:rPr>
              <a:t>That's why we need to move the EMP_CITY and EMP_STATE to the new &lt;EMPLOYEE_ZIP&gt; table, with EMP_ZIP as a Primary key.</a:t>
            </a:r>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2"/>
          <p:cNvSpPr txBox="1"/>
          <p:nvPr/>
        </p:nvSpPr>
        <p:spPr>
          <a:xfrm>
            <a:off x="533400" y="977290"/>
            <a:ext cx="45720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Inter"/>
                <a:ea typeface="Inter"/>
                <a:cs typeface="Inter"/>
                <a:sym typeface="Inter"/>
              </a:rPr>
              <a:t>EMPLOYEE table:</a:t>
            </a:r>
            <a:endParaRPr b="0" i="0" sz="1400" u="none" cap="none" strike="noStrike">
              <a:solidFill>
                <a:srgbClr val="FF0000"/>
              </a:solidFill>
              <a:latin typeface="Arial"/>
              <a:ea typeface="Arial"/>
              <a:cs typeface="Arial"/>
              <a:sym typeface="Arial"/>
            </a:endParaRPr>
          </a:p>
        </p:txBody>
      </p:sp>
      <p:graphicFrame>
        <p:nvGraphicFramePr>
          <p:cNvPr id="213" name="Google Shape;213;p22"/>
          <p:cNvGraphicFramePr/>
          <p:nvPr/>
        </p:nvGraphicFramePr>
        <p:xfrm>
          <a:off x="952500" y="1407761"/>
          <a:ext cx="3000000" cy="3000000"/>
        </p:xfrm>
        <a:graphic>
          <a:graphicData uri="http://schemas.openxmlformats.org/drawingml/2006/table">
            <a:tbl>
              <a:tblPr>
                <a:noFill/>
                <a:tableStyleId>{B9C5381F-F93A-49BA-A224-3A457CFC6CF1}</a:tableStyleId>
              </a:tblPr>
              <a:tblGrid>
                <a:gridCol w="2157275"/>
                <a:gridCol w="2157275"/>
                <a:gridCol w="2157275"/>
              </a:tblGrid>
              <a:tr h="1778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0000"/>
                          </a:solidFill>
                        </a:rPr>
                        <a:t>EMP_ID</a:t>
                      </a:r>
                      <a:endParaRPr sz="1400" u="none" cap="none" strike="noStrike">
                        <a:solidFill>
                          <a:srgbClr val="000000"/>
                        </a:solidFill>
                        <a:latin typeface="times new roman"/>
                        <a:ea typeface="times new roman"/>
                        <a:cs typeface="times new roman"/>
                        <a:sym typeface="times new roman"/>
                      </a:endParaRPr>
                    </a:p>
                  </a:txBody>
                  <a:tcPr marT="76200" marB="76200" marR="76200" marL="762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0000"/>
                          </a:solidFill>
                        </a:rPr>
                        <a:t>EMP_NAME</a:t>
                      </a:r>
                      <a:endParaRPr sz="1400" u="none" cap="none" strike="noStrike">
                        <a:solidFill>
                          <a:srgbClr val="000000"/>
                        </a:solidFill>
                        <a:latin typeface="times new roman"/>
                        <a:ea typeface="times new roman"/>
                        <a:cs typeface="times new roman"/>
                        <a:sym typeface="times new roman"/>
                      </a:endParaRPr>
                    </a:p>
                  </a:txBody>
                  <a:tcPr marT="76200" marB="76200" marR="76200" marL="762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0000"/>
                          </a:solidFill>
                        </a:rPr>
                        <a:t>EMP_ZIP</a:t>
                      </a:r>
                      <a:endParaRPr sz="1400" u="none" cap="none" strike="noStrike">
                        <a:solidFill>
                          <a:srgbClr val="000000"/>
                        </a:solidFill>
                        <a:latin typeface="times new roman"/>
                        <a:ea typeface="times new roman"/>
                        <a:cs typeface="times new roman"/>
                        <a:sym typeface="times new roman"/>
                      </a:endParaRPr>
                    </a:p>
                  </a:txBody>
                  <a:tcPr marT="76200" marB="76200" marR="76200" marL="76200"/>
                </a:tc>
              </a:tr>
              <a:tr h="1778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222</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Harry</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201010</a:t>
                      </a:r>
                      <a:endParaRPr sz="1400" u="none" cap="none" strike="noStrike">
                        <a:solidFill>
                          <a:srgbClr val="333333"/>
                        </a:solidFill>
                        <a:latin typeface="Inter"/>
                        <a:ea typeface="Inter"/>
                        <a:cs typeface="Inter"/>
                        <a:sym typeface="Inter"/>
                      </a:endParaRPr>
                    </a:p>
                  </a:txBody>
                  <a:tcPr marT="50800" marB="50800" marR="50800" marL="50800"/>
                </a:tc>
              </a:tr>
              <a:tr h="1778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333</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Stephan</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02228</a:t>
                      </a:r>
                      <a:endParaRPr sz="1400" u="none" cap="none" strike="noStrike">
                        <a:solidFill>
                          <a:srgbClr val="333333"/>
                        </a:solidFill>
                        <a:latin typeface="Inter"/>
                        <a:ea typeface="Inter"/>
                        <a:cs typeface="Inter"/>
                        <a:sym typeface="Inter"/>
                      </a:endParaRPr>
                    </a:p>
                  </a:txBody>
                  <a:tcPr marT="50800" marB="50800" marR="50800" marL="50800"/>
                </a:tc>
              </a:tr>
              <a:tr h="1778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444</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Lan</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60007</a:t>
                      </a:r>
                      <a:endParaRPr sz="1400" u="none" cap="none" strike="noStrike">
                        <a:solidFill>
                          <a:srgbClr val="333333"/>
                        </a:solidFill>
                        <a:latin typeface="Inter"/>
                        <a:ea typeface="Inter"/>
                        <a:cs typeface="Inter"/>
                        <a:sym typeface="Inter"/>
                      </a:endParaRPr>
                    </a:p>
                  </a:txBody>
                  <a:tcPr marT="50800" marB="50800" marR="50800" marL="50800"/>
                </a:tc>
              </a:tr>
              <a:tr h="1778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555</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Katharine</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06389</a:t>
                      </a:r>
                      <a:endParaRPr sz="1400" u="none" cap="none" strike="noStrike">
                        <a:solidFill>
                          <a:srgbClr val="333333"/>
                        </a:solidFill>
                        <a:latin typeface="Inter"/>
                        <a:ea typeface="Inter"/>
                        <a:cs typeface="Inter"/>
                        <a:sym typeface="Inter"/>
                      </a:endParaRPr>
                    </a:p>
                  </a:txBody>
                  <a:tcPr marT="50800" marB="50800" marR="50800" marL="50800"/>
                </a:tc>
              </a:tr>
              <a:tr h="1778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666</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John</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462007</a:t>
                      </a:r>
                      <a:endParaRPr sz="1400" u="none" cap="none" strike="noStrike">
                        <a:solidFill>
                          <a:srgbClr val="333333"/>
                        </a:solidFill>
                        <a:latin typeface="Inter"/>
                        <a:ea typeface="Inter"/>
                        <a:cs typeface="Inter"/>
                        <a:sym typeface="Inter"/>
                      </a:endParaRPr>
                    </a:p>
                  </a:txBody>
                  <a:tcPr marT="50800" marB="50800" marR="50800" marL="50800"/>
                </a:tc>
              </a:tr>
            </a:tbl>
          </a:graphicData>
        </a:graphic>
      </p:graphicFrame>
      <p:sp>
        <p:nvSpPr>
          <p:cNvPr id="214" name="Google Shape;214;p22"/>
          <p:cNvSpPr txBox="1"/>
          <p:nvPr/>
        </p:nvSpPr>
        <p:spPr>
          <a:xfrm>
            <a:off x="533400" y="3745836"/>
            <a:ext cx="45720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Inter"/>
                <a:ea typeface="Inter"/>
                <a:cs typeface="Inter"/>
                <a:sym typeface="Inter"/>
              </a:rPr>
              <a:t>EMPLOYEE_ZIP table:</a:t>
            </a:r>
            <a:endParaRPr b="0" i="0" sz="1400" u="none" cap="none" strike="noStrike">
              <a:solidFill>
                <a:srgbClr val="FF0000"/>
              </a:solidFill>
              <a:latin typeface="Arial"/>
              <a:ea typeface="Arial"/>
              <a:cs typeface="Arial"/>
              <a:sym typeface="Arial"/>
            </a:endParaRPr>
          </a:p>
        </p:txBody>
      </p:sp>
      <p:graphicFrame>
        <p:nvGraphicFramePr>
          <p:cNvPr id="215" name="Google Shape;215;p22"/>
          <p:cNvGraphicFramePr/>
          <p:nvPr/>
        </p:nvGraphicFramePr>
        <p:xfrm>
          <a:off x="1028700" y="4360973"/>
          <a:ext cx="3000000" cy="3000000"/>
        </p:xfrm>
        <a:graphic>
          <a:graphicData uri="http://schemas.openxmlformats.org/drawingml/2006/table">
            <a:tbl>
              <a:tblPr>
                <a:noFill/>
                <a:tableStyleId>{B9C5381F-F93A-49BA-A224-3A457CFC6CF1}</a:tableStyleId>
              </a:tblPr>
              <a:tblGrid>
                <a:gridCol w="2131875"/>
                <a:gridCol w="2131875"/>
                <a:gridCol w="2131875"/>
              </a:tblGrid>
              <a:tr h="1778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0000"/>
                          </a:solidFill>
                        </a:rPr>
                        <a:t>EMP_ZIP</a:t>
                      </a:r>
                      <a:endParaRPr sz="1400" u="none" cap="none" strike="noStrike">
                        <a:solidFill>
                          <a:srgbClr val="000000"/>
                        </a:solidFill>
                        <a:latin typeface="times new roman"/>
                        <a:ea typeface="times new roman"/>
                        <a:cs typeface="times new roman"/>
                        <a:sym typeface="times new roman"/>
                      </a:endParaRPr>
                    </a:p>
                  </a:txBody>
                  <a:tcPr marT="76200" marB="76200" marR="76200" marL="762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0000"/>
                          </a:solidFill>
                        </a:rPr>
                        <a:t>EMP_STATE</a:t>
                      </a:r>
                      <a:endParaRPr sz="1400" u="none" cap="none" strike="noStrike">
                        <a:solidFill>
                          <a:srgbClr val="000000"/>
                        </a:solidFill>
                        <a:latin typeface="times new roman"/>
                        <a:ea typeface="times new roman"/>
                        <a:cs typeface="times new roman"/>
                        <a:sym typeface="times new roman"/>
                      </a:endParaRPr>
                    </a:p>
                  </a:txBody>
                  <a:tcPr marT="76200" marB="76200" marR="76200" marL="762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0000"/>
                          </a:solidFill>
                        </a:rPr>
                        <a:t>EMP_CITY</a:t>
                      </a:r>
                      <a:endParaRPr sz="1400" u="none" cap="none" strike="noStrike">
                        <a:solidFill>
                          <a:srgbClr val="000000"/>
                        </a:solidFill>
                        <a:latin typeface="times new roman"/>
                        <a:ea typeface="times new roman"/>
                        <a:cs typeface="times new roman"/>
                        <a:sym typeface="times new roman"/>
                      </a:endParaRPr>
                    </a:p>
                  </a:txBody>
                  <a:tcPr marT="76200" marB="76200" marR="76200" marL="76200"/>
                </a:tc>
              </a:tr>
              <a:tr h="1778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201010</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UP</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Noida</a:t>
                      </a:r>
                      <a:endParaRPr sz="1400" u="none" cap="none" strike="noStrike">
                        <a:solidFill>
                          <a:srgbClr val="333333"/>
                        </a:solidFill>
                        <a:latin typeface="Inter"/>
                        <a:ea typeface="Inter"/>
                        <a:cs typeface="Inter"/>
                        <a:sym typeface="Inter"/>
                      </a:endParaRPr>
                    </a:p>
                  </a:txBody>
                  <a:tcPr marT="50800" marB="50800" marR="50800" marL="50800"/>
                </a:tc>
              </a:tr>
              <a:tr h="1778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02228</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US</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Boston</a:t>
                      </a:r>
                      <a:endParaRPr sz="1400" u="none" cap="none" strike="noStrike">
                        <a:solidFill>
                          <a:srgbClr val="333333"/>
                        </a:solidFill>
                        <a:latin typeface="Inter"/>
                        <a:ea typeface="Inter"/>
                        <a:cs typeface="Inter"/>
                        <a:sym typeface="Inter"/>
                      </a:endParaRPr>
                    </a:p>
                  </a:txBody>
                  <a:tcPr marT="50800" marB="50800" marR="50800" marL="50800"/>
                </a:tc>
              </a:tr>
              <a:tr h="1778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60007</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US</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Chicago</a:t>
                      </a:r>
                      <a:endParaRPr sz="1400" u="none" cap="none" strike="noStrike">
                        <a:solidFill>
                          <a:srgbClr val="333333"/>
                        </a:solidFill>
                        <a:latin typeface="Inter"/>
                        <a:ea typeface="Inter"/>
                        <a:cs typeface="Inter"/>
                        <a:sym typeface="Inter"/>
                      </a:endParaRPr>
                    </a:p>
                  </a:txBody>
                  <a:tcPr marT="50800" marB="50800" marR="50800" marL="50800"/>
                </a:tc>
              </a:tr>
              <a:tr h="1778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06389</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UK</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Norwich</a:t>
                      </a:r>
                      <a:endParaRPr sz="1400" u="none" cap="none" strike="noStrike">
                        <a:solidFill>
                          <a:srgbClr val="333333"/>
                        </a:solidFill>
                        <a:latin typeface="Inter"/>
                        <a:ea typeface="Inter"/>
                        <a:cs typeface="Inter"/>
                        <a:sym typeface="Inter"/>
                      </a:endParaRPr>
                    </a:p>
                  </a:txBody>
                  <a:tcPr marT="50800" marB="50800" marR="50800" marL="50800"/>
                </a:tc>
              </a:tr>
              <a:tr h="1778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462007</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MP</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Bhopal</a:t>
                      </a:r>
                      <a:endParaRPr sz="1400" u="none" cap="none" strike="noStrike">
                        <a:solidFill>
                          <a:srgbClr val="333333"/>
                        </a:solidFill>
                        <a:latin typeface="Inter"/>
                        <a:ea typeface="Inter"/>
                        <a:cs typeface="Inter"/>
                        <a:sym typeface="Inter"/>
                      </a:endParaRPr>
                    </a:p>
                  </a:txBody>
                  <a:tcPr marT="50800" marB="50800" marR="50800" marL="50800"/>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3"/>
          <p:cNvSpPr txBox="1"/>
          <p:nvPr/>
        </p:nvSpPr>
        <p:spPr>
          <a:xfrm>
            <a:off x="294969" y="841109"/>
            <a:ext cx="75438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Times New Roman"/>
                <a:ea typeface="Times New Roman"/>
                <a:cs typeface="Times New Roman"/>
                <a:sym typeface="Times New Roman"/>
              </a:rPr>
              <a:t>Boyce Codd Normal Form (BCNF)</a:t>
            </a:r>
            <a:endParaRPr b="0" i="0" sz="1400" u="none" cap="none" strike="noStrike">
              <a:solidFill>
                <a:srgbClr val="000000"/>
              </a:solidFill>
              <a:latin typeface="Arial"/>
              <a:ea typeface="Arial"/>
              <a:cs typeface="Arial"/>
              <a:sym typeface="Arial"/>
            </a:endParaRPr>
          </a:p>
        </p:txBody>
      </p:sp>
      <p:sp>
        <p:nvSpPr>
          <p:cNvPr id="221" name="Google Shape;221;p23"/>
          <p:cNvSpPr txBox="1"/>
          <p:nvPr/>
        </p:nvSpPr>
        <p:spPr>
          <a:xfrm>
            <a:off x="294969" y="1302774"/>
            <a:ext cx="8153400" cy="526297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Times New Roman"/>
                <a:ea typeface="Times New Roman"/>
                <a:cs typeface="Times New Roman"/>
                <a:sym typeface="Times New Roman"/>
              </a:rPr>
              <a:t>Boyce Codd Normal Form is also known as 3.5 NF. It is the superior version of 3NF and was developed by Raymond F. Boyce and Edgar F. Codd to tackle certain types of anomalies which were not resolved with 3NF.</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rgbClr val="51565E"/>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Times New Roman"/>
                <a:ea typeface="Times New Roman"/>
                <a:cs typeface="Times New Roman"/>
                <a:sym typeface="Times New Roman"/>
              </a:rPr>
              <a:t>The first condition for the table to be in Boyce Codd Normal Form is that the table should be in the third normal form. Secondly, every Right-Hand Side (RHS) attribute of the functional dependencies should depend on the super key of that particular table.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Times New Roman"/>
                <a:ea typeface="Times New Roman"/>
                <a:cs typeface="Times New Roman"/>
                <a:sym typeface="Times New Roman"/>
              </a:rPr>
              <a:t>For example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Times New Roman"/>
                <a:ea typeface="Times New Roman"/>
                <a:cs typeface="Times New Roman"/>
                <a:sym typeface="Times New Roman"/>
              </a:rPr>
              <a:t>You have a functional dependency X → Y. In the particular functional dependency, X has to be the part of the super key of the provided table.</a:t>
            </a:r>
            <a:endParaRPr b="0" i="0" sz="2400" u="none" cap="none" strike="noStrike">
              <a:solidFill>
                <a:srgbClr val="51565E"/>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4"/>
          <p:cNvSpPr txBox="1"/>
          <p:nvPr/>
        </p:nvSpPr>
        <p:spPr>
          <a:xfrm>
            <a:off x="227371" y="1865670"/>
            <a:ext cx="8610600" cy="5078313"/>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Times New Roman"/>
                <a:ea typeface="Times New Roman"/>
                <a:cs typeface="Times New Roman"/>
                <a:sym typeface="Times New Roman"/>
              </a:rPr>
              <a:t>The subject table follows these </a:t>
            </a:r>
            <a:endParaRPr b="0" i="0" sz="2400" u="none" cap="none" strike="noStrike">
              <a:solidFill>
                <a:srgbClr val="51565E"/>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Times New Roman"/>
                <a:ea typeface="Times New Roman"/>
                <a:cs typeface="Times New Roman"/>
                <a:sym typeface="Times New Roman"/>
              </a:rPr>
              <a:t>conditions: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51565E"/>
                </a:solidFill>
                <a:latin typeface="Times New Roman"/>
                <a:ea typeface="Times New Roman"/>
                <a:cs typeface="Times New Roman"/>
                <a:sym typeface="Times New Roman"/>
              </a:rPr>
              <a:t>Each student can enroll in multiple subjects.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51565E"/>
                </a:solidFill>
                <a:latin typeface="Times New Roman"/>
                <a:ea typeface="Times New Roman"/>
                <a:cs typeface="Times New Roman"/>
                <a:sym typeface="Times New Roman"/>
              </a:rPr>
              <a:t>Multiple professors can teach a particular subject.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51565E"/>
                </a:solidFill>
                <a:latin typeface="Times New Roman"/>
                <a:ea typeface="Times New Roman"/>
                <a:cs typeface="Times New Roman"/>
                <a:sym typeface="Times New Roman"/>
              </a:rPr>
              <a:t>For each subject, it assigns a professor to the student.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rgbClr val="51565E"/>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Times New Roman"/>
                <a:ea typeface="Times New Roman"/>
                <a:cs typeface="Times New Roman"/>
                <a:sym typeface="Times New Roman"/>
              </a:rPr>
              <a:t>In the above table, student_id and subject together form the primary key because using student_id and subject; you can determine all the table columns.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Times New Roman"/>
                <a:ea typeface="Times New Roman"/>
                <a:cs typeface="Times New Roman"/>
                <a:sym typeface="Times New Roman"/>
              </a:rPr>
              <a:t>Another important point to be noted here is that one professor teaches only one subject, but one subject may have two professors.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Times New Roman"/>
                <a:ea typeface="Times New Roman"/>
                <a:cs typeface="Times New Roman"/>
                <a:sym typeface="Times New Roman"/>
              </a:rPr>
              <a:t>Which exhibit there is a dependency between subject and professor, i.e. subject depends on the professor's name.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pic>
        <p:nvPicPr>
          <p:cNvPr id="227" name="Google Shape;227;p24"/>
          <p:cNvPicPr preferRelativeResize="0"/>
          <p:nvPr/>
        </p:nvPicPr>
        <p:blipFill rotWithShape="1">
          <a:blip r:embed="rId3">
            <a:alphaModFix/>
          </a:blip>
          <a:srcRect b="0" l="0" r="0" t="0"/>
          <a:stretch/>
        </p:blipFill>
        <p:spPr>
          <a:xfrm>
            <a:off x="4733003" y="1210370"/>
            <a:ext cx="4322279" cy="1464003"/>
          </a:xfrm>
          <a:prstGeom prst="rect">
            <a:avLst/>
          </a:prstGeom>
          <a:noFill/>
          <a:ln>
            <a:noFill/>
          </a:ln>
        </p:spPr>
      </p:pic>
      <p:sp>
        <p:nvSpPr>
          <p:cNvPr id="228" name="Google Shape;228;p24"/>
          <p:cNvSpPr/>
          <p:nvPr/>
        </p:nvSpPr>
        <p:spPr>
          <a:xfrm>
            <a:off x="603274" y="1180371"/>
            <a:ext cx="3530134" cy="46166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Times New Roman"/>
                <a:ea typeface="Times New Roman"/>
                <a:cs typeface="Times New Roman"/>
                <a:sym typeface="Times New Roman"/>
              </a:rPr>
              <a:t>Consider the subject table:</a:t>
            </a:r>
            <a:endParaRPr b="0" i="0" sz="2400" u="none" cap="none" strike="noStrike">
              <a:solidFill>
                <a:srgbClr val="51565E"/>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5"/>
          <p:cNvSpPr txBox="1"/>
          <p:nvPr/>
        </p:nvSpPr>
        <p:spPr>
          <a:xfrm>
            <a:off x="276532" y="1740310"/>
            <a:ext cx="8610600" cy="415498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Times New Roman"/>
                <a:ea typeface="Times New Roman"/>
                <a:cs typeface="Times New Roman"/>
                <a:sym typeface="Times New Roman"/>
              </a:rPr>
              <a:t>This table follows all the Normal forms except the </a:t>
            </a:r>
            <a:r>
              <a:rPr b="1" i="0" lang="en-US" sz="2400" u="none" cap="none" strike="noStrike">
                <a:solidFill>
                  <a:srgbClr val="FF0000"/>
                </a:solidFill>
                <a:latin typeface="Times New Roman"/>
                <a:ea typeface="Times New Roman"/>
                <a:cs typeface="Times New Roman"/>
                <a:sym typeface="Times New Roman"/>
              </a:rPr>
              <a:t>Boyce Codd Normal Form.</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Times New Roman"/>
                <a:ea typeface="Times New Roman"/>
                <a:cs typeface="Times New Roman"/>
                <a:sym typeface="Times New Roman"/>
              </a:rPr>
              <a:t>As you can see stuid, and subject forms the primary key, which means the subject attribute is a prime attribute.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Times New Roman"/>
                <a:ea typeface="Times New Roman"/>
                <a:cs typeface="Times New Roman"/>
                <a:sym typeface="Times New Roman"/>
              </a:rPr>
              <a:t>However, there exists yet another dependency - professor → subject.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Times New Roman"/>
                <a:ea typeface="Times New Roman"/>
                <a:cs typeface="Times New Roman"/>
                <a:sym typeface="Times New Roman"/>
              </a:rPr>
              <a:t>BCNF does not follow in the table as a subject is a prime attribute, the professor is a non-prime attribute.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Libre Baskerville"/>
                <a:ea typeface="Libre Baskerville"/>
                <a:cs typeface="Libre Baskerville"/>
                <a:sym typeface="Libre Baskerville"/>
              </a:rPr>
              <a:t>.</a:t>
            </a:r>
            <a:endParaRPr b="0" i="0" sz="2400" u="none" cap="none" strike="noStrike">
              <a:solidFill>
                <a:srgbClr val="000000"/>
              </a:solidFill>
              <a:latin typeface="Libre Baskerville"/>
              <a:ea typeface="Libre Baskerville"/>
              <a:cs typeface="Libre Baskerville"/>
              <a:sym typeface="Libre Baskerville"/>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rgbClr val="51565E"/>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None/>
            </a:pPr>
            <a:br>
              <a:rPr b="0" i="0" lang="en-US" sz="2400" u="none" cap="none" strike="noStrike">
                <a:solidFill>
                  <a:srgbClr val="000000"/>
                </a:solidFill>
                <a:latin typeface="Times New Roman"/>
                <a:ea typeface="Times New Roman"/>
                <a:cs typeface="Times New Roman"/>
                <a:sym typeface="Times New Roman"/>
              </a:rPr>
            </a:b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descr="normalizationinsql_11" id="238" name="Google Shape;238;p26"/>
          <p:cNvPicPr preferRelativeResize="0"/>
          <p:nvPr/>
        </p:nvPicPr>
        <p:blipFill rotWithShape="1">
          <a:blip r:embed="rId3">
            <a:alphaModFix/>
          </a:blip>
          <a:srcRect b="0" l="0" r="0" t="0"/>
          <a:stretch/>
        </p:blipFill>
        <p:spPr>
          <a:xfrm>
            <a:off x="86032" y="4166798"/>
            <a:ext cx="4343400" cy="2093892"/>
          </a:xfrm>
          <a:prstGeom prst="rect">
            <a:avLst/>
          </a:prstGeom>
          <a:noFill/>
          <a:ln>
            <a:noFill/>
          </a:ln>
        </p:spPr>
      </p:pic>
      <p:pic>
        <p:nvPicPr>
          <p:cNvPr descr="normalizationinsql_12." id="239" name="Google Shape;239;p26"/>
          <p:cNvPicPr preferRelativeResize="0"/>
          <p:nvPr/>
        </p:nvPicPr>
        <p:blipFill rotWithShape="1">
          <a:blip r:embed="rId4">
            <a:alphaModFix/>
          </a:blip>
          <a:srcRect b="0" l="0" r="0" t="0"/>
          <a:stretch/>
        </p:blipFill>
        <p:spPr>
          <a:xfrm>
            <a:off x="4522838" y="4166798"/>
            <a:ext cx="4468761" cy="2093892"/>
          </a:xfrm>
          <a:prstGeom prst="rect">
            <a:avLst/>
          </a:prstGeom>
          <a:noFill/>
          <a:ln>
            <a:noFill/>
          </a:ln>
        </p:spPr>
      </p:pic>
      <p:sp>
        <p:nvSpPr>
          <p:cNvPr id="240" name="Google Shape;240;p26"/>
          <p:cNvSpPr/>
          <p:nvPr/>
        </p:nvSpPr>
        <p:spPr>
          <a:xfrm>
            <a:off x="540775" y="1733180"/>
            <a:ext cx="8121444"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51565E"/>
                </a:solidFill>
                <a:latin typeface="Times New Roman"/>
                <a:ea typeface="Times New Roman"/>
                <a:cs typeface="Times New Roman"/>
                <a:sym typeface="Times New Roman"/>
              </a:rPr>
              <a:t>To transform the table into the BCNF, you will </a:t>
            </a:r>
            <a:r>
              <a:rPr b="1" i="0" lang="en-US" sz="2400" u="none" cap="none" strike="noStrike">
                <a:solidFill>
                  <a:srgbClr val="51565E"/>
                </a:solidFill>
                <a:latin typeface="Times New Roman"/>
                <a:ea typeface="Times New Roman"/>
                <a:cs typeface="Times New Roman"/>
                <a:sym typeface="Times New Roman"/>
              </a:rPr>
              <a:t>divide the table into two parts.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51565E"/>
                </a:solidFill>
                <a:latin typeface="Times New Roman"/>
                <a:ea typeface="Times New Roman"/>
                <a:cs typeface="Times New Roman"/>
                <a:sym typeface="Times New Roman"/>
              </a:rPr>
              <a:t> </a:t>
            </a:r>
            <a:r>
              <a:rPr b="0" i="0" lang="en-US" sz="2400" u="none" cap="none" strike="noStrike">
                <a:solidFill>
                  <a:srgbClr val="51565E"/>
                </a:solidFill>
                <a:latin typeface="Times New Roman"/>
                <a:ea typeface="Times New Roman"/>
                <a:cs typeface="Times New Roman"/>
                <a:sym typeface="Times New Roman"/>
              </a:rPr>
              <a:t>One table will hold stuid which already exists and the second table will hold a newly created column profid and in the second table will have the columns profid, subject, and professor, which satisfies the BCNF</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7"/>
          <p:cNvSpPr txBox="1"/>
          <p:nvPr/>
        </p:nvSpPr>
        <p:spPr>
          <a:xfrm>
            <a:off x="208935" y="1133167"/>
            <a:ext cx="8534400" cy="304698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Times New Roman"/>
                <a:ea typeface="Times New Roman"/>
                <a:cs typeface="Times New Roman"/>
                <a:sym typeface="Times New Roman"/>
              </a:rPr>
              <a:t>Multivalued Dependency</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Multivalued dependency occurs when two attributes in a table are independent of each other but, both depend on a third attribute.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A multivalued dependency consists of at least two attributes that are dependent on a third attribute that's why it always requires at least three attributes.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rgbClr val="333333"/>
                </a:solidFill>
                <a:latin typeface="Times New Roman"/>
                <a:ea typeface="Times New Roman"/>
                <a:cs typeface="Times New Roman"/>
                <a:sym typeface="Times New Roman"/>
              </a:rPr>
              <a:t>Example:</a:t>
            </a:r>
            <a:r>
              <a:rPr b="0" i="0" lang="en-US" sz="2400" u="none" cap="none" strike="noStrike">
                <a:solidFill>
                  <a:srgbClr val="333333"/>
                </a:solidFill>
                <a:latin typeface="Times New Roman"/>
                <a:ea typeface="Times New Roman"/>
                <a:cs typeface="Times New Roman"/>
                <a:sym typeface="Times New Roman"/>
              </a:rPr>
              <a:t> Suppose there is a bike manufacturer company which produces two colors(white and black) of each model every year.</a:t>
            </a:r>
            <a:endParaRPr b="0" i="0" sz="1400" u="none" cap="none" strike="noStrike">
              <a:solidFill>
                <a:srgbClr val="000000"/>
              </a:solidFill>
              <a:latin typeface="Arial"/>
              <a:ea typeface="Arial"/>
              <a:cs typeface="Arial"/>
              <a:sym typeface="Arial"/>
            </a:endParaRPr>
          </a:p>
        </p:txBody>
      </p:sp>
      <p:graphicFrame>
        <p:nvGraphicFramePr>
          <p:cNvPr id="246" name="Google Shape;246;p27"/>
          <p:cNvGraphicFramePr/>
          <p:nvPr/>
        </p:nvGraphicFramePr>
        <p:xfrm>
          <a:off x="1710813" y="4367751"/>
          <a:ext cx="3000000" cy="3000000"/>
        </p:xfrm>
        <a:graphic>
          <a:graphicData uri="http://schemas.openxmlformats.org/drawingml/2006/table">
            <a:tbl>
              <a:tblPr>
                <a:noFill/>
                <a:tableStyleId>{B9C5381F-F93A-49BA-A224-3A457CFC6CF1}</a:tableStyleId>
              </a:tblPr>
              <a:tblGrid>
                <a:gridCol w="1676400"/>
                <a:gridCol w="1905000"/>
                <a:gridCol w="1219200"/>
              </a:tblGrid>
              <a:tr h="177800">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rgbClr val="000000"/>
                          </a:solidFill>
                        </a:rPr>
                        <a:t>BIKE_MODEL</a:t>
                      </a:r>
                      <a:endParaRPr b="1" sz="1400" u="none" cap="none" strike="noStrike">
                        <a:solidFill>
                          <a:srgbClr val="000000"/>
                        </a:solidFill>
                        <a:latin typeface="times new roman"/>
                        <a:ea typeface="times new roman"/>
                        <a:cs typeface="times new roman"/>
                        <a:sym typeface="times new roman"/>
                      </a:endParaRPr>
                    </a:p>
                  </a:txBody>
                  <a:tcPr marT="76200" marB="76200" marR="76200" marL="76200"/>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rgbClr val="000000"/>
                          </a:solidFill>
                        </a:rPr>
                        <a:t>MANUF_YEAR</a:t>
                      </a:r>
                      <a:endParaRPr b="1" sz="1400" u="none" cap="none" strike="noStrike">
                        <a:solidFill>
                          <a:srgbClr val="000000"/>
                        </a:solidFill>
                        <a:latin typeface="times new roman"/>
                        <a:ea typeface="times new roman"/>
                        <a:cs typeface="times new roman"/>
                        <a:sym typeface="times new roman"/>
                      </a:endParaRPr>
                    </a:p>
                  </a:txBody>
                  <a:tcPr marT="76200" marB="76200" marR="76200" marL="76200"/>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rgbClr val="000000"/>
                          </a:solidFill>
                        </a:rPr>
                        <a:t>COLOR</a:t>
                      </a:r>
                      <a:endParaRPr b="1" sz="1400" u="none" cap="none" strike="noStrike">
                        <a:solidFill>
                          <a:srgbClr val="000000"/>
                        </a:solidFill>
                        <a:latin typeface="times new roman"/>
                        <a:ea typeface="times new roman"/>
                        <a:cs typeface="times new roman"/>
                        <a:sym typeface="times new roman"/>
                      </a:endParaRPr>
                    </a:p>
                  </a:txBody>
                  <a:tcPr marT="76200" marB="76200" marR="76200" marL="76200"/>
                </a:tc>
              </a:tr>
              <a:tr h="1778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M2011</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2008</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White</a:t>
                      </a:r>
                      <a:endParaRPr sz="1400" u="none" cap="none" strike="noStrike">
                        <a:solidFill>
                          <a:srgbClr val="333333"/>
                        </a:solidFill>
                        <a:latin typeface="Inter"/>
                        <a:ea typeface="Inter"/>
                        <a:cs typeface="Inter"/>
                        <a:sym typeface="Inter"/>
                      </a:endParaRPr>
                    </a:p>
                  </a:txBody>
                  <a:tcPr marT="50800" marB="50800" marR="50800" marL="50800"/>
                </a:tc>
              </a:tr>
              <a:tr h="1778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M2001</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2008</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Black</a:t>
                      </a:r>
                      <a:endParaRPr sz="1400" u="none" cap="none" strike="noStrike">
                        <a:solidFill>
                          <a:srgbClr val="333333"/>
                        </a:solidFill>
                        <a:latin typeface="Inter"/>
                        <a:ea typeface="Inter"/>
                        <a:cs typeface="Inter"/>
                        <a:sym typeface="Inter"/>
                      </a:endParaRPr>
                    </a:p>
                  </a:txBody>
                  <a:tcPr marT="50800" marB="50800" marR="50800" marL="50800"/>
                </a:tc>
              </a:tr>
              <a:tr h="1778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M3001</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2013</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White</a:t>
                      </a:r>
                      <a:endParaRPr sz="1400" u="none" cap="none" strike="noStrike">
                        <a:solidFill>
                          <a:srgbClr val="333333"/>
                        </a:solidFill>
                        <a:latin typeface="Inter"/>
                        <a:ea typeface="Inter"/>
                        <a:cs typeface="Inter"/>
                        <a:sym typeface="Inter"/>
                      </a:endParaRPr>
                    </a:p>
                  </a:txBody>
                  <a:tcPr marT="50800" marB="50800" marR="50800" marL="50800"/>
                </a:tc>
              </a:tr>
              <a:tr h="1778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M3001</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2013</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Black</a:t>
                      </a:r>
                      <a:endParaRPr sz="1400" u="none" cap="none" strike="noStrike">
                        <a:solidFill>
                          <a:srgbClr val="333333"/>
                        </a:solidFill>
                        <a:latin typeface="Inter"/>
                        <a:ea typeface="Inter"/>
                        <a:cs typeface="Inter"/>
                        <a:sym typeface="Inter"/>
                      </a:endParaRPr>
                    </a:p>
                  </a:txBody>
                  <a:tcPr marT="50800" marB="50800" marR="50800" marL="50800"/>
                </a:tc>
              </a:tr>
              <a:tr h="1778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M4006</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2017</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White</a:t>
                      </a:r>
                      <a:endParaRPr sz="1400" u="none" cap="none" strike="noStrike">
                        <a:solidFill>
                          <a:srgbClr val="333333"/>
                        </a:solidFill>
                        <a:latin typeface="Inter"/>
                        <a:ea typeface="Inter"/>
                        <a:cs typeface="Inter"/>
                        <a:sym typeface="Inter"/>
                      </a:endParaRPr>
                    </a:p>
                  </a:txBody>
                  <a:tcPr marT="50800" marB="50800" marR="50800" marL="50800"/>
                </a:tc>
              </a:tr>
              <a:tr h="1778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M4006</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2017</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Black</a:t>
                      </a:r>
                      <a:endParaRPr sz="1400" u="none" cap="none" strike="noStrike">
                        <a:solidFill>
                          <a:srgbClr val="333333"/>
                        </a:solidFill>
                        <a:latin typeface="Inter"/>
                        <a:ea typeface="Inter"/>
                        <a:cs typeface="Inter"/>
                        <a:sym typeface="Inter"/>
                      </a:endParaRPr>
                    </a:p>
                  </a:txBody>
                  <a:tcPr marT="50800" marB="50800" marR="50800" marL="50800"/>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8"/>
          <p:cNvSpPr txBox="1"/>
          <p:nvPr/>
        </p:nvSpPr>
        <p:spPr>
          <a:xfrm>
            <a:off x="245806" y="1256071"/>
            <a:ext cx="8267700" cy="489364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333333"/>
                </a:solidFill>
                <a:latin typeface="Times New Roman"/>
                <a:ea typeface="Times New Roman"/>
                <a:cs typeface="Times New Roman"/>
                <a:sym typeface="Times New Roman"/>
              </a:rPr>
              <a:t>Here columns COLOR and MANUF_YEAR are dependent on BIKE_MODEL and independent of each other.</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rgbClr val="333333"/>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333333"/>
                </a:solidFill>
                <a:latin typeface="Times New Roman"/>
                <a:ea typeface="Times New Roman"/>
                <a:cs typeface="Times New Roman"/>
                <a:sym typeface="Times New Roman"/>
              </a:rPr>
              <a:t>In this case, these two columns can be called as multivalued dependent on BIKE_MODEL.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rgbClr val="333333"/>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333333"/>
                </a:solidFill>
                <a:latin typeface="Times New Roman"/>
                <a:ea typeface="Times New Roman"/>
                <a:cs typeface="Times New Roman"/>
                <a:sym typeface="Times New Roman"/>
              </a:rPr>
              <a:t>The representation of these dependencies is shown below:</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AutoNum type="arabicPeriod"/>
            </a:pPr>
            <a:r>
              <a:rPr b="0" i="0" lang="en-US" sz="2400" u="none" cap="none" strike="noStrike">
                <a:solidFill>
                  <a:srgbClr val="000000"/>
                </a:solidFill>
                <a:latin typeface="Times New Roman"/>
                <a:ea typeface="Times New Roman"/>
                <a:cs typeface="Times New Roman"/>
                <a:sym typeface="Times New Roman"/>
              </a:rPr>
              <a:t>BIKE_MODEL   →  →  MANUF_YEAR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AutoNum type="arabicPeriod"/>
            </a:pPr>
            <a:r>
              <a:rPr b="0" i="0" lang="en-US" sz="2400" u="none" cap="none" strike="noStrike">
                <a:solidFill>
                  <a:srgbClr val="000000"/>
                </a:solidFill>
                <a:latin typeface="Times New Roman"/>
                <a:ea typeface="Times New Roman"/>
                <a:cs typeface="Times New Roman"/>
                <a:sym typeface="Times New Roman"/>
              </a:rPr>
              <a:t>BIKE_MODEL   →  →  COLOR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333333"/>
                </a:solidFill>
                <a:latin typeface="Times New Roman"/>
                <a:ea typeface="Times New Roman"/>
                <a:cs typeface="Times New Roman"/>
                <a:sym typeface="Times New Roman"/>
              </a:rPr>
              <a:t>This can be read as "BIKE_MODEL multidetermined MANUF_YEAR" and "BIKE_MODEL multidetermined COLOR".</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9"/>
          <p:cNvSpPr txBox="1"/>
          <p:nvPr/>
        </p:nvSpPr>
        <p:spPr>
          <a:xfrm>
            <a:off x="358877" y="963562"/>
            <a:ext cx="8382000" cy="326243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Times New Roman"/>
                <a:ea typeface="Times New Roman"/>
                <a:cs typeface="Times New Roman"/>
                <a:sym typeface="Times New Roman"/>
              </a:rPr>
              <a:t>Fourth normal form (4NF)</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A relation will be in 4NF if it is in Boyce Codd normal form and has no multi-valued dependency.</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For a dependency A → B, if for a single value of A, multiple values of B exists, then the relation will be a multi-valued dependency.</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610B4B"/>
                </a:solidFill>
                <a:latin typeface="Times New Roman"/>
                <a:ea typeface="Times New Roman"/>
                <a:cs typeface="Times New Roman"/>
                <a:sym typeface="Times New Roman"/>
              </a:rPr>
              <a:t>Example: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pic>
        <p:nvPicPr>
          <p:cNvPr id="257" name="Google Shape;257;p29"/>
          <p:cNvPicPr preferRelativeResize="0"/>
          <p:nvPr/>
        </p:nvPicPr>
        <p:blipFill rotWithShape="1">
          <a:blip r:embed="rId3">
            <a:alphaModFix/>
          </a:blip>
          <a:srcRect b="0" l="0" r="0" t="0"/>
          <a:stretch/>
        </p:blipFill>
        <p:spPr>
          <a:xfrm>
            <a:off x="800100" y="4101932"/>
            <a:ext cx="5610532" cy="233309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0"/>
          <p:cNvSpPr txBox="1"/>
          <p:nvPr/>
        </p:nvSpPr>
        <p:spPr>
          <a:xfrm>
            <a:off x="228600" y="1076235"/>
            <a:ext cx="8610600" cy="120032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333333"/>
                </a:solidFill>
                <a:latin typeface="Times New Roman"/>
                <a:ea typeface="Times New Roman"/>
                <a:cs typeface="Times New Roman"/>
                <a:sym typeface="Times New Roman"/>
              </a:rPr>
              <a:t>The given STUDENT table is in 3NF, but the COURSE and HOBBY are two independent entity. Hence, there is no relationship between COURSE and HOBBY.</a:t>
            </a:r>
            <a:endParaRPr b="0" i="0" sz="2400" u="none" cap="none" strike="noStrike">
              <a:solidFill>
                <a:srgbClr val="000000"/>
              </a:solidFill>
              <a:latin typeface="Times New Roman"/>
              <a:ea typeface="Times New Roman"/>
              <a:cs typeface="Times New Roman"/>
              <a:sym typeface="Times New Roman"/>
            </a:endParaRPr>
          </a:p>
        </p:txBody>
      </p:sp>
      <p:sp>
        <p:nvSpPr>
          <p:cNvPr id="263" name="Google Shape;263;p30"/>
          <p:cNvSpPr txBox="1"/>
          <p:nvPr/>
        </p:nvSpPr>
        <p:spPr>
          <a:xfrm>
            <a:off x="228600" y="2333331"/>
            <a:ext cx="8472947" cy="215443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333333"/>
                </a:solidFill>
                <a:latin typeface="Times New Roman"/>
                <a:ea typeface="Times New Roman"/>
                <a:cs typeface="Times New Roman"/>
                <a:sym typeface="Times New Roman"/>
              </a:rPr>
              <a:t>In the STUDENT relation, a student with STU_ID, </a:t>
            </a:r>
            <a:r>
              <a:rPr b="1" i="0" lang="en-US" sz="2400" u="none" cap="none" strike="noStrike">
                <a:solidFill>
                  <a:srgbClr val="333333"/>
                </a:solidFill>
                <a:latin typeface="Times New Roman"/>
                <a:ea typeface="Times New Roman"/>
                <a:cs typeface="Times New Roman"/>
                <a:sym typeface="Times New Roman"/>
              </a:rPr>
              <a:t>21</a:t>
            </a:r>
            <a:r>
              <a:rPr b="0" i="0" lang="en-US" sz="2400" u="none" cap="none" strike="noStrike">
                <a:solidFill>
                  <a:srgbClr val="333333"/>
                </a:solidFill>
                <a:latin typeface="Times New Roman"/>
                <a:ea typeface="Times New Roman"/>
                <a:cs typeface="Times New Roman"/>
                <a:sym typeface="Times New Roman"/>
              </a:rPr>
              <a:t> contains two courses, </a:t>
            </a:r>
            <a:r>
              <a:rPr b="1" i="0" lang="en-US" sz="2400" u="none" cap="none" strike="noStrike">
                <a:solidFill>
                  <a:srgbClr val="333333"/>
                </a:solidFill>
                <a:latin typeface="Times New Roman"/>
                <a:ea typeface="Times New Roman"/>
                <a:cs typeface="Times New Roman"/>
                <a:sym typeface="Times New Roman"/>
              </a:rPr>
              <a:t>Computer</a:t>
            </a:r>
            <a:r>
              <a:rPr b="0" i="0" lang="en-US" sz="2400" u="none" cap="none" strike="noStrike">
                <a:solidFill>
                  <a:srgbClr val="333333"/>
                </a:solidFill>
                <a:latin typeface="Times New Roman"/>
                <a:ea typeface="Times New Roman"/>
                <a:cs typeface="Times New Roman"/>
                <a:sym typeface="Times New Roman"/>
              </a:rPr>
              <a:t> and </a:t>
            </a:r>
            <a:r>
              <a:rPr b="1" i="0" lang="en-US" sz="2400" u="none" cap="none" strike="noStrike">
                <a:solidFill>
                  <a:srgbClr val="333333"/>
                </a:solidFill>
                <a:latin typeface="Times New Roman"/>
                <a:ea typeface="Times New Roman"/>
                <a:cs typeface="Times New Roman"/>
                <a:sym typeface="Times New Roman"/>
              </a:rPr>
              <a:t>Math</a:t>
            </a:r>
            <a:r>
              <a:rPr b="0" i="0" lang="en-US" sz="2400" u="none" cap="none" strike="noStrike">
                <a:solidFill>
                  <a:srgbClr val="333333"/>
                </a:solidFill>
                <a:latin typeface="Times New Roman"/>
                <a:ea typeface="Times New Roman"/>
                <a:cs typeface="Times New Roman"/>
                <a:sym typeface="Times New Roman"/>
              </a:rPr>
              <a:t> and two hobbies, </a:t>
            </a:r>
            <a:r>
              <a:rPr b="1" i="0" lang="en-US" sz="2400" u="none" cap="none" strike="noStrike">
                <a:solidFill>
                  <a:srgbClr val="333333"/>
                </a:solidFill>
                <a:latin typeface="Times New Roman"/>
                <a:ea typeface="Times New Roman"/>
                <a:cs typeface="Times New Roman"/>
                <a:sym typeface="Times New Roman"/>
              </a:rPr>
              <a:t>Dancing</a:t>
            </a:r>
            <a:r>
              <a:rPr b="0" i="0" lang="en-US" sz="2400" u="none" cap="none" strike="noStrike">
                <a:solidFill>
                  <a:srgbClr val="333333"/>
                </a:solidFill>
                <a:latin typeface="Times New Roman"/>
                <a:ea typeface="Times New Roman"/>
                <a:cs typeface="Times New Roman"/>
                <a:sym typeface="Times New Roman"/>
              </a:rPr>
              <a:t> and </a:t>
            </a:r>
            <a:r>
              <a:rPr b="1" i="0" lang="en-US" sz="2400" u="none" cap="none" strike="noStrike">
                <a:solidFill>
                  <a:srgbClr val="333333"/>
                </a:solidFill>
                <a:latin typeface="Times New Roman"/>
                <a:ea typeface="Times New Roman"/>
                <a:cs typeface="Times New Roman"/>
                <a:sym typeface="Times New Roman"/>
              </a:rPr>
              <a:t>Singing</a:t>
            </a:r>
            <a:r>
              <a:rPr b="0" i="0" lang="en-US" sz="2400" u="none" cap="none" strike="noStrike">
                <a:solidFill>
                  <a:srgbClr val="333333"/>
                </a:solidFill>
                <a:latin typeface="Times New Roman"/>
                <a:ea typeface="Times New Roman"/>
                <a:cs typeface="Times New Roman"/>
                <a:sym typeface="Times New Roman"/>
              </a:rPr>
              <a:t>. So there is a Multi-valued dependency on STU_ID, which leads to unnecessary repetition of data.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pic>
        <p:nvPicPr>
          <p:cNvPr id="268" name="Google Shape;268;p31"/>
          <p:cNvPicPr preferRelativeResize="0"/>
          <p:nvPr/>
        </p:nvPicPr>
        <p:blipFill rotWithShape="1">
          <a:blip r:embed="rId3">
            <a:alphaModFix/>
          </a:blip>
          <a:srcRect b="0" l="0" r="0" t="0"/>
          <a:stretch/>
        </p:blipFill>
        <p:spPr>
          <a:xfrm>
            <a:off x="278904" y="2192594"/>
            <a:ext cx="4936232" cy="3696928"/>
          </a:xfrm>
          <a:prstGeom prst="rect">
            <a:avLst/>
          </a:prstGeom>
          <a:noFill/>
          <a:ln>
            <a:noFill/>
          </a:ln>
        </p:spPr>
      </p:pic>
      <p:pic>
        <p:nvPicPr>
          <p:cNvPr id="269" name="Google Shape;269;p31"/>
          <p:cNvPicPr preferRelativeResize="0"/>
          <p:nvPr/>
        </p:nvPicPr>
        <p:blipFill rotWithShape="1">
          <a:blip r:embed="rId4">
            <a:alphaModFix/>
          </a:blip>
          <a:srcRect b="0" l="0" r="0" t="0"/>
          <a:stretch/>
        </p:blipFill>
        <p:spPr>
          <a:xfrm>
            <a:off x="5417575" y="2116913"/>
            <a:ext cx="3549445" cy="3696928"/>
          </a:xfrm>
          <a:prstGeom prst="rect">
            <a:avLst/>
          </a:prstGeom>
          <a:noFill/>
          <a:ln>
            <a:noFill/>
          </a:ln>
        </p:spPr>
      </p:pic>
      <p:sp>
        <p:nvSpPr>
          <p:cNvPr id="270" name="Google Shape;270;p31"/>
          <p:cNvSpPr/>
          <p:nvPr/>
        </p:nvSpPr>
        <p:spPr>
          <a:xfrm>
            <a:off x="461019" y="1128600"/>
            <a:ext cx="8279857" cy="83099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333333"/>
                </a:solidFill>
                <a:latin typeface="Times New Roman"/>
                <a:ea typeface="Times New Roman"/>
                <a:cs typeface="Times New Roman"/>
                <a:sym typeface="Times New Roman"/>
              </a:rPr>
              <a:t>So to make the above table into 4NF, we can decompose it into two tables:</a:t>
            </a:r>
            <a:endParaRPr b="0" i="0" sz="2400" u="none" cap="none" strike="noStrike">
              <a:solidFill>
                <a:srgbClr val="333333"/>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2"/>
          <p:cNvSpPr txBox="1"/>
          <p:nvPr/>
        </p:nvSpPr>
        <p:spPr>
          <a:xfrm>
            <a:off x="199104" y="983226"/>
            <a:ext cx="8686800" cy="584775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Times New Roman"/>
                <a:ea typeface="Times New Roman"/>
                <a:cs typeface="Times New Roman"/>
                <a:sym typeface="Times New Roman"/>
              </a:rPr>
              <a:t>Relational Decomposition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When a relation in the relational model is not in appropriate normal form then the decomposition of a relation is required.</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In a database, it breaks the table into multiple tables.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If the relation has no proper decomposition, then it may lead to problems like loss of information.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Decomposition is used to eliminate some of the problems of bad design like anomalies, inconsistencies, and redundancy.</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FF0000"/>
                </a:solidFill>
                <a:latin typeface="Times New Roman"/>
                <a:ea typeface="Times New Roman"/>
                <a:cs typeface="Times New Roman"/>
                <a:sym typeface="Times New Roman"/>
              </a:rPr>
              <a:t>Types of Decomposition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457200" lvl="0" marL="457200" marR="0" rtl="0" algn="just">
              <a:lnSpc>
                <a:spcPct val="100000"/>
              </a:lnSpc>
              <a:spcBef>
                <a:spcPts val="0"/>
              </a:spcBef>
              <a:spcAft>
                <a:spcPts val="0"/>
              </a:spcAft>
              <a:buClr>
                <a:srgbClr val="000000"/>
              </a:buClr>
              <a:buSzPts val="2400"/>
              <a:buFont typeface="Arial"/>
              <a:buAutoNum type="arabicPeriod"/>
            </a:pPr>
            <a:r>
              <a:rPr b="0" i="0" lang="en-US" sz="2400" u="none" cap="none" strike="noStrike">
                <a:solidFill>
                  <a:srgbClr val="000000"/>
                </a:solidFill>
                <a:latin typeface="Times New Roman"/>
                <a:ea typeface="Times New Roman"/>
                <a:cs typeface="Times New Roman"/>
                <a:sym typeface="Times New Roman"/>
              </a:rPr>
              <a:t>Lossless Decomposition</a:t>
            </a:r>
            <a:endParaRPr b="0" i="0" sz="14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400"/>
              <a:buFont typeface="Arial"/>
              <a:buAutoNum type="arabicPeriod"/>
            </a:pPr>
            <a:r>
              <a:rPr b="0" i="0" lang="en-US" sz="2400" u="none" cap="none" strike="noStrike">
                <a:solidFill>
                  <a:srgbClr val="000000"/>
                </a:solidFill>
                <a:latin typeface="Times New Roman"/>
                <a:ea typeface="Times New Roman"/>
                <a:cs typeface="Times New Roman"/>
                <a:sym typeface="Times New Roman"/>
              </a:rPr>
              <a:t>Dependency Preserving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3"/>
          <p:cNvSpPr txBox="1"/>
          <p:nvPr/>
        </p:nvSpPr>
        <p:spPr>
          <a:xfrm>
            <a:off x="304800" y="828368"/>
            <a:ext cx="8382000" cy="295465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Times New Roman"/>
                <a:ea typeface="Times New Roman"/>
                <a:cs typeface="Times New Roman"/>
                <a:sym typeface="Times New Roman"/>
              </a:rPr>
              <a:t>Lossless Decomposition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If the information is not lost from the relation that is decomposed, then the decomposition will be lossless.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The lossless decomposition guarantees that the join of relations will result in the same relation as it was decomposed.</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The relation is said to be lossless decomposition if natural joins of all the decomposition give the original relation.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graphicFrame>
        <p:nvGraphicFramePr>
          <p:cNvPr id="281" name="Google Shape;281;p33"/>
          <p:cNvGraphicFramePr/>
          <p:nvPr/>
        </p:nvGraphicFramePr>
        <p:xfrm>
          <a:off x="304798" y="4065142"/>
          <a:ext cx="3000000" cy="3000000"/>
        </p:xfrm>
        <a:graphic>
          <a:graphicData uri="http://schemas.openxmlformats.org/drawingml/2006/table">
            <a:tbl>
              <a:tblPr>
                <a:noFill/>
                <a:tableStyleId>{B9C5381F-F93A-49BA-A224-3A457CFC6CF1}</a:tableStyleId>
              </a:tblPr>
              <a:tblGrid>
                <a:gridCol w="1064450"/>
                <a:gridCol w="1488825"/>
                <a:gridCol w="1266900"/>
                <a:gridCol w="1350000"/>
                <a:gridCol w="1292550"/>
                <a:gridCol w="1596700"/>
              </a:tblGrid>
              <a:tr h="6854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000000"/>
                          </a:solidFill>
                          <a:latin typeface="Times New Roman"/>
                          <a:ea typeface="Times New Roman"/>
                          <a:cs typeface="Times New Roman"/>
                          <a:sym typeface="Times New Roman"/>
                        </a:rPr>
                        <a:t>EMP_ID</a:t>
                      </a:r>
                      <a:endParaRPr sz="1400" u="none" cap="none" strike="noStrike"/>
                    </a:p>
                  </a:txBody>
                  <a:tcPr marT="76200" marB="76200" marR="76200" marL="76200"/>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000000"/>
                          </a:solidFill>
                          <a:latin typeface="Times New Roman"/>
                          <a:ea typeface="Times New Roman"/>
                          <a:cs typeface="Times New Roman"/>
                          <a:sym typeface="Times New Roman"/>
                        </a:rPr>
                        <a:t>EMP_NAME</a:t>
                      </a:r>
                      <a:endParaRPr sz="1400" u="none" cap="none" strike="noStrike"/>
                    </a:p>
                  </a:txBody>
                  <a:tcPr marT="76200" marB="76200" marR="76200" marL="76200"/>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000000"/>
                          </a:solidFill>
                          <a:latin typeface="Times New Roman"/>
                          <a:ea typeface="Times New Roman"/>
                          <a:cs typeface="Times New Roman"/>
                          <a:sym typeface="Times New Roman"/>
                        </a:rPr>
                        <a:t>EMP_AGE</a:t>
                      </a:r>
                      <a:endParaRPr sz="1400" u="none" cap="none" strike="noStrike"/>
                    </a:p>
                  </a:txBody>
                  <a:tcPr marT="76200" marB="76200" marR="76200" marL="76200"/>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000000"/>
                          </a:solidFill>
                          <a:latin typeface="Times New Roman"/>
                          <a:ea typeface="Times New Roman"/>
                          <a:cs typeface="Times New Roman"/>
                          <a:sym typeface="Times New Roman"/>
                        </a:rPr>
                        <a:t>EMP_CITY</a:t>
                      </a:r>
                      <a:endParaRPr sz="1400" u="none" cap="none" strike="noStrike"/>
                    </a:p>
                  </a:txBody>
                  <a:tcPr marT="76200" marB="76200" marR="76200" marL="76200"/>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000000"/>
                          </a:solidFill>
                          <a:latin typeface="Times New Roman"/>
                          <a:ea typeface="Times New Roman"/>
                          <a:cs typeface="Times New Roman"/>
                          <a:sym typeface="Times New Roman"/>
                        </a:rPr>
                        <a:t>DEPT_ID</a:t>
                      </a:r>
                      <a:endParaRPr sz="1400" u="none" cap="none" strike="noStrike"/>
                    </a:p>
                  </a:txBody>
                  <a:tcPr marT="76200" marB="76200" marR="76200" marL="76200"/>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000000"/>
                          </a:solidFill>
                          <a:latin typeface="Times New Roman"/>
                          <a:ea typeface="Times New Roman"/>
                          <a:cs typeface="Times New Roman"/>
                          <a:sym typeface="Times New Roman"/>
                        </a:rPr>
                        <a:t>DEPT_NAME</a:t>
                      </a:r>
                      <a:endParaRPr sz="1400" u="none" cap="none" strike="noStrike"/>
                    </a:p>
                  </a:txBody>
                  <a:tcPr marT="76200" marB="76200" marR="76200" marL="76200"/>
                </a:tc>
              </a:tr>
              <a:tr h="3675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22</a:t>
                      </a:r>
                      <a:endParaRPr sz="1400" u="none" cap="none" strike="noStrike"/>
                    </a:p>
                  </a:txBody>
                  <a:tcPr marT="50800" marB="50800" marR="50800" marL="50800"/>
                </a:tc>
                <a:tc>
                  <a:txBody>
                    <a:bodyPr/>
                    <a:lstStyle/>
                    <a:p>
                      <a:pPr indent="0" lvl="0" marL="0" marR="0" rtl="0" algn="just">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Denim</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28</a:t>
                      </a:r>
                      <a:endParaRPr sz="1400" u="none" cap="none" strike="noStrike"/>
                    </a:p>
                  </a:txBody>
                  <a:tcPr marT="50800" marB="50800" marR="50800" marL="50800"/>
                </a:tc>
                <a:tc>
                  <a:txBody>
                    <a:bodyPr/>
                    <a:lstStyle/>
                    <a:p>
                      <a:pPr indent="0" lvl="0" marL="0" marR="0" rtl="0" algn="just">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Mumbai</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827</a:t>
                      </a:r>
                      <a:endParaRPr sz="1400" u="none" cap="none" strike="noStrike"/>
                    </a:p>
                  </a:txBody>
                  <a:tcPr marT="50800" marB="50800" marR="50800" marL="50800"/>
                </a:tc>
                <a:tc>
                  <a:txBody>
                    <a:bodyPr/>
                    <a:lstStyle/>
                    <a:p>
                      <a:pPr indent="0" lvl="0" marL="0" marR="0" rtl="0" algn="just">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Sales</a:t>
                      </a:r>
                      <a:endParaRPr sz="1400" u="none" cap="none" strike="noStrike"/>
                    </a:p>
                  </a:txBody>
                  <a:tcPr marT="50800" marB="50800" marR="50800" marL="50800"/>
                </a:tc>
              </a:tr>
              <a:tr h="3675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33</a:t>
                      </a:r>
                      <a:endParaRPr sz="1400" u="none" cap="none" strike="noStrike"/>
                    </a:p>
                  </a:txBody>
                  <a:tcPr marT="50800" marB="50800" marR="50800" marL="50800"/>
                </a:tc>
                <a:tc>
                  <a:txBody>
                    <a:bodyPr/>
                    <a:lstStyle/>
                    <a:p>
                      <a:pPr indent="0" lvl="0" marL="0" marR="0" rtl="0" algn="just">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Alina</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25</a:t>
                      </a:r>
                      <a:endParaRPr sz="1400" u="none" cap="none" strike="noStrike"/>
                    </a:p>
                  </a:txBody>
                  <a:tcPr marT="50800" marB="50800" marR="50800" marL="50800"/>
                </a:tc>
                <a:tc>
                  <a:txBody>
                    <a:bodyPr/>
                    <a:lstStyle/>
                    <a:p>
                      <a:pPr indent="0" lvl="0" marL="0" marR="0" rtl="0" algn="just">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Delhi</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438</a:t>
                      </a:r>
                      <a:endParaRPr sz="1400" u="none" cap="none" strike="noStrike"/>
                    </a:p>
                  </a:txBody>
                  <a:tcPr marT="50800" marB="50800" marR="50800" marL="50800"/>
                </a:tc>
                <a:tc>
                  <a:txBody>
                    <a:bodyPr/>
                    <a:lstStyle/>
                    <a:p>
                      <a:pPr indent="0" lvl="0" marL="0" marR="0" rtl="0" algn="just">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Marketing</a:t>
                      </a:r>
                      <a:endParaRPr sz="1400" u="none" cap="none" strike="noStrike"/>
                    </a:p>
                  </a:txBody>
                  <a:tcPr marT="50800" marB="50800" marR="50800" marL="50800"/>
                </a:tc>
              </a:tr>
              <a:tr h="3675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46</a:t>
                      </a:r>
                      <a:endParaRPr sz="1400" u="none" cap="none" strike="noStrike"/>
                    </a:p>
                  </a:txBody>
                  <a:tcPr marT="50800" marB="50800" marR="50800" marL="50800"/>
                </a:tc>
                <a:tc>
                  <a:txBody>
                    <a:bodyPr/>
                    <a:lstStyle/>
                    <a:p>
                      <a:pPr indent="0" lvl="0" marL="0" marR="0" rtl="0" algn="just">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Stephan</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30</a:t>
                      </a:r>
                      <a:endParaRPr sz="1400" u="none" cap="none" strike="noStrike"/>
                    </a:p>
                  </a:txBody>
                  <a:tcPr marT="50800" marB="50800" marR="50800" marL="50800"/>
                </a:tc>
                <a:tc>
                  <a:txBody>
                    <a:bodyPr/>
                    <a:lstStyle/>
                    <a:p>
                      <a:pPr indent="0" lvl="0" marL="0" marR="0" rtl="0" algn="just">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Bangalore</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869</a:t>
                      </a:r>
                      <a:endParaRPr sz="1400" u="none" cap="none" strike="noStrike"/>
                    </a:p>
                  </a:txBody>
                  <a:tcPr marT="50800" marB="50800" marR="50800" marL="50800"/>
                </a:tc>
                <a:tc>
                  <a:txBody>
                    <a:bodyPr/>
                    <a:lstStyle/>
                    <a:p>
                      <a:pPr indent="0" lvl="0" marL="0" marR="0" rtl="0" algn="just">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Finance</a:t>
                      </a:r>
                      <a:endParaRPr sz="1400" u="none" cap="none" strike="noStrike"/>
                    </a:p>
                  </a:txBody>
                  <a:tcPr marT="50800" marB="50800" marR="50800" marL="50800"/>
                </a:tc>
              </a:tr>
              <a:tr h="3675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52</a:t>
                      </a:r>
                      <a:endParaRPr sz="1400" u="none" cap="none" strike="noStrike"/>
                    </a:p>
                  </a:txBody>
                  <a:tcPr marT="50800" marB="50800" marR="50800" marL="50800"/>
                </a:tc>
                <a:tc>
                  <a:txBody>
                    <a:bodyPr/>
                    <a:lstStyle/>
                    <a:p>
                      <a:pPr indent="0" lvl="0" marL="0" marR="0" rtl="0" algn="just">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Katherine</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36</a:t>
                      </a:r>
                      <a:endParaRPr sz="1400" u="none" cap="none" strike="noStrike"/>
                    </a:p>
                  </a:txBody>
                  <a:tcPr marT="50800" marB="50800" marR="50800" marL="50800"/>
                </a:tc>
                <a:tc>
                  <a:txBody>
                    <a:bodyPr/>
                    <a:lstStyle/>
                    <a:p>
                      <a:pPr indent="0" lvl="0" marL="0" marR="0" rtl="0" algn="just">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Mumbai</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575</a:t>
                      </a:r>
                      <a:endParaRPr sz="1400" u="none" cap="none" strike="noStrike"/>
                    </a:p>
                  </a:txBody>
                  <a:tcPr marT="50800" marB="50800" marR="50800" marL="50800"/>
                </a:tc>
                <a:tc>
                  <a:txBody>
                    <a:bodyPr/>
                    <a:lstStyle/>
                    <a:p>
                      <a:pPr indent="0" lvl="0" marL="0" marR="0" rtl="0" algn="just">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Production</a:t>
                      </a:r>
                      <a:endParaRPr sz="1400" u="none" cap="none" strike="noStrike"/>
                    </a:p>
                  </a:txBody>
                  <a:tcPr marT="50800" marB="50800" marR="50800" marL="50800"/>
                </a:tc>
              </a:tr>
              <a:tr h="3675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60</a:t>
                      </a:r>
                      <a:endParaRPr sz="1400" u="none" cap="none" strike="noStrike"/>
                    </a:p>
                  </a:txBody>
                  <a:tcPr marT="50800" marB="50800" marR="50800" marL="50800"/>
                </a:tc>
                <a:tc>
                  <a:txBody>
                    <a:bodyPr/>
                    <a:lstStyle/>
                    <a:p>
                      <a:pPr indent="0" lvl="0" marL="0" marR="0" rtl="0" algn="just">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Jack</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40</a:t>
                      </a:r>
                      <a:endParaRPr sz="1400" u="none" cap="none" strike="noStrike"/>
                    </a:p>
                  </a:txBody>
                  <a:tcPr marT="50800" marB="50800" marR="50800" marL="50800"/>
                </a:tc>
                <a:tc>
                  <a:txBody>
                    <a:bodyPr/>
                    <a:lstStyle/>
                    <a:p>
                      <a:pPr indent="0" lvl="0" marL="0" marR="0" rtl="0" algn="just">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Noida</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678</a:t>
                      </a:r>
                      <a:endParaRPr sz="1400" u="none" cap="none" strike="noStrike"/>
                    </a:p>
                  </a:txBody>
                  <a:tcPr marT="50800" marB="50800" marR="50800" marL="50800"/>
                </a:tc>
                <a:tc>
                  <a:txBody>
                    <a:bodyPr/>
                    <a:lstStyle/>
                    <a:p>
                      <a:pPr indent="0" lvl="0" marL="0" marR="0" rtl="0" algn="just">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Testing</a:t>
                      </a:r>
                      <a:endParaRPr sz="1400" u="none" cap="none" strike="noStrike"/>
                    </a:p>
                  </a:txBody>
                  <a:tcPr marT="50800" marB="50800" marR="50800" marL="50800"/>
                </a:tc>
              </a:tr>
            </a:tbl>
          </a:graphicData>
        </a:graphic>
      </p:graphicFrame>
      <p:sp>
        <p:nvSpPr>
          <p:cNvPr id="282" name="Google Shape;282;p33"/>
          <p:cNvSpPr/>
          <p:nvPr/>
        </p:nvSpPr>
        <p:spPr>
          <a:xfrm>
            <a:off x="398250" y="3595822"/>
            <a:ext cx="3760800" cy="369300"/>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333333"/>
              </a:buClr>
              <a:buSzPts val="1600"/>
              <a:buFont typeface="Arial"/>
              <a:buNone/>
            </a:pPr>
            <a:r>
              <a:rPr b="1" i="0" lang="en-US" sz="1600" u="none" cap="none" strike="noStrike">
                <a:solidFill>
                  <a:srgbClr val="333333"/>
                </a:solidFill>
                <a:latin typeface="Inter"/>
                <a:ea typeface="Inter"/>
                <a:cs typeface="Inter"/>
                <a:sym typeface="Inter"/>
              </a:rPr>
              <a:t>Example:</a:t>
            </a:r>
            <a:endParaRPr b="1" i="0" sz="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333333"/>
              </a:buClr>
              <a:buSzPts val="1600"/>
              <a:buFont typeface="Arial"/>
              <a:buNone/>
            </a:pPr>
            <a:r>
              <a:rPr b="1" i="0" lang="en-US" sz="1600" u="none" cap="none" strike="noStrike">
                <a:solidFill>
                  <a:srgbClr val="333333"/>
                </a:solidFill>
                <a:latin typeface="Inter"/>
                <a:ea typeface="Inter"/>
                <a:cs typeface="Inter"/>
                <a:sym typeface="Inter"/>
              </a:rPr>
              <a:t>EMPLOYEE_DEPARTMENT table:</a:t>
            </a:r>
            <a:endParaRPr b="1" i="0" sz="2400" u="none" cap="none" strike="noStrike">
              <a:solidFill>
                <a:schemeClr val="dk1"/>
              </a:solidFill>
              <a:latin typeface="Arial"/>
              <a:ea typeface="Arial"/>
              <a:cs typeface="Arial"/>
              <a:sym typeface="Arial"/>
            </a:endParaRPr>
          </a:p>
        </p:txBody>
      </p:sp>
      <p:sp>
        <p:nvSpPr>
          <p:cNvPr id="283" name="Google Shape;283;p33"/>
          <p:cNvSpPr txBox="1"/>
          <p:nvPr/>
        </p:nvSpPr>
        <p:spPr>
          <a:xfrm>
            <a:off x="304800" y="6276335"/>
            <a:ext cx="8382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33333"/>
                </a:solidFill>
                <a:latin typeface="Libre Baskerville"/>
                <a:ea typeface="Libre Baskerville"/>
                <a:cs typeface="Libre Baskerville"/>
                <a:sym typeface="Libre Baskerville"/>
              </a:rPr>
              <a:t>The above relation is decomposed into two relations EMPLOYEE and DEPARTMENT</a:t>
            </a:r>
            <a:endParaRPr b="1" i="0" sz="1400" u="none" cap="none" strike="noStrike">
              <a:solidFill>
                <a:srgbClr val="000000"/>
              </a:solidFill>
              <a:latin typeface="Libre Baskerville"/>
              <a:ea typeface="Libre Baskerville"/>
              <a:cs typeface="Libre Baskerville"/>
              <a:sym typeface="Libre Baskerville"/>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graphicFrame>
        <p:nvGraphicFramePr>
          <p:cNvPr id="288" name="Google Shape;288;p34"/>
          <p:cNvGraphicFramePr/>
          <p:nvPr/>
        </p:nvGraphicFramePr>
        <p:xfrm>
          <a:off x="685800" y="1575161"/>
          <a:ext cx="3000000" cy="3000000"/>
        </p:xfrm>
        <a:graphic>
          <a:graphicData uri="http://schemas.openxmlformats.org/drawingml/2006/table">
            <a:tbl>
              <a:tblPr>
                <a:noFill/>
                <a:tableStyleId>{B9C5381F-F93A-49BA-A224-3A457CFC6CF1}</a:tableStyleId>
              </a:tblPr>
              <a:tblGrid>
                <a:gridCol w="1695450"/>
                <a:gridCol w="1695450"/>
                <a:gridCol w="1695450"/>
                <a:gridCol w="1695450"/>
              </a:tblGrid>
              <a:tr h="438950">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rgbClr val="000000"/>
                          </a:solidFill>
                        </a:rPr>
                        <a:t>EMP_ID</a:t>
                      </a:r>
                      <a:endParaRPr b="1" sz="1400" u="none" cap="none" strike="noStrike">
                        <a:solidFill>
                          <a:srgbClr val="000000"/>
                        </a:solidFill>
                        <a:latin typeface="times new roman"/>
                        <a:ea typeface="times new roman"/>
                        <a:cs typeface="times new roman"/>
                        <a:sym typeface="times new roman"/>
                      </a:endParaRPr>
                    </a:p>
                  </a:txBody>
                  <a:tcPr marT="76200" marB="76200" marR="76200" marL="76200"/>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rgbClr val="000000"/>
                          </a:solidFill>
                        </a:rPr>
                        <a:t>EMP_NAME</a:t>
                      </a:r>
                      <a:endParaRPr b="1" sz="1400" u="none" cap="none" strike="noStrike">
                        <a:solidFill>
                          <a:srgbClr val="000000"/>
                        </a:solidFill>
                        <a:latin typeface="times new roman"/>
                        <a:ea typeface="times new roman"/>
                        <a:cs typeface="times new roman"/>
                        <a:sym typeface="times new roman"/>
                      </a:endParaRPr>
                    </a:p>
                  </a:txBody>
                  <a:tcPr marT="76200" marB="76200" marR="76200" marL="76200"/>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rgbClr val="000000"/>
                          </a:solidFill>
                        </a:rPr>
                        <a:t>EMP_AGE</a:t>
                      </a:r>
                      <a:endParaRPr b="1" sz="1400" u="none" cap="none" strike="noStrike">
                        <a:solidFill>
                          <a:srgbClr val="000000"/>
                        </a:solidFill>
                        <a:latin typeface="times new roman"/>
                        <a:ea typeface="times new roman"/>
                        <a:cs typeface="times new roman"/>
                        <a:sym typeface="times new roman"/>
                      </a:endParaRPr>
                    </a:p>
                  </a:txBody>
                  <a:tcPr marT="76200" marB="76200" marR="76200" marL="76200"/>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rgbClr val="000000"/>
                          </a:solidFill>
                        </a:rPr>
                        <a:t>EMP_CITY</a:t>
                      </a:r>
                      <a:endParaRPr b="1" sz="1400" u="none" cap="none" strike="noStrike">
                        <a:solidFill>
                          <a:srgbClr val="000000"/>
                        </a:solidFill>
                        <a:latin typeface="times new roman"/>
                        <a:ea typeface="times new roman"/>
                        <a:cs typeface="times new roman"/>
                        <a:sym typeface="times new roman"/>
                      </a:endParaRPr>
                    </a:p>
                  </a:txBody>
                  <a:tcPr marT="76200" marB="76200" marR="76200" marL="76200"/>
                </a:tc>
              </a:tr>
              <a:tr h="38667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22</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Denim</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28</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Mumbai</a:t>
                      </a:r>
                      <a:endParaRPr sz="1400" u="none" cap="none" strike="noStrike"/>
                    </a:p>
                  </a:txBody>
                  <a:tcPr marT="50800" marB="50800" marR="50800" marL="50800"/>
                </a:tc>
              </a:tr>
              <a:tr h="38667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33</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Alina</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25</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Delhi</a:t>
                      </a:r>
                      <a:endParaRPr sz="1400" u="none" cap="none" strike="noStrike"/>
                    </a:p>
                  </a:txBody>
                  <a:tcPr marT="50800" marB="50800" marR="50800" marL="50800"/>
                </a:tc>
              </a:tr>
              <a:tr h="38667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46</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Stephan</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30</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Bangalore</a:t>
                      </a:r>
                      <a:endParaRPr sz="1400" u="none" cap="none" strike="noStrike"/>
                    </a:p>
                  </a:txBody>
                  <a:tcPr marT="50800" marB="50800" marR="50800" marL="50800"/>
                </a:tc>
              </a:tr>
              <a:tr h="38667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52</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Katherine</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36</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Mumbai</a:t>
                      </a:r>
                      <a:endParaRPr sz="1400" u="none" cap="none" strike="noStrike"/>
                    </a:p>
                  </a:txBody>
                  <a:tcPr marT="50800" marB="50800" marR="50800" marL="50800"/>
                </a:tc>
              </a:tr>
              <a:tr h="38667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60</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Jack</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40</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Noida</a:t>
                      </a:r>
                      <a:endParaRPr sz="1400" u="none" cap="none" strike="noStrike"/>
                    </a:p>
                  </a:txBody>
                  <a:tcPr marT="50800" marB="50800" marR="50800" marL="50800"/>
                </a:tc>
              </a:tr>
            </a:tbl>
          </a:graphicData>
        </a:graphic>
      </p:graphicFrame>
      <p:graphicFrame>
        <p:nvGraphicFramePr>
          <p:cNvPr id="289" name="Google Shape;289;p34"/>
          <p:cNvGraphicFramePr/>
          <p:nvPr/>
        </p:nvGraphicFramePr>
        <p:xfrm>
          <a:off x="685800" y="4494744"/>
          <a:ext cx="3000000" cy="3000000"/>
        </p:xfrm>
        <a:graphic>
          <a:graphicData uri="http://schemas.openxmlformats.org/drawingml/2006/table">
            <a:tbl>
              <a:tblPr>
                <a:noFill/>
                <a:tableStyleId>{B9C5381F-F93A-49BA-A224-3A457CFC6CF1}</a:tableStyleId>
              </a:tblPr>
              <a:tblGrid>
                <a:gridCol w="2286000"/>
                <a:gridCol w="2286000"/>
                <a:gridCol w="2286000"/>
              </a:tblGrid>
              <a:tr h="177800">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rgbClr val="000000"/>
                          </a:solidFill>
                        </a:rPr>
                        <a:t>DEPT_ID</a:t>
                      </a:r>
                      <a:endParaRPr b="1" sz="1400" u="none" cap="none" strike="noStrike">
                        <a:solidFill>
                          <a:srgbClr val="000000"/>
                        </a:solidFill>
                        <a:latin typeface="times new roman"/>
                        <a:ea typeface="times new roman"/>
                        <a:cs typeface="times new roman"/>
                        <a:sym typeface="times new roman"/>
                      </a:endParaRPr>
                    </a:p>
                  </a:txBody>
                  <a:tcPr marT="76200" marB="76200" marR="76200" marL="76200"/>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rgbClr val="000000"/>
                          </a:solidFill>
                        </a:rPr>
                        <a:t>EMP_ID</a:t>
                      </a:r>
                      <a:endParaRPr b="1" sz="1400" u="none" cap="none" strike="noStrike">
                        <a:solidFill>
                          <a:srgbClr val="000000"/>
                        </a:solidFill>
                        <a:latin typeface="times new roman"/>
                        <a:ea typeface="times new roman"/>
                        <a:cs typeface="times new roman"/>
                        <a:sym typeface="times new roman"/>
                      </a:endParaRPr>
                    </a:p>
                  </a:txBody>
                  <a:tcPr marT="76200" marB="76200" marR="76200" marL="76200"/>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rgbClr val="000000"/>
                          </a:solidFill>
                        </a:rPr>
                        <a:t>DEPT_NAME</a:t>
                      </a:r>
                      <a:endParaRPr b="1" sz="1400" u="none" cap="none" strike="noStrike">
                        <a:solidFill>
                          <a:srgbClr val="000000"/>
                        </a:solidFill>
                        <a:latin typeface="times new roman"/>
                        <a:ea typeface="times new roman"/>
                        <a:cs typeface="times new roman"/>
                        <a:sym typeface="times new roman"/>
                      </a:endParaRPr>
                    </a:p>
                  </a:txBody>
                  <a:tcPr marT="76200" marB="76200" marR="76200" marL="76200"/>
                </a:tc>
              </a:tr>
              <a:tr h="22860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827</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22</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Sales</a:t>
                      </a:r>
                      <a:endParaRPr sz="1400" u="none" cap="none" strike="noStrike"/>
                    </a:p>
                  </a:txBody>
                  <a:tcPr marT="50800" marB="50800" marR="50800" marL="50800"/>
                </a:tc>
              </a:tr>
              <a:tr h="22860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438</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33</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Marketing</a:t>
                      </a:r>
                      <a:endParaRPr sz="1400" u="none" cap="none" strike="noStrike"/>
                    </a:p>
                  </a:txBody>
                  <a:tcPr marT="50800" marB="50800" marR="50800" marL="50800"/>
                </a:tc>
              </a:tr>
              <a:tr h="22860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869</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46</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Finance</a:t>
                      </a:r>
                      <a:endParaRPr sz="1400" u="none" cap="none" strike="noStrike"/>
                    </a:p>
                  </a:txBody>
                  <a:tcPr marT="50800" marB="50800" marR="50800" marL="50800"/>
                </a:tc>
              </a:tr>
              <a:tr h="22860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575</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52</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Production</a:t>
                      </a:r>
                      <a:endParaRPr sz="1400" u="none" cap="none" strike="noStrike"/>
                    </a:p>
                  </a:txBody>
                  <a:tcPr marT="50800" marB="50800" marR="50800" marL="50800"/>
                </a:tc>
              </a:tr>
              <a:tr h="22860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678</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60</a:t>
                      </a:r>
                      <a:endParaRPr sz="1400" u="none" cap="none" strike="noStrike"/>
                    </a:p>
                  </a:txBody>
                  <a:tcPr marT="50800" marB="50800" marR="50800" marL="508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3333"/>
                          </a:solidFill>
                          <a:latin typeface="Times New Roman"/>
                          <a:ea typeface="Times New Roman"/>
                          <a:cs typeface="Times New Roman"/>
                          <a:sym typeface="Times New Roman"/>
                        </a:rPr>
                        <a:t>Testing</a:t>
                      </a:r>
                      <a:endParaRPr sz="1400" u="none" cap="none" strike="noStrike"/>
                    </a:p>
                  </a:txBody>
                  <a:tcPr marT="50800" marB="50800" marR="50800" marL="50800"/>
                </a:tc>
              </a:tr>
            </a:tbl>
          </a:graphicData>
        </a:graphic>
      </p:graphicFrame>
      <p:sp>
        <p:nvSpPr>
          <p:cNvPr id="290" name="Google Shape;290;p34"/>
          <p:cNvSpPr txBox="1"/>
          <p:nvPr/>
        </p:nvSpPr>
        <p:spPr>
          <a:xfrm>
            <a:off x="575188" y="1027937"/>
            <a:ext cx="4572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33333"/>
                </a:solidFill>
                <a:latin typeface="Inter"/>
                <a:ea typeface="Inter"/>
                <a:cs typeface="Inter"/>
                <a:sym typeface="Inter"/>
              </a:rPr>
              <a:t>EMPLOYEE table:</a:t>
            </a:r>
            <a:endParaRPr b="0" i="0" sz="1400" u="none" cap="none" strike="noStrike">
              <a:solidFill>
                <a:srgbClr val="000000"/>
              </a:solidFill>
              <a:latin typeface="Arial"/>
              <a:ea typeface="Arial"/>
              <a:cs typeface="Arial"/>
              <a:sym typeface="Arial"/>
            </a:endParaRPr>
          </a:p>
        </p:txBody>
      </p:sp>
      <p:sp>
        <p:nvSpPr>
          <p:cNvPr id="291" name="Google Shape;291;p34"/>
          <p:cNvSpPr txBox="1"/>
          <p:nvPr/>
        </p:nvSpPr>
        <p:spPr>
          <a:xfrm>
            <a:off x="685800" y="4048432"/>
            <a:ext cx="4572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33333"/>
                </a:solidFill>
                <a:latin typeface="Inter"/>
                <a:ea typeface="Inter"/>
                <a:cs typeface="Inter"/>
                <a:sym typeface="Inter"/>
              </a:rPr>
              <a:t>DEPARTMENT table</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5"/>
          <p:cNvSpPr txBox="1"/>
          <p:nvPr/>
        </p:nvSpPr>
        <p:spPr>
          <a:xfrm>
            <a:off x="297426" y="948898"/>
            <a:ext cx="8458200" cy="83099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333333"/>
                </a:solidFill>
                <a:latin typeface="Times New Roman"/>
                <a:ea typeface="Times New Roman"/>
                <a:cs typeface="Times New Roman"/>
                <a:sym typeface="Times New Roman"/>
              </a:rPr>
              <a:t>Now, when these two relations are joined on the common column "EMP_ID", then the resultant relation will look like:</a:t>
            </a:r>
            <a:endParaRPr b="0" i="0" sz="2400" u="none" cap="none" strike="noStrike">
              <a:solidFill>
                <a:srgbClr val="000000"/>
              </a:solidFill>
              <a:latin typeface="Times New Roman"/>
              <a:ea typeface="Times New Roman"/>
              <a:cs typeface="Times New Roman"/>
              <a:sym typeface="Times New Roman"/>
            </a:endParaRPr>
          </a:p>
        </p:txBody>
      </p:sp>
      <p:sp>
        <p:nvSpPr>
          <p:cNvPr id="297" name="Google Shape;297;p35"/>
          <p:cNvSpPr txBox="1"/>
          <p:nvPr/>
        </p:nvSpPr>
        <p:spPr>
          <a:xfrm>
            <a:off x="533400" y="1734138"/>
            <a:ext cx="457200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333333"/>
                </a:solidFill>
                <a:latin typeface="Inter"/>
                <a:ea typeface="Inter"/>
                <a:cs typeface="Inter"/>
                <a:sym typeface="Inter"/>
              </a:rPr>
              <a:t>Employee ⋈ Department</a:t>
            </a:r>
            <a:endParaRPr b="0" i="0" sz="2000" u="none" cap="none" strike="noStrike">
              <a:solidFill>
                <a:srgbClr val="000000"/>
              </a:solidFill>
              <a:latin typeface="Arial"/>
              <a:ea typeface="Arial"/>
              <a:cs typeface="Arial"/>
              <a:sym typeface="Arial"/>
            </a:endParaRPr>
          </a:p>
        </p:txBody>
      </p:sp>
      <p:graphicFrame>
        <p:nvGraphicFramePr>
          <p:cNvPr id="298" name="Google Shape;298;p35"/>
          <p:cNvGraphicFramePr/>
          <p:nvPr/>
        </p:nvGraphicFramePr>
        <p:xfrm>
          <a:off x="533400" y="2175691"/>
          <a:ext cx="3000000" cy="3000000"/>
        </p:xfrm>
        <a:graphic>
          <a:graphicData uri="http://schemas.openxmlformats.org/drawingml/2006/table">
            <a:tbl>
              <a:tblPr>
                <a:noFill/>
                <a:tableStyleId>{B9C5381F-F93A-49BA-A224-3A457CFC6CF1}</a:tableStyleId>
              </a:tblPr>
              <a:tblGrid>
                <a:gridCol w="947200"/>
                <a:gridCol w="1285475"/>
                <a:gridCol w="1082500"/>
                <a:gridCol w="1150150"/>
                <a:gridCol w="1082500"/>
                <a:gridCol w="1420775"/>
              </a:tblGrid>
              <a:tr h="640750">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Times New Roman"/>
                          <a:ea typeface="Times New Roman"/>
                          <a:cs typeface="Times New Roman"/>
                          <a:sym typeface="Times New Roman"/>
                        </a:rPr>
                        <a:t>EMP_ID</a:t>
                      </a:r>
                      <a:endParaRPr sz="1400" u="none" cap="none" strike="noStrike"/>
                    </a:p>
                  </a:txBody>
                  <a:tcPr marT="76200" marB="76200" marR="76200" marL="76200"/>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Times New Roman"/>
                          <a:ea typeface="Times New Roman"/>
                          <a:cs typeface="Times New Roman"/>
                          <a:sym typeface="Times New Roman"/>
                        </a:rPr>
                        <a:t>EMP_NAME</a:t>
                      </a:r>
                      <a:endParaRPr sz="1400" u="none" cap="none" strike="noStrike"/>
                    </a:p>
                  </a:txBody>
                  <a:tcPr marT="76200" marB="76200" marR="76200" marL="76200"/>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Times New Roman"/>
                          <a:ea typeface="Times New Roman"/>
                          <a:cs typeface="Times New Roman"/>
                          <a:sym typeface="Times New Roman"/>
                        </a:rPr>
                        <a:t>EMP_AGE</a:t>
                      </a:r>
                      <a:endParaRPr sz="1400" u="none" cap="none" strike="noStrike"/>
                    </a:p>
                  </a:txBody>
                  <a:tcPr marT="76200" marB="76200" marR="76200" marL="76200"/>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Times New Roman"/>
                          <a:ea typeface="Times New Roman"/>
                          <a:cs typeface="Times New Roman"/>
                          <a:sym typeface="Times New Roman"/>
                        </a:rPr>
                        <a:t>EMP_CITY</a:t>
                      </a:r>
                      <a:endParaRPr sz="1400" u="none" cap="none" strike="noStrike"/>
                    </a:p>
                  </a:txBody>
                  <a:tcPr marT="76200" marB="76200" marR="76200" marL="76200"/>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Times New Roman"/>
                          <a:ea typeface="Times New Roman"/>
                          <a:cs typeface="Times New Roman"/>
                          <a:sym typeface="Times New Roman"/>
                        </a:rPr>
                        <a:t>DEPT_ID</a:t>
                      </a:r>
                      <a:endParaRPr sz="1400" u="none" cap="none" strike="noStrike"/>
                    </a:p>
                  </a:txBody>
                  <a:tcPr marT="76200" marB="76200" marR="76200" marL="76200"/>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Times New Roman"/>
                          <a:ea typeface="Times New Roman"/>
                          <a:cs typeface="Times New Roman"/>
                          <a:sym typeface="Times New Roman"/>
                        </a:rPr>
                        <a:t>DEPT_NAME</a:t>
                      </a:r>
                      <a:endParaRPr sz="1400" u="none" cap="none" strike="noStrike"/>
                    </a:p>
                  </a:txBody>
                  <a:tcPr marT="76200" marB="76200" marR="76200" marL="76200"/>
                </a:tc>
              </a:tr>
              <a:tr h="56447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22</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Denim</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28</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Mumbai</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827</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Sales</a:t>
                      </a:r>
                      <a:endParaRPr sz="1400" u="none" cap="none" strike="noStrike">
                        <a:solidFill>
                          <a:srgbClr val="333333"/>
                        </a:solidFill>
                        <a:latin typeface="Inter"/>
                        <a:ea typeface="Inter"/>
                        <a:cs typeface="Inter"/>
                        <a:sym typeface="Inter"/>
                      </a:endParaRPr>
                    </a:p>
                  </a:txBody>
                  <a:tcPr marT="50800" marB="50800" marR="50800" marL="50800"/>
                </a:tc>
              </a:tr>
              <a:tr h="56447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33</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Alina</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25</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Delhi</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438</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Marketing</a:t>
                      </a:r>
                      <a:endParaRPr sz="1400" u="none" cap="none" strike="noStrike">
                        <a:solidFill>
                          <a:srgbClr val="333333"/>
                        </a:solidFill>
                        <a:latin typeface="Inter"/>
                        <a:ea typeface="Inter"/>
                        <a:cs typeface="Inter"/>
                        <a:sym typeface="Inter"/>
                      </a:endParaRPr>
                    </a:p>
                  </a:txBody>
                  <a:tcPr marT="50800" marB="50800" marR="50800" marL="50800"/>
                </a:tc>
              </a:tr>
              <a:tr h="56447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46</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Stephan</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30</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Bangalore</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869</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Finance</a:t>
                      </a:r>
                      <a:endParaRPr sz="1400" u="none" cap="none" strike="noStrike">
                        <a:solidFill>
                          <a:srgbClr val="333333"/>
                        </a:solidFill>
                        <a:latin typeface="Inter"/>
                        <a:ea typeface="Inter"/>
                        <a:cs typeface="Inter"/>
                        <a:sym typeface="Inter"/>
                      </a:endParaRPr>
                    </a:p>
                  </a:txBody>
                  <a:tcPr marT="50800" marB="50800" marR="50800" marL="50800"/>
                </a:tc>
              </a:tr>
              <a:tr h="56447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52</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Katherine</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36</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Mumbai</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575</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Production</a:t>
                      </a:r>
                      <a:endParaRPr sz="1400" u="none" cap="none" strike="noStrike">
                        <a:solidFill>
                          <a:srgbClr val="333333"/>
                        </a:solidFill>
                        <a:latin typeface="Inter"/>
                        <a:ea typeface="Inter"/>
                        <a:cs typeface="Inter"/>
                        <a:sym typeface="Inter"/>
                      </a:endParaRPr>
                    </a:p>
                  </a:txBody>
                  <a:tcPr marT="50800" marB="50800" marR="50800" marL="50800"/>
                </a:tc>
              </a:tr>
              <a:tr h="56447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60</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Jack</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40</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Noida</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678</a:t>
                      </a:r>
                      <a:endParaRPr sz="1400" u="none" cap="none" strike="noStrike">
                        <a:solidFill>
                          <a:srgbClr val="333333"/>
                        </a:solidFill>
                        <a:latin typeface="Inter"/>
                        <a:ea typeface="Inter"/>
                        <a:cs typeface="Inter"/>
                        <a:sym typeface="Inter"/>
                      </a:endParaRPr>
                    </a:p>
                  </a:txBody>
                  <a:tcPr marT="50800" marB="50800" marR="50800" marL="5080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333333"/>
                          </a:solidFill>
                        </a:rPr>
                        <a:t>Testing</a:t>
                      </a:r>
                      <a:endParaRPr sz="1400" u="none" cap="none" strike="noStrike">
                        <a:solidFill>
                          <a:srgbClr val="333333"/>
                        </a:solidFill>
                        <a:latin typeface="Inter"/>
                        <a:ea typeface="Inter"/>
                        <a:cs typeface="Inter"/>
                        <a:sym typeface="Inter"/>
                      </a:endParaRPr>
                    </a:p>
                  </a:txBody>
                  <a:tcPr marT="50800" marB="50800" marR="50800" marL="50800"/>
                </a:tc>
              </a:tr>
            </a:tbl>
          </a:graphicData>
        </a:graphic>
      </p:graphicFrame>
      <p:sp>
        <p:nvSpPr>
          <p:cNvPr id="299" name="Google Shape;299;p35"/>
          <p:cNvSpPr txBox="1"/>
          <p:nvPr/>
        </p:nvSpPr>
        <p:spPr>
          <a:xfrm>
            <a:off x="762000" y="5793096"/>
            <a:ext cx="813884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333333"/>
                </a:solidFill>
                <a:latin typeface="Times New Roman"/>
                <a:ea typeface="Times New Roman"/>
                <a:cs typeface="Times New Roman"/>
                <a:sym typeface="Times New Roman"/>
              </a:rPr>
              <a:t>Hence, the decomposition is Lossless join decomposition.</a:t>
            </a:r>
            <a:endParaRPr b="1" i="0" sz="2400" u="none" cap="none" strike="noStrike">
              <a:solidFill>
                <a:srgbClr val="000000"/>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6"/>
          <p:cNvSpPr txBox="1"/>
          <p:nvPr/>
        </p:nvSpPr>
        <p:spPr>
          <a:xfrm>
            <a:off x="218768" y="929149"/>
            <a:ext cx="8610600" cy="489364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Times New Roman"/>
                <a:ea typeface="Times New Roman"/>
                <a:cs typeface="Times New Roman"/>
                <a:sym typeface="Times New Roman"/>
              </a:rPr>
              <a:t>Dependency Preserving</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rgbClr val="610B4B"/>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It is an important constraint of the database.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In the dependency preservation, at least one decomposed table must satisfy every dependency.</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If a relation R is decomposed into relation R1 and R2, then the dependencies of R either must be a part of R1 or R2 or must be derivable from the combination of functional dependencies of R1 and R2.</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For example, suppose there is a relation R (A, B, C, D) with functional dependency set (A-&gt;BC). The relational R is decomposed into R1(ABC) and R2(AD) which is dependency preserving because FD A-&gt;BC is a part of relation R1(ABC).</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7"/>
          <p:cNvSpPr txBox="1"/>
          <p:nvPr/>
        </p:nvSpPr>
        <p:spPr>
          <a:xfrm>
            <a:off x="380309" y="914400"/>
            <a:ext cx="8458200" cy="2585323"/>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Times New Roman"/>
                <a:ea typeface="Times New Roman"/>
                <a:cs typeface="Times New Roman"/>
                <a:sym typeface="Times New Roman"/>
              </a:rPr>
              <a:t>Fifth normal form (5NF)</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A relation is in 5NF if it is in 4NF and not contains any join dependency and joining should be lossless.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5NF is satisfied when all the tables are broken into as many tables as possible in order to avoid redundancy.</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5NF is also known as Project-join normal form (PJ/NF).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pic>
        <p:nvPicPr>
          <p:cNvPr id="310" name="Google Shape;310;p37"/>
          <p:cNvPicPr preferRelativeResize="0"/>
          <p:nvPr/>
        </p:nvPicPr>
        <p:blipFill rotWithShape="1">
          <a:blip r:embed="rId3">
            <a:alphaModFix/>
          </a:blip>
          <a:srcRect b="0" l="0" r="0" t="0"/>
          <a:stretch/>
        </p:blipFill>
        <p:spPr>
          <a:xfrm>
            <a:off x="855406" y="3246926"/>
            <a:ext cx="7508006" cy="330627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8"/>
          <p:cNvSpPr txBox="1"/>
          <p:nvPr/>
        </p:nvSpPr>
        <p:spPr>
          <a:xfrm>
            <a:off x="351504" y="1300316"/>
            <a:ext cx="8382000" cy="473975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333333"/>
                </a:solidFill>
                <a:latin typeface="Times New Roman"/>
                <a:ea typeface="Times New Roman"/>
                <a:cs typeface="Times New Roman"/>
                <a:sym typeface="Times New Roman"/>
              </a:rPr>
              <a:t>In the above table, John takes both Computer and Math class for Semester 1 but he doesn't take Math class for Semester 2.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333333"/>
                </a:solidFill>
                <a:latin typeface="Times New Roman"/>
                <a:ea typeface="Times New Roman"/>
                <a:cs typeface="Times New Roman"/>
                <a:sym typeface="Times New Roman"/>
              </a:rPr>
              <a:t>In this case, combination of all these fields required to identify a valid data.</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rgbClr val="333333"/>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333333"/>
                </a:solidFill>
                <a:latin typeface="Times New Roman"/>
                <a:ea typeface="Times New Roman"/>
                <a:cs typeface="Times New Roman"/>
                <a:sym typeface="Times New Roman"/>
              </a:rPr>
              <a:t>Suppose we add a new Semester as Semester 3 but do not know about the subject and who will be taking that subject so we leave Lecturer and Subject as NULL. But all three columns together acts as a primary key, so we can't leave other two columns blank.</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rgbClr val="333333"/>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333333"/>
                </a:solidFill>
                <a:latin typeface="Times New Roman"/>
                <a:ea typeface="Times New Roman"/>
                <a:cs typeface="Times New Roman"/>
                <a:sym typeface="Times New Roman"/>
              </a:rPr>
              <a:t>So to make the above table into 5NF, we can decompose it into three relations P1, P2 &amp; P3: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id="320" name="Google Shape;320;p39"/>
          <p:cNvPicPr preferRelativeResize="0"/>
          <p:nvPr/>
        </p:nvPicPr>
        <p:blipFill rotWithShape="1">
          <a:blip r:embed="rId3">
            <a:alphaModFix/>
          </a:blip>
          <a:srcRect b="0" l="0" r="0" t="0"/>
          <a:stretch/>
        </p:blipFill>
        <p:spPr>
          <a:xfrm>
            <a:off x="457200" y="1146725"/>
            <a:ext cx="7290619" cy="1786057"/>
          </a:xfrm>
          <a:prstGeom prst="rect">
            <a:avLst/>
          </a:prstGeom>
          <a:noFill/>
          <a:ln>
            <a:noFill/>
          </a:ln>
        </p:spPr>
      </p:pic>
      <p:pic>
        <p:nvPicPr>
          <p:cNvPr id="321" name="Google Shape;321;p39"/>
          <p:cNvPicPr preferRelativeResize="0"/>
          <p:nvPr/>
        </p:nvPicPr>
        <p:blipFill rotWithShape="1">
          <a:blip r:embed="rId4">
            <a:alphaModFix/>
          </a:blip>
          <a:srcRect b="0" l="0" r="0" t="0"/>
          <a:stretch/>
        </p:blipFill>
        <p:spPr>
          <a:xfrm>
            <a:off x="381000" y="3177003"/>
            <a:ext cx="7366819" cy="3415525"/>
          </a:xfrm>
          <a:prstGeom prst="rect">
            <a:avLst/>
          </a:prstGeom>
          <a:noFill/>
          <a:ln>
            <a:noFill/>
          </a:ln>
        </p:spPr>
      </p:pic>
      <p:sp>
        <p:nvSpPr>
          <p:cNvPr id="322" name="Google Shape;322;p39"/>
          <p:cNvSpPr txBox="1"/>
          <p:nvPr/>
        </p:nvSpPr>
        <p:spPr>
          <a:xfrm>
            <a:off x="381000" y="902504"/>
            <a:ext cx="32004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P1</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0"/>
          <p:cNvSpPr txBox="1"/>
          <p:nvPr/>
        </p:nvSpPr>
        <p:spPr>
          <a:xfrm>
            <a:off x="722443" y="945734"/>
            <a:ext cx="352509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Times New Roman"/>
                <a:ea typeface="Times New Roman"/>
                <a:cs typeface="Times New Roman"/>
                <a:sym typeface="Times New Roman"/>
              </a:rPr>
              <a:t>Summary</a:t>
            </a:r>
            <a:endParaRPr b="1" i="0" sz="2400" u="none" cap="none" strike="noStrike">
              <a:solidFill>
                <a:srgbClr val="000000"/>
              </a:solidFill>
              <a:latin typeface="Times New Roman"/>
              <a:ea typeface="Times New Roman"/>
              <a:cs typeface="Times New Roman"/>
              <a:sym typeface="Times New Roman"/>
            </a:endParaRPr>
          </a:p>
        </p:txBody>
      </p:sp>
      <p:graphicFrame>
        <p:nvGraphicFramePr>
          <p:cNvPr id="328" name="Google Shape;328;p40"/>
          <p:cNvGraphicFramePr/>
          <p:nvPr/>
        </p:nvGraphicFramePr>
        <p:xfrm>
          <a:off x="299883" y="1407399"/>
          <a:ext cx="3000000" cy="3000000"/>
        </p:xfrm>
        <a:graphic>
          <a:graphicData uri="http://schemas.openxmlformats.org/drawingml/2006/table">
            <a:tbl>
              <a:tblPr bandRow="1" firstCol="1" firstRow="1">
                <a:noFill/>
                <a:tableStyleId>{B9C5381F-F93A-49BA-A224-3A457CFC6CF1}</a:tableStyleId>
              </a:tblPr>
              <a:tblGrid>
                <a:gridCol w="1909500"/>
                <a:gridCol w="6767475"/>
              </a:tblGrid>
              <a:tr h="537050">
                <a:tc>
                  <a:txBody>
                    <a:bodyPr/>
                    <a:lstStyle/>
                    <a:p>
                      <a:pPr indent="0" lvl="0" marL="0" marR="0" rtl="0" algn="ctr">
                        <a:lnSpc>
                          <a:spcPct val="107000"/>
                        </a:lnSpc>
                        <a:spcBef>
                          <a:spcPts val="0"/>
                        </a:spcBef>
                        <a:spcAft>
                          <a:spcPts val="0"/>
                        </a:spcAft>
                        <a:buClr>
                          <a:srgbClr val="000000"/>
                        </a:buClr>
                        <a:buSzPts val="2400"/>
                        <a:buFont typeface="Arial"/>
                        <a:buNone/>
                      </a:pPr>
                      <a:r>
                        <a:rPr b="0" lang="en-US" sz="2400" u="none" cap="none" strike="noStrike">
                          <a:solidFill>
                            <a:schemeClr val="dk1"/>
                          </a:solidFill>
                          <a:latin typeface="Times New Roman"/>
                          <a:ea typeface="Times New Roman"/>
                          <a:cs typeface="Times New Roman"/>
                          <a:sym typeface="Times New Roman"/>
                        </a:rPr>
                        <a:t>Normal Form</a:t>
                      </a:r>
                      <a:endParaRPr b="0" sz="2000" u="none" cap="none" strike="noStrike">
                        <a:solidFill>
                          <a:schemeClr val="dk1"/>
                        </a:solidFill>
                        <a:latin typeface="Times New Roman"/>
                        <a:ea typeface="Times New Roman"/>
                        <a:cs typeface="Times New Roman"/>
                        <a:sym typeface="Times New Roman"/>
                      </a:endParaRPr>
                    </a:p>
                  </a:txBody>
                  <a:tcPr marT="114300" marB="114300" marR="114300" marL="114300"/>
                </a:tc>
                <a:tc>
                  <a:txBody>
                    <a:bodyPr/>
                    <a:lstStyle/>
                    <a:p>
                      <a:pPr indent="0" lvl="0" marL="0" marR="0" rtl="0" algn="ctr">
                        <a:lnSpc>
                          <a:spcPct val="107000"/>
                        </a:lnSpc>
                        <a:spcBef>
                          <a:spcPts val="0"/>
                        </a:spcBef>
                        <a:spcAft>
                          <a:spcPts val="0"/>
                        </a:spcAft>
                        <a:buClr>
                          <a:srgbClr val="000000"/>
                        </a:buClr>
                        <a:buSzPts val="2400"/>
                        <a:buFont typeface="Arial"/>
                        <a:buNone/>
                      </a:pPr>
                      <a:r>
                        <a:rPr b="0" lang="en-US" sz="2400" u="none" cap="none" strike="noStrike">
                          <a:solidFill>
                            <a:schemeClr val="dk1"/>
                          </a:solidFill>
                          <a:latin typeface="Times New Roman"/>
                          <a:ea typeface="Times New Roman"/>
                          <a:cs typeface="Times New Roman"/>
                          <a:sym typeface="Times New Roman"/>
                        </a:rPr>
                        <a:t>Description</a:t>
                      </a:r>
                      <a:endParaRPr b="0" sz="2000" u="none" cap="none" strike="noStrike">
                        <a:solidFill>
                          <a:schemeClr val="dk1"/>
                        </a:solidFill>
                        <a:latin typeface="Times New Roman"/>
                        <a:ea typeface="Times New Roman"/>
                        <a:cs typeface="Times New Roman"/>
                        <a:sym typeface="Times New Roman"/>
                      </a:endParaRPr>
                    </a:p>
                  </a:txBody>
                  <a:tcPr marT="114300" marB="114300" marR="114300" marL="114300"/>
                </a:tc>
              </a:tr>
              <a:tr h="426750">
                <a:tc>
                  <a:txBody>
                    <a:bodyPr/>
                    <a:lstStyle/>
                    <a:p>
                      <a:pPr indent="0" lvl="0" marL="0" marR="0" rtl="0" algn="ctr">
                        <a:lnSpc>
                          <a:spcPct val="107000"/>
                        </a:lnSpc>
                        <a:spcBef>
                          <a:spcPts val="0"/>
                        </a:spcBef>
                        <a:spcAft>
                          <a:spcPts val="0"/>
                        </a:spcAft>
                        <a:buClr>
                          <a:srgbClr val="000000"/>
                        </a:buClr>
                        <a:buSzPts val="2000"/>
                        <a:buFont typeface="Arial"/>
                        <a:buNone/>
                      </a:pPr>
                      <a:r>
                        <a:rPr b="0" lang="en-US" sz="2000" u="sng" cap="none" strike="noStrike">
                          <a:solidFill>
                            <a:schemeClr val="dk1"/>
                          </a:solidFill>
                          <a:latin typeface="Times New Roman"/>
                          <a:ea typeface="Times New Roman"/>
                          <a:cs typeface="Times New Roman"/>
                          <a:sym typeface="Times New Roman"/>
                          <a:hlinkClick r:id="rId3">
                            <a:extLst>
                              <a:ext uri="{A12FA001-AC4F-418D-AE19-62706E023703}">
                                <ahyp:hlinkClr val="tx"/>
                              </a:ext>
                            </a:extLst>
                          </a:hlinkClick>
                        </a:rPr>
                        <a:t>1NF</a:t>
                      </a:r>
                      <a:endParaRPr b="0" sz="1800" u="none" cap="none" strike="noStrike">
                        <a:solidFill>
                          <a:schemeClr val="dk1"/>
                        </a:solidFill>
                        <a:latin typeface="Times New Roman"/>
                        <a:ea typeface="Times New Roman"/>
                        <a:cs typeface="Times New Roman"/>
                        <a:sym typeface="Times New Roman"/>
                      </a:endParaRPr>
                    </a:p>
                  </a:txBody>
                  <a:tcPr marT="76200" marB="76200" marR="76200" marL="76200"/>
                </a:tc>
                <a:tc>
                  <a:txBody>
                    <a:bodyPr/>
                    <a:lstStyle/>
                    <a:p>
                      <a:pPr indent="0" lvl="0" marL="0" marR="0" rtl="0" algn="just">
                        <a:lnSpc>
                          <a:spcPct val="107000"/>
                        </a:lnSpc>
                        <a:spcBef>
                          <a:spcPts val="0"/>
                        </a:spcBef>
                        <a:spcAft>
                          <a:spcPts val="0"/>
                        </a:spcAft>
                        <a:buClr>
                          <a:srgbClr val="000000"/>
                        </a:buClr>
                        <a:buSzPts val="2000"/>
                        <a:buFont typeface="Arial"/>
                        <a:buNone/>
                      </a:pPr>
                      <a:r>
                        <a:rPr b="0" lang="en-US" sz="2000" u="none" cap="none" strike="noStrike">
                          <a:solidFill>
                            <a:schemeClr val="dk1"/>
                          </a:solidFill>
                          <a:latin typeface="Times New Roman"/>
                          <a:ea typeface="Times New Roman"/>
                          <a:cs typeface="Times New Roman"/>
                          <a:sym typeface="Times New Roman"/>
                        </a:rPr>
                        <a:t>A relation is in 1NF if it contains an atomic value.</a:t>
                      </a:r>
                      <a:endParaRPr b="0" sz="1800" u="none" cap="none" strike="noStrike">
                        <a:solidFill>
                          <a:schemeClr val="dk1"/>
                        </a:solidFill>
                        <a:latin typeface="Times New Roman"/>
                        <a:ea typeface="Times New Roman"/>
                        <a:cs typeface="Times New Roman"/>
                        <a:sym typeface="Times New Roman"/>
                      </a:endParaRPr>
                    </a:p>
                  </a:txBody>
                  <a:tcPr marT="76200" marB="76200" marR="76200" marL="76200"/>
                </a:tc>
              </a:tr>
              <a:tr h="604950">
                <a:tc>
                  <a:txBody>
                    <a:bodyPr/>
                    <a:lstStyle/>
                    <a:p>
                      <a:pPr indent="0" lvl="0" marL="0" marR="0" rtl="0" algn="ctr">
                        <a:lnSpc>
                          <a:spcPct val="107000"/>
                        </a:lnSpc>
                        <a:spcBef>
                          <a:spcPts val="0"/>
                        </a:spcBef>
                        <a:spcAft>
                          <a:spcPts val="0"/>
                        </a:spcAft>
                        <a:buClr>
                          <a:srgbClr val="000000"/>
                        </a:buClr>
                        <a:buSzPts val="2000"/>
                        <a:buFont typeface="Arial"/>
                        <a:buNone/>
                      </a:pPr>
                      <a:r>
                        <a:rPr b="0" lang="en-US" sz="2000" u="sng" cap="none" strike="noStrike">
                          <a:solidFill>
                            <a:schemeClr val="dk1"/>
                          </a:solidFill>
                          <a:latin typeface="Times New Roman"/>
                          <a:ea typeface="Times New Roman"/>
                          <a:cs typeface="Times New Roman"/>
                          <a:sym typeface="Times New Roman"/>
                          <a:hlinkClick r:id="rId4">
                            <a:extLst>
                              <a:ext uri="{A12FA001-AC4F-418D-AE19-62706E023703}">
                                <ahyp:hlinkClr val="tx"/>
                              </a:ext>
                            </a:extLst>
                          </a:hlinkClick>
                        </a:rPr>
                        <a:t>2NF</a:t>
                      </a:r>
                      <a:endParaRPr b="0" sz="1800" u="none" cap="none" strike="noStrike">
                        <a:solidFill>
                          <a:schemeClr val="dk1"/>
                        </a:solidFill>
                        <a:latin typeface="Times New Roman"/>
                        <a:ea typeface="Times New Roman"/>
                        <a:cs typeface="Times New Roman"/>
                        <a:sym typeface="Times New Roman"/>
                      </a:endParaRPr>
                    </a:p>
                  </a:txBody>
                  <a:tcPr marT="76200" marB="76200" marR="76200" marL="76200"/>
                </a:tc>
                <a:tc>
                  <a:txBody>
                    <a:bodyPr/>
                    <a:lstStyle/>
                    <a:p>
                      <a:pPr indent="0" lvl="0" marL="0" marR="0" rtl="0" algn="just">
                        <a:lnSpc>
                          <a:spcPct val="107000"/>
                        </a:lnSpc>
                        <a:spcBef>
                          <a:spcPts val="0"/>
                        </a:spcBef>
                        <a:spcAft>
                          <a:spcPts val="0"/>
                        </a:spcAft>
                        <a:buClr>
                          <a:srgbClr val="000000"/>
                        </a:buClr>
                        <a:buSzPts val="2000"/>
                        <a:buFont typeface="Arial"/>
                        <a:buNone/>
                      </a:pPr>
                      <a:r>
                        <a:rPr b="0" lang="en-US" sz="2000" u="none" cap="none" strike="noStrike">
                          <a:solidFill>
                            <a:schemeClr val="dk1"/>
                          </a:solidFill>
                          <a:latin typeface="Times New Roman"/>
                          <a:ea typeface="Times New Roman"/>
                          <a:cs typeface="Times New Roman"/>
                          <a:sym typeface="Times New Roman"/>
                        </a:rPr>
                        <a:t>A relation will be in 2NF if it is in 1NF and all non-key attributes are fully functional dependent on the primary key.</a:t>
                      </a:r>
                      <a:endParaRPr b="0" sz="1800" u="none" cap="none" strike="noStrike">
                        <a:solidFill>
                          <a:schemeClr val="dk1"/>
                        </a:solidFill>
                        <a:latin typeface="Times New Roman"/>
                        <a:ea typeface="Times New Roman"/>
                        <a:cs typeface="Times New Roman"/>
                        <a:sym typeface="Times New Roman"/>
                      </a:endParaRPr>
                    </a:p>
                  </a:txBody>
                  <a:tcPr marT="76200" marB="76200" marR="76200" marL="76200"/>
                </a:tc>
              </a:tr>
              <a:tr h="426750">
                <a:tc>
                  <a:txBody>
                    <a:bodyPr/>
                    <a:lstStyle/>
                    <a:p>
                      <a:pPr indent="0" lvl="0" marL="0" marR="0" rtl="0" algn="ctr">
                        <a:lnSpc>
                          <a:spcPct val="107000"/>
                        </a:lnSpc>
                        <a:spcBef>
                          <a:spcPts val="0"/>
                        </a:spcBef>
                        <a:spcAft>
                          <a:spcPts val="0"/>
                        </a:spcAft>
                        <a:buClr>
                          <a:srgbClr val="000000"/>
                        </a:buClr>
                        <a:buSzPts val="2000"/>
                        <a:buFont typeface="Arial"/>
                        <a:buNone/>
                      </a:pPr>
                      <a:r>
                        <a:rPr b="0" lang="en-US" sz="2000" u="sng" cap="none" strike="noStrike">
                          <a:solidFill>
                            <a:schemeClr val="dk1"/>
                          </a:solidFill>
                          <a:latin typeface="Times New Roman"/>
                          <a:ea typeface="Times New Roman"/>
                          <a:cs typeface="Times New Roman"/>
                          <a:sym typeface="Times New Roman"/>
                          <a:hlinkClick r:id="rId5">
                            <a:extLst>
                              <a:ext uri="{A12FA001-AC4F-418D-AE19-62706E023703}">
                                <ahyp:hlinkClr val="tx"/>
                              </a:ext>
                            </a:extLst>
                          </a:hlinkClick>
                        </a:rPr>
                        <a:t>3NF</a:t>
                      </a:r>
                      <a:endParaRPr b="0" sz="1800" u="none" cap="none" strike="noStrike">
                        <a:solidFill>
                          <a:schemeClr val="dk1"/>
                        </a:solidFill>
                        <a:latin typeface="Times New Roman"/>
                        <a:ea typeface="Times New Roman"/>
                        <a:cs typeface="Times New Roman"/>
                        <a:sym typeface="Times New Roman"/>
                      </a:endParaRPr>
                    </a:p>
                  </a:txBody>
                  <a:tcPr marT="76200" marB="76200" marR="76200" marL="76200"/>
                </a:tc>
                <a:tc>
                  <a:txBody>
                    <a:bodyPr/>
                    <a:lstStyle/>
                    <a:p>
                      <a:pPr indent="0" lvl="0" marL="0" marR="0" rtl="0" algn="just">
                        <a:lnSpc>
                          <a:spcPct val="107000"/>
                        </a:lnSpc>
                        <a:spcBef>
                          <a:spcPts val="0"/>
                        </a:spcBef>
                        <a:spcAft>
                          <a:spcPts val="0"/>
                        </a:spcAft>
                        <a:buClr>
                          <a:srgbClr val="000000"/>
                        </a:buClr>
                        <a:buSzPts val="2000"/>
                        <a:buFont typeface="Arial"/>
                        <a:buNone/>
                      </a:pPr>
                      <a:r>
                        <a:rPr b="0" lang="en-US" sz="2000" u="none" cap="none" strike="noStrike">
                          <a:solidFill>
                            <a:schemeClr val="dk1"/>
                          </a:solidFill>
                          <a:latin typeface="Times New Roman"/>
                          <a:ea typeface="Times New Roman"/>
                          <a:cs typeface="Times New Roman"/>
                          <a:sym typeface="Times New Roman"/>
                        </a:rPr>
                        <a:t>A relation will be in 3NF if it is in 2NF and no transition dependency exists.</a:t>
                      </a:r>
                      <a:endParaRPr b="0" sz="1800" u="none" cap="none" strike="noStrike">
                        <a:solidFill>
                          <a:schemeClr val="dk1"/>
                        </a:solidFill>
                        <a:latin typeface="Times New Roman"/>
                        <a:ea typeface="Times New Roman"/>
                        <a:cs typeface="Times New Roman"/>
                        <a:sym typeface="Times New Roman"/>
                      </a:endParaRPr>
                    </a:p>
                  </a:txBody>
                  <a:tcPr marT="76200" marB="76200" marR="76200" marL="76200"/>
                </a:tc>
              </a:tr>
              <a:tr h="426750">
                <a:tc>
                  <a:txBody>
                    <a:bodyPr/>
                    <a:lstStyle/>
                    <a:p>
                      <a:pPr indent="0" lvl="0" marL="0" marR="0" rtl="0" algn="ctr">
                        <a:lnSpc>
                          <a:spcPct val="107000"/>
                        </a:lnSpc>
                        <a:spcBef>
                          <a:spcPts val="0"/>
                        </a:spcBef>
                        <a:spcAft>
                          <a:spcPts val="0"/>
                        </a:spcAft>
                        <a:buClr>
                          <a:srgbClr val="000000"/>
                        </a:buClr>
                        <a:buSzPts val="2000"/>
                        <a:buFont typeface="Arial"/>
                        <a:buNone/>
                      </a:pPr>
                      <a:r>
                        <a:rPr b="0" lang="en-US" sz="2000" u="none" cap="none" strike="noStrike">
                          <a:solidFill>
                            <a:schemeClr val="dk1"/>
                          </a:solidFill>
                          <a:latin typeface="Times New Roman"/>
                          <a:ea typeface="Times New Roman"/>
                          <a:cs typeface="Times New Roman"/>
                          <a:sym typeface="Times New Roman"/>
                        </a:rPr>
                        <a:t>BCNF</a:t>
                      </a:r>
                      <a:endParaRPr b="0" sz="1800" u="none" cap="none" strike="noStrike">
                        <a:solidFill>
                          <a:schemeClr val="dk1"/>
                        </a:solidFill>
                        <a:latin typeface="Times New Roman"/>
                        <a:ea typeface="Times New Roman"/>
                        <a:cs typeface="Times New Roman"/>
                        <a:sym typeface="Times New Roman"/>
                      </a:endParaRPr>
                    </a:p>
                  </a:txBody>
                  <a:tcPr marT="76200" marB="76200" marR="76200" marL="76200"/>
                </a:tc>
                <a:tc>
                  <a:txBody>
                    <a:bodyPr/>
                    <a:lstStyle/>
                    <a:p>
                      <a:pPr indent="0" lvl="0" marL="0" marR="0" rtl="0" algn="just">
                        <a:lnSpc>
                          <a:spcPct val="107000"/>
                        </a:lnSpc>
                        <a:spcBef>
                          <a:spcPts val="0"/>
                        </a:spcBef>
                        <a:spcAft>
                          <a:spcPts val="0"/>
                        </a:spcAft>
                        <a:buClr>
                          <a:srgbClr val="000000"/>
                        </a:buClr>
                        <a:buSzPts val="2000"/>
                        <a:buFont typeface="Arial"/>
                        <a:buNone/>
                      </a:pPr>
                      <a:r>
                        <a:rPr b="0" lang="en-US" sz="2000" u="none" cap="none" strike="noStrike">
                          <a:solidFill>
                            <a:schemeClr val="dk1"/>
                          </a:solidFill>
                          <a:latin typeface="Times New Roman"/>
                          <a:ea typeface="Times New Roman"/>
                          <a:cs typeface="Times New Roman"/>
                          <a:sym typeface="Times New Roman"/>
                        </a:rPr>
                        <a:t>A stronger definition of 3NF is known as Boyce Codd's normal form.</a:t>
                      </a:r>
                      <a:endParaRPr b="0" sz="1800" u="none" cap="none" strike="noStrike">
                        <a:solidFill>
                          <a:schemeClr val="dk1"/>
                        </a:solidFill>
                        <a:latin typeface="Times New Roman"/>
                        <a:ea typeface="Times New Roman"/>
                        <a:cs typeface="Times New Roman"/>
                        <a:sym typeface="Times New Roman"/>
                      </a:endParaRPr>
                    </a:p>
                  </a:txBody>
                  <a:tcPr marT="76200" marB="76200" marR="76200" marL="76200"/>
                </a:tc>
              </a:tr>
              <a:tr h="604950">
                <a:tc>
                  <a:txBody>
                    <a:bodyPr/>
                    <a:lstStyle/>
                    <a:p>
                      <a:pPr indent="0" lvl="0" marL="0" marR="0" rtl="0" algn="ctr">
                        <a:lnSpc>
                          <a:spcPct val="107000"/>
                        </a:lnSpc>
                        <a:spcBef>
                          <a:spcPts val="0"/>
                        </a:spcBef>
                        <a:spcAft>
                          <a:spcPts val="0"/>
                        </a:spcAft>
                        <a:buClr>
                          <a:srgbClr val="000000"/>
                        </a:buClr>
                        <a:buSzPts val="2000"/>
                        <a:buFont typeface="Arial"/>
                        <a:buNone/>
                      </a:pPr>
                      <a:r>
                        <a:rPr b="0" lang="en-US" sz="2000" u="sng" cap="none" strike="noStrike">
                          <a:solidFill>
                            <a:schemeClr val="dk1"/>
                          </a:solidFill>
                          <a:latin typeface="Times New Roman"/>
                          <a:ea typeface="Times New Roman"/>
                          <a:cs typeface="Times New Roman"/>
                          <a:sym typeface="Times New Roman"/>
                          <a:hlinkClick r:id="rId6">
                            <a:extLst>
                              <a:ext uri="{A12FA001-AC4F-418D-AE19-62706E023703}">
                                <ahyp:hlinkClr val="tx"/>
                              </a:ext>
                            </a:extLst>
                          </a:hlinkClick>
                        </a:rPr>
                        <a:t>4NF</a:t>
                      </a:r>
                      <a:endParaRPr b="0" sz="1800" u="none" cap="none" strike="noStrike">
                        <a:solidFill>
                          <a:schemeClr val="dk1"/>
                        </a:solidFill>
                        <a:latin typeface="Times New Roman"/>
                        <a:ea typeface="Times New Roman"/>
                        <a:cs typeface="Times New Roman"/>
                        <a:sym typeface="Times New Roman"/>
                      </a:endParaRPr>
                    </a:p>
                  </a:txBody>
                  <a:tcPr marT="76200" marB="76200" marR="76200" marL="76200"/>
                </a:tc>
                <a:tc>
                  <a:txBody>
                    <a:bodyPr/>
                    <a:lstStyle/>
                    <a:p>
                      <a:pPr indent="0" lvl="0" marL="0" marR="0" rtl="0" algn="just">
                        <a:lnSpc>
                          <a:spcPct val="107000"/>
                        </a:lnSpc>
                        <a:spcBef>
                          <a:spcPts val="0"/>
                        </a:spcBef>
                        <a:spcAft>
                          <a:spcPts val="0"/>
                        </a:spcAft>
                        <a:buClr>
                          <a:srgbClr val="000000"/>
                        </a:buClr>
                        <a:buSzPts val="2000"/>
                        <a:buFont typeface="Arial"/>
                        <a:buNone/>
                      </a:pPr>
                      <a:r>
                        <a:rPr b="0" lang="en-US" sz="2000" u="none" cap="none" strike="noStrike">
                          <a:solidFill>
                            <a:schemeClr val="dk1"/>
                          </a:solidFill>
                          <a:latin typeface="Times New Roman"/>
                          <a:ea typeface="Times New Roman"/>
                          <a:cs typeface="Times New Roman"/>
                          <a:sym typeface="Times New Roman"/>
                        </a:rPr>
                        <a:t>A relation will be in 4NF if it is in Boyce Codd's normal form and has no multi-valued dependency.</a:t>
                      </a:r>
                      <a:endParaRPr b="0" sz="1800" u="none" cap="none" strike="noStrike">
                        <a:solidFill>
                          <a:schemeClr val="dk1"/>
                        </a:solidFill>
                        <a:latin typeface="Times New Roman"/>
                        <a:ea typeface="Times New Roman"/>
                        <a:cs typeface="Times New Roman"/>
                        <a:sym typeface="Times New Roman"/>
                      </a:endParaRPr>
                    </a:p>
                  </a:txBody>
                  <a:tcPr marT="76200" marB="76200" marR="76200" marL="76200"/>
                </a:tc>
              </a:tr>
              <a:tr h="604950">
                <a:tc>
                  <a:txBody>
                    <a:bodyPr/>
                    <a:lstStyle/>
                    <a:p>
                      <a:pPr indent="0" lvl="0" marL="0" marR="0" rtl="0" algn="ctr">
                        <a:lnSpc>
                          <a:spcPct val="107000"/>
                        </a:lnSpc>
                        <a:spcBef>
                          <a:spcPts val="0"/>
                        </a:spcBef>
                        <a:spcAft>
                          <a:spcPts val="0"/>
                        </a:spcAft>
                        <a:buClr>
                          <a:srgbClr val="000000"/>
                        </a:buClr>
                        <a:buSzPts val="2000"/>
                        <a:buFont typeface="Arial"/>
                        <a:buNone/>
                      </a:pPr>
                      <a:r>
                        <a:rPr b="0" lang="en-US" sz="2000" u="sng" cap="none" strike="noStrike">
                          <a:solidFill>
                            <a:schemeClr val="dk1"/>
                          </a:solidFill>
                          <a:latin typeface="Times New Roman"/>
                          <a:ea typeface="Times New Roman"/>
                          <a:cs typeface="Times New Roman"/>
                          <a:sym typeface="Times New Roman"/>
                          <a:hlinkClick r:id="rId7">
                            <a:extLst>
                              <a:ext uri="{A12FA001-AC4F-418D-AE19-62706E023703}">
                                <ahyp:hlinkClr val="tx"/>
                              </a:ext>
                            </a:extLst>
                          </a:hlinkClick>
                        </a:rPr>
                        <a:t>5NF</a:t>
                      </a:r>
                      <a:endParaRPr b="0" sz="1800" u="none" cap="none" strike="noStrike">
                        <a:solidFill>
                          <a:schemeClr val="dk1"/>
                        </a:solidFill>
                        <a:latin typeface="Times New Roman"/>
                        <a:ea typeface="Times New Roman"/>
                        <a:cs typeface="Times New Roman"/>
                        <a:sym typeface="Times New Roman"/>
                      </a:endParaRPr>
                    </a:p>
                  </a:txBody>
                  <a:tcPr marT="76200" marB="76200" marR="76200" marL="76200"/>
                </a:tc>
                <a:tc>
                  <a:txBody>
                    <a:bodyPr/>
                    <a:lstStyle/>
                    <a:p>
                      <a:pPr indent="0" lvl="0" marL="0" marR="0" rtl="0" algn="just">
                        <a:lnSpc>
                          <a:spcPct val="107000"/>
                        </a:lnSpc>
                        <a:spcBef>
                          <a:spcPts val="0"/>
                        </a:spcBef>
                        <a:spcAft>
                          <a:spcPts val="0"/>
                        </a:spcAft>
                        <a:buClr>
                          <a:srgbClr val="000000"/>
                        </a:buClr>
                        <a:buSzPts val="2000"/>
                        <a:buFont typeface="Arial"/>
                        <a:buNone/>
                      </a:pPr>
                      <a:r>
                        <a:rPr b="0" lang="en-US" sz="2000" u="none" cap="none" strike="noStrike">
                          <a:solidFill>
                            <a:schemeClr val="dk1"/>
                          </a:solidFill>
                          <a:latin typeface="Times New Roman"/>
                          <a:ea typeface="Times New Roman"/>
                          <a:cs typeface="Times New Roman"/>
                          <a:sym typeface="Times New Roman"/>
                        </a:rPr>
                        <a:t>A relation is in 5NF. If it is in 4NF and does not contain any join dependency, joining should be lossless.</a:t>
                      </a:r>
                      <a:endParaRPr b="0" sz="1800" u="none" cap="none" strike="noStrike">
                        <a:solidFill>
                          <a:schemeClr val="dk1"/>
                        </a:solidFill>
                        <a:latin typeface="Times New Roman"/>
                        <a:ea typeface="Times New Roman"/>
                        <a:cs typeface="Times New Roman"/>
                        <a:sym typeface="Times New Roman"/>
                      </a:endParaRPr>
                    </a:p>
                  </a:txBody>
                  <a:tcPr marT="76200" marB="76200" marR="76200" marL="76200"/>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2018-03-07T17:43:46Z</dcterms:created>
  <dc:creator>User</dc:creator>
</cp:coreProperties>
</file>