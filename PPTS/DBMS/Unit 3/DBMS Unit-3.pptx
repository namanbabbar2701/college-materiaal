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6858000" cx="9144000"/>
  <p:notesSz cx="6888150" cy="10018700"/>
  <p:embeddedFontLst>
    <p:embeddedFont>
      <p:font typeface="Libre Baskerville"/>
      <p:regular r:id="rId58"/>
      <p:bold r:id="rId59"/>
      <p: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1" roundtripDataSignature="AMtx7mi444r1HtFdqUXGeTGH8s1Tusn1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ibreBaskerville-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LibreBaskerville-bold.fntdata"/><Relationship Id="rId14" Type="http://schemas.openxmlformats.org/officeDocument/2006/relationships/slide" Target="slides/slide9.xml"/><Relationship Id="rId58" Type="http://schemas.openxmlformats.org/officeDocument/2006/relationships/font" Target="fonts/LibreBaskerville-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84871" cy="502676"/>
          </a:xfrm>
          <a:prstGeom prst="rect">
            <a:avLst/>
          </a:prstGeom>
          <a:noFill/>
          <a:ln>
            <a:noFill/>
          </a:ln>
        </p:spPr>
        <p:txBody>
          <a:bodyPr anchorCtr="0" anchor="t" bIns="48300" lIns="96600" spcFirstLastPara="1" rIns="96600" wrap="square" tIns="483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01698" y="0"/>
            <a:ext cx="2984871" cy="502676"/>
          </a:xfrm>
          <a:prstGeom prst="rect">
            <a:avLst/>
          </a:prstGeom>
          <a:noFill/>
          <a:ln>
            <a:noFill/>
          </a:ln>
        </p:spPr>
        <p:txBody>
          <a:bodyPr anchorCtr="0" anchor="t" bIns="48300" lIns="96600" spcFirstLastPara="1" rIns="96600" wrap="square" tIns="48300">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516039"/>
            <a:ext cx="2984871" cy="502674"/>
          </a:xfrm>
          <a:prstGeom prst="rect">
            <a:avLst/>
          </a:prstGeom>
          <a:noFill/>
          <a:ln>
            <a:noFill/>
          </a:ln>
        </p:spPr>
        <p:txBody>
          <a:bodyPr anchorCtr="0" anchor="b" bIns="48300" lIns="96600" spcFirstLastPara="1" rIns="96600" wrap="square" tIns="483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1: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8" name="Google Shape;68;p1:notes"/>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2" name="Google Shape;82;p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8" name="Google Shape;88;p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01" name="Google Shape;101;p4: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08" name="Google Shape;108;p5: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14" name="Google Shape;114;p6: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19" name="Google Shape;119;p7: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25" name="Google Shape;125;p8: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31" name="Google Shape;131;p9:notes"/>
          <p:cNvSpPr/>
          <p:nvPr>
            <p:ph idx="2" type="sldImg"/>
          </p:nvPr>
        </p:nvSpPr>
        <p:spPr>
          <a:xfrm>
            <a:off x="1148025" y="751403"/>
            <a:ext cx="4592100"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37" name="Google Shape;137;p10:notes"/>
          <p:cNvSpPr/>
          <p:nvPr>
            <p:ph idx="2" type="sldImg"/>
          </p:nvPr>
        </p:nvSpPr>
        <p:spPr>
          <a:xfrm>
            <a:off x="1148025" y="751403"/>
            <a:ext cx="4592100"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46" name="Google Shape;146;p11: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3: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52" name="Google Shape;152;p13: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58" name="Google Shape;158;p12: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4: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64" name="Google Shape;164;p14: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5: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70" name="Google Shape;170;p15: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76" name="Google Shape;176;p16: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7: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83" name="Google Shape;183;p17: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8: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190" name="Google Shape;190;p18: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9: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01" name="Google Shape;201;p19: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0: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07" name="Google Shape;207;p20: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1: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12" name="Google Shape;212;p21: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2: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19" name="Google Shape;219;p22: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3: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25" name="Google Shape;225;p23: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4: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33" name="Google Shape;233;p24: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5: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39" name="Google Shape;239;p25: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6: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46" name="Google Shape;246;p26: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7: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52" name="Google Shape;252;p27: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8: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60" name="Google Shape;260;p28: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9: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66" name="Google Shape;266;p29: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0: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72" name="Google Shape;272;p30: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1: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78" name="Google Shape;278;p31: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2: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83" name="Google Shape;283;p32: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3: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89" name="Google Shape;289;p33: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4: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94" name="Google Shape;294;p34: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5: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299" name="Google Shape;299;p35: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6: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04" name="Google Shape;304;p36: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7: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09" name="Google Shape;309;p37:notes"/>
          <p:cNvSpPr/>
          <p:nvPr>
            <p:ph idx="2" type="sldImg"/>
          </p:nvPr>
        </p:nvSpPr>
        <p:spPr>
          <a:xfrm>
            <a:off x="1148025" y="751403"/>
            <a:ext cx="4592100"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8: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15" name="Google Shape;315;p38:notes"/>
          <p:cNvSpPr/>
          <p:nvPr>
            <p:ph idx="2" type="sldImg"/>
          </p:nvPr>
        </p:nvSpPr>
        <p:spPr>
          <a:xfrm>
            <a:off x="1148025" y="751403"/>
            <a:ext cx="4592100"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9: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22" name="Google Shape;322;p39: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40: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28" name="Google Shape;328;p40: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41: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34" name="Google Shape;334;p41:notes"/>
          <p:cNvSpPr/>
          <p:nvPr>
            <p:ph idx="2" type="sldImg"/>
          </p:nvPr>
        </p:nvSpPr>
        <p:spPr>
          <a:xfrm>
            <a:off x="1148025" y="751403"/>
            <a:ext cx="4592100"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42: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39" name="Google Shape;339;p42: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43: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45" name="Google Shape;345;p43: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44: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51" name="Google Shape;351;p44: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45: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58" name="Google Shape;358;p45: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6: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64" name="Google Shape;364;p46: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7: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70" name="Google Shape;370;p47: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8: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76" name="Google Shape;376;p48: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49: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82" name="Google Shape;382;p49: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50: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88" name="Google Shape;388;p50: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51:notes"/>
          <p:cNvSpPr txBox="1"/>
          <p:nvPr>
            <p:ph idx="1" type="body"/>
          </p:nvPr>
        </p:nvSpPr>
        <p:spPr>
          <a:xfrm>
            <a:off x="688815" y="4758883"/>
            <a:ext cx="5510520" cy="4508415"/>
          </a:xfrm>
          <a:prstGeom prst="rect">
            <a:avLst/>
          </a:prstGeom>
          <a:noFill/>
          <a:ln>
            <a:noFill/>
          </a:ln>
        </p:spPr>
        <p:txBody>
          <a:bodyPr anchorCtr="0" anchor="t" bIns="94600" lIns="94600" spcFirstLastPara="1" rIns="94600" wrap="square" tIns="94600">
            <a:noAutofit/>
          </a:bodyPr>
          <a:lstStyle/>
          <a:p>
            <a:pPr indent="0" lvl="0" marL="0" rtl="0" algn="l">
              <a:lnSpc>
                <a:spcPct val="100000"/>
              </a:lnSpc>
              <a:spcBef>
                <a:spcPts val="0"/>
              </a:spcBef>
              <a:spcAft>
                <a:spcPts val="0"/>
              </a:spcAft>
              <a:buSzPts val="1100"/>
              <a:buNone/>
            </a:pPr>
            <a:r>
              <a:t/>
            </a:r>
            <a:endParaRPr sz="1400"/>
          </a:p>
        </p:txBody>
      </p:sp>
      <p:sp>
        <p:nvSpPr>
          <p:cNvPr id="394" name="Google Shape;394;p51:notes"/>
          <p:cNvSpPr/>
          <p:nvPr>
            <p:ph idx="2" type="sldImg"/>
          </p:nvPr>
        </p:nvSpPr>
        <p:spPr>
          <a:xfrm>
            <a:off x="1148251" y="751403"/>
            <a:ext cx="4592326" cy="37570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52: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52: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01" name="Google Shape;401;p52:notes"/>
          <p:cNvSpPr txBox="1"/>
          <p:nvPr>
            <p:ph idx="12" type="sldNum"/>
          </p:nvPr>
        </p:nvSpPr>
        <p:spPr>
          <a:xfrm>
            <a:off x="3901698" y="9516039"/>
            <a:ext cx="2985000" cy="50280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5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5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1" name="Shape 21"/>
        <p:cNvGrpSpPr/>
        <p:nvPr/>
      </p:nvGrpSpPr>
      <p:grpSpPr>
        <a:xfrm>
          <a:off x="0" y="0"/>
          <a:ext cx="0" cy="0"/>
          <a:chOff x="0" y="0"/>
          <a:chExt cx="0" cy="0"/>
        </a:xfrm>
      </p:grpSpPr>
      <p:sp>
        <p:nvSpPr>
          <p:cNvPr id="22" name="Google Shape;22;p55"/>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5"/>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4" name="Google Shape;24;p55"/>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55"/>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6" name="Google Shape;26;p55"/>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5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5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5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9" name="Shape 39"/>
        <p:cNvGrpSpPr/>
        <p:nvPr/>
      </p:nvGrpSpPr>
      <p:grpSpPr>
        <a:xfrm>
          <a:off x="0" y="0"/>
          <a:ext cx="0" cy="0"/>
          <a:chOff x="0" y="0"/>
          <a:chExt cx="0" cy="0"/>
        </a:xfrm>
      </p:grpSpPr>
      <p:sp>
        <p:nvSpPr>
          <p:cNvPr id="40" name="Google Shape;40;p58"/>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8"/>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2" name="Google Shape;42;p58"/>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3" name="Google Shape;43;p5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6" name="Shape 46"/>
        <p:cNvGrpSpPr/>
        <p:nvPr/>
      </p:nvGrpSpPr>
      <p:grpSpPr>
        <a:xfrm>
          <a:off x="0" y="0"/>
          <a:ext cx="0" cy="0"/>
          <a:chOff x="0" y="0"/>
          <a:chExt cx="0" cy="0"/>
        </a:xfrm>
      </p:grpSpPr>
      <p:sp>
        <p:nvSpPr>
          <p:cNvPr id="47" name="Google Shape;47;p59"/>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9"/>
          <p:cNvSpPr/>
          <p:nvPr>
            <p:ph idx="2" type="pic"/>
          </p:nvPr>
        </p:nvSpPr>
        <p:spPr>
          <a:xfrm>
            <a:off x="3887391" y="987426"/>
            <a:ext cx="4629150" cy="4873625"/>
          </a:xfrm>
          <a:prstGeom prst="rect">
            <a:avLst/>
          </a:prstGeom>
          <a:noFill/>
          <a:ln>
            <a:noFill/>
          </a:ln>
        </p:spPr>
      </p:sp>
      <p:sp>
        <p:nvSpPr>
          <p:cNvPr id="49" name="Google Shape;49;p59"/>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5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3" name="Shape 53"/>
        <p:cNvGrpSpPr/>
        <p:nvPr/>
      </p:nvGrpSpPr>
      <p:grpSpPr>
        <a:xfrm>
          <a:off x="0" y="0"/>
          <a:ext cx="0" cy="0"/>
          <a:chOff x="0" y="0"/>
          <a:chExt cx="0" cy="0"/>
        </a:xfrm>
      </p:grpSpPr>
      <p:sp>
        <p:nvSpPr>
          <p:cNvPr id="54" name="Google Shape;54;p6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0"/>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6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6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9" name="Shape 59"/>
        <p:cNvGrpSpPr/>
        <p:nvPr/>
      </p:nvGrpSpPr>
      <p:grpSpPr>
        <a:xfrm>
          <a:off x="0" y="0"/>
          <a:ext cx="0" cy="0"/>
          <a:chOff x="0" y="0"/>
          <a:chExt cx="0" cy="0"/>
        </a:xfrm>
      </p:grpSpPr>
      <p:sp>
        <p:nvSpPr>
          <p:cNvPr id="60" name="Google Shape;60;p61"/>
          <p:cNvSpPr txBox="1"/>
          <p:nvPr>
            <p:ph type="title"/>
          </p:nvPr>
        </p:nvSpPr>
        <p:spPr>
          <a:xfrm rot="5400000">
            <a:off x="4623593" y="2285206"/>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61"/>
          <p:cNvSpPr txBox="1"/>
          <p:nvPr>
            <p:ph idx="1" type="body"/>
          </p:nvPr>
        </p:nvSpPr>
        <p:spPr>
          <a:xfrm rot="5400000">
            <a:off x="623093"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6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0"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5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8.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6.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1" name="Google Shape;71;p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72" name="Google Shape;72;p1"/>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73" name="Google Shape;73;p1"/>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1" i="0" sz="1600" u="none" cap="none" strike="noStrike">
              <a:solidFill>
                <a:schemeClr val="lt1"/>
              </a:solidFill>
              <a:latin typeface="Arial"/>
              <a:ea typeface="Arial"/>
              <a:cs typeface="Arial"/>
              <a:sym typeface="Arial"/>
            </a:endParaRPr>
          </a:p>
        </p:txBody>
      </p:sp>
      <p:sp>
        <p:nvSpPr>
          <p:cNvPr id="74" name="Google Shape;74;p1"/>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 name="Google Shape;75;p1"/>
          <p:cNvSpPr txBox="1"/>
          <p:nvPr/>
        </p:nvSpPr>
        <p:spPr>
          <a:xfrm>
            <a:off x="450376" y="1460311"/>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 name="Google Shape;76;p1"/>
          <p:cNvSpPr/>
          <p:nvPr/>
        </p:nvSpPr>
        <p:spPr>
          <a:xfrm>
            <a:off x="4250437" y="3244334"/>
            <a:ext cx="643125"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7" name="Google Shape;77;p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8" name="Google Shape;78;p1"/>
          <p:cNvSpPr txBox="1"/>
          <p:nvPr/>
        </p:nvSpPr>
        <p:spPr>
          <a:xfrm>
            <a:off x="628650" y="1320476"/>
            <a:ext cx="7648500" cy="2678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Third Year Engineering</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CC00CC"/>
                </a:solidFill>
                <a:latin typeface="Times New Roman"/>
                <a:ea typeface="Times New Roman"/>
                <a:cs typeface="Times New Roman"/>
                <a:sym typeface="Times New Roman"/>
              </a:rPr>
              <a:t>21BTCS503-Database Management System</a:t>
            </a:r>
            <a:endParaRPr b="1"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br>
              <a:rPr b="0" i="0" lang="en-US" sz="2800" u="none" cap="none" strike="noStrike">
                <a:solidFill>
                  <a:srgbClr val="000000"/>
                </a:solidFill>
                <a:latin typeface="Arial"/>
                <a:ea typeface="Arial"/>
                <a:cs typeface="Arial"/>
                <a:sym typeface="Arial"/>
              </a:rPr>
            </a:br>
            <a:r>
              <a:rPr b="1" i="0" lang="en-US" sz="2800" u="none" cap="none" strike="noStrike">
                <a:solidFill>
                  <a:srgbClr val="FF0000"/>
                </a:solidFill>
                <a:latin typeface="Times New Roman"/>
                <a:ea typeface="Times New Roman"/>
                <a:cs typeface="Times New Roman"/>
                <a:sym typeface="Times New Roman"/>
              </a:rPr>
              <a:t>Class - T.Y. (Division-)</a:t>
            </a:r>
            <a:endParaRPr b="1" i="0" sz="2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0000"/>
                </a:solidFill>
                <a:latin typeface="Times New Roman"/>
                <a:ea typeface="Times New Roman"/>
                <a:cs typeface="Times New Roman"/>
                <a:sym typeface="Times New Roman"/>
              </a:rPr>
              <a:t> </a:t>
            </a:r>
            <a:endParaRPr b="1" i="0" sz="2800" u="none" cap="none" strike="noStrike">
              <a:solidFill>
                <a:srgbClr val="FF0000"/>
              </a:solidFill>
              <a:latin typeface="Times New Roman"/>
              <a:ea typeface="Times New Roman"/>
              <a:cs typeface="Times New Roman"/>
              <a:sym typeface="Times New Roman"/>
            </a:endParaRPr>
          </a:p>
        </p:txBody>
      </p:sp>
      <p:sp>
        <p:nvSpPr>
          <p:cNvPr id="79" name="Google Shape;79;p1"/>
          <p:cNvSpPr txBox="1"/>
          <p:nvPr/>
        </p:nvSpPr>
        <p:spPr>
          <a:xfrm>
            <a:off x="2128800" y="4616127"/>
            <a:ext cx="4648200" cy="138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CC00CC"/>
                </a:solidFill>
                <a:latin typeface="Times New Roman"/>
                <a:ea typeface="Times New Roman"/>
                <a:cs typeface="Times New Roman"/>
                <a:sym typeface="Times New Roman"/>
              </a:rPr>
              <a:t>AY 202</a:t>
            </a:r>
            <a:r>
              <a:rPr lang="en-US" sz="2800">
                <a:solidFill>
                  <a:srgbClr val="CC00CC"/>
                </a:solidFill>
                <a:latin typeface="Times New Roman"/>
                <a:ea typeface="Times New Roman"/>
                <a:cs typeface="Times New Roman"/>
                <a:sym typeface="Times New Roman"/>
              </a:rPr>
              <a:t>4</a:t>
            </a:r>
            <a:r>
              <a:rPr b="0" i="0" lang="en-US" sz="2800" u="none" cap="none" strike="noStrike">
                <a:solidFill>
                  <a:srgbClr val="CC00CC"/>
                </a:solidFill>
                <a:latin typeface="Times New Roman"/>
                <a:ea typeface="Times New Roman"/>
                <a:cs typeface="Times New Roman"/>
                <a:sym typeface="Times New Roman"/>
              </a:rPr>
              <a:t>-202</a:t>
            </a:r>
            <a:r>
              <a:rPr lang="en-US" sz="2800">
                <a:solidFill>
                  <a:srgbClr val="CC00CC"/>
                </a:solidFill>
                <a:latin typeface="Times New Roman"/>
                <a:ea typeface="Times New Roman"/>
                <a:cs typeface="Times New Roman"/>
                <a:sym typeface="Times New Roman"/>
              </a:rPr>
              <a:t>5</a:t>
            </a:r>
            <a:r>
              <a:rPr b="0" i="0" lang="en-US" sz="2800" u="none" cap="none" strike="noStrike">
                <a:solidFill>
                  <a:srgbClr val="CC00CC"/>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CC00CC"/>
                </a:solidFill>
                <a:latin typeface="Times New Roman"/>
                <a:ea typeface="Times New Roman"/>
                <a:cs typeface="Times New Roman"/>
                <a:sym typeface="Times New Roman"/>
              </a:rPr>
              <a:t>SEM-I</a:t>
            </a:r>
            <a:endParaRPr b="1"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5" name="Google Shape;85;p2"/>
          <p:cNvSpPr txBox="1"/>
          <p:nvPr/>
        </p:nvSpPr>
        <p:spPr>
          <a:xfrm>
            <a:off x="772998" y="2109916"/>
            <a:ext cx="7551000" cy="138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Unit – III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Database Storage, Processing and Transaction</a:t>
            </a:r>
            <a:endParaRPr b="1" i="0" sz="4000" u="none" cap="none" strike="noStrike">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1" name="Google Shape;91;p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92" name="Google Shape;92;p3"/>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93" name="Google Shape;93;p3"/>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94" name="Google Shape;94;p3"/>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3"/>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 name="Google Shape;96;p3"/>
          <p:cNvSpPr/>
          <p:nvPr/>
        </p:nvSpPr>
        <p:spPr>
          <a:xfrm>
            <a:off x="4250437" y="3244334"/>
            <a:ext cx="643125"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97" name="Google Shape;97;p3"/>
          <p:cNvSpPr txBox="1"/>
          <p:nvPr/>
        </p:nvSpPr>
        <p:spPr>
          <a:xfrm>
            <a:off x="497728" y="1259402"/>
            <a:ext cx="8338800" cy="4792800"/>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marR="0" rtl="0" algn="l">
              <a:lnSpc>
                <a:spcPct val="80000"/>
              </a:lnSpc>
              <a:spcBef>
                <a:spcPts val="0"/>
              </a:spcBef>
              <a:spcAft>
                <a:spcPts val="0"/>
              </a:spcAft>
              <a:buClr>
                <a:srgbClr val="000000"/>
              </a:buClr>
              <a:buSzPct val="100000"/>
              <a:buFont typeface="Arial"/>
              <a:buNone/>
            </a:pPr>
            <a:r>
              <a:rPr b="1" i="0" lang="en-US" sz="3200" u="none" cap="none" strike="noStrike">
                <a:solidFill>
                  <a:srgbClr val="C00000"/>
                </a:solidFill>
                <a:latin typeface="Times New Roman"/>
                <a:ea typeface="Times New Roman"/>
                <a:cs typeface="Times New Roman"/>
                <a:sym typeface="Times New Roman"/>
              </a:rPr>
              <a:t> 	Syllabus</a:t>
            </a:r>
            <a:endParaRPr b="1" i="0" sz="3200" u="none" cap="none" strike="noStrike">
              <a:solidFill>
                <a:srgbClr val="C00000"/>
              </a:solidFill>
              <a:latin typeface="Times New Roman"/>
              <a:ea typeface="Times New Roman"/>
              <a:cs typeface="Times New Roman"/>
              <a:sym typeface="Times New Roman"/>
            </a:endParaRPr>
          </a:p>
          <a:p>
            <a:pPr indent="-228600" lvl="0" marL="228600" marR="0" rtl="0" algn="l">
              <a:lnSpc>
                <a:spcPct val="80000"/>
              </a:lnSpc>
              <a:spcBef>
                <a:spcPts val="0"/>
              </a:spcBef>
              <a:spcAft>
                <a:spcPts val="0"/>
              </a:spcAft>
              <a:buClr>
                <a:srgbClr val="000000"/>
              </a:buClr>
              <a:buSzPct val="100000"/>
              <a:buFont typeface="Arial"/>
              <a:buNone/>
            </a:pPr>
            <a:r>
              <a:rPr b="1" i="0" lang="en-US" sz="3200" u="none" cap="none" strike="noStrike">
                <a:solidFill>
                  <a:srgbClr val="C00000"/>
                </a:solidFill>
                <a:latin typeface="Times New Roman"/>
                <a:ea typeface="Times New Roman"/>
                <a:cs typeface="Times New Roman"/>
                <a:sym typeface="Times New Roman"/>
              </a:rPr>
              <a:t>			</a:t>
            </a:r>
            <a:endParaRPr b="1" i="0" sz="2800" u="none" cap="none" strike="noStrike">
              <a:solidFill>
                <a:srgbClr val="C00000"/>
              </a:solidFill>
              <a:latin typeface="Times New Roman"/>
              <a:ea typeface="Times New Roman"/>
              <a:cs typeface="Times New Roman"/>
              <a:sym typeface="Times New Roman"/>
            </a:endParaRPr>
          </a:p>
          <a:p>
            <a:pPr indent="-363727" lvl="0" marL="457200" marR="0" rtl="0" algn="just">
              <a:lnSpc>
                <a:spcPct val="150000"/>
              </a:lnSpc>
              <a:spcBef>
                <a:spcPts val="0"/>
              </a:spcBef>
              <a:spcAft>
                <a:spcPts val="0"/>
              </a:spcAft>
              <a:buClr>
                <a:srgbClr val="0070C0"/>
              </a:buClr>
              <a:buSzPct val="100000"/>
              <a:buFont typeface="Times New Roman"/>
              <a:buChar char="●"/>
            </a:pPr>
            <a:r>
              <a:rPr b="1" i="0" lang="en-US" sz="2300" u="none" cap="none" strike="noStrike">
                <a:solidFill>
                  <a:srgbClr val="0070C0"/>
                </a:solidFill>
                <a:latin typeface="Times New Roman"/>
                <a:ea typeface="Times New Roman"/>
                <a:cs typeface="Times New Roman"/>
                <a:sym typeface="Times New Roman"/>
              </a:rPr>
              <a:t>Query processing and query optimization, Basic   concept   of   a   Transaction,   Transaction   Management,   ACID Properties   of   Transactions, </a:t>
            </a:r>
            <a:endParaRPr b="1" i="0" sz="2300" u="none" cap="none" strike="noStrike">
              <a:solidFill>
                <a:srgbClr val="0070C0"/>
              </a:solidFill>
              <a:latin typeface="Times New Roman"/>
              <a:ea typeface="Times New Roman"/>
              <a:cs typeface="Times New Roman"/>
              <a:sym typeface="Times New Roman"/>
            </a:endParaRPr>
          </a:p>
          <a:p>
            <a:pPr indent="-363727" lvl="0" marL="457200" marR="0" rtl="0" algn="just">
              <a:lnSpc>
                <a:spcPct val="150000"/>
              </a:lnSpc>
              <a:spcBef>
                <a:spcPts val="0"/>
              </a:spcBef>
              <a:spcAft>
                <a:spcPts val="0"/>
              </a:spcAft>
              <a:buClr>
                <a:srgbClr val="0070C0"/>
              </a:buClr>
              <a:buSzPct val="100000"/>
              <a:buFont typeface="Times New Roman"/>
              <a:buChar char="●"/>
            </a:pPr>
            <a:r>
              <a:rPr b="1" i="0" lang="en-US" sz="2300" u="none" cap="none" strike="noStrike">
                <a:solidFill>
                  <a:srgbClr val="0070C0"/>
                </a:solidFill>
                <a:latin typeface="Times New Roman"/>
                <a:ea typeface="Times New Roman"/>
                <a:cs typeface="Times New Roman"/>
                <a:sym typeface="Times New Roman"/>
              </a:rPr>
              <a:t>Concept   of   Schedule,   Serial   and Concurrent Schedule,   Serializability:   Conflict   and   View,   Cascaded Aborts,   Recoverable   and   Non-recoverable   Schedules, </a:t>
            </a:r>
            <a:endParaRPr b="1" i="0" sz="2300" u="none" cap="none" strike="noStrike">
              <a:solidFill>
                <a:srgbClr val="0070C0"/>
              </a:solidFill>
              <a:latin typeface="Times New Roman"/>
              <a:ea typeface="Times New Roman"/>
              <a:cs typeface="Times New Roman"/>
              <a:sym typeface="Times New Roman"/>
            </a:endParaRPr>
          </a:p>
          <a:p>
            <a:pPr indent="-363727" lvl="0" marL="457200" marR="0" rtl="0" algn="just">
              <a:lnSpc>
                <a:spcPct val="150000"/>
              </a:lnSpc>
              <a:spcBef>
                <a:spcPts val="0"/>
              </a:spcBef>
              <a:spcAft>
                <a:spcPts val="0"/>
              </a:spcAft>
              <a:buClr>
                <a:srgbClr val="0070C0"/>
              </a:buClr>
              <a:buSzPct val="100000"/>
              <a:buFont typeface="Times New Roman"/>
              <a:buChar char="●"/>
            </a:pPr>
            <a:r>
              <a:rPr b="1" i="0" lang="en-US" sz="2300" u="none" cap="none" strike="noStrike">
                <a:solidFill>
                  <a:srgbClr val="0070C0"/>
                </a:solidFill>
                <a:latin typeface="Times New Roman"/>
                <a:ea typeface="Times New Roman"/>
                <a:cs typeface="Times New Roman"/>
                <a:sym typeface="Times New Roman"/>
              </a:rPr>
              <a:t>Concurrency   Control:   Need, Locking based Protocol, Deadlocks-Prevention, Detection Techniques, Recovery methods : Shadow Paging and Log Based Recovery, Checkpoints.</a:t>
            </a:r>
            <a:endParaRPr b="1" i="0" sz="2300" u="none" cap="none" strike="noStrike">
              <a:solidFill>
                <a:srgbClr val="0070C0"/>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Clr>
                <a:srgbClr val="000000"/>
              </a:buClr>
              <a:buSzPct val="100000"/>
              <a:buFont typeface="Arial"/>
              <a:buNone/>
            </a:pPr>
            <a:r>
              <a:t/>
            </a:r>
            <a:endParaRPr b="1" i="0" sz="2300" u="none" cap="none" strike="noStrike">
              <a:solidFill>
                <a:srgbClr val="0070C0"/>
              </a:solidFill>
              <a:latin typeface="Times New Roman"/>
              <a:ea typeface="Times New Roman"/>
              <a:cs typeface="Times New Roman"/>
              <a:sym typeface="Times New Roman"/>
            </a:endParaRPr>
          </a:p>
        </p:txBody>
      </p:sp>
      <p:sp>
        <p:nvSpPr>
          <p:cNvPr id="98" name="Google Shape;98;p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301625" y="973725"/>
            <a:ext cx="84306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Query processing and query optimization</a:t>
            </a:r>
            <a:endParaRPr sz="3200"/>
          </a:p>
        </p:txBody>
      </p:sp>
      <p:sp>
        <p:nvSpPr>
          <p:cNvPr id="104" name="Google Shape;104;p4"/>
          <p:cNvSpPr txBox="1"/>
          <p:nvPr/>
        </p:nvSpPr>
        <p:spPr>
          <a:xfrm>
            <a:off x="367108" y="4390865"/>
            <a:ext cx="7517700" cy="2056200"/>
          </a:xfrm>
          <a:prstGeom prst="rect">
            <a:avLst/>
          </a:prstGeom>
          <a:noFill/>
          <a:ln>
            <a:noFill/>
          </a:ln>
        </p:spPr>
        <p:txBody>
          <a:bodyPr anchorCtr="0" anchor="t" bIns="0" lIns="0" spcFirstLastPara="1" rIns="0" wrap="square" tIns="59675">
            <a:spAutoFit/>
          </a:bodyPr>
          <a:lstStyle/>
          <a:p>
            <a:pPr indent="-252729" lvl="0" marL="265430" marR="0" rtl="0" algn="l">
              <a:lnSpc>
                <a:spcPct val="100000"/>
              </a:lnSpc>
              <a:spcBef>
                <a:spcPts val="0"/>
              </a:spcBef>
              <a:spcAft>
                <a:spcPts val="0"/>
              </a:spcAft>
              <a:buClr>
                <a:srgbClr val="3E3E3E"/>
              </a:buClr>
              <a:buSzPts val="2300"/>
              <a:buFont typeface="Quattrocento Sans"/>
              <a:buChar char="❑"/>
            </a:pPr>
            <a:r>
              <a:rPr b="0" i="0" lang="en-US" sz="2400" u="none" cap="none" strike="noStrike">
                <a:solidFill>
                  <a:srgbClr val="3E3E3E"/>
                </a:solidFill>
                <a:latin typeface="Times New Roman"/>
                <a:ea typeface="Times New Roman"/>
                <a:cs typeface="Times New Roman"/>
                <a:sym typeface="Times New Roman"/>
              </a:rPr>
              <a:t>A query is processed in three general steps:</a:t>
            </a:r>
            <a:endParaRPr b="0" i="0" sz="2400" u="none" cap="none" strike="noStrike">
              <a:solidFill>
                <a:schemeClr val="dk1"/>
              </a:solidFill>
              <a:latin typeface="Times New Roman"/>
              <a:ea typeface="Times New Roman"/>
              <a:cs typeface="Times New Roman"/>
              <a:sym typeface="Times New Roman"/>
            </a:endParaRPr>
          </a:p>
          <a:p>
            <a:pPr indent="-410845" lvl="1" marL="1007744" marR="0" rtl="0" algn="l">
              <a:lnSpc>
                <a:spcPct val="100000"/>
              </a:lnSpc>
              <a:spcBef>
                <a:spcPts val="370"/>
              </a:spcBef>
              <a:spcAft>
                <a:spcPts val="0"/>
              </a:spcAft>
              <a:buClr>
                <a:schemeClr val="dk1"/>
              </a:buClr>
              <a:buSzPts val="2400"/>
              <a:buFont typeface="Quattrocento Sans"/>
              <a:buChar char="❑"/>
            </a:pPr>
            <a:r>
              <a:rPr b="0" i="0" lang="en-US" sz="2400" u="none" cap="none" strike="noStrike">
                <a:solidFill>
                  <a:schemeClr val="dk1"/>
                </a:solidFill>
                <a:latin typeface="Times New Roman"/>
                <a:ea typeface="Times New Roman"/>
                <a:cs typeface="Times New Roman"/>
                <a:sym typeface="Times New Roman"/>
              </a:rPr>
              <a:t>Parsing and Translation</a:t>
            </a:r>
            <a:endParaRPr b="0" i="0" sz="1400" u="none" cap="none" strike="noStrike">
              <a:solidFill>
                <a:srgbClr val="000000"/>
              </a:solidFill>
              <a:latin typeface="Arial"/>
              <a:ea typeface="Arial"/>
              <a:cs typeface="Arial"/>
              <a:sym typeface="Arial"/>
            </a:endParaRPr>
          </a:p>
          <a:p>
            <a:pPr indent="-410845" lvl="1" marL="1007744" marR="0" rtl="0" algn="l">
              <a:lnSpc>
                <a:spcPct val="100000"/>
              </a:lnSpc>
              <a:spcBef>
                <a:spcPts val="370"/>
              </a:spcBef>
              <a:spcAft>
                <a:spcPts val="0"/>
              </a:spcAft>
              <a:buClr>
                <a:schemeClr val="dk1"/>
              </a:buClr>
              <a:buSzPts val="2400"/>
              <a:buFont typeface="Quattrocento Sans"/>
              <a:buChar char="❑"/>
            </a:pPr>
            <a:r>
              <a:rPr b="0" i="0" lang="en-US" sz="2400" u="none" cap="none" strike="noStrike">
                <a:solidFill>
                  <a:schemeClr val="dk1"/>
                </a:solidFill>
                <a:latin typeface="Times New Roman"/>
                <a:ea typeface="Times New Roman"/>
                <a:cs typeface="Times New Roman"/>
                <a:sym typeface="Times New Roman"/>
              </a:rPr>
              <a:t> Query Optimization or planning the execution  strategy</a:t>
            </a:r>
            <a:endParaRPr b="0" i="0" sz="2400" u="none" cap="none" strike="noStrike">
              <a:solidFill>
                <a:schemeClr val="dk1"/>
              </a:solidFill>
              <a:latin typeface="Times New Roman"/>
              <a:ea typeface="Times New Roman"/>
              <a:cs typeface="Times New Roman"/>
              <a:sym typeface="Times New Roman"/>
            </a:endParaRPr>
          </a:p>
          <a:p>
            <a:pPr indent="-410845" lvl="1" marL="1007744" marR="0" rtl="0" algn="l">
              <a:lnSpc>
                <a:spcPct val="100000"/>
              </a:lnSpc>
              <a:spcBef>
                <a:spcPts val="420"/>
              </a:spcBef>
              <a:spcAft>
                <a:spcPts val="0"/>
              </a:spcAft>
              <a:buClr>
                <a:schemeClr val="dk1"/>
              </a:buClr>
              <a:buSzPts val="2400"/>
              <a:buFont typeface="Quattrocento Sans"/>
              <a:buChar char="❑"/>
            </a:pPr>
            <a:r>
              <a:rPr b="0" i="0" lang="en-US" sz="2400" u="none" cap="none" strike="noStrike">
                <a:solidFill>
                  <a:schemeClr val="dk1"/>
                </a:solidFill>
                <a:latin typeface="Times New Roman"/>
                <a:ea typeface="Times New Roman"/>
                <a:cs typeface="Times New Roman"/>
                <a:sym typeface="Times New Roman"/>
              </a:rPr>
              <a:t>Execution in the runtime database processor</a:t>
            </a:r>
            <a:endParaRPr b="0" i="0" sz="2400" u="none" cap="none" strike="noStrike">
              <a:solidFill>
                <a:schemeClr val="dk1"/>
              </a:solidFill>
              <a:latin typeface="Times New Roman"/>
              <a:ea typeface="Times New Roman"/>
              <a:cs typeface="Times New Roman"/>
              <a:sym typeface="Times New Roman"/>
            </a:endParaRPr>
          </a:p>
        </p:txBody>
      </p:sp>
      <p:pic>
        <p:nvPicPr>
          <p:cNvPr id="105" name="Google Shape;105;p4"/>
          <p:cNvPicPr preferRelativeResize="0"/>
          <p:nvPr/>
        </p:nvPicPr>
        <p:blipFill>
          <a:blip r:embed="rId3">
            <a:alphaModFix/>
          </a:blip>
          <a:stretch>
            <a:fillRect/>
          </a:stretch>
        </p:blipFill>
        <p:spPr>
          <a:xfrm>
            <a:off x="301625" y="1591225"/>
            <a:ext cx="8179250" cy="2799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type="title"/>
          </p:nvPr>
        </p:nvSpPr>
        <p:spPr>
          <a:xfrm>
            <a:off x="381000" y="899755"/>
            <a:ext cx="7998000" cy="9363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000"/>
              <a:buFont typeface="Libre Franklin"/>
              <a:buNone/>
            </a:pPr>
            <a:r>
              <a:rPr lang="en-US" sz="3000"/>
              <a:t>Query Optimization or Planning the Execution Strategy</a:t>
            </a:r>
            <a:endParaRPr sz="3000"/>
          </a:p>
        </p:txBody>
      </p:sp>
      <p:sp>
        <p:nvSpPr>
          <p:cNvPr id="111" name="Google Shape;111;p5"/>
          <p:cNvSpPr txBox="1"/>
          <p:nvPr/>
        </p:nvSpPr>
        <p:spPr>
          <a:xfrm>
            <a:off x="304800" y="1723930"/>
            <a:ext cx="8643900" cy="4683900"/>
          </a:xfrm>
          <a:prstGeom prst="rect">
            <a:avLst/>
          </a:prstGeom>
          <a:noFill/>
          <a:ln>
            <a:noFill/>
          </a:ln>
        </p:spPr>
        <p:txBody>
          <a:bodyPr anchorCtr="0" anchor="t" bIns="0" lIns="0" spcFirstLastPara="1" rIns="0" wrap="square" tIns="60325">
            <a:spAutoFit/>
          </a:bodyPr>
          <a:lstStyle/>
          <a:p>
            <a:pPr indent="-119951" lvl="0" marL="92710" marR="0" rtl="0" algn="l">
              <a:lnSpc>
                <a:spcPct val="100000"/>
              </a:lnSpc>
              <a:spcBef>
                <a:spcPts val="0"/>
              </a:spcBef>
              <a:spcAft>
                <a:spcPts val="0"/>
              </a:spcAft>
              <a:buClr>
                <a:srgbClr val="3E3E3E"/>
              </a:buClr>
              <a:buSzPts val="1889"/>
              <a:buFont typeface="Times New Roman"/>
              <a:buChar char="•"/>
            </a:pPr>
            <a:r>
              <a:rPr b="0" i="0" lang="en-US" sz="2000" u="none" cap="none" strike="noStrike">
                <a:solidFill>
                  <a:srgbClr val="3E3E3E"/>
                </a:solidFill>
                <a:latin typeface="Times New Roman"/>
                <a:ea typeface="Times New Roman"/>
                <a:cs typeface="Times New Roman"/>
                <a:sym typeface="Times New Roman"/>
              </a:rPr>
              <a:t>For any given query, there may be a number of different ways to execute it.</a:t>
            </a:r>
            <a:endParaRPr b="0" i="0" sz="2000" u="none" cap="none" strike="noStrike">
              <a:solidFill>
                <a:schemeClr val="dk1"/>
              </a:solidFill>
              <a:latin typeface="Times New Roman"/>
              <a:ea typeface="Times New Roman"/>
              <a:cs typeface="Times New Roman"/>
              <a:sym typeface="Times New Roman"/>
            </a:endParaRPr>
          </a:p>
          <a:p>
            <a:pPr indent="-119951" lvl="0" marL="92710" marR="480694" rtl="0" algn="l">
              <a:lnSpc>
                <a:spcPct val="101400"/>
              </a:lnSpc>
              <a:spcBef>
                <a:spcPts val="345"/>
              </a:spcBef>
              <a:spcAft>
                <a:spcPts val="0"/>
              </a:spcAft>
              <a:buClr>
                <a:srgbClr val="3E3E3E"/>
              </a:buClr>
              <a:buSzPts val="1889"/>
              <a:buFont typeface="Times New Roman"/>
              <a:buChar char="•"/>
            </a:pPr>
            <a:r>
              <a:rPr b="0" i="0" lang="en-US" sz="2000" u="none" cap="none" strike="noStrike">
                <a:solidFill>
                  <a:srgbClr val="3E3E3E"/>
                </a:solidFill>
                <a:latin typeface="Times New Roman"/>
                <a:ea typeface="Times New Roman"/>
                <a:cs typeface="Times New Roman"/>
                <a:sym typeface="Times New Roman"/>
              </a:rPr>
              <a:t>Each operation in the query (SELECT, JOIN, etc.) can be implemented  using one or more different </a:t>
            </a:r>
            <a:r>
              <a:rPr b="0" i="1" lang="en-US" sz="2000" u="none" cap="none" strike="noStrike">
                <a:solidFill>
                  <a:srgbClr val="3E3E3E"/>
                </a:solidFill>
                <a:latin typeface="Times New Roman"/>
                <a:ea typeface="Times New Roman"/>
                <a:cs typeface="Times New Roman"/>
                <a:sym typeface="Times New Roman"/>
              </a:rPr>
              <a:t>Access Routines</a:t>
            </a:r>
            <a:r>
              <a:rPr b="0" i="0" lang="en-US" sz="2000" u="none" cap="none" strike="noStrike">
                <a:solidFill>
                  <a:srgbClr val="3E3E3E"/>
                </a:solidFill>
                <a:latin typeface="Times New Roman"/>
                <a:ea typeface="Times New Roman"/>
                <a:cs typeface="Times New Roman"/>
                <a:sym typeface="Times New Roman"/>
              </a:rPr>
              <a:t>.</a:t>
            </a:r>
            <a:endParaRPr b="0" i="0" sz="2000" u="none" cap="none" strike="noStrike">
              <a:solidFill>
                <a:schemeClr val="dk1"/>
              </a:solidFill>
              <a:latin typeface="Times New Roman"/>
              <a:ea typeface="Times New Roman"/>
              <a:cs typeface="Times New Roman"/>
              <a:sym typeface="Times New Roman"/>
            </a:endParaRPr>
          </a:p>
          <a:p>
            <a:pPr indent="-119951" lvl="0" marL="92710" marR="467994" rtl="0" algn="just">
              <a:lnSpc>
                <a:spcPct val="101000"/>
              </a:lnSpc>
              <a:spcBef>
                <a:spcPts val="350"/>
              </a:spcBef>
              <a:spcAft>
                <a:spcPts val="0"/>
              </a:spcAft>
              <a:buClr>
                <a:srgbClr val="3E3E3E"/>
              </a:buClr>
              <a:buSzPts val="1889"/>
              <a:buFont typeface="Times New Roman"/>
              <a:buChar char="•"/>
            </a:pPr>
            <a:r>
              <a:rPr b="0" i="0" lang="en-US" sz="2000" u="none" cap="none" strike="noStrike">
                <a:solidFill>
                  <a:srgbClr val="3E3E3E"/>
                </a:solidFill>
                <a:latin typeface="Times New Roman"/>
                <a:ea typeface="Times New Roman"/>
                <a:cs typeface="Times New Roman"/>
                <a:sym typeface="Times New Roman"/>
              </a:rPr>
              <a:t>For example, an access routine that employs an index to retrieve some  rows would be more efficient that an access routine that performs a full  table scan.</a:t>
            </a:r>
            <a:endParaRPr b="0" i="0" sz="2000" u="none" cap="none" strike="noStrike">
              <a:solidFill>
                <a:schemeClr val="dk1"/>
              </a:solidFill>
              <a:latin typeface="Times New Roman"/>
              <a:ea typeface="Times New Roman"/>
              <a:cs typeface="Times New Roman"/>
              <a:sym typeface="Times New Roman"/>
            </a:endParaRPr>
          </a:p>
          <a:p>
            <a:pPr indent="-119951" lvl="0" marL="92710" marR="5080" rtl="0" algn="l">
              <a:lnSpc>
                <a:spcPct val="101000"/>
              </a:lnSpc>
              <a:spcBef>
                <a:spcPts val="355"/>
              </a:spcBef>
              <a:spcAft>
                <a:spcPts val="0"/>
              </a:spcAft>
              <a:buClr>
                <a:srgbClr val="3E3E3E"/>
              </a:buClr>
              <a:buSzPts val="1889"/>
              <a:buFont typeface="Times New Roman"/>
              <a:buChar char="•"/>
            </a:pPr>
            <a:r>
              <a:rPr b="0" i="0" lang="en-US" sz="2000" u="none" cap="none" strike="noStrike">
                <a:solidFill>
                  <a:srgbClr val="3E3E3E"/>
                </a:solidFill>
                <a:latin typeface="Times New Roman"/>
                <a:ea typeface="Times New Roman"/>
                <a:cs typeface="Times New Roman"/>
                <a:sym typeface="Times New Roman"/>
              </a:rPr>
              <a:t>The goal of the </a:t>
            </a:r>
            <a:r>
              <a:rPr b="1" i="0" lang="en-US" sz="2000" u="none" cap="none" strike="noStrike">
                <a:solidFill>
                  <a:srgbClr val="3E3E3E"/>
                </a:solidFill>
                <a:latin typeface="Times New Roman"/>
                <a:ea typeface="Times New Roman"/>
                <a:cs typeface="Times New Roman"/>
                <a:sym typeface="Times New Roman"/>
              </a:rPr>
              <a:t>query optimizer </a:t>
            </a:r>
            <a:r>
              <a:rPr b="0" i="0" lang="en-US" sz="2000" u="none" cap="none" strike="noStrike">
                <a:solidFill>
                  <a:srgbClr val="3E3E3E"/>
                </a:solidFill>
                <a:latin typeface="Times New Roman"/>
                <a:ea typeface="Times New Roman"/>
                <a:cs typeface="Times New Roman"/>
                <a:sym typeface="Times New Roman"/>
              </a:rPr>
              <a:t>is to find a </a:t>
            </a:r>
            <a:r>
              <a:rPr b="0" i="1" lang="en-US" sz="2000" u="none" cap="none" strike="noStrike">
                <a:solidFill>
                  <a:srgbClr val="3E3E3E"/>
                </a:solidFill>
                <a:latin typeface="Times New Roman"/>
                <a:ea typeface="Times New Roman"/>
                <a:cs typeface="Times New Roman"/>
                <a:sym typeface="Times New Roman"/>
              </a:rPr>
              <a:t>reasonably efficient </a:t>
            </a:r>
            <a:r>
              <a:rPr b="0" i="0" lang="en-US" sz="2000" u="none" cap="none" strike="noStrike">
                <a:solidFill>
                  <a:srgbClr val="3E3E3E"/>
                </a:solidFill>
                <a:latin typeface="Times New Roman"/>
                <a:ea typeface="Times New Roman"/>
                <a:cs typeface="Times New Roman"/>
                <a:sym typeface="Times New Roman"/>
              </a:rPr>
              <a:t>strategy for  executing the query (not quite what the name implies) using the access  routines.</a:t>
            </a:r>
            <a:endParaRPr b="0" i="0" sz="2000" u="none" cap="none" strike="noStrike">
              <a:solidFill>
                <a:schemeClr val="dk1"/>
              </a:solidFill>
              <a:latin typeface="Times New Roman"/>
              <a:ea typeface="Times New Roman"/>
              <a:cs typeface="Times New Roman"/>
              <a:sym typeface="Times New Roman"/>
            </a:endParaRPr>
          </a:p>
          <a:p>
            <a:pPr indent="-119951" lvl="0" marL="92710" marR="2113915" rtl="0" algn="l">
              <a:lnSpc>
                <a:spcPct val="101400"/>
              </a:lnSpc>
              <a:spcBef>
                <a:spcPts val="345"/>
              </a:spcBef>
              <a:spcAft>
                <a:spcPts val="0"/>
              </a:spcAft>
              <a:buClr>
                <a:srgbClr val="3E3E3E"/>
              </a:buClr>
              <a:buSzPts val="1889"/>
              <a:buFont typeface="Times New Roman"/>
              <a:buChar char="•"/>
            </a:pPr>
            <a:r>
              <a:rPr b="0" i="0" lang="en-US" sz="2000" u="none" cap="none" strike="noStrike">
                <a:solidFill>
                  <a:srgbClr val="3E3E3E"/>
                </a:solidFill>
                <a:latin typeface="Times New Roman"/>
                <a:ea typeface="Times New Roman"/>
                <a:cs typeface="Times New Roman"/>
                <a:sym typeface="Times New Roman"/>
              </a:rPr>
              <a:t>Optimization typically takes one of two forms: </a:t>
            </a:r>
            <a:r>
              <a:rPr b="0" i="1" lang="en-US" sz="2000" u="none" cap="none" strike="noStrike">
                <a:solidFill>
                  <a:srgbClr val="3E3E3E"/>
                </a:solidFill>
                <a:latin typeface="Times New Roman"/>
                <a:ea typeface="Times New Roman"/>
                <a:cs typeface="Times New Roman"/>
                <a:sym typeface="Times New Roman"/>
              </a:rPr>
              <a:t>Heuristic  Optimization </a:t>
            </a:r>
            <a:r>
              <a:rPr b="0" i="0" lang="en-US" sz="2000" u="none" cap="none" strike="noStrike">
                <a:solidFill>
                  <a:srgbClr val="3E3E3E"/>
                </a:solidFill>
                <a:latin typeface="Times New Roman"/>
                <a:ea typeface="Times New Roman"/>
                <a:cs typeface="Times New Roman"/>
                <a:sym typeface="Times New Roman"/>
              </a:rPr>
              <a:t>or </a:t>
            </a:r>
            <a:r>
              <a:rPr b="0" i="1" lang="en-US" sz="2000" u="none" cap="none" strike="noStrike">
                <a:solidFill>
                  <a:srgbClr val="3E3E3E"/>
                </a:solidFill>
                <a:latin typeface="Times New Roman"/>
                <a:ea typeface="Times New Roman"/>
                <a:cs typeface="Times New Roman"/>
                <a:sym typeface="Times New Roman"/>
              </a:rPr>
              <a:t>Cost Based Optimization</a:t>
            </a:r>
            <a:endParaRPr b="0" i="0" sz="2000" u="none" cap="none" strike="noStrike">
              <a:solidFill>
                <a:schemeClr val="dk1"/>
              </a:solidFill>
              <a:latin typeface="Times New Roman"/>
              <a:ea typeface="Times New Roman"/>
              <a:cs typeface="Times New Roman"/>
              <a:sym typeface="Times New Roman"/>
            </a:endParaRPr>
          </a:p>
          <a:p>
            <a:pPr indent="-119951" lvl="0" marL="92710" marR="1163955" rtl="0" algn="l">
              <a:lnSpc>
                <a:spcPct val="101400"/>
              </a:lnSpc>
              <a:spcBef>
                <a:spcPts val="345"/>
              </a:spcBef>
              <a:spcAft>
                <a:spcPts val="0"/>
              </a:spcAft>
              <a:buClr>
                <a:srgbClr val="3E3E3E"/>
              </a:buClr>
              <a:buSzPts val="1889"/>
              <a:buFont typeface="Times New Roman"/>
              <a:buChar char="•"/>
            </a:pPr>
            <a:r>
              <a:rPr b="0" i="0" lang="en-US" sz="2000" u="none" cap="none" strike="noStrike">
                <a:solidFill>
                  <a:srgbClr val="3E3E3E"/>
                </a:solidFill>
                <a:latin typeface="Times New Roman"/>
                <a:ea typeface="Times New Roman"/>
                <a:cs typeface="Times New Roman"/>
                <a:sym typeface="Times New Roman"/>
              </a:rPr>
              <a:t>In </a:t>
            </a:r>
            <a:r>
              <a:rPr b="1" i="0" lang="en-US" sz="2000" u="none" cap="none" strike="noStrike">
                <a:solidFill>
                  <a:srgbClr val="3E3E3E"/>
                </a:solidFill>
                <a:latin typeface="Times New Roman"/>
                <a:ea typeface="Times New Roman"/>
                <a:cs typeface="Times New Roman"/>
                <a:sym typeface="Times New Roman"/>
              </a:rPr>
              <a:t>Heuristic Optimization</a:t>
            </a:r>
            <a:r>
              <a:rPr b="0" i="0" lang="en-US" sz="2000" u="none" cap="none" strike="noStrike">
                <a:solidFill>
                  <a:srgbClr val="3E3E3E"/>
                </a:solidFill>
                <a:latin typeface="Times New Roman"/>
                <a:ea typeface="Times New Roman"/>
                <a:cs typeface="Times New Roman"/>
                <a:sym typeface="Times New Roman"/>
              </a:rPr>
              <a:t>, the query execution is refined based  on </a:t>
            </a:r>
            <a:r>
              <a:rPr b="0" i="1" lang="en-US" sz="2000" u="none" cap="none" strike="noStrike">
                <a:solidFill>
                  <a:srgbClr val="3E3E3E"/>
                </a:solidFill>
                <a:latin typeface="Times New Roman"/>
                <a:ea typeface="Times New Roman"/>
                <a:cs typeface="Times New Roman"/>
                <a:sym typeface="Times New Roman"/>
              </a:rPr>
              <a:t>heuristic rules </a:t>
            </a:r>
            <a:r>
              <a:rPr b="0" i="0" lang="en-US" sz="2000" u="none" cap="none" strike="noStrike">
                <a:solidFill>
                  <a:srgbClr val="3E3E3E"/>
                </a:solidFill>
                <a:latin typeface="Times New Roman"/>
                <a:ea typeface="Times New Roman"/>
                <a:cs typeface="Times New Roman"/>
                <a:sym typeface="Times New Roman"/>
              </a:rPr>
              <a:t>for reordering the individual operations.</a:t>
            </a:r>
            <a:endParaRPr b="0" i="0" sz="2000" u="none" cap="none" strike="noStrike">
              <a:solidFill>
                <a:schemeClr val="dk1"/>
              </a:solidFill>
              <a:latin typeface="Times New Roman"/>
              <a:ea typeface="Times New Roman"/>
              <a:cs typeface="Times New Roman"/>
              <a:sym typeface="Times New Roman"/>
            </a:endParaRPr>
          </a:p>
          <a:p>
            <a:pPr indent="-119951" lvl="0" marL="92710" marR="213359" rtl="0" algn="l">
              <a:lnSpc>
                <a:spcPct val="101000"/>
              </a:lnSpc>
              <a:spcBef>
                <a:spcPts val="355"/>
              </a:spcBef>
              <a:spcAft>
                <a:spcPts val="0"/>
              </a:spcAft>
              <a:buClr>
                <a:srgbClr val="3E3E3E"/>
              </a:buClr>
              <a:buSzPts val="1889"/>
              <a:buFont typeface="Times New Roman"/>
              <a:buChar char="•"/>
            </a:pPr>
            <a:r>
              <a:rPr b="0" i="0" lang="en-US" sz="2000" u="none" cap="none" strike="noStrike">
                <a:solidFill>
                  <a:srgbClr val="3E3E3E"/>
                </a:solidFill>
                <a:latin typeface="Times New Roman"/>
                <a:ea typeface="Times New Roman"/>
                <a:cs typeface="Times New Roman"/>
                <a:sym typeface="Times New Roman"/>
              </a:rPr>
              <a:t>With </a:t>
            </a:r>
            <a:r>
              <a:rPr b="1" i="0" lang="en-US" sz="2000" u="none" cap="none" strike="noStrike">
                <a:solidFill>
                  <a:srgbClr val="3E3E3E"/>
                </a:solidFill>
                <a:latin typeface="Times New Roman"/>
                <a:ea typeface="Times New Roman"/>
                <a:cs typeface="Times New Roman"/>
                <a:sym typeface="Times New Roman"/>
              </a:rPr>
              <a:t>Cost Based Optimization</a:t>
            </a:r>
            <a:r>
              <a:rPr b="0" i="0" lang="en-US" sz="2000" u="none" cap="none" strike="noStrike">
                <a:solidFill>
                  <a:srgbClr val="3E3E3E"/>
                </a:solidFill>
                <a:latin typeface="Times New Roman"/>
                <a:ea typeface="Times New Roman"/>
                <a:cs typeface="Times New Roman"/>
                <a:sym typeface="Times New Roman"/>
              </a:rPr>
              <a:t>, the overall cost of executing the query is  systematically reduced by estimating the costs of executing several  different execution plans.</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nvSpPr>
        <p:spPr>
          <a:xfrm>
            <a:off x="381000" y="914400"/>
            <a:ext cx="7983300" cy="5399400"/>
          </a:xfrm>
          <a:prstGeom prst="rect">
            <a:avLst/>
          </a:prstGeom>
          <a:noFill/>
          <a:ln>
            <a:noFill/>
          </a:ln>
        </p:spPr>
        <p:txBody>
          <a:bodyPr anchorCtr="0" anchor="t" bIns="0" lIns="0" spcFirstLastPara="1" rIns="0" wrap="square" tIns="60325">
            <a:spAutoFit/>
          </a:bodyPr>
          <a:lstStyle/>
          <a:p>
            <a:pPr indent="-119951" lvl="0" marL="93345" marR="0" rtl="0" algn="l">
              <a:lnSpc>
                <a:spcPct val="100000"/>
              </a:lnSpc>
              <a:spcBef>
                <a:spcPts val="0"/>
              </a:spcBef>
              <a:spcAft>
                <a:spcPts val="0"/>
              </a:spcAft>
              <a:buClr>
                <a:srgbClr val="3E3E3E"/>
              </a:buClr>
              <a:buSzPts val="1889"/>
              <a:buFont typeface="Times New Roman"/>
              <a:buChar char="•"/>
            </a:pPr>
            <a:r>
              <a:rPr b="1" i="0" lang="en-US" sz="2000" u="none" cap="none" strike="noStrike">
                <a:solidFill>
                  <a:srgbClr val="3E3E3E"/>
                </a:solidFill>
                <a:latin typeface="Times New Roman"/>
                <a:ea typeface="Times New Roman"/>
                <a:cs typeface="Times New Roman"/>
                <a:sym typeface="Times New Roman"/>
              </a:rPr>
              <a:t>Query Code Generator (interpreted or compiled)</a:t>
            </a:r>
            <a:endParaRPr b="0" i="0" sz="2000" u="none" cap="none" strike="noStrike">
              <a:solidFill>
                <a:schemeClr val="dk1"/>
              </a:solidFill>
              <a:latin typeface="Times New Roman"/>
              <a:ea typeface="Times New Roman"/>
              <a:cs typeface="Times New Roman"/>
              <a:sym typeface="Times New Roman"/>
            </a:endParaRPr>
          </a:p>
          <a:p>
            <a:pPr indent="-127000" lvl="0" marL="92710" marR="322580" rtl="0" algn="just">
              <a:lnSpc>
                <a:spcPct val="101000"/>
              </a:lnSpc>
              <a:spcBef>
                <a:spcPts val="350"/>
              </a:spcBef>
              <a:spcAft>
                <a:spcPts val="0"/>
              </a:spcAft>
              <a:buClr>
                <a:srgbClr val="3E3E3E"/>
              </a:buClr>
              <a:buSzPts val="2000"/>
              <a:buFont typeface="Times New Roman"/>
              <a:buChar char="•"/>
            </a:pPr>
            <a:r>
              <a:rPr b="0" i="0" lang="en-US" sz="2000" u="none" cap="none" strike="noStrike">
                <a:solidFill>
                  <a:srgbClr val="3E3E3E"/>
                </a:solidFill>
                <a:latin typeface="Times New Roman"/>
                <a:ea typeface="Times New Roman"/>
                <a:cs typeface="Times New Roman"/>
                <a:sym typeface="Times New Roman"/>
              </a:rPr>
              <a:t>Once the query optimizer has determined the execution plan (the  specific ordering of access routines), the code generator writes out the  actual access routines to be executed.</a:t>
            </a:r>
            <a:endParaRPr b="0" i="0" sz="2000" u="none" cap="none" strike="noStrike">
              <a:solidFill>
                <a:schemeClr val="dk1"/>
              </a:solidFill>
              <a:latin typeface="Times New Roman"/>
              <a:ea typeface="Times New Roman"/>
              <a:cs typeface="Times New Roman"/>
              <a:sym typeface="Times New Roman"/>
            </a:endParaRPr>
          </a:p>
          <a:p>
            <a:pPr indent="-127000" lvl="0" marL="92710" marR="133985" rtl="0" algn="l">
              <a:lnSpc>
                <a:spcPct val="101400"/>
              </a:lnSpc>
              <a:spcBef>
                <a:spcPts val="345"/>
              </a:spcBef>
              <a:spcAft>
                <a:spcPts val="0"/>
              </a:spcAft>
              <a:buClr>
                <a:srgbClr val="3E3E3E"/>
              </a:buClr>
              <a:buSzPts val="2000"/>
              <a:buFont typeface="Times New Roman"/>
              <a:buChar char="•"/>
            </a:pPr>
            <a:r>
              <a:rPr b="0" i="0" lang="en-US" sz="2000" u="none" cap="none" strike="noStrike">
                <a:solidFill>
                  <a:srgbClr val="3E3E3E"/>
                </a:solidFill>
                <a:latin typeface="Times New Roman"/>
                <a:ea typeface="Times New Roman"/>
                <a:cs typeface="Times New Roman"/>
                <a:sym typeface="Times New Roman"/>
              </a:rPr>
              <a:t>With an interactive session, the query code is interpreted and passed  directly to the runtime database processor for execution.</a:t>
            </a:r>
            <a:endParaRPr b="0" i="0" sz="2000" u="none" cap="none" strike="noStrike">
              <a:solidFill>
                <a:schemeClr val="dk1"/>
              </a:solidFill>
              <a:latin typeface="Times New Roman"/>
              <a:ea typeface="Times New Roman"/>
              <a:cs typeface="Times New Roman"/>
              <a:sym typeface="Times New Roman"/>
            </a:endParaRPr>
          </a:p>
          <a:p>
            <a:pPr indent="-127000" lvl="0" marL="92710" marR="5080" rtl="0" algn="l">
              <a:lnSpc>
                <a:spcPct val="101400"/>
              </a:lnSpc>
              <a:spcBef>
                <a:spcPts val="345"/>
              </a:spcBef>
              <a:spcAft>
                <a:spcPts val="0"/>
              </a:spcAft>
              <a:buClr>
                <a:srgbClr val="3E3E3E"/>
              </a:buClr>
              <a:buSzPts val="2000"/>
              <a:buFont typeface="Times New Roman"/>
              <a:buChar char="•"/>
            </a:pPr>
            <a:r>
              <a:rPr b="0" i="0" lang="en-US" sz="2000" u="none" cap="none" strike="noStrike">
                <a:solidFill>
                  <a:srgbClr val="3E3E3E"/>
                </a:solidFill>
                <a:latin typeface="Times New Roman"/>
                <a:ea typeface="Times New Roman"/>
                <a:cs typeface="Times New Roman"/>
                <a:sym typeface="Times New Roman"/>
              </a:rPr>
              <a:t>It is also possible to </a:t>
            </a:r>
            <a:r>
              <a:rPr b="0" i="1" lang="en-US" sz="2000" u="none" cap="none" strike="noStrike">
                <a:solidFill>
                  <a:srgbClr val="3E3E3E"/>
                </a:solidFill>
                <a:latin typeface="Times New Roman"/>
                <a:ea typeface="Times New Roman"/>
                <a:cs typeface="Times New Roman"/>
                <a:sym typeface="Times New Roman"/>
              </a:rPr>
              <a:t>compile </a:t>
            </a:r>
            <a:r>
              <a:rPr b="0" i="0" lang="en-US" sz="2000" u="none" cap="none" strike="noStrike">
                <a:solidFill>
                  <a:srgbClr val="3E3E3E"/>
                </a:solidFill>
                <a:latin typeface="Times New Roman"/>
                <a:ea typeface="Times New Roman"/>
                <a:cs typeface="Times New Roman"/>
                <a:sym typeface="Times New Roman"/>
              </a:rPr>
              <a:t>the access routines and store them for  later execution.</a:t>
            </a:r>
            <a:endParaRPr b="0" i="0" sz="2000" u="none" cap="none" strike="noStrike">
              <a:solidFill>
                <a:schemeClr val="dk1"/>
              </a:solidFill>
              <a:latin typeface="Times New Roman"/>
              <a:ea typeface="Times New Roman"/>
              <a:cs typeface="Times New Roman"/>
              <a:sym typeface="Times New Roman"/>
            </a:endParaRPr>
          </a:p>
          <a:p>
            <a:pPr indent="-119951" lvl="0" marL="93345" marR="0" rtl="0" algn="l">
              <a:lnSpc>
                <a:spcPct val="100000"/>
              </a:lnSpc>
              <a:spcBef>
                <a:spcPts val="375"/>
              </a:spcBef>
              <a:spcAft>
                <a:spcPts val="0"/>
              </a:spcAft>
              <a:buClr>
                <a:srgbClr val="3E3E3E"/>
              </a:buClr>
              <a:buSzPts val="1889"/>
              <a:buFont typeface="Times New Roman"/>
              <a:buChar char="•"/>
            </a:pPr>
            <a:r>
              <a:rPr b="1" i="0" lang="en-US" sz="2000" u="none" cap="none" strike="noStrike">
                <a:solidFill>
                  <a:srgbClr val="3E3E3E"/>
                </a:solidFill>
                <a:latin typeface="Times New Roman"/>
                <a:ea typeface="Times New Roman"/>
                <a:cs typeface="Times New Roman"/>
                <a:sym typeface="Times New Roman"/>
              </a:rPr>
              <a:t>Execution in the runtime database processor</a:t>
            </a:r>
            <a:endParaRPr b="0" i="0" sz="2000" u="none" cap="none" strike="noStrike">
              <a:solidFill>
                <a:schemeClr val="dk1"/>
              </a:solidFill>
              <a:latin typeface="Times New Roman"/>
              <a:ea typeface="Times New Roman"/>
              <a:cs typeface="Times New Roman"/>
              <a:sym typeface="Times New Roman"/>
            </a:endParaRPr>
          </a:p>
          <a:p>
            <a:pPr indent="-127000" lvl="0" marL="92710" marR="388620" rtl="0" algn="l">
              <a:lnSpc>
                <a:spcPct val="101400"/>
              </a:lnSpc>
              <a:spcBef>
                <a:spcPts val="360"/>
              </a:spcBef>
              <a:spcAft>
                <a:spcPts val="0"/>
              </a:spcAft>
              <a:buClr>
                <a:srgbClr val="3E3E3E"/>
              </a:buClr>
              <a:buSzPts val="2000"/>
              <a:buFont typeface="Times New Roman"/>
              <a:buChar char="•"/>
            </a:pPr>
            <a:r>
              <a:rPr b="0" i="0" lang="en-US" sz="2000" u="none" cap="none" strike="noStrike">
                <a:solidFill>
                  <a:srgbClr val="3E3E3E"/>
                </a:solidFill>
                <a:latin typeface="Times New Roman"/>
                <a:ea typeface="Times New Roman"/>
                <a:cs typeface="Times New Roman"/>
                <a:sym typeface="Times New Roman"/>
              </a:rPr>
              <a:t>At this point, the query has been scanned, parsed, planned and  (possibly) compiled.</a:t>
            </a:r>
            <a:endParaRPr b="0" i="0" sz="2000" u="none" cap="none" strike="noStrike">
              <a:solidFill>
                <a:schemeClr val="dk1"/>
              </a:solidFill>
              <a:latin typeface="Times New Roman"/>
              <a:ea typeface="Times New Roman"/>
              <a:cs typeface="Times New Roman"/>
              <a:sym typeface="Times New Roman"/>
            </a:endParaRPr>
          </a:p>
          <a:p>
            <a:pPr indent="-127000" lvl="0" marL="92710" marR="438784" rtl="0" algn="l">
              <a:lnSpc>
                <a:spcPct val="101400"/>
              </a:lnSpc>
              <a:spcBef>
                <a:spcPts val="345"/>
              </a:spcBef>
              <a:spcAft>
                <a:spcPts val="0"/>
              </a:spcAft>
              <a:buClr>
                <a:srgbClr val="3E3E3E"/>
              </a:buClr>
              <a:buSzPts val="2000"/>
              <a:buFont typeface="Times New Roman"/>
              <a:buChar char="•"/>
            </a:pPr>
            <a:r>
              <a:rPr b="0" i="0" lang="en-US" sz="2000" u="none" cap="none" strike="noStrike">
                <a:solidFill>
                  <a:srgbClr val="3E3E3E"/>
                </a:solidFill>
                <a:latin typeface="Times New Roman"/>
                <a:ea typeface="Times New Roman"/>
                <a:cs typeface="Times New Roman"/>
                <a:sym typeface="Times New Roman"/>
              </a:rPr>
              <a:t>The runtime database processor then executes the access routines  against the database.</a:t>
            </a:r>
            <a:endParaRPr b="0" i="0" sz="2000" u="none" cap="none" strike="noStrike">
              <a:solidFill>
                <a:schemeClr val="dk1"/>
              </a:solidFill>
              <a:latin typeface="Times New Roman"/>
              <a:ea typeface="Times New Roman"/>
              <a:cs typeface="Times New Roman"/>
              <a:sym typeface="Times New Roman"/>
            </a:endParaRPr>
          </a:p>
          <a:p>
            <a:pPr indent="-127000" lvl="0" marL="92710" marR="48260" rtl="0" algn="l">
              <a:lnSpc>
                <a:spcPct val="101400"/>
              </a:lnSpc>
              <a:spcBef>
                <a:spcPts val="345"/>
              </a:spcBef>
              <a:spcAft>
                <a:spcPts val="0"/>
              </a:spcAft>
              <a:buClr>
                <a:srgbClr val="3E3E3E"/>
              </a:buClr>
              <a:buSzPts val="2000"/>
              <a:buFont typeface="Times New Roman"/>
              <a:buChar char="•"/>
            </a:pPr>
            <a:r>
              <a:rPr b="0" i="0" lang="en-US" sz="2000" u="none" cap="none" strike="noStrike">
                <a:solidFill>
                  <a:srgbClr val="3E3E3E"/>
                </a:solidFill>
                <a:latin typeface="Times New Roman"/>
                <a:ea typeface="Times New Roman"/>
                <a:cs typeface="Times New Roman"/>
                <a:sym typeface="Times New Roman"/>
              </a:rPr>
              <a:t>The results are returned to the application that made the query in the  first place.</a:t>
            </a:r>
            <a:endParaRPr b="0" i="0" sz="2000" u="none" cap="none" strike="noStrike">
              <a:solidFill>
                <a:schemeClr val="dk1"/>
              </a:solidFill>
              <a:latin typeface="Times New Roman"/>
              <a:ea typeface="Times New Roman"/>
              <a:cs typeface="Times New Roman"/>
              <a:sym typeface="Times New Roman"/>
            </a:endParaRPr>
          </a:p>
          <a:p>
            <a:pPr indent="-127000" lvl="0" marL="92710" marR="48260" rtl="0" algn="l">
              <a:lnSpc>
                <a:spcPct val="101400"/>
              </a:lnSpc>
              <a:spcBef>
                <a:spcPts val="345"/>
              </a:spcBef>
              <a:spcAft>
                <a:spcPts val="0"/>
              </a:spcAft>
              <a:buClr>
                <a:srgbClr val="3E3E3E"/>
              </a:buClr>
              <a:buSzPts val="2000"/>
              <a:buFont typeface="Times New Roman"/>
              <a:buChar char="•"/>
            </a:pPr>
            <a:r>
              <a:rPr b="0" i="0" lang="en-US" sz="2000" u="none" cap="none" strike="noStrike">
                <a:solidFill>
                  <a:srgbClr val="3E3E3E"/>
                </a:solidFill>
                <a:latin typeface="Times New Roman"/>
                <a:ea typeface="Times New Roman"/>
                <a:cs typeface="Times New Roman"/>
                <a:sym typeface="Times New Roman"/>
              </a:rPr>
              <a:t>Any runtime errors are also returned.</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762000" y="915862"/>
            <a:ext cx="57792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Transaction Concept</a:t>
            </a:r>
            <a:endParaRPr/>
          </a:p>
        </p:txBody>
      </p:sp>
      <p:sp>
        <p:nvSpPr>
          <p:cNvPr id="122" name="Google Shape;122;p7"/>
          <p:cNvSpPr txBox="1"/>
          <p:nvPr/>
        </p:nvSpPr>
        <p:spPr>
          <a:xfrm>
            <a:off x="304800" y="1577340"/>
            <a:ext cx="8338503" cy="3701206"/>
          </a:xfrm>
          <a:prstGeom prst="rect">
            <a:avLst/>
          </a:prstGeom>
          <a:noFill/>
          <a:ln>
            <a:noFill/>
          </a:ln>
        </p:spPr>
        <p:txBody>
          <a:bodyPr anchorCtr="0" anchor="t" bIns="0" lIns="0" spcFirstLastPara="1" rIns="0" wrap="square" tIns="12700">
            <a:spAutoFit/>
          </a:bodyPr>
          <a:lstStyle/>
          <a:p>
            <a:pPr indent="0" lvl="0" marL="12700" marR="162560" rtl="0" algn="l">
              <a:lnSpc>
                <a:spcPct val="100000"/>
              </a:lnSpc>
              <a:spcBef>
                <a:spcPts val="0"/>
              </a:spcBef>
              <a:spcAft>
                <a:spcPts val="0"/>
              </a:spcAft>
              <a:buClr>
                <a:srgbClr val="000000"/>
              </a:buClr>
              <a:buSzPts val="2000"/>
              <a:buFont typeface="Arial"/>
              <a:buNone/>
            </a:pPr>
            <a:r>
              <a:rPr b="0" i="0" lang="en-US" sz="2000" u="none" cap="none" strike="noStrike">
                <a:solidFill>
                  <a:srgbClr val="3E3E3E"/>
                </a:solidFill>
                <a:latin typeface="Times New Roman"/>
                <a:ea typeface="Times New Roman"/>
                <a:cs typeface="Times New Roman"/>
                <a:sym typeface="Times New Roman"/>
              </a:rPr>
              <a:t>A </a:t>
            </a:r>
            <a:r>
              <a:rPr b="1" i="0" lang="en-US" sz="2000" u="none" cap="none" strike="noStrike">
                <a:solidFill>
                  <a:srgbClr val="000099"/>
                </a:solidFill>
                <a:latin typeface="Times New Roman"/>
                <a:ea typeface="Times New Roman"/>
                <a:cs typeface="Times New Roman"/>
                <a:sym typeface="Times New Roman"/>
              </a:rPr>
              <a:t>transaction </a:t>
            </a:r>
            <a:r>
              <a:rPr b="0" i="0" lang="en-US" sz="2000" u="none" cap="none" strike="noStrike">
                <a:solidFill>
                  <a:srgbClr val="3E3E3E"/>
                </a:solidFill>
                <a:latin typeface="Times New Roman"/>
                <a:ea typeface="Times New Roman"/>
                <a:cs typeface="Times New Roman"/>
                <a:sym typeface="Times New Roman"/>
              </a:rPr>
              <a:t>is a </a:t>
            </a:r>
            <a:r>
              <a:rPr b="0" i="1" lang="en-US" sz="2000" u="none" cap="none" strike="noStrike">
                <a:solidFill>
                  <a:srgbClr val="3E3E3E"/>
                </a:solidFill>
                <a:latin typeface="Times New Roman"/>
                <a:ea typeface="Times New Roman"/>
                <a:cs typeface="Times New Roman"/>
                <a:sym typeface="Times New Roman"/>
              </a:rPr>
              <a:t>unit </a:t>
            </a:r>
            <a:r>
              <a:rPr b="0" i="0" lang="en-US" sz="2000" u="none" cap="none" strike="noStrike">
                <a:solidFill>
                  <a:srgbClr val="3E3E3E"/>
                </a:solidFill>
                <a:latin typeface="Times New Roman"/>
                <a:ea typeface="Times New Roman"/>
                <a:cs typeface="Times New Roman"/>
                <a:sym typeface="Times New Roman"/>
              </a:rPr>
              <a:t>of program execution that accesses  and  possibly updates various data items.</a:t>
            </a:r>
            <a:endParaRPr b="0" i="0" sz="2000"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400"/>
              </a:spcBef>
              <a:spcAft>
                <a:spcPts val="0"/>
              </a:spcAft>
              <a:buClr>
                <a:srgbClr val="000000"/>
              </a:buClr>
              <a:buSzPts val="2000"/>
              <a:buFont typeface="Arial"/>
              <a:buNone/>
            </a:pPr>
            <a:r>
              <a:rPr b="0" i="0" lang="en-US" sz="2000" u="none" cap="none" strike="noStrike">
                <a:solidFill>
                  <a:srgbClr val="3E3E3E"/>
                </a:solidFill>
                <a:latin typeface="Times New Roman"/>
                <a:ea typeface="Times New Roman"/>
                <a:cs typeface="Times New Roman"/>
                <a:sym typeface="Times New Roman"/>
              </a:rPr>
              <a:t>E.g. transaction to transfer $50 from account A to account B:</a:t>
            </a:r>
            <a:endParaRPr b="0" i="0" sz="2000" u="none" cap="none" strike="noStrike">
              <a:solidFill>
                <a:schemeClr val="dk1"/>
              </a:solidFill>
              <a:latin typeface="Times New Roman"/>
              <a:ea typeface="Times New Roman"/>
              <a:cs typeface="Times New Roman"/>
              <a:sym typeface="Times New Roman"/>
            </a:endParaRPr>
          </a:p>
          <a:p>
            <a:pPr indent="-457200" lvl="1" marL="927100" marR="0" rtl="0" algn="l">
              <a:lnSpc>
                <a:spcPct val="100000"/>
              </a:lnSpc>
              <a:spcBef>
                <a:spcPts val="310"/>
              </a:spcBef>
              <a:spcAft>
                <a:spcPts val="0"/>
              </a:spcAft>
              <a:buClr>
                <a:schemeClr val="dk1"/>
              </a:buClr>
              <a:buSzPts val="1600"/>
              <a:buFont typeface="Arial"/>
              <a:buAutoNum type="arabicPeriod"/>
            </a:pPr>
            <a:r>
              <a:rPr b="1" i="0" lang="en-US" sz="1600" u="none" cap="none" strike="noStrike">
                <a:solidFill>
                  <a:schemeClr val="dk1"/>
                </a:solidFill>
                <a:latin typeface="Times New Roman"/>
                <a:ea typeface="Times New Roman"/>
                <a:cs typeface="Times New Roman"/>
                <a:sym typeface="Times New Roman"/>
              </a:rPr>
              <a:t>read</a:t>
            </a:r>
            <a:r>
              <a:rPr b="0" i="0" lang="en-US" sz="1600" u="none" cap="none" strike="noStrike">
                <a:solidFill>
                  <a:schemeClr val="dk1"/>
                </a:solidFill>
                <a:latin typeface="Times New Roman"/>
                <a:ea typeface="Times New Roman"/>
                <a:cs typeface="Times New Roman"/>
                <a:sym typeface="Times New Roman"/>
              </a:rPr>
              <a:t>(</a:t>
            </a:r>
            <a:r>
              <a:rPr b="0" i="1" lang="en-US" sz="1600" u="none" cap="none" strike="noStrike">
                <a:solidFill>
                  <a:schemeClr val="dk1"/>
                </a:solidFill>
                <a:latin typeface="Times New Roman"/>
                <a:ea typeface="Times New Roman"/>
                <a:cs typeface="Times New Roman"/>
                <a:sym typeface="Times New Roman"/>
              </a:rPr>
              <a:t>A</a:t>
            </a:r>
            <a:r>
              <a:rPr b="0" i="0" lang="en-US" sz="1600" u="none" cap="none" strike="noStrike">
                <a:solidFill>
                  <a:schemeClr val="dk1"/>
                </a:solidFill>
                <a:latin typeface="Times New Roman"/>
                <a:ea typeface="Times New Roman"/>
                <a:cs typeface="Times New Roman"/>
                <a:sym typeface="Times New Roman"/>
              </a:rPr>
              <a:t>)</a:t>
            </a:r>
            <a:endParaRPr b="0" i="0" sz="1600" u="none" cap="none" strike="noStrike">
              <a:solidFill>
                <a:schemeClr val="dk1"/>
              </a:solidFill>
              <a:latin typeface="Times New Roman"/>
              <a:ea typeface="Times New Roman"/>
              <a:cs typeface="Times New Roman"/>
              <a:sym typeface="Times New Roman"/>
            </a:endParaRPr>
          </a:p>
          <a:p>
            <a:pPr indent="0" lvl="0" marL="469900" marR="0" rtl="0" algn="l">
              <a:lnSpc>
                <a:spcPct val="100000"/>
              </a:lnSpc>
              <a:spcBef>
                <a:spcPts val="33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2.	</a:t>
            </a:r>
            <a:r>
              <a:rPr b="0" i="1" lang="en-US" sz="1600" u="none" cap="none" strike="noStrike">
                <a:solidFill>
                  <a:schemeClr val="dk1"/>
                </a:solidFill>
                <a:latin typeface="Times New Roman"/>
                <a:ea typeface="Times New Roman"/>
                <a:cs typeface="Times New Roman"/>
                <a:sym typeface="Times New Roman"/>
              </a:rPr>
              <a:t>A </a:t>
            </a:r>
            <a:r>
              <a:rPr b="0" i="0" lang="en-US" sz="1600" u="none" cap="none" strike="noStrike">
                <a:solidFill>
                  <a:schemeClr val="dk1"/>
                </a:solidFill>
                <a:latin typeface="Times New Roman"/>
                <a:ea typeface="Times New Roman"/>
                <a:cs typeface="Times New Roman"/>
                <a:sym typeface="Times New Roman"/>
              </a:rPr>
              <a:t>:= </a:t>
            </a:r>
            <a:r>
              <a:rPr b="0" i="1" lang="en-US" sz="1600" u="none" cap="none" strike="noStrike">
                <a:solidFill>
                  <a:schemeClr val="dk1"/>
                </a:solidFill>
                <a:latin typeface="Times New Roman"/>
                <a:ea typeface="Times New Roman"/>
                <a:cs typeface="Times New Roman"/>
                <a:sym typeface="Times New Roman"/>
              </a:rPr>
              <a:t>A – </a:t>
            </a:r>
            <a:r>
              <a:rPr b="0" i="0" lang="en-US" sz="1600" u="none" cap="none" strike="noStrike">
                <a:solidFill>
                  <a:schemeClr val="dk1"/>
                </a:solidFill>
                <a:latin typeface="Times New Roman"/>
                <a:ea typeface="Times New Roman"/>
                <a:cs typeface="Times New Roman"/>
                <a:sym typeface="Times New Roman"/>
              </a:rPr>
              <a:t>50</a:t>
            </a:r>
            <a:endParaRPr b="0" i="0" sz="1600" u="none" cap="none" strike="noStrike">
              <a:solidFill>
                <a:schemeClr val="dk1"/>
              </a:solidFill>
              <a:latin typeface="Times New Roman"/>
              <a:ea typeface="Times New Roman"/>
              <a:cs typeface="Times New Roman"/>
              <a:sym typeface="Times New Roman"/>
            </a:endParaRPr>
          </a:p>
          <a:p>
            <a:pPr indent="-457200" lvl="0" marL="927100" marR="0" rtl="0" algn="l">
              <a:lnSpc>
                <a:spcPct val="100000"/>
              </a:lnSpc>
              <a:spcBef>
                <a:spcPts val="330"/>
              </a:spcBef>
              <a:spcAft>
                <a:spcPts val="0"/>
              </a:spcAft>
              <a:buClr>
                <a:schemeClr val="dk1"/>
              </a:buClr>
              <a:buSzPts val="1600"/>
              <a:buFont typeface="Arial"/>
              <a:buAutoNum type="arabicPeriod" startAt="3"/>
            </a:pPr>
            <a:r>
              <a:rPr b="1" i="0" lang="en-US" sz="1600" u="none" cap="none" strike="noStrike">
                <a:solidFill>
                  <a:schemeClr val="dk1"/>
                </a:solidFill>
                <a:latin typeface="Times New Roman"/>
                <a:ea typeface="Times New Roman"/>
                <a:cs typeface="Times New Roman"/>
                <a:sym typeface="Times New Roman"/>
              </a:rPr>
              <a:t>write</a:t>
            </a:r>
            <a:r>
              <a:rPr b="0" i="0" lang="en-US" sz="1600" u="none" cap="none" strike="noStrike">
                <a:solidFill>
                  <a:schemeClr val="dk1"/>
                </a:solidFill>
                <a:latin typeface="Times New Roman"/>
                <a:ea typeface="Times New Roman"/>
                <a:cs typeface="Times New Roman"/>
                <a:sym typeface="Times New Roman"/>
              </a:rPr>
              <a:t>(</a:t>
            </a:r>
            <a:r>
              <a:rPr b="0" i="1" lang="en-US" sz="1600" u="none" cap="none" strike="noStrike">
                <a:solidFill>
                  <a:schemeClr val="dk1"/>
                </a:solidFill>
                <a:latin typeface="Times New Roman"/>
                <a:ea typeface="Times New Roman"/>
                <a:cs typeface="Times New Roman"/>
                <a:sym typeface="Times New Roman"/>
              </a:rPr>
              <a:t>A</a:t>
            </a:r>
            <a:r>
              <a:rPr b="0" i="0" lang="en-US" sz="1600" u="none" cap="none" strike="noStrike">
                <a:solidFill>
                  <a:schemeClr val="dk1"/>
                </a:solidFill>
                <a:latin typeface="Times New Roman"/>
                <a:ea typeface="Times New Roman"/>
                <a:cs typeface="Times New Roman"/>
                <a:sym typeface="Times New Roman"/>
              </a:rPr>
              <a:t>)</a:t>
            </a:r>
            <a:endParaRPr b="0" i="0" sz="1600" u="none" cap="none" strike="noStrike">
              <a:solidFill>
                <a:schemeClr val="dk1"/>
              </a:solidFill>
              <a:latin typeface="Times New Roman"/>
              <a:ea typeface="Times New Roman"/>
              <a:cs typeface="Times New Roman"/>
              <a:sym typeface="Times New Roman"/>
            </a:endParaRPr>
          </a:p>
          <a:p>
            <a:pPr indent="-457200" lvl="0" marL="927100" marR="0" rtl="0" algn="l">
              <a:lnSpc>
                <a:spcPct val="100000"/>
              </a:lnSpc>
              <a:spcBef>
                <a:spcPts val="330"/>
              </a:spcBef>
              <a:spcAft>
                <a:spcPts val="0"/>
              </a:spcAft>
              <a:buClr>
                <a:schemeClr val="dk1"/>
              </a:buClr>
              <a:buSzPts val="1600"/>
              <a:buFont typeface="Arial"/>
              <a:buAutoNum type="arabicPeriod" startAt="3"/>
            </a:pPr>
            <a:r>
              <a:rPr b="1" i="0" lang="en-US" sz="1600" u="none" cap="none" strike="noStrike">
                <a:solidFill>
                  <a:schemeClr val="dk1"/>
                </a:solidFill>
                <a:latin typeface="Times New Roman"/>
                <a:ea typeface="Times New Roman"/>
                <a:cs typeface="Times New Roman"/>
                <a:sym typeface="Times New Roman"/>
              </a:rPr>
              <a:t>read</a:t>
            </a:r>
            <a:r>
              <a:rPr b="0" i="0" lang="en-US" sz="1600" u="none" cap="none" strike="noStrike">
                <a:solidFill>
                  <a:schemeClr val="dk1"/>
                </a:solidFill>
                <a:latin typeface="Times New Roman"/>
                <a:ea typeface="Times New Roman"/>
                <a:cs typeface="Times New Roman"/>
                <a:sym typeface="Times New Roman"/>
              </a:rPr>
              <a:t>(</a:t>
            </a:r>
            <a:r>
              <a:rPr b="0" i="1" lang="en-US" sz="1600" u="none" cap="none" strike="noStrike">
                <a:solidFill>
                  <a:schemeClr val="dk1"/>
                </a:solidFill>
                <a:latin typeface="Times New Roman"/>
                <a:ea typeface="Times New Roman"/>
                <a:cs typeface="Times New Roman"/>
                <a:sym typeface="Times New Roman"/>
              </a:rPr>
              <a:t>B</a:t>
            </a:r>
            <a:r>
              <a:rPr b="0" i="0" lang="en-US" sz="1600" u="none" cap="none" strike="noStrike">
                <a:solidFill>
                  <a:schemeClr val="dk1"/>
                </a:solidFill>
                <a:latin typeface="Times New Roman"/>
                <a:ea typeface="Times New Roman"/>
                <a:cs typeface="Times New Roman"/>
                <a:sym typeface="Times New Roman"/>
              </a:rPr>
              <a:t>)</a:t>
            </a:r>
            <a:endParaRPr b="0" i="0" sz="1600" u="none" cap="none" strike="noStrike">
              <a:solidFill>
                <a:schemeClr val="dk1"/>
              </a:solidFill>
              <a:latin typeface="Times New Roman"/>
              <a:ea typeface="Times New Roman"/>
              <a:cs typeface="Times New Roman"/>
              <a:sym typeface="Times New Roman"/>
            </a:endParaRPr>
          </a:p>
          <a:p>
            <a:pPr indent="0" lvl="0" marL="469900" marR="0" rtl="0" algn="l">
              <a:lnSpc>
                <a:spcPct val="100000"/>
              </a:lnSpc>
              <a:spcBef>
                <a:spcPts val="33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5.	</a:t>
            </a:r>
            <a:r>
              <a:rPr b="0" i="1" lang="en-US" sz="1600" u="none" cap="none" strike="noStrike">
                <a:solidFill>
                  <a:schemeClr val="dk1"/>
                </a:solidFill>
                <a:latin typeface="Times New Roman"/>
                <a:ea typeface="Times New Roman"/>
                <a:cs typeface="Times New Roman"/>
                <a:sym typeface="Times New Roman"/>
              </a:rPr>
              <a:t>B </a:t>
            </a:r>
            <a:r>
              <a:rPr b="0" i="0" lang="en-US" sz="1600" u="none" cap="none" strike="noStrike">
                <a:solidFill>
                  <a:schemeClr val="dk1"/>
                </a:solidFill>
                <a:latin typeface="Times New Roman"/>
                <a:ea typeface="Times New Roman"/>
                <a:cs typeface="Times New Roman"/>
                <a:sym typeface="Times New Roman"/>
              </a:rPr>
              <a:t>:= </a:t>
            </a:r>
            <a:r>
              <a:rPr b="0" i="1" lang="en-US" sz="1600" u="none" cap="none" strike="noStrike">
                <a:solidFill>
                  <a:schemeClr val="dk1"/>
                </a:solidFill>
                <a:latin typeface="Times New Roman"/>
                <a:ea typeface="Times New Roman"/>
                <a:cs typeface="Times New Roman"/>
                <a:sym typeface="Times New Roman"/>
              </a:rPr>
              <a:t>B + </a:t>
            </a:r>
            <a:r>
              <a:rPr b="0" i="0" lang="en-US" sz="1600" u="none" cap="none" strike="noStrike">
                <a:solidFill>
                  <a:schemeClr val="dk1"/>
                </a:solidFill>
                <a:latin typeface="Times New Roman"/>
                <a:ea typeface="Times New Roman"/>
                <a:cs typeface="Times New Roman"/>
                <a:sym typeface="Times New Roman"/>
              </a:rPr>
              <a:t>50</a:t>
            </a:r>
            <a:endParaRPr b="0" i="0" sz="1600" u="none" cap="none" strike="noStrike">
              <a:solidFill>
                <a:schemeClr val="dk1"/>
              </a:solidFill>
              <a:latin typeface="Times New Roman"/>
              <a:ea typeface="Times New Roman"/>
              <a:cs typeface="Times New Roman"/>
              <a:sym typeface="Times New Roman"/>
            </a:endParaRPr>
          </a:p>
          <a:p>
            <a:pPr indent="0" lvl="0" marL="469900" marR="0" rtl="0" algn="l">
              <a:lnSpc>
                <a:spcPct val="100000"/>
              </a:lnSpc>
              <a:spcBef>
                <a:spcPts val="33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6.	</a:t>
            </a:r>
            <a:r>
              <a:rPr b="1" i="0" lang="en-US" sz="1600" u="none" cap="none" strike="noStrike">
                <a:solidFill>
                  <a:schemeClr val="dk1"/>
                </a:solidFill>
                <a:latin typeface="Times New Roman"/>
                <a:ea typeface="Times New Roman"/>
                <a:cs typeface="Times New Roman"/>
                <a:sym typeface="Times New Roman"/>
              </a:rPr>
              <a:t>write</a:t>
            </a:r>
            <a:r>
              <a:rPr b="0" i="0" lang="en-US" sz="1600" u="none" cap="none" strike="noStrike">
                <a:solidFill>
                  <a:schemeClr val="dk1"/>
                </a:solidFill>
                <a:latin typeface="Times New Roman"/>
                <a:ea typeface="Times New Roman"/>
                <a:cs typeface="Times New Roman"/>
                <a:sym typeface="Times New Roman"/>
              </a:rPr>
              <a:t>(</a:t>
            </a:r>
            <a:r>
              <a:rPr b="0" i="1" lang="en-US" sz="1600" u="none" cap="none" strike="noStrike">
                <a:solidFill>
                  <a:schemeClr val="dk1"/>
                </a:solidFill>
                <a:latin typeface="Times New Roman"/>
                <a:ea typeface="Times New Roman"/>
                <a:cs typeface="Times New Roman"/>
                <a:sym typeface="Times New Roman"/>
              </a:rPr>
              <a:t>B)</a:t>
            </a:r>
            <a:endParaRPr b="0" i="0" sz="1600"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395"/>
              </a:spcBef>
              <a:spcAft>
                <a:spcPts val="0"/>
              </a:spcAft>
              <a:buClr>
                <a:srgbClr val="000000"/>
              </a:buClr>
              <a:buSzPts val="2000"/>
              <a:buFont typeface="Arial"/>
              <a:buNone/>
            </a:pPr>
            <a:r>
              <a:rPr b="0" i="0" lang="en-US" sz="2000" u="none" cap="none" strike="noStrike">
                <a:solidFill>
                  <a:srgbClr val="3E3E3E"/>
                </a:solidFill>
                <a:latin typeface="Times New Roman"/>
                <a:ea typeface="Times New Roman"/>
                <a:cs typeface="Times New Roman"/>
                <a:sym typeface="Times New Roman"/>
              </a:rPr>
              <a:t>Two main issues to deal with:</a:t>
            </a:r>
            <a:endParaRPr b="0" i="0" sz="2000" u="none" cap="none" strike="noStrike">
              <a:solidFill>
                <a:schemeClr val="dk1"/>
              </a:solidFill>
              <a:latin typeface="Times New Roman"/>
              <a:ea typeface="Times New Roman"/>
              <a:cs typeface="Times New Roman"/>
              <a:sym typeface="Times New Roman"/>
            </a:endParaRPr>
          </a:p>
          <a:p>
            <a:pPr indent="-299085" lvl="0" marL="755650" marR="349250" rtl="0" algn="l">
              <a:lnSpc>
                <a:spcPct val="101400"/>
              </a:lnSpc>
              <a:spcBef>
                <a:spcPts val="31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Failures </a:t>
            </a:r>
            <a:r>
              <a:rPr b="0" i="0" lang="en-US" sz="1800" u="none" cap="none" strike="noStrike">
                <a:solidFill>
                  <a:schemeClr val="dk1"/>
                </a:solidFill>
                <a:latin typeface="Times New Roman"/>
                <a:ea typeface="Times New Roman"/>
                <a:cs typeface="Times New Roman"/>
                <a:sym typeface="Times New Roman"/>
              </a:rPr>
              <a:t>of various kinds, such as hardware failures and  system crashes</a:t>
            </a:r>
            <a:endParaRPr b="0" i="0" sz="1400" u="none" cap="none" strike="noStrike">
              <a:solidFill>
                <a:srgbClr val="000000"/>
              </a:solidFill>
              <a:latin typeface="Arial"/>
              <a:ea typeface="Arial"/>
              <a:cs typeface="Arial"/>
              <a:sym typeface="Arial"/>
            </a:endParaRPr>
          </a:p>
          <a:p>
            <a:pPr indent="-299085" lvl="0" marL="755650" marR="0" rtl="0" algn="l">
              <a:lnSpc>
                <a:spcPct val="100000"/>
              </a:lnSpc>
              <a:spcBef>
                <a:spcPts val="375"/>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Concurrent </a:t>
            </a:r>
            <a:r>
              <a:rPr b="0" i="0" lang="en-US" sz="1800" u="none" cap="none" strike="noStrike">
                <a:solidFill>
                  <a:schemeClr val="dk1"/>
                </a:solidFill>
                <a:latin typeface="Times New Roman"/>
                <a:ea typeface="Times New Roman"/>
                <a:cs typeface="Times New Roman"/>
                <a:sym typeface="Times New Roman"/>
              </a:rPr>
              <a:t>execution of multiple transactions</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type="title"/>
          </p:nvPr>
        </p:nvSpPr>
        <p:spPr>
          <a:xfrm>
            <a:off x="415636" y="838200"/>
            <a:ext cx="62751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Example of Fund Transfer</a:t>
            </a:r>
            <a:endParaRPr/>
          </a:p>
        </p:txBody>
      </p:sp>
      <p:sp>
        <p:nvSpPr>
          <p:cNvPr id="128" name="Google Shape;128;p8"/>
          <p:cNvSpPr txBox="1"/>
          <p:nvPr/>
        </p:nvSpPr>
        <p:spPr>
          <a:xfrm>
            <a:off x="381000" y="1369704"/>
            <a:ext cx="8249285" cy="4919487"/>
          </a:xfrm>
          <a:prstGeom prst="rect">
            <a:avLst/>
          </a:prstGeom>
          <a:noFill/>
          <a:ln>
            <a:noFill/>
          </a:ln>
        </p:spPr>
        <p:txBody>
          <a:bodyPr anchorCtr="0" anchor="t" bIns="0" lIns="0" spcFirstLastPara="1" rIns="0" wrap="square" tIns="584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3E3E3E"/>
                </a:solidFill>
                <a:latin typeface="Times New Roman"/>
                <a:ea typeface="Times New Roman"/>
                <a:cs typeface="Times New Roman"/>
                <a:sym typeface="Times New Roman"/>
              </a:rPr>
              <a:t>Transaction to transfer $50 from account A to account B:</a:t>
            </a:r>
            <a:endParaRPr b="0" i="0" sz="1800" u="none" cap="none" strike="noStrike">
              <a:solidFill>
                <a:schemeClr val="dk1"/>
              </a:solidFill>
              <a:latin typeface="Times New Roman"/>
              <a:ea typeface="Times New Roman"/>
              <a:cs typeface="Times New Roman"/>
              <a:sym typeface="Times New Roman"/>
            </a:endParaRPr>
          </a:p>
          <a:p>
            <a:pPr indent="0" lvl="0" marL="469900" marR="0" rtl="0" algn="l">
              <a:lnSpc>
                <a:spcPct val="100000"/>
              </a:lnSpc>
              <a:spcBef>
                <a:spcPts val="32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1.	</a:t>
            </a:r>
            <a:r>
              <a:rPr b="1" i="0" lang="en-US" sz="1800" u="none" cap="none" strike="noStrike">
                <a:solidFill>
                  <a:schemeClr val="dk1"/>
                </a:solidFill>
                <a:latin typeface="Times New Roman"/>
                <a:ea typeface="Times New Roman"/>
                <a:cs typeface="Times New Roman"/>
                <a:sym typeface="Times New Roman"/>
              </a:rPr>
              <a:t>read</a:t>
            </a:r>
            <a:r>
              <a:rPr b="0" i="0" lang="en-US" sz="1800" u="none" cap="none" strike="noStrike">
                <a:solidFill>
                  <a:schemeClr val="dk1"/>
                </a:solidFill>
                <a:latin typeface="Times New Roman"/>
                <a:ea typeface="Times New Roman"/>
                <a:cs typeface="Times New Roman"/>
                <a:sym typeface="Times New Roman"/>
              </a:rPr>
              <a:t>(</a:t>
            </a:r>
            <a:r>
              <a:rPr b="0" i="1" lang="en-US" sz="1800" u="none" cap="none" strike="noStrike">
                <a:solidFill>
                  <a:schemeClr val="dk1"/>
                </a:solidFill>
                <a:latin typeface="Times New Roman"/>
                <a:ea typeface="Times New Roman"/>
                <a:cs typeface="Times New Roman"/>
                <a:sym typeface="Times New Roman"/>
              </a:rPr>
              <a:t>A</a:t>
            </a:r>
            <a:r>
              <a:rPr b="0"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p>
            <a:pPr indent="0" lvl="0" marL="469900" marR="0" rtl="0" algn="l">
              <a:lnSpc>
                <a:spcPct val="100000"/>
              </a:lnSpc>
              <a:spcBef>
                <a:spcPts val="27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2.	</a:t>
            </a:r>
            <a:r>
              <a:rPr b="0" i="1" lang="en-US" sz="1800" u="none" cap="none" strike="noStrike">
                <a:solidFill>
                  <a:schemeClr val="dk1"/>
                </a:solidFill>
                <a:latin typeface="Times New Roman"/>
                <a:ea typeface="Times New Roman"/>
                <a:cs typeface="Times New Roman"/>
                <a:sym typeface="Times New Roman"/>
              </a:rPr>
              <a:t>A </a:t>
            </a:r>
            <a:r>
              <a:rPr b="0" i="0" lang="en-US" sz="1800" u="none" cap="none" strike="noStrike">
                <a:solidFill>
                  <a:schemeClr val="dk1"/>
                </a:solidFill>
                <a:latin typeface="Times New Roman"/>
                <a:ea typeface="Times New Roman"/>
                <a:cs typeface="Times New Roman"/>
                <a:sym typeface="Times New Roman"/>
              </a:rPr>
              <a:t>:= </a:t>
            </a:r>
            <a:r>
              <a:rPr b="0" i="1" lang="en-US" sz="1800" u="none" cap="none" strike="noStrike">
                <a:solidFill>
                  <a:schemeClr val="dk1"/>
                </a:solidFill>
                <a:latin typeface="Times New Roman"/>
                <a:ea typeface="Times New Roman"/>
                <a:cs typeface="Times New Roman"/>
                <a:sym typeface="Times New Roman"/>
              </a:rPr>
              <a:t>A – </a:t>
            </a:r>
            <a:r>
              <a:rPr b="0" i="0" lang="en-US" sz="1800" u="none" cap="none" strike="noStrike">
                <a:solidFill>
                  <a:schemeClr val="dk1"/>
                </a:solidFill>
                <a:latin typeface="Times New Roman"/>
                <a:ea typeface="Times New Roman"/>
                <a:cs typeface="Times New Roman"/>
                <a:sym typeface="Times New Roman"/>
              </a:rPr>
              <a:t>50</a:t>
            </a:r>
            <a:endParaRPr b="0" i="0" sz="1800" u="none" cap="none" strike="noStrike">
              <a:solidFill>
                <a:schemeClr val="dk1"/>
              </a:solidFill>
              <a:latin typeface="Times New Roman"/>
              <a:ea typeface="Times New Roman"/>
              <a:cs typeface="Times New Roman"/>
              <a:sym typeface="Times New Roman"/>
            </a:endParaRPr>
          </a:p>
          <a:p>
            <a:pPr indent="-457200" lvl="0" marL="927100" marR="0" rtl="0" algn="l">
              <a:lnSpc>
                <a:spcPct val="100000"/>
              </a:lnSpc>
              <a:spcBef>
                <a:spcPts val="270"/>
              </a:spcBef>
              <a:spcAft>
                <a:spcPts val="0"/>
              </a:spcAft>
              <a:buClr>
                <a:schemeClr val="dk1"/>
              </a:buClr>
              <a:buSzPts val="1800"/>
              <a:buFont typeface="Arial"/>
              <a:buAutoNum type="arabicPeriod" startAt="3"/>
            </a:pPr>
            <a:r>
              <a:rPr b="1" i="0" lang="en-US" sz="1800" u="none" cap="none" strike="noStrike">
                <a:solidFill>
                  <a:schemeClr val="dk1"/>
                </a:solidFill>
                <a:latin typeface="Times New Roman"/>
                <a:ea typeface="Times New Roman"/>
                <a:cs typeface="Times New Roman"/>
                <a:sym typeface="Times New Roman"/>
              </a:rPr>
              <a:t>write</a:t>
            </a:r>
            <a:r>
              <a:rPr b="0" i="0" lang="en-US" sz="1800" u="none" cap="none" strike="noStrike">
                <a:solidFill>
                  <a:schemeClr val="dk1"/>
                </a:solidFill>
                <a:latin typeface="Times New Roman"/>
                <a:ea typeface="Times New Roman"/>
                <a:cs typeface="Times New Roman"/>
                <a:sym typeface="Times New Roman"/>
              </a:rPr>
              <a:t>(</a:t>
            </a:r>
            <a:r>
              <a:rPr b="0" i="1" lang="en-US" sz="1800" u="none" cap="none" strike="noStrike">
                <a:solidFill>
                  <a:schemeClr val="dk1"/>
                </a:solidFill>
                <a:latin typeface="Times New Roman"/>
                <a:ea typeface="Times New Roman"/>
                <a:cs typeface="Times New Roman"/>
                <a:sym typeface="Times New Roman"/>
              </a:rPr>
              <a:t>A</a:t>
            </a:r>
            <a:r>
              <a:rPr b="0"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p>
            <a:pPr indent="-457200" lvl="0" marL="927100" marR="0" rtl="0" algn="l">
              <a:lnSpc>
                <a:spcPct val="100000"/>
              </a:lnSpc>
              <a:spcBef>
                <a:spcPts val="270"/>
              </a:spcBef>
              <a:spcAft>
                <a:spcPts val="0"/>
              </a:spcAft>
              <a:buClr>
                <a:schemeClr val="dk1"/>
              </a:buClr>
              <a:buSzPts val="1800"/>
              <a:buFont typeface="Arial"/>
              <a:buAutoNum type="arabicPeriod" startAt="3"/>
            </a:pPr>
            <a:r>
              <a:rPr b="1" i="0" lang="en-US" sz="1800" u="none" cap="none" strike="noStrike">
                <a:solidFill>
                  <a:schemeClr val="dk1"/>
                </a:solidFill>
                <a:latin typeface="Times New Roman"/>
                <a:ea typeface="Times New Roman"/>
                <a:cs typeface="Times New Roman"/>
                <a:sym typeface="Times New Roman"/>
              </a:rPr>
              <a:t>read</a:t>
            </a:r>
            <a:r>
              <a:rPr b="0" i="0" lang="en-US" sz="1800" u="none" cap="none" strike="noStrike">
                <a:solidFill>
                  <a:schemeClr val="dk1"/>
                </a:solidFill>
                <a:latin typeface="Times New Roman"/>
                <a:ea typeface="Times New Roman"/>
                <a:cs typeface="Times New Roman"/>
                <a:sym typeface="Times New Roman"/>
              </a:rPr>
              <a:t>(</a:t>
            </a:r>
            <a:r>
              <a:rPr b="0" i="1" lang="en-US" sz="1800" u="none" cap="none" strike="noStrike">
                <a:solidFill>
                  <a:schemeClr val="dk1"/>
                </a:solidFill>
                <a:latin typeface="Times New Roman"/>
                <a:ea typeface="Times New Roman"/>
                <a:cs typeface="Times New Roman"/>
                <a:sym typeface="Times New Roman"/>
              </a:rPr>
              <a:t>B</a:t>
            </a:r>
            <a:r>
              <a:rPr b="0"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p>
            <a:pPr indent="0" lvl="0" marL="469900" marR="0" rtl="0" algn="l">
              <a:lnSpc>
                <a:spcPct val="100000"/>
              </a:lnSpc>
              <a:spcBef>
                <a:spcPts val="27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5.	</a:t>
            </a:r>
            <a:r>
              <a:rPr b="0" i="1" lang="en-US" sz="1800" u="none" cap="none" strike="noStrike">
                <a:solidFill>
                  <a:schemeClr val="dk1"/>
                </a:solidFill>
                <a:latin typeface="Times New Roman"/>
                <a:ea typeface="Times New Roman"/>
                <a:cs typeface="Times New Roman"/>
                <a:sym typeface="Times New Roman"/>
              </a:rPr>
              <a:t>B </a:t>
            </a:r>
            <a:r>
              <a:rPr b="0" i="0" lang="en-US" sz="1800" u="none" cap="none" strike="noStrike">
                <a:solidFill>
                  <a:schemeClr val="dk1"/>
                </a:solidFill>
                <a:latin typeface="Times New Roman"/>
                <a:ea typeface="Times New Roman"/>
                <a:cs typeface="Times New Roman"/>
                <a:sym typeface="Times New Roman"/>
              </a:rPr>
              <a:t>:= </a:t>
            </a:r>
            <a:r>
              <a:rPr b="0" i="1" lang="en-US" sz="1800" u="none" cap="none" strike="noStrike">
                <a:solidFill>
                  <a:schemeClr val="dk1"/>
                </a:solidFill>
                <a:latin typeface="Times New Roman"/>
                <a:ea typeface="Times New Roman"/>
                <a:cs typeface="Times New Roman"/>
                <a:sym typeface="Times New Roman"/>
              </a:rPr>
              <a:t>B + </a:t>
            </a:r>
            <a:r>
              <a:rPr b="0" i="0" lang="en-US" sz="1800" u="none" cap="none" strike="noStrike">
                <a:solidFill>
                  <a:schemeClr val="dk1"/>
                </a:solidFill>
                <a:latin typeface="Times New Roman"/>
                <a:ea typeface="Times New Roman"/>
                <a:cs typeface="Times New Roman"/>
                <a:sym typeface="Times New Roman"/>
              </a:rPr>
              <a:t>50</a:t>
            </a:r>
            <a:endParaRPr b="0" i="0" sz="1800" u="none" cap="none" strike="noStrike">
              <a:solidFill>
                <a:schemeClr val="dk1"/>
              </a:solidFill>
              <a:latin typeface="Times New Roman"/>
              <a:ea typeface="Times New Roman"/>
              <a:cs typeface="Times New Roman"/>
              <a:sym typeface="Times New Roman"/>
            </a:endParaRPr>
          </a:p>
          <a:p>
            <a:pPr indent="0" lvl="0" marL="469900" marR="0" rtl="0" algn="l">
              <a:lnSpc>
                <a:spcPct val="100000"/>
              </a:lnSpc>
              <a:spcBef>
                <a:spcPts val="27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6.	</a:t>
            </a:r>
            <a:r>
              <a:rPr b="1" i="0" lang="en-US" sz="1800" u="none" cap="none" strike="noStrike">
                <a:solidFill>
                  <a:schemeClr val="dk1"/>
                </a:solidFill>
                <a:latin typeface="Times New Roman"/>
                <a:ea typeface="Times New Roman"/>
                <a:cs typeface="Times New Roman"/>
                <a:sym typeface="Times New Roman"/>
              </a:rPr>
              <a:t>write</a:t>
            </a:r>
            <a:r>
              <a:rPr b="0" i="0" lang="en-US" sz="1800" u="none" cap="none" strike="noStrike">
                <a:solidFill>
                  <a:schemeClr val="dk1"/>
                </a:solidFill>
                <a:latin typeface="Times New Roman"/>
                <a:ea typeface="Times New Roman"/>
                <a:cs typeface="Times New Roman"/>
                <a:sym typeface="Times New Roman"/>
              </a:rPr>
              <a:t>(</a:t>
            </a:r>
            <a:r>
              <a:rPr b="0" i="1" lang="en-US" sz="1800" u="none" cap="none" strike="noStrike">
                <a:solidFill>
                  <a:schemeClr val="dk1"/>
                </a:solidFill>
                <a:latin typeface="Times New Roman"/>
                <a:ea typeface="Times New Roman"/>
                <a:cs typeface="Times New Roman"/>
                <a:sym typeface="Times New Roman"/>
              </a:rPr>
              <a:t>B)</a:t>
            </a:r>
            <a:endParaRPr b="0" i="0" sz="1800"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300"/>
              </a:spcBef>
              <a:spcAft>
                <a:spcPts val="0"/>
              </a:spcAft>
              <a:buClr>
                <a:srgbClr val="000000"/>
              </a:buClr>
              <a:buSzPts val="1800"/>
              <a:buFont typeface="Arial"/>
              <a:buNone/>
            </a:pPr>
            <a:r>
              <a:rPr b="1" i="0" lang="en-US" sz="1800" u="none" cap="none" strike="noStrike">
                <a:solidFill>
                  <a:srgbClr val="000099"/>
                </a:solidFill>
                <a:latin typeface="Times New Roman"/>
                <a:ea typeface="Times New Roman"/>
                <a:cs typeface="Times New Roman"/>
                <a:sym typeface="Times New Roman"/>
              </a:rPr>
              <a:t>Atomicity requirement</a:t>
            </a:r>
            <a:endParaRPr b="0" i="0" sz="1800" u="none" cap="none" strike="noStrike">
              <a:solidFill>
                <a:schemeClr val="dk1"/>
              </a:solidFill>
              <a:latin typeface="Times New Roman"/>
              <a:ea typeface="Times New Roman"/>
              <a:cs typeface="Times New Roman"/>
              <a:sym typeface="Times New Roman"/>
            </a:endParaRPr>
          </a:p>
          <a:p>
            <a:pPr indent="-297180" lvl="0" marL="755650" marR="5080" rtl="0" algn="l">
              <a:lnSpc>
                <a:spcPct val="100499"/>
              </a:lnSpc>
              <a:spcBef>
                <a:spcPts val="32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if the transaction fails </a:t>
            </a:r>
            <a:r>
              <a:rPr b="0" i="0" lang="en-US" sz="1800" u="none" cap="none" strike="noStrike">
                <a:solidFill>
                  <a:schemeClr val="dk1"/>
                </a:solidFill>
                <a:latin typeface="Times New Roman"/>
                <a:ea typeface="Times New Roman"/>
                <a:cs typeface="Times New Roman"/>
                <a:sym typeface="Times New Roman"/>
              </a:rPr>
              <a:t>after step 3 and before step 6, </a:t>
            </a:r>
            <a:r>
              <a:rPr b="1" i="0" lang="en-US" sz="1800" u="none" cap="none" strike="noStrike">
                <a:solidFill>
                  <a:schemeClr val="dk1"/>
                </a:solidFill>
                <a:latin typeface="Times New Roman"/>
                <a:ea typeface="Times New Roman"/>
                <a:cs typeface="Times New Roman"/>
                <a:sym typeface="Times New Roman"/>
              </a:rPr>
              <a:t>money will  be “lost” </a:t>
            </a:r>
            <a:r>
              <a:rPr b="0" i="0" lang="en-US" sz="1800" u="none" cap="none" strike="noStrike">
                <a:solidFill>
                  <a:schemeClr val="dk1"/>
                </a:solidFill>
                <a:latin typeface="Times New Roman"/>
                <a:ea typeface="Times New Roman"/>
                <a:cs typeface="Times New Roman"/>
                <a:sym typeface="Times New Roman"/>
              </a:rPr>
              <a:t>leading to an inconsistent database state</a:t>
            </a:r>
            <a:endParaRPr b="0" i="0" sz="1400" u="none" cap="none" strike="noStrike">
              <a:solidFill>
                <a:srgbClr val="000000"/>
              </a:solidFill>
              <a:latin typeface="Arial"/>
              <a:ea typeface="Arial"/>
              <a:cs typeface="Arial"/>
              <a:sym typeface="Arial"/>
            </a:endParaRPr>
          </a:p>
          <a:p>
            <a:pPr indent="-198119" lvl="1" marL="1155700" marR="0" rtl="0" algn="l">
              <a:lnSpc>
                <a:spcPct val="100000"/>
              </a:lnSpc>
              <a:spcBef>
                <a:spcPts val="35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Failure could be due to software or hardware</a:t>
            </a:r>
            <a:endParaRPr b="0" i="0" sz="1800" u="none" cap="none" strike="noStrike">
              <a:solidFill>
                <a:schemeClr val="dk1"/>
              </a:solidFill>
              <a:latin typeface="Times New Roman"/>
              <a:ea typeface="Times New Roman"/>
              <a:cs typeface="Times New Roman"/>
              <a:sym typeface="Times New Roman"/>
            </a:endParaRPr>
          </a:p>
          <a:p>
            <a:pPr indent="0" lvl="0" marL="458469" marR="0" rtl="0" algn="l">
              <a:lnSpc>
                <a:spcPct val="100000"/>
              </a:lnSpc>
              <a:spcBef>
                <a:spcPts val="33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the </a:t>
            </a:r>
            <a:r>
              <a:rPr b="1" i="0" lang="en-US" sz="1800" u="none" cap="none" strike="noStrike">
                <a:solidFill>
                  <a:schemeClr val="dk1"/>
                </a:solidFill>
                <a:latin typeface="Times New Roman"/>
                <a:ea typeface="Times New Roman"/>
                <a:cs typeface="Times New Roman"/>
                <a:sym typeface="Times New Roman"/>
              </a:rPr>
              <a:t>system should ensure </a:t>
            </a:r>
            <a:r>
              <a:rPr b="0" i="0" lang="en-US" sz="1800" u="none" cap="none" strike="noStrike">
                <a:solidFill>
                  <a:schemeClr val="dk1"/>
                </a:solidFill>
                <a:latin typeface="Times New Roman"/>
                <a:ea typeface="Times New Roman"/>
                <a:cs typeface="Times New Roman"/>
                <a:sym typeface="Times New Roman"/>
              </a:rPr>
              <a:t>that updates of a partially executed</a:t>
            </a:r>
            <a:endParaRPr b="0" i="0" sz="1800" u="none" cap="none" strike="noStrike">
              <a:solidFill>
                <a:schemeClr val="dk1"/>
              </a:solidFill>
              <a:latin typeface="Times New Roman"/>
              <a:ea typeface="Times New Roman"/>
              <a:cs typeface="Times New Roman"/>
              <a:sym typeface="Times New Roman"/>
            </a:endParaRPr>
          </a:p>
          <a:p>
            <a:pPr indent="0" lvl="0" marL="755650" marR="0" rtl="0" algn="l">
              <a:lnSpc>
                <a:spcPct val="100000"/>
              </a:lnSpc>
              <a:spcBef>
                <a:spcPts val="1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transaction </a:t>
            </a:r>
            <a:r>
              <a:rPr b="0" i="0" lang="en-US" sz="1800" u="none" cap="none" strike="noStrike">
                <a:solidFill>
                  <a:schemeClr val="dk1"/>
                </a:solidFill>
                <a:latin typeface="Times New Roman"/>
                <a:ea typeface="Times New Roman"/>
                <a:cs typeface="Times New Roman"/>
                <a:sym typeface="Times New Roman"/>
              </a:rPr>
              <a:t>are </a:t>
            </a:r>
            <a:r>
              <a:rPr b="1" i="0" lang="en-US" sz="1800" u="none" cap="none" strike="noStrike">
                <a:solidFill>
                  <a:schemeClr val="dk1"/>
                </a:solidFill>
                <a:latin typeface="Times New Roman"/>
                <a:ea typeface="Times New Roman"/>
                <a:cs typeface="Times New Roman"/>
                <a:sym typeface="Times New Roman"/>
              </a:rPr>
              <a:t>not reflected in the database</a:t>
            </a:r>
            <a:endParaRPr b="0" i="0" sz="1800" u="none" cap="none" strike="noStrike">
              <a:solidFill>
                <a:schemeClr val="dk1"/>
              </a:solidFill>
              <a:latin typeface="Times New Roman"/>
              <a:ea typeface="Times New Roman"/>
              <a:cs typeface="Times New Roman"/>
              <a:sym typeface="Times New Roman"/>
            </a:endParaRPr>
          </a:p>
          <a:p>
            <a:pPr indent="0" lvl="0" marL="12700" marR="248920" rtl="0" algn="l">
              <a:lnSpc>
                <a:spcPct val="101200"/>
              </a:lnSpc>
              <a:spcBef>
                <a:spcPts val="330"/>
              </a:spcBef>
              <a:spcAft>
                <a:spcPts val="0"/>
              </a:spcAft>
              <a:buClr>
                <a:srgbClr val="000000"/>
              </a:buClr>
              <a:buSzPts val="1800"/>
              <a:buFont typeface="Arial"/>
              <a:buNone/>
            </a:pPr>
            <a:r>
              <a:rPr b="1" i="0" lang="en-US" sz="1800" u="none" cap="none" strike="noStrike">
                <a:solidFill>
                  <a:srgbClr val="000099"/>
                </a:solidFill>
                <a:latin typeface="Times New Roman"/>
                <a:ea typeface="Times New Roman"/>
                <a:cs typeface="Times New Roman"/>
                <a:sym typeface="Times New Roman"/>
              </a:rPr>
              <a:t>Durability requirement </a:t>
            </a:r>
            <a:r>
              <a:rPr b="0" i="0" lang="en-US" sz="1800" u="none" cap="none" strike="noStrike">
                <a:solidFill>
                  <a:srgbClr val="3E3E3E"/>
                </a:solidFill>
                <a:latin typeface="Times New Roman"/>
                <a:ea typeface="Times New Roman"/>
                <a:cs typeface="Times New Roman"/>
                <a:sym typeface="Times New Roman"/>
              </a:rPr>
              <a:t>— once the user has been notified that the  transaction has completed (i.e., the transfer of the $50 has taken place),  the </a:t>
            </a:r>
            <a:r>
              <a:rPr b="1" i="0" lang="en-US" sz="1800" u="none" cap="none" strike="noStrike">
                <a:solidFill>
                  <a:srgbClr val="3E3E3E"/>
                </a:solidFill>
                <a:latin typeface="Times New Roman"/>
                <a:ea typeface="Times New Roman"/>
                <a:cs typeface="Times New Roman"/>
                <a:sym typeface="Times New Roman"/>
              </a:rPr>
              <a:t>updates to the database by the transaction must persist </a:t>
            </a:r>
            <a:r>
              <a:rPr b="0" i="0" lang="en-US" sz="1800" u="none" cap="none" strike="noStrike">
                <a:solidFill>
                  <a:srgbClr val="3E3E3E"/>
                </a:solidFill>
                <a:latin typeface="Times New Roman"/>
                <a:ea typeface="Times New Roman"/>
                <a:cs typeface="Times New Roman"/>
                <a:sym typeface="Times New Roman"/>
              </a:rPr>
              <a:t>even if  there are software or hardware failures.</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txBox="1"/>
          <p:nvPr>
            <p:ph type="title"/>
          </p:nvPr>
        </p:nvSpPr>
        <p:spPr>
          <a:xfrm>
            <a:off x="1478597" y="838200"/>
            <a:ext cx="62718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Example of Fund Transfer</a:t>
            </a:r>
            <a:endParaRPr/>
          </a:p>
        </p:txBody>
      </p:sp>
      <p:sp>
        <p:nvSpPr>
          <p:cNvPr id="134" name="Google Shape;134;p9"/>
          <p:cNvSpPr txBox="1"/>
          <p:nvPr/>
        </p:nvSpPr>
        <p:spPr>
          <a:xfrm>
            <a:off x="91450" y="1146225"/>
            <a:ext cx="7956000" cy="5430000"/>
          </a:xfrm>
          <a:prstGeom prst="rect">
            <a:avLst/>
          </a:prstGeom>
          <a:noFill/>
          <a:ln>
            <a:noFill/>
          </a:ln>
        </p:spPr>
        <p:txBody>
          <a:bodyPr anchorCtr="0" anchor="t" bIns="0" lIns="0" spcFirstLastPara="1" rIns="0" wrap="square" tIns="12700">
            <a:spAutoFit/>
          </a:bodyPr>
          <a:lstStyle/>
          <a:p>
            <a:pPr indent="0" lvl="0" marL="12700" marR="0" rtl="0" algn="l">
              <a:lnSpc>
                <a:spcPct val="77291"/>
              </a:lnSpc>
              <a:spcBef>
                <a:spcPts val="0"/>
              </a:spcBef>
              <a:spcAft>
                <a:spcPts val="0"/>
              </a:spcAft>
              <a:buClr>
                <a:srgbClr val="000000"/>
              </a:buClr>
              <a:buSzPts val="2400"/>
              <a:buFont typeface="Arial"/>
              <a:buNone/>
            </a:pPr>
            <a:r>
              <a:t/>
            </a:r>
            <a:endParaRPr b="0" i="0" sz="2400" u="none" cap="none" strike="noStrike">
              <a:solidFill>
                <a:srgbClr val="3E3E3E"/>
              </a:solidFill>
              <a:latin typeface="Times New Roman"/>
              <a:ea typeface="Times New Roman"/>
              <a:cs typeface="Times New Roman"/>
              <a:sym typeface="Times New Roman"/>
            </a:endParaRPr>
          </a:p>
          <a:p>
            <a:pPr indent="0" lvl="0" marL="12700" marR="0" rtl="0" algn="l">
              <a:lnSpc>
                <a:spcPct val="77291"/>
              </a:lnSpc>
              <a:spcBef>
                <a:spcPts val="0"/>
              </a:spcBef>
              <a:spcAft>
                <a:spcPts val="0"/>
              </a:spcAft>
              <a:buClr>
                <a:srgbClr val="000000"/>
              </a:buClr>
              <a:buSzPts val="2400"/>
              <a:buFont typeface="Arial"/>
              <a:buNone/>
            </a:pPr>
            <a:r>
              <a:rPr b="0" i="0" lang="en-US" sz="2400" u="none" cap="none" strike="noStrike">
                <a:solidFill>
                  <a:srgbClr val="3E3E3E"/>
                </a:solidFill>
                <a:latin typeface="Times New Roman"/>
                <a:ea typeface="Times New Roman"/>
                <a:cs typeface="Times New Roman"/>
                <a:sym typeface="Times New Roman"/>
              </a:rPr>
              <a:t>Transaction to transfer $50 from account A to account B:</a:t>
            </a:r>
            <a:endParaRPr b="0" i="0" sz="2400" u="none" cap="none" strike="noStrike">
              <a:solidFill>
                <a:srgbClr val="3E3E3E"/>
              </a:solidFill>
              <a:latin typeface="Times New Roman"/>
              <a:ea typeface="Times New Roman"/>
              <a:cs typeface="Times New Roman"/>
              <a:sym typeface="Times New Roman"/>
            </a:endParaRPr>
          </a:p>
          <a:p>
            <a:pPr indent="0" lvl="0" marL="469900" marR="0" rtl="0" algn="l">
              <a:lnSpc>
                <a:spcPct val="66666"/>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	</a:t>
            </a:r>
            <a:r>
              <a:rPr b="1" i="0" lang="en-US" sz="2400" u="none" cap="none" strike="noStrike">
                <a:solidFill>
                  <a:schemeClr val="dk1"/>
                </a:solidFill>
                <a:latin typeface="Times New Roman"/>
                <a:ea typeface="Times New Roman"/>
                <a:cs typeface="Times New Roman"/>
                <a:sym typeface="Times New Roman"/>
              </a:rPr>
              <a:t>read</a:t>
            </a:r>
            <a:r>
              <a:rPr b="0" i="0" lang="en-US" sz="2400" u="none" cap="none" strike="noStrike">
                <a:solidFill>
                  <a:schemeClr val="dk1"/>
                </a:solidFill>
                <a:latin typeface="Times New Roman"/>
                <a:ea typeface="Times New Roman"/>
                <a:cs typeface="Times New Roman"/>
                <a:sym typeface="Times New Roman"/>
              </a:rPr>
              <a:t>(</a:t>
            </a:r>
            <a:r>
              <a:rPr b="0" i="1" lang="en-US" sz="2400" u="none" cap="none" strike="noStrike">
                <a:solidFill>
                  <a:schemeClr val="dk1"/>
                </a:solidFill>
                <a:latin typeface="Times New Roman"/>
                <a:ea typeface="Times New Roman"/>
                <a:cs typeface="Times New Roman"/>
                <a:sym typeface="Times New Roman"/>
              </a:rPr>
              <a:t>A</a:t>
            </a:r>
            <a:r>
              <a:rPr b="0" i="0" lang="en-US" sz="2400" u="none" cap="none" strike="noStrike">
                <a:solidFill>
                  <a:schemeClr val="dk1"/>
                </a:solidFill>
                <a:latin typeface="Times New Roman"/>
                <a:ea typeface="Times New Roman"/>
                <a:cs typeface="Times New Roman"/>
                <a:sym typeface="Times New Roman"/>
              </a:rPr>
              <a:t>)</a:t>
            </a:r>
            <a:endParaRPr b="0" i="0" sz="2400" u="none" cap="none" strike="noStrike">
              <a:solidFill>
                <a:schemeClr val="dk1"/>
              </a:solidFill>
              <a:latin typeface="Times New Roman"/>
              <a:ea typeface="Times New Roman"/>
              <a:cs typeface="Times New Roman"/>
              <a:sym typeface="Times New Roman"/>
            </a:endParaRPr>
          </a:p>
          <a:p>
            <a:pPr indent="0" lvl="0" marL="469900" marR="0" rtl="0" algn="l">
              <a:lnSpc>
                <a:spcPct val="66666"/>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469900" marR="0" rtl="0" algn="l">
              <a:lnSpc>
                <a:spcPct val="6875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	</a:t>
            </a:r>
            <a:r>
              <a:rPr b="0" i="1" lang="en-US" sz="2400" u="none" cap="none" strike="noStrike">
                <a:solidFill>
                  <a:schemeClr val="dk1"/>
                </a:solidFill>
                <a:latin typeface="Times New Roman"/>
                <a:ea typeface="Times New Roman"/>
                <a:cs typeface="Times New Roman"/>
                <a:sym typeface="Times New Roman"/>
              </a:rPr>
              <a:t>A </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A – </a:t>
            </a:r>
            <a:r>
              <a:rPr b="0" i="0" lang="en-US" sz="2400" u="none" cap="none" strike="noStrike">
                <a:solidFill>
                  <a:schemeClr val="dk1"/>
                </a:solidFill>
                <a:latin typeface="Times New Roman"/>
                <a:ea typeface="Times New Roman"/>
                <a:cs typeface="Times New Roman"/>
                <a:sym typeface="Times New Roman"/>
              </a:rPr>
              <a:t>50</a:t>
            </a:r>
            <a:endParaRPr b="0" i="0" sz="2400" u="none" cap="none" strike="noStrike">
              <a:solidFill>
                <a:schemeClr val="dk1"/>
              </a:solidFill>
              <a:latin typeface="Times New Roman"/>
              <a:ea typeface="Times New Roman"/>
              <a:cs typeface="Times New Roman"/>
              <a:sym typeface="Times New Roman"/>
            </a:endParaRPr>
          </a:p>
          <a:p>
            <a:pPr indent="0" lvl="0" marL="469900" marR="0" rtl="0" algn="l">
              <a:lnSpc>
                <a:spcPct val="6875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457200" lvl="0" marL="927100" marR="0" rtl="0" algn="l">
              <a:lnSpc>
                <a:spcPct val="68750"/>
              </a:lnSpc>
              <a:spcBef>
                <a:spcPts val="0"/>
              </a:spcBef>
              <a:spcAft>
                <a:spcPts val="0"/>
              </a:spcAft>
              <a:buClr>
                <a:schemeClr val="dk1"/>
              </a:buClr>
              <a:buSzPts val="2400"/>
              <a:buFont typeface="Arial"/>
              <a:buAutoNum type="arabicPeriod" startAt="3"/>
            </a:pPr>
            <a:r>
              <a:rPr b="1" i="0" lang="en-US" sz="2400" u="none" cap="none" strike="noStrike">
                <a:solidFill>
                  <a:schemeClr val="dk1"/>
                </a:solidFill>
                <a:latin typeface="Times New Roman"/>
                <a:ea typeface="Times New Roman"/>
                <a:cs typeface="Times New Roman"/>
                <a:sym typeface="Times New Roman"/>
              </a:rPr>
              <a:t>write</a:t>
            </a:r>
            <a:r>
              <a:rPr b="0" i="0" lang="en-US" sz="2400" u="none" cap="none" strike="noStrike">
                <a:solidFill>
                  <a:schemeClr val="dk1"/>
                </a:solidFill>
                <a:latin typeface="Times New Roman"/>
                <a:ea typeface="Times New Roman"/>
                <a:cs typeface="Times New Roman"/>
                <a:sym typeface="Times New Roman"/>
              </a:rPr>
              <a:t>(</a:t>
            </a:r>
            <a:r>
              <a:rPr b="0" i="1" lang="en-US" sz="2400" u="none" cap="none" strike="noStrike">
                <a:solidFill>
                  <a:schemeClr val="dk1"/>
                </a:solidFill>
                <a:latin typeface="Times New Roman"/>
                <a:ea typeface="Times New Roman"/>
                <a:cs typeface="Times New Roman"/>
                <a:sym typeface="Times New Roman"/>
              </a:rPr>
              <a:t>A</a:t>
            </a:r>
            <a:r>
              <a:rPr b="0" i="0" lang="en-US" sz="2400" u="none" cap="none" strike="noStrike">
                <a:solidFill>
                  <a:schemeClr val="dk1"/>
                </a:solidFill>
                <a:latin typeface="Times New Roman"/>
                <a:ea typeface="Times New Roman"/>
                <a:cs typeface="Times New Roman"/>
                <a:sym typeface="Times New Roman"/>
              </a:rPr>
              <a:t>)</a:t>
            </a:r>
            <a:endParaRPr b="0" i="0" sz="2400" u="none" cap="none" strike="noStrike">
              <a:solidFill>
                <a:schemeClr val="dk1"/>
              </a:solidFill>
              <a:latin typeface="Times New Roman"/>
              <a:ea typeface="Times New Roman"/>
              <a:cs typeface="Times New Roman"/>
              <a:sym typeface="Times New Roman"/>
            </a:endParaRPr>
          </a:p>
          <a:p>
            <a:pPr indent="0" lvl="0" marL="469900" marR="0" rtl="0" algn="l">
              <a:lnSpc>
                <a:spcPct val="6875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469900" marR="0" rtl="0" algn="l">
              <a:lnSpc>
                <a:spcPct val="6875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4.   read</a:t>
            </a:r>
            <a:r>
              <a:rPr b="0" i="0" lang="en-US" sz="2400" u="none" cap="none" strike="noStrike">
                <a:solidFill>
                  <a:schemeClr val="dk1"/>
                </a:solidFill>
                <a:latin typeface="Times New Roman"/>
                <a:ea typeface="Times New Roman"/>
                <a:cs typeface="Times New Roman"/>
                <a:sym typeface="Times New Roman"/>
              </a:rPr>
              <a:t>(</a:t>
            </a:r>
            <a:r>
              <a:rPr b="0" i="1" lang="en-US" sz="2400" u="none" cap="none" strike="noStrike">
                <a:solidFill>
                  <a:schemeClr val="dk1"/>
                </a:solidFill>
                <a:latin typeface="Times New Roman"/>
                <a:ea typeface="Times New Roman"/>
                <a:cs typeface="Times New Roman"/>
                <a:sym typeface="Times New Roman"/>
              </a:rPr>
              <a:t>B</a:t>
            </a:r>
            <a:r>
              <a:rPr b="0" i="0" lang="en-US" sz="2400" u="none" cap="none" strike="noStrike">
                <a:solidFill>
                  <a:schemeClr val="dk1"/>
                </a:solidFill>
                <a:latin typeface="Times New Roman"/>
                <a:ea typeface="Times New Roman"/>
                <a:cs typeface="Times New Roman"/>
                <a:sym typeface="Times New Roman"/>
              </a:rPr>
              <a:t>)</a:t>
            </a:r>
            <a:endParaRPr b="0" i="0" sz="2400" u="none" cap="none" strike="noStrike">
              <a:solidFill>
                <a:schemeClr val="dk1"/>
              </a:solidFill>
              <a:latin typeface="Times New Roman"/>
              <a:ea typeface="Times New Roman"/>
              <a:cs typeface="Times New Roman"/>
              <a:sym typeface="Times New Roman"/>
            </a:endParaRPr>
          </a:p>
          <a:p>
            <a:pPr indent="0" lvl="0" marL="469900" marR="0" rtl="0" algn="l">
              <a:lnSpc>
                <a:spcPct val="6875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469900" marR="0" rtl="0" algn="l">
              <a:lnSpc>
                <a:spcPct val="6875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	</a:t>
            </a:r>
            <a:r>
              <a:rPr b="0" i="1" lang="en-US" sz="2400" u="none" cap="none" strike="noStrike">
                <a:solidFill>
                  <a:schemeClr val="dk1"/>
                </a:solidFill>
                <a:latin typeface="Times New Roman"/>
                <a:ea typeface="Times New Roman"/>
                <a:cs typeface="Times New Roman"/>
                <a:sym typeface="Times New Roman"/>
              </a:rPr>
              <a:t>B </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B + </a:t>
            </a:r>
            <a:r>
              <a:rPr b="0" i="0" lang="en-US" sz="2400" u="none" cap="none" strike="noStrike">
                <a:solidFill>
                  <a:schemeClr val="dk1"/>
                </a:solidFill>
                <a:latin typeface="Times New Roman"/>
                <a:ea typeface="Times New Roman"/>
                <a:cs typeface="Times New Roman"/>
                <a:sym typeface="Times New Roman"/>
              </a:rPr>
              <a:t>50</a:t>
            </a:r>
            <a:endParaRPr b="0" i="0" sz="2400" u="none" cap="none" strike="noStrike">
              <a:solidFill>
                <a:schemeClr val="dk1"/>
              </a:solidFill>
              <a:latin typeface="Times New Roman"/>
              <a:ea typeface="Times New Roman"/>
              <a:cs typeface="Times New Roman"/>
              <a:sym typeface="Times New Roman"/>
            </a:endParaRPr>
          </a:p>
          <a:p>
            <a:pPr indent="0" lvl="0" marL="469900" marR="0" rtl="0" algn="l">
              <a:lnSpc>
                <a:spcPct val="6875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469900" marR="0" rtl="0" algn="l">
              <a:lnSpc>
                <a:spcPct val="69333"/>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6.	</a:t>
            </a:r>
            <a:r>
              <a:rPr b="1" i="0" lang="en-US" sz="2400" u="none" cap="none" strike="noStrike">
                <a:solidFill>
                  <a:schemeClr val="dk1"/>
                </a:solidFill>
                <a:latin typeface="Times New Roman"/>
                <a:ea typeface="Times New Roman"/>
                <a:cs typeface="Times New Roman"/>
                <a:sym typeface="Times New Roman"/>
              </a:rPr>
              <a:t>write</a:t>
            </a:r>
            <a:r>
              <a:rPr b="0" i="0" lang="en-US" sz="2400" u="none" cap="none" strike="noStrike">
                <a:solidFill>
                  <a:schemeClr val="dk1"/>
                </a:solidFill>
                <a:latin typeface="Times New Roman"/>
                <a:ea typeface="Times New Roman"/>
                <a:cs typeface="Times New Roman"/>
                <a:sym typeface="Times New Roman"/>
              </a:rPr>
              <a:t>(</a:t>
            </a:r>
            <a:r>
              <a:rPr b="0" i="1" lang="en-US" sz="2400" u="none" cap="none" strike="noStrike">
                <a:solidFill>
                  <a:schemeClr val="dk1"/>
                </a:solidFill>
                <a:latin typeface="Times New Roman"/>
                <a:ea typeface="Times New Roman"/>
                <a:cs typeface="Times New Roman"/>
                <a:sym typeface="Times New Roman"/>
              </a:rPr>
              <a:t>B)</a:t>
            </a:r>
            <a:endParaRPr b="0" i="0" sz="2400" u="none" cap="none" strike="noStrike">
              <a:solidFill>
                <a:schemeClr val="dk1"/>
              </a:solidFill>
              <a:latin typeface="Times New Roman"/>
              <a:ea typeface="Times New Roman"/>
              <a:cs typeface="Times New Roman"/>
              <a:sym typeface="Times New Roman"/>
            </a:endParaRPr>
          </a:p>
          <a:p>
            <a:pPr indent="0" lvl="0" marL="12700" marR="0" rtl="0" algn="l">
              <a:lnSpc>
                <a:spcPct val="79166"/>
              </a:lnSpc>
              <a:spcBef>
                <a:spcPts val="0"/>
              </a:spcBef>
              <a:spcAft>
                <a:spcPts val="0"/>
              </a:spcAft>
              <a:buClr>
                <a:srgbClr val="000000"/>
              </a:buClr>
              <a:buSzPts val="2400"/>
              <a:buFont typeface="Arial"/>
              <a:buNone/>
            </a:pPr>
            <a:r>
              <a:rPr b="1" i="0" lang="en-US" sz="2400" u="none" cap="none" strike="noStrike">
                <a:solidFill>
                  <a:srgbClr val="000099"/>
                </a:solidFill>
                <a:latin typeface="Times New Roman"/>
                <a:ea typeface="Times New Roman"/>
                <a:cs typeface="Times New Roman"/>
                <a:sym typeface="Times New Roman"/>
              </a:rPr>
              <a:t>Consistency requirement </a:t>
            </a:r>
            <a:r>
              <a:rPr b="0" i="0" lang="en-US" sz="2400" u="none" cap="none" strike="noStrike">
                <a:solidFill>
                  <a:srgbClr val="3E3E3E"/>
                </a:solidFill>
                <a:latin typeface="Times New Roman"/>
                <a:ea typeface="Times New Roman"/>
                <a:cs typeface="Times New Roman"/>
                <a:sym typeface="Times New Roman"/>
              </a:rPr>
              <a:t>in above example:</a:t>
            </a:r>
            <a:endParaRPr b="0" i="0" sz="2400" u="none" cap="none" strike="noStrike">
              <a:solidFill>
                <a:schemeClr val="dk1"/>
              </a:solidFill>
              <a:latin typeface="Times New Roman"/>
              <a:ea typeface="Times New Roman"/>
              <a:cs typeface="Times New Roman"/>
              <a:sym typeface="Times New Roman"/>
            </a:endParaRPr>
          </a:p>
          <a:p>
            <a:pPr indent="-297180" lvl="0" marL="755650" marR="0" rtl="0" algn="l">
              <a:lnSpc>
                <a:spcPct val="8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A transaction must see a consistent database.</a:t>
            </a:r>
            <a:endParaRPr b="0" i="0" sz="2400" u="none" cap="none" strike="noStrike">
              <a:solidFill>
                <a:schemeClr val="dk1"/>
              </a:solidFill>
              <a:latin typeface="Times New Roman"/>
              <a:ea typeface="Times New Roman"/>
              <a:cs typeface="Times New Roman"/>
              <a:sym typeface="Times New Roman"/>
            </a:endParaRPr>
          </a:p>
          <a:p>
            <a:pPr indent="-297180" lvl="0" marL="755650" marR="0" rtl="0" algn="l">
              <a:lnSpc>
                <a:spcPct val="8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During transaction execution the database may be temporarily inconsistent.</a:t>
            </a:r>
            <a:endParaRPr b="0" i="0" sz="2400" u="none" cap="none" strike="noStrike">
              <a:solidFill>
                <a:schemeClr val="dk1"/>
              </a:solidFill>
              <a:latin typeface="Times New Roman"/>
              <a:ea typeface="Times New Roman"/>
              <a:cs typeface="Times New Roman"/>
              <a:sym typeface="Times New Roman"/>
            </a:endParaRPr>
          </a:p>
          <a:p>
            <a:pPr indent="-297180" lvl="0" marL="755650" marR="713740" rtl="0" algn="l">
              <a:lnSpc>
                <a:spcPct val="8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When the transaction completes successfully the database must be  consistent</a:t>
            </a:r>
            <a:endParaRPr b="0" i="0" sz="1400" u="none" cap="none" strike="noStrike">
              <a:solidFill>
                <a:srgbClr val="000000"/>
              </a:solidFill>
              <a:latin typeface="Arial"/>
              <a:ea typeface="Arial"/>
              <a:cs typeface="Arial"/>
              <a:sym typeface="Arial"/>
            </a:endParaRPr>
          </a:p>
          <a:p>
            <a:pPr indent="-198119" lvl="0" marL="1155700" marR="0" rtl="0" algn="l">
              <a:lnSpc>
                <a:spcPct val="8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Erroneous transaction logic can lead to inconsistency</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type="title"/>
          </p:nvPr>
        </p:nvSpPr>
        <p:spPr>
          <a:xfrm>
            <a:off x="606425" y="896812"/>
            <a:ext cx="62718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Example of Fund Transfer</a:t>
            </a:r>
            <a:endParaRPr/>
          </a:p>
        </p:txBody>
      </p:sp>
      <p:sp>
        <p:nvSpPr>
          <p:cNvPr id="140" name="Google Shape;140;p10"/>
          <p:cNvSpPr txBox="1"/>
          <p:nvPr/>
        </p:nvSpPr>
        <p:spPr>
          <a:xfrm>
            <a:off x="1292225" y="1433671"/>
            <a:ext cx="7371080" cy="838691"/>
          </a:xfrm>
          <a:prstGeom prst="rect">
            <a:avLst/>
          </a:prstGeom>
          <a:noFill/>
          <a:ln>
            <a:noFill/>
          </a:ln>
        </p:spPr>
        <p:txBody>
          <a:bodyPr anchorCtr="0" anchor="t" bIns="0" lIns="0" spcFirstLastPara="1" rIns="0" wrap="square" tIns="68575">
            <a:spAutoFit/>
          </a:bodyPr>
          <a:lstStyle/>
          <a:p>
            <a:pPr indent="0" lvl="0" marL="12700" marR="5080" rtl="0" algn="l">
              <a:lnSpc>
                <a:spcPct val="108333"/>
              </a:lnSpc>
              <a:spcBef>
                <a:spcPts val="0"/>
              </a:spcBef>
              <a:spcAft>
                <a:spcPts val="0"/>
              </a:spcAft>
              <a:buClr>
                <a:srgbClr val="000000"/>
              </a:buClr>
              <a:buSzPts val="1800"/>
              <a:buFont typeface="Arial"/>
              <a:buNone/>
            </a:pPr>
            <a:r>
              <a:rPr b="1" i="0" lang="en-US" sz="1800" u="none" cap="none" strike="noStrike">
                <a:solidFill>
                  <a:srgbClr val="000099"/>
                </a:solidFill>
                <a:latin typeface="Times New Roman"/>
                <a:ea typeface="Times New Roman"/>
                <a:cs typeface="Times New Roman"/>
                <a:sym typeface="Times New Roman"/>
              </a:rPr>
              <a:t>Isolation requirement </a:t>
            </a:r>
            <a:r>
              <a:rPr b="0" i="0" lang="en-US" sz="1800" u="none" cap="none" strike="noStrike">
                <a:solidFill>
                  <a:srgbClr val="3E3E3E"/>
                </a:solidFill>
                <a:latin typeface="Times New Roman"/>
                <a:ea typeface="Times New Roman"/>
                <a:cs typeface="Times New Roman"/>
                <a:sym typeface="Times New Roman"/>
              </a:rPr>
              <a:t>— if between steps 3 and 6, another  transaction T2 is allowed to access the partially updated  database, it will see an inconsistent database (the sum </a:t>
            </a:r>
            <a:r>
              <a:rPr b="0" i="1" lang="en-US" sz="1800" u="none" cap="none" strike="noStrike">
                <a:solidFill>
                  <a:srgbClr val="3E3E3E"/>
                </a:solidFill>
                <a:latin typeface="Times New Roman"/>
                <a:ea typeface="Times New Roman"/>
                <a:cs typeface="Times New Roman"/>
                <a:sym typeface="Times New Roman"/>
              </a:rPr>
              <a:t>A + B </a:t>
            </a:r>
            <a:r>
              <a:rPr b="0" i="0" lang="en-US" sz="1800" u="none" cap="none" strike="noStrike">
                <a:solidFill>
                  <a:srgbClr val="3E3E3E"/>
                </a:solidFill>
                <a:latin typeface="Times New Roman"/>
                <a:ea typeface="Times New Roman"/>
                <a:cs typeface="Times New Roman"/>
                <a:sym typeface="Times New Roman"/>
              </a:rPr>
              <a:t>will  be less than it should be).</a:t>
            </a:r>
            <a:endParaRPr b="0" i="0" sz="1800" u="none" cap="none" strike="noStrike">
              <a:solidFill>
                <a:schemeClr val="dk1"/>
              </a:solidFill>
              <a:latin typeface="Times New Roman"/>
              <a:ea typeface="Times New Roman"/>
              <a:cs typeface="Times New Roman"/>
              <a:sym typeface="Times New Roman"/>
            </a:endParaRPr>
          </a:p>
        </p:txBody>
      </p:sp>
      <p:sp>
        <p:nvSpPr>
          <p:cNvPr id="141" name="Google Shape;141;p10"/>
          <p:cNvSpPr txBox="1"/>
          <p:nvPr/>
        </p:nvSpPr>
        <p:spPr>
          <a:xfrm>
            <a:off x="5036984" y="2424271"/>
            <a:ext cx="321945"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1" i="0" lang="en-US" sz="2000" u="none" cap="none" strike="noStrike">
                <a:solidFill>
                  <a:srgbClr val="3E3E3E"/>
                </a:solidFill>
                <a:latin typeface="Arial"/>
                <a:ea typeface="Arial"/>
                <a:cs typeface="Arial"/>
                <a:sym typeface="Arial"/>
              </a:rPr>
              <a:t>T2</a:t>
            </a:r>
            <a:endParaRPr b="0" i="0" sz="2000" u="none" cap="none" strike="noStrike">
              <a:solidFill>
                <a:schemeClr val="dk1"/>
              </a:solidFill>
              <a:latin typeface="Arial"/>
              <a:ea typeface="Arial"/>
              <a:cs typeface="Arial"/>
              <a:sym typeface="Arial"/>
            </a:endParaRPr>
          </a:p>
        </p:txBody>
      </p:sp>
      <p:sp>
        <p:nvSpPr>
          <p:cNvPr id="142" name="Google Shape;142;p10"/>
          <p:cNvSpPr txBox="1"/>
          <p:nvPr/>
        </p:nvSpPr>
        <p:spPr>
          <a:xfrm>
            <a:off x="1292225" y="2424271"/>
            <a:ext cx="1950720" cy="1234697"/>
          </a:xfrm>
          <a:prstGeom prst="rect">
            <a:avLst/>
          </a:prstGeom>
          <a:noFill/>
          <a:ln>
            <a:noFill/>
          </a:ln>
        </p:spPr>
        <p:txBody>
          <a:bodyPr anchorCtr="0" anchor="t" bIns="0" lIns="0" spcFirstLastPara="1" rIns="0" wrap="square" tIns="12700">
            <a:spAutoFit/>
          </a:bodyPr>
          <a:lstStyle/>
          <a:p>
            <a:pPr indent="0" lvl="0" marL="189865" marR="0" rtl="0" algn="l">
              <a:lnSpc>
                <a:spcPct val="117250"/>
              </a:lnSpc>
              <a:spcBef>
                <a:spcPts val="0"/>
              </a:spcBef>
              <a:spcAft>
                <a:spcPts val="0"/>
              </a:spcAft>
              <a:buClr>
                <a:srgbClr val="000000"/>
              </a:buClr>
              <a:buSzPts val="2000"/>
              <a:buFont typeface="Arial"/>
              <a:buNone/>
            </a:pPr>
            <a:r>
              <a:rPr b="1" i="0" lang="en-US" sz="2000" u="none" cap="none" strike="noStrike">
                <a:solidFill>
                  <a:srgbClr val="3E3E3E"/>
                </a:solidFill>
                <a:latin typeface="Arial"/>
                <a:ea typeface="Arial"/>
                <a:cs typeface="Arial"/>
                <a:sym typeface="Arial"/>
              </a:rPr>
              <a:t>T1</a:t>
            </a:r>
            <a:endParaRPr b="0" i="0" sz="2000" u="none" cap="none" strike="noStrike">
              <a:solidFill>
                <a:schemeClr val="dk1"/>
              </a:solidFill>
              <a:latin typeface="Arial"/>
              <a:ea typeface="Arial"/>
              <a:cs typeface="Arial"/>
              <a:sym typeface="Arial"/>
            </a:endParaRPr>
          </a:p>
          <a:p>
            <a:pPr indent="0" lvl="0" marL="12700" marR="0" rtl="0" algn="l">
              <a:lnSpc>
                <a:spcPct val="114937"/>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1.	</a:t>
            </a:r>
            <a:r>
              <a:rPr b="1" i="0" lang="en-US" sz="1600" u="none" cap="none" strike="noStrike">
                <a:solidFill>
                  <a:schemeClr val="dk1"/>
                </a:solidFill>
                <a:latin typeface="Arial"/>
                <a:ea typeface="Arial"/>
                <a:cs typeface="Arial"/>
                <a:sym typeface="Arial"/>
              </a:rPr>
              <a:t>read</a:t>
            </a:r>
            <a:r>
              <a:rPr b="0" i="0" lang="en-US" sz="1600" u="none" cap="none" strike="noStrike">
                <a:solidFill>
                  <a:schemeClr val="dk1"/>
                </a:solidFill>
                <a:latin typeface="Arial"/>
                <a:ea typeface="Arial"/>
                <a:cs typeface="Arial"/>
                <a:sym typeface="Arial"/>
              </a:rPr>
              <a:t>(</a:t>
            </a:r>
            <a:r>
              <a:rPr b="0" i="1" lang="en-US" sz="1600" u="none" cap="none" strike="noStrike">
                <a:solidFill>
                  <a:schemeClr val="dk1"/>
                </a:solidFill>
                <a:latin typeface="Arial"/>
                <a:ea typeface="Arial"/>
                <a:cs typeface="Arial"/>
                <a:sym typeface="Arial"/>
              </a:rPr>
              <a:t>A</a:t>
            </a:r>
            <a:r>
              <a:rPr b="0" i="0" lang="en-US" sz="1600" u="none" cap="none" strike="noStrike">
                <a:solidFill>
                  <a:schemeClr val="dk1"/>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a:p>
            <a:pPr indent="0" lvl="0" marL="12700" marR="0" rtl="0" algn="l">
              <a:lnSpc>
                <a:spcPct val="117187"/>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2.	</a:t>
            </a:r>
            <a:r>
              <a:rPr b="0" i="1" lang="en-US" sz="1600" u="none" cap="none" strike="noStrike">
                <a:solidFill>
                  <a:schemeClr val="dk1"/>
                </a:solidFill>
                <a:latin typeface="Arial"/>
                <a:ea typeface="Arial"/>
                <a:cs typeface="Arial"/>
                <a:sym typeface="Arial"/>
              </a:rPr>
              <a:t>A </a:t>
            </a:r>
            <a:r>
              <a:rPr b="0" i="0" lang="en-US" sz="1600" u="none" cap="none" strike="noStrike">
                <a:solidFill>
                  <a:schemeClr val="dk1"/>
                </a:solidFill>
                <a:latin typeface="Arial"/>
                <a:ea typeface="Arial"/>
                <a:cs typeface="Arial"/>
                <a:sym typeface="Arial"/>
              </a:rPr>
              <a:t>:= </a:t>
            </a:r>
            <a:r>
              <a:rPr b="0" i="1" lang="en-US" sz="1600" u="none" cap="none" strike="noStrike">
                <a:solidFill>
                  <a:schemeClr val="dk1"/>
                </a:solidFill>
                <a:latin typeface="Arial"/>
                <a:ea typeface="Arial"/>
                <a:cs typeface="Arial"/>
                <a:sym typeface="Arial"/>
              </a:rPr>
              <a:t>A – </a:t>
            </a:r>
            <a:r>
              <a:rPr b="0" i="0" lang="en-US" sz="1600" u="none" cap="none" strike="noStrike">
                <a:solidFill>
                  <a:schemeClr val="dk1"/>
                </a:solidFill>
                <a:latin typeface="Arial"/>
                <a:ea typeface="Arial"/>
                <a:cs typeface="Arial"/>
                <a:sym typeface="Arial"/>
              </a:rPr>
              <a:t>50</a:t>
            </a:r>
            <a:endParaRPr b="0" i="0" sz="1600" u="none" cap="none" strike="noStrike">
              <a:solidFill>
                <a:schemeClr val="dk1"/>
              </a:solidFill>
              <a:latin typeface="Arial"/>
              <a:ea typeface="Arial"/>
              <a:cs typeface="Arial"/>
              <a:sym typeface="Arial"/>
            </a:endParaRPr>
          </a:p>
          <a:p>
            <a:pPr indent="0" lvl="0" marL="12700" marR="0" rtl="0" algn="l">
              <a:lnSpc>
                <a:spcPct val="118437"/>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3.	</a:t>
            </a:r>
            <a:r>
              <a:rPr b="1" i="0" lang="en-US" sz="1600" u="none" cap="none" strike="noStrike">
                <a:solidFill>
                  <a:schemeClr val="dk1"/>
                </a:solidFill>
                <a:latin typeface="Arial"/>
                <a:ea typeface="Arial"/>
                <a:cs typeface="Arial"/>
                <a:sym typeface="Arial"/>
              </a:rPr>
              <a:t>write</a:t>
            </a:r>
            <a:r>
              <a:rPr b="0" i="0" lang="en-US" sz="1600" u="none" cap="none" strike="noStrike">
                <a:solidFill>
                  <a:schemeClr val="dk1"/>
                </a:solidFill>
                <a:latin typeface="Arial"/>
                <a:ea typeface="Arial"/>
                <a:cs typeface="Arial"/>
                <a:sym typeface="Arial"/>
              </a:rPr>
              <a:t>(</a:t>
            </a:r>
            <a:r>
              <a:rPr b="0" i="1" lang="en-US" sz="1600" u="none" cap="none" strike="noStrike">
                <a:solidFill>
                  <a:schemeClr val="dk1"/>
                </a:solidFill>
                <a:latin typeface="Arial"/>
                <a:ea typeface="Arial"/>
                <a:cs typeface="Arial"/>
                <a:sym typeface="Arial"/>
              </a:rPr>
              <a:t>A</a:t>
            </a:r>
            <a:r>
              <a:rPr b="0" i="0" lang="en-US" sz="1600" u="none" cap="none" strike="noStrike">
                <a:solidFill>
                  <a:schemeClr val="dk1"/>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p:txBody>
      </p:sp>
      <p:sp>
        <p:nvSpPr>
          <p:cNvPr id="143" name="Google Shape;143;p10"/>
          <p:cNvSpPr txBox="1"/>
          <p:nvPr/>
        </p:nvSpPr>
        <p:spPr>
          <a:xfrm>
            <a:off x="850393" y="3388328"/>
            <a:ext cx="7722108" cy="2596288"/>
          </a:xfrm>
          <a:prstGeom prst="rect">
            <a:avLst/>
          </a:prstGeom>
          <a:noFill/>
          <a:ln>
            <a:noFill/>
          </a:ln>
        </p:spPr>
        <p:txBody>
          <a:bodyPr anchorCtr="0" anchor="t" bIns="0" lIns="0" spcFirstLastPara="1" rIns="0" wrap="square" tIns="12700">
            <a:spAutoFit/>
          </a:bodyPr>
          <a:lstStyle/>
          <a:p>
            <a:pPr indent="0" lvl="0" marL="2894330" marR="0" rtl="0" algn="l">
              <a:lnSpc>
                <a:spcPct val="103888"/>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read(A), read(B), print(A+B)</a:t>
            </a:r>
            <a:endParaRPr b="0" i="0" sz="1800" u="none" cap="none" strike="noStrike">
              <a:solidFill>
                <a:schemeClr val="dk1"/>
              </a:solidFill>
              <a:latin typeface="Times New Roman"/>
              <a:ea typeface="Times New Roman"/>
              <a:cs typeface="Times New Roman"/>
              <a:sym typeface="Times New Roman"/>
            </a:endParaRPr>
          </a:p>
          <a:p>
            <a:pPr indent="0" lvl="0" marL="469900" marR="0" rtl="0" algn="l">
              <a:lnSpc>
                <a:spcPct val="1025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4.	</a:t>
            </a:r>
            <a:r>
              <a:rPr b="1" i="0" lang="en-US" sz="1800" u="none" cap="none" strike="noStrike">
                <a:solidFill>
                  <a:schemeClr val="dk1"/>
                </a:solidFill>
                <a:latin typeface="Times New Roman"/>
                <a:ea typeface="Times New Roman"/>
                <a:cs typeface="Times New Roman"/>
                <a:sym typeface="Times New Roman"/>
              </a:rPr>
              <a:t>read</a:t>
            </a:r>
            <a:r>
              <a:rPr b="0" i="0" lang="en-US" sz="1800" u="none" cap="none" strike="noStrike">
                <a:solidFill>
                  <a:schemeClr val="dk1"/>
                </a:solidFill>
                <a:latin typeface="Times New Roman"/>
                <a:ea typeface="Times New Roman"/>
                <a:cs typeface="Times New Roman"/>
                <a:sym typeface="Times New Roman"/>
              </a:rPr>
              <a:t>(</a:t>
            </a:r>
            <a:r>
              <a:rPr b="0" i="1" lang="en-US" sz="1800" u="none" cap="none" strike="noStrike">
                <a:solidFill>
                  <a:schemeClr val="dk1"/>
                </a:solidFill>
                <a:latin typeface="Times New Roman"/>
                <a:ea typeface="Times New Roman"/>
                <a:cs typeface="Times New Roman"/>
                <a:sym typeface="Times New Roman"/>
              </a:rPr>
              <a:t>B</a:t>
            </a:r>
            <a:r>
              <a:rPr b="0"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p>
            <a:pPr indent="0" lvl="0" marL="469900" marR="0" rtl="0" algn="l">
              <a:lnSpc>
                <a:spcPct val="104166"/>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5.	</a:t>
            </a:r>
            <a:r>
              <a:rPr b="0" i="1" lang="en-US" sz="1800" u="none" cap="none" strike="noStrike">
                <a:solidFill>
                  <a:schemeClr val="dk1"/>
                </a:solidFill>
                <a:latin typeface="Times New Roman"/>
                <a:ea typeface="Times New Roman"/>
                <a:cs typeface="Times New Roman"/>
                <a:sym typeface="Times New Roman"/>
              </a:rPr>
              <a:t>B </a:t>
            </a:r>
            <a:r>
              <a:rPr b="0" i="0" lang="en-US" sz="1800" u="none" cap="none" strike="noStrike">
                <a:solidFill>
                  <a:schemeClr val="dk1"/>
                </a:solidFill>
                <a:latin typeface="Times New Roman"/>
                <a:ea typeface="Times New Roman"/>
                <a:cs typeface="Times New Roman"/>
                <a:sym typeface="Times New Roman"/>
              </a:rPr>
              <a:t>:= </a:t>
            </a:r>
            <a:r>
              <a:rPr b="0" i="1" lang="en-US" sz="1800" u="none" cap="none" strike="noStrike">
                <a:solidFill>
                  <a:schemeClr val="dk1"/>
                </a:solidFill>
                <a:latin typeface="Times New Roman"/>
                <a:ea typeface="Times New Roman"/>
                <a:cs typeface="Times New Roman"/>
                <a:sym typeface="Times New Roman"/>
              </a:rPr>
              <a:t>B + </a:t>
            </a:r>
            <a:r>
              <a:rPr b="0" i="0" lang="en-US" sz="1800" u="none" cap="none" strike="noStrike">
                <a:solidFill>
                  <a:schemeClr val="dk1"/>
                </a:solidFill>
                <a:latin typeface="Times New Roman"/>
                <a:ea typeface="Times New Roman"/>
                <a:cs typeface="Times New Roman"/>
                <a:sym typeface="Times New Roman"/>
              </a:rPr>
              <a:t>50</a:t>
            </a:r>
            <a:endParaRPr b="0" i="0" sz="1800" u="none" cap="none" strike="noStrike">
              <a:solidFill>
                <a:schemeClr val="dk1"/>
              </a:solidFill>
              <a:latin typeface="Times New Roman"/>
              <a:ea typeface="Times New Roman"/>
              <a:cs typeface="Times New Roman"/>
              <a:sym typeface="Times New Roman"/>
            </a:endParaRPr>
          </a:p>
          <a:p>
            <a:pPr indent="0" lvl="0" marL="469900" marR="0" rtl="0" algn="l">
              <a:lnSpc>
                <a:spcPct val="105277"/>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6.	</a:t>
            </a:r>
            <a:r>
              <a:rPr b="1" i="0" lang="en-US" sz="1800" u="none" cap="none" strike="noStrike">
                <a:solidFill>
                  <a:schemeClr val="dk1"/>
                </a:solidFill>
                <a:latin typeface="Times New Roman"/>
                <a:ea typeface="Times New Roman"/>
                <a:cs typeface="Times New Roman"/>
                <a:sym typeface="Times New Roman"/>
              </a:rPr>
              <a:t>write</a:t>
            </a:r>
            <a:r>
              <a:rPr b="0" i="0" lang="en-US" sz="1800" u="none" cap="none" strike="noStrike">
                <a:solidFill>
                  <a:schemeClr val="dk1"/>
                </a:solidFill>
                <a:latin typeface="Times New Roman"/>
                <a:ea typeface="Times New Roman"/>
                <a:cs typeface="Times New Roman"/>
                <a:sym typeface="Times New Roman"/>
              </a:rPr>
              <a:t>(</a:t>
            </a:r>
            <a:r>
              <a:rPr b="0" i="1" lang="en-US" sz="1800" u="none" cap="none" strike="noStrike">
                <a:solidFill>
                  <a:schemeClr val="dk1"/>
                </a:solidFill>
                <a:latin typeface="Times New Roman"/>
                <a:ea typeface="Times New Roman"/>
                <a:cs typeface="Times New Roman"/>
                <a:sym typeface="Times New Roman"/>
              </a:rPr>
              <a:t>B)</a:t>
            </a:r>
            <a:endParaRPr b="0" i="0" sz="1800"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20"/>
              </a:spcBef>
              <a:spcAft>
                <a:spcPts val="0"/>
              </a:spcAft>
              <a:buClr>
                <a:srgbClr val="000000"/>
              </a:buClr>
              <a:buSzPts val="1800"/>
              <a:buFont typeface="Arial"/>
              <a:buNone/>
            </a:pPr>
            <a:r>
              <a:rPr b="0" i="0" lang="en-US" sz="1800" u="none" cap="none" strike="noStrike">
                <a:solidFill>
                  <a:srgbClr val="3E3E3E"/>
                </a:solidFill>
                <a:latin typeface="Times New Roman"/>
                <a:ea typeface="Times New Roman"/>
                <a:cs typeface="Times New Roman"/>
                <a:sym typeface="Times New Roman"/>
              </a:rPr>
              <a:t>Isolation can be ensured trivially by running transactions </a:t>
            </a:r>
            <a:r>
              <a:rPr b="1" i="0" lang="en-US" sz="1800" u="none" cap="none" strike="noStrike">
                <a:solidFill>
                  <a:srgbClr val="3E3E3E"/>
                </a:solidFill>
                <a:latin typeface="Times New Roman"/>
                <a:ea typeface="Times New Roman"/>
                <a:cs typeface="Times New Roman"/>
                <a:sym typeface="Times New Roman"/>
              </a:rPr>
              <a:t>serially</a:t>
            </a:r>
            <a:endParaRPr b="0" i="0" sz="1800" u="none" cap="none" strike="noStrike">
              <a:solidFill>
                <a:schemeClr val="dk1"/>
              </a:solidFill>
              <a:latin typeface="Times New Roman"/>
              <a:ea typeface="Times New Roman"/>
              <a:cs typeface="Times New Roman"/>
              <a:sym typeface="Times New Roman"/>
            </a:endParaRPr>
          </a:p>
          <a:p>
            <a:pPr indent="0" lvl="0" marL="449580" marR="0" rtl="0" algn="l">
              <a:lnSpc>
                <a:spcPct val="179388"/>
              </a:lnSpc>
              <a:spcBef>
                <a:spcPts val="5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that is, one after the other.</a:t>
            </a:r>
            <a:endParaRPr b="0" i="0" sz="1800" u="none" cap="none" strike="noStrike">
              <a:solidFill>
                <a:schemeClr val="dk1"/>
              </a:solidFill>
              <a:latin typeface="Times New Roman"/>
              <a:ea typeface="Times New Roman"/>
              <a:cs typeface="Times New Roman"/>
              <a:sym typeface="Times New Roman"/>
            </a:endParaRPr>
          </a:p>
          <a:p>
            <a:pPr indent="0" lvl="0" marL="12700" marR="0" rtl="0" algn="l">
              <a:lnSpc>
                <a:spcPct val="112777"/>
              </a:lnSpc>
              <a:spcBef>
                <a:spcPts val="0"/>
              </a:spcBef>
              <a:spcAft>
                <a:spcPts val="0"/>
              </a:spcAft>
              <a:buClr>
                <a:srgbClr val="000000"/>
              </a:buClr>
              <a:buSzPts val="1800"/>
              <a:buFont typeface="Arial"/>
              <a:buNone/>
            </a:pPr>
            <a:r>
              <a:rPr b="1" i="0" lang="en-US" sz="1800" u="none" cap="none" strike="noStrike">
                <a:solidFill>
                  <a:srgbClr val="3E3E3E"/>
                </a:solidFill>
                <a:latin typeface="Times New Roman"/>
                <a:ea typeface="Times New Roman"/>
                <a:cs typeface="Times New Roman"/>
                <a:sym typeface="Times New Roman"/>
              </a:rPr>
              <a:t>However</a:t>
            </a:r>
            <a:r>
              <a:rPr b="0" i="0" lang="en-US" sz="1800" u="none" cap="none" strike="noStrike">
                <a:solidFill>
                  <a:srgbClr val="3E3E3E"/>
                </a:solidFill>
                <a:latin typeface="Times New Roman"/>
                <a:ea typeface="Times New Roman"/>
                <a:cs typeface="Times New Roman"/>
                <a:sym typeface="Times New Roman"/>
              </a:rPr>
              <a:t>, executing multiple transactions concurrently has</a:t>
            </a:r>
            <a:endParaRPr b="0" i="0" sz="1800" u="none" cap="none" strike="noStrike">
              <a:solidFill>
                <a:schemeClr val="dk1"/>
              </a:solidFill>
              <a:latin typeface="Times New Roman"/>
              <a:ea typeface="Times New Roman"/>
              <a:cs typeface="Times New Roman"/>
              <a:sym typeface="Times New Roman"/>
            </a:endParaRPr>
          </a:p>
          <a:p>
            <a:pPr indent="0" lvl="0" marL="12700" marR="0" rtl="0" algn="l">
              <a:lnSpc>
                <a:spcPct val="108250"/>
              </a:lnSpc>
              <a:spcBef>
                <a:spcPts val="0"/>
              </a:spcBef>
              <a:spcAft>
                <a:spcPts val="0"/>
              </a:spcAft>
              <a:buClr>
                <a:srgbClr val="000000"/>
              </a:buClr>
              <a:buSzPts val="1800"/>
              <a:buFont typeface="Arial"/>
              <a:buNone/>
            </a:pPr>
            <a:r>
              <a:rPr b="1" i="0" lang="en-US" sz="1800" u="none" cap="none" strike="noStrike">
                <a:solidFill>
                  <a:srgbClr val="3E3E3E"/>
                </a:solidFill>
                <a:latin typeface="Times New Roman"/>
                <a:ea typeface="Times New Roman"/>
                <a:cs typeface="Times New Roman"/>
                <a:sym typeface="Times New Roman"/>
              </a:rPr>
              <a:t>significant benefits</a:t>
            </a:r>
            <a:r>
              <a:rPr b="0" i="0" lang="en-US" sz="1800" u="none" cap="none" strike="noStrike">
                <a:solidFill>
                  <a:srgbClr val="3E3E3E"/>
                </a:solidFill>
                <a:latin typeface="Times New Roman"/>
                <a:ea typeface="Times New Roman"/>
                <a:cs typeface="Times New Roman"/>
                <a:sym typeface="Times New Roman"/>
              </a:rPr>
              <a:t>, as we will see later</a:t>
            </a:r>
            <a:r>
              <a:rPr b="0" i="0" lang="en-US" sz="2000" u="none" cap="none" strike="noStrike">
                <a:solidFill>
                  <a:srgbClr val="3E3E3E"/>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txBox="1"/>
          <p:nvPr>
            <p:ph type="title"/>
          </p:nvPr>
        </p:nvSpPr>
        <p:spPr>
          <a:xfrm>
            <a:off x="457200" y="914400"/>
            <a:ext cx="39153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ACID Properties</a:t>
            </a:r>
            <a:endParaRPr/>
          </a:p>
        </p:txBody>
      </p:sp>
      <p:sp>
        <p:nvSpPr>
          <p:cNvPr id="149" name="Google Shape;149;p11"/>
          <p:cNvSpPr txBox="1"/>
          <p:nvPr/>
        </p:nvSpPr>
        <p:spPr>
          <a:xfrm>
            <a:off x="221592" y="1455324"/>
            <a:ext cx="8801700" cy="5126700"/>
          </a:xfrm>
          <a:prstGeom prst="rect">
            <a:avLst/>
          </a:prstGeom>
          <a:noFill/>
          <a:ln>
            <a:noFill/>
          </a:ln>
        </p:spPr>
        <p:txBody>
          <a:bodyPr anchorCtr="0" anchor="t" bIns="0" lIns="0" spcFirstLastPara="1" rIns="0" wrap="square" tIns="10775">
            <a:spAutoFit/>
          </a:bodyPr>
          <a:lstStyle/>
          <a:p>
            <a:pPr indent="0" lvl="0" marL="92710" marR="5080" rtl="0" algn="l">
              <a:lnSpc>
                <a:spcPct val="100699"/>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A </a:t>
            </a:r>
            <a:r>
              <a:rPr b="1" i="0" lang="en-US" sz="1800" u="none" cap="none" strike="noStrike">
                <a:solidFill>
                  <a:srgbClr val="000099"/>
                </a:solidFill>
                <a:latin typeface="Times New Roman"/>
                <a:ea typeface="Times New Roman"/>
                <a:cs typeface="Times New Roman"/>
                <a:sym typeface="Times New Roman"/>
              </a:rPr>
              <a:t>transaction </a:t>
            </a:r>
            <a:r>
              <a:rPr b="0" i="0" lang="en-US" sz="1800" u="none" cap="none" strike="noStrike">
                <a:solidFill>
                  <a:schemeClr val="dk1"/>
                </a:solidFill>
                <a:latin typeface="Times New Roman"/>
                <a:ea typeface="Times New Roman"/>
                <a:cs typeface="Times New Roman"/>
                <a:sym typeface="Times New Roman"/>
              </a:rPr>
              <a:t>is a unit of program execution that accesses and possibly updates  various data items.To preserve the integrity of data the database system must ensure: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5"/>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107950" lvl="0" marL="93345" marR="0" rtl="0" algn="l">
              <a:lnSpc>
                <a:spcPct val="100000"/>
              </a:lnSpc>
              <a:spcBef>
                <a:spcPts val="0"/>
              </a:spcBef>
              <a:spcAft>
                <a:spcPts val="0"/>
              </a:spcAft>
              <a:buClr>
                <a:srgbClr val="000099"/>
              </a:buClr>
              <a:buSzPts val="1700"/>
              <a:buFont typeface="Times New Roman"/>
              <a:buChar char="•"/>
            </a:pPr>
            <a:r>
              <a:rPr b="1" i="0" lang="en-US" sz="1800" u="none" cap="none" strike="noStrike">
                <a:solidFill>
                  <a:srgbClr val="000099"/>
                </a:solidFill>
                <a:latin typeface="Times New Roman"/>
                <a:ea typeface="Times New Roman"/>
                <a:cs typeface="Times New Roman"/>
                <a:sym typeface="Times New Roman"/>
              </a:rPr>
              <a:t>Atomicity</a:t>
            </a:r>
            <a:r>
              <a:rPr b="1" i="0" lang="en-US" sz="1800" u="none" cap="none" strike="noStrike">
                <a:solidFill>
                  <a:srgbClr val="3E3E3E"/>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p>
            <a:pPr indent="-107950" lvl="1" marL="549910" marR="302895" rtl="0" algn="l">
              <a:lnSpc>
                <a:spcPct val="101400"/>
              </a:lnSpc>
              <a:spcBef>
                <a:spcPts val="345"/>
              </a:spcBef>
              <a:spcAft>
                <a:spcPts val="0"/>
              </a:spcAft>
              <a:buClr>
                <a:srgbClr val="3E3E3E"/>
              </a:buClr>
              <a:buSzPts val="1700"/>
              <a:buFont typeface="Times New Roman"/>
              <a:buChar char="•"/>
            </a:pPr>
            <a:r>
              <a:rPr b="0" i="0" lang="en-US" sz="1800" u="none" cap="none" strike="noStrike">
                <a:solidFill>
                  <a:srgbClr val="3E3E3E"/>
                </a:solidFill>
                <a:latin typeface="Times New Roman"/>
                <a:ea typeface="Times New Roman"/>
                <a:cs typeface="Times New Roman"/>
                <a:sym typeface="Times New Roman"/>
              </a:rPr>
              <a:t>Either all operations of the transaction are properly reflected in the database or  none are.</a:t>
            </a:r>
            <a:endParaRPr b="0" i="0" sz="1800" u="none" cap="none" strike="noStrike">
              <a:solidFill>
                <a:schemeClr val="dk1"/>
              </a:solidFill>
              <a:latin typeface="Times New Roman"/>
              <a:ea typeface="Times New Roman"/>
              <a:cs typeface="Times New Roman"/>
              <a:sym typeface="Times New Roman"/>
            </a:endParaRPr>
          </a:p>
          <a:p>
            <a:pPr indent="-107950" lvl="0" marL="93345" marR="0" rtl="0" algn="l">
              <a:lnSpc>
                <a:spcPct val="100000"/>
              </a:lnSpc>
              <a:spcBef>
                <a:spcPts val="375"/>
              </a:spcBef>
              <a:spcAft>
                <a:spcPts val="0"/>
              </a:spcAft>
              <a:buClr>
                <a:srgbClr val="000099"/>
              </a:buClr>
              <a:buSzPts val="1700"/>
              <a:buFont typeface="Times New Roman"/>
              <a:buChar char="•"/>
            </a:pPr>
            <a:r>
              <a:rPr b="1" i="0" lang="en-US" sz="1800" u="none" cap="none" strike="noStrike">
                <a:solidFill>
                  <a:srgbClr val="000099"/>
                </a:solidFill>
                <a:latin typeface="Times New Roman"/>
                <a:ea typeface="Times New Roman"/>
                <a:cs typeface="Times New Roman"/>
                <a:sym typeface="Times New Roman"/>
              </a:rPr>
              <a:t>Consistency</a:t>
            </a:r>
            <a:r>
              <a:rPr b="1" i="0" lang="en-US" sz="1800" u="none" cap="none" strike="noStrike">
                <a:solidFill>
                  <a:srgbClr val="3E3E3E"/>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p>
            <a:pPr indent="-107950" lvl="1" marL="550545" marR="0" rtl="0" algn="l">
              <a:lnSpc>
                <a:spcPct val="100000"/>
              </a:lnSpc>
              <a:spcBef>
                <a:spcPts val="390"/>
              </a:spcBef>
              <a:spcAft>
                <a:spcPts val="0"/>
              </a:spcAft>
              <a:buClr>
                <a:srgbClr val="3E3E3E"/>
              </a:buClr>
              <a:buSzPts val="1700"/>
              <a:buFont typeface="Times New Roman"/>
              <a:buChar char="•"/>
            </a:pPr>
            <a:r>
              <a:rPr b="0" i="0" lang="en-US" sz="1800" u="none" cap="none" strike="noStrike">
                <a:solidFill>
                  <a:srgbClr val="3E3E3E"/>
                </a:solidFill>
                <a:latin typeface="Times New Roman"/>
                <a:ea typeface="Times New Roman"/>
                <a:cs typeface="Times New Roman"/>
                <a:sym typeface="Times New Roman"/>
              </a:rPr>
              <a:t>Execution of a transaction in isolation preserves the consistency of the database.</a:t>
            </a:r>
            <a:endParaRPr b="0" i="0" sz="1800" u="none" cap="none" strike="noStrike">
              <a:solidFill>
                <a:schemeClr val="dk1"/>
              </a:solidFill>
              <a:latin typeface="Times New Roman"/>
              <a:ea typeface="Times New Roman"/>
              <a:cs typeface="Times New Roman"/>
              <a:sym typeface="Times New Roman"/>
            </a:endParaRPr>
          </a:p>
          <a:p>
            <a:pPr indent="-107950" lvl="0" marL="93345" marR="0" rtl="0" algn="l">
              <a:lnSpc>
                <a:spcPct val="100000"/>
              </a:lnSpc>
              <a:spcBef>
                <a:spcPts val="390"/>
              </a:spcBef>
              <a:spcAft>
                <a:spcPts val="0"/>
              </a:spcAft>
              <a:buClr>
                <a:srgbClr val="000099"/>
              </a:buClr>
              <a:buSzPts val="1700"/>
              <a:buFont typeface="Times New Roman"/>
              <a:buChar char="•"/>
            </a:pPr>
            <a:r>
              <a:rPr b="1" i="0" lang="en-US" sz="1800" u="none" cap="none" strike="noStrike">
                <a:solidFill>
                  <a:srgbClr val="000099"/>
                </a:solidFill>
                <a:latin typeface="Times New Roman"/>
                <a:ea typeface="Times New Roman"/>
                <a:cs typeface="Times New Roman"/>
                <a:sym typeface="Times New Roman"/>
              </a:rPr>
              <a:t>Isolation</a:t>
            </a:r>
            <a:r>
              <a:rPr b="1" i="0" lang="en-US" sz="1800" u="none" cap="none" strike="noStrike">
                <a:solidFill>
                  <a:srgbClr val="3E3E3E"/>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p>
            <a:pPr indent="-107950" lvl="1" marL="549910" marR="10795" rtl="0" algn="l">
              <a:lnSpc>
                <a:spcPct val="101000"/>
              </a:lnSpc>
              <a:spcBef>
                <a:spcPts val="365"/>
              </a:spcBef>
              <a:spcAft>
                <a:spcPts val="0"/>
              </a:spcAft>
              <a:buClr>
                <a:srgbClr val="3E3E3E"/>
              </a:buClr>
              <a:buSzPts val="1700"/>
              <a:buFont typeface="Times New Roman"/>
              <a:buChar char="•"/>
            </a:pPr>
            <a:r>
              <a:rPr b="0" i="0" lang="en-US" sz="1800" u="none" cap="none" strike="noStrike">
                <a:solidFill>
                  <a:srgbClr val="3E3E3E"/>
                </a:solidFill>
                <a:latin typeface="Times New Roman"/>
                <a:ea typeface="Times New Roman"/>
                <a:cs typeface="Times New Roman"/>
                <a:sym typeface="Times New Roman"/>
              </a:rPr>
              <a:t>Although multiple transactions may execute concurrently, each transaction must  be unaware of other concurrently executing transactions. Intermediate  transaction results must be hidden from other concurrently executed transactions.</a:t>
            </a:r>
            <a:endParaRPr b="0" i="0" sz="1800" u="none" cap="none" strike="noStrike">
              <a:solidFill>
                <a:schemeClr val="dk1"/>
              </a:solidFill>
              <a:latin typeface="Times New Roman"/>
              <a:ea typeface="Times New Roman"/>
              <a:cs typeface="Times New Roman"/>
              <a:sym typeface="Times New Roman"/>
            </a:endParaRPr>
          </a:p>
          <a:p>
            <a:pPr indent="-297180" lvl="0" marL="835660" marR="433069" rtl="0" algn="l">
              <a:lnSpc>
                <a:spcPct val="100499"/>
              </a:lnSpc>
              <a:spcBef>
                <a:spcPts val="335"/>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That is, for every pair of transactions </a:t>
            </a:r>
            <a:r>
              <a:rPr b="0" i="1" lang="en-US" sz="1800" u="none" cap="none" strike="noStrike">
                <a:solidFill>
                  <a:schemeClr val="dk1"/>
                </a:solidFill>
                <a:latin typeface="Times New Roman"/>
                <a:ea typeface="Times New Roman"/>
                <a:cs typeface="Times New Roman"/>
                <a:sym typeface="Times New Roman"/>
              </a:rPr>
              <a:t>T</a:t>
            </a:r>
            <a:r>
              <a:rPr b="0" baseline="-25000" i="1" lang="en-US" sz="1800" u="none" cap="none" strike="noStrike">
                <a:solidFill>
                  <a:schemeClr val="dk1"/>
                </a:solidFill>
                <a:latin typeface="Times New Roman"/>
                <a:ea typeface="Times New Roman"/>
                <a:cs typeface="Times New Roman"/>
                <a:sym typeface="Times New Roman"/>
              </a:rPr>
              <a:t>i </a:t>
            </a:r>
            <a:r>
              <a:rPr b="0" i="0" lang="en-US" sz="1800" u="none" cap="none" strike="noStrike">
                <a:solidFill>
                  <a:schemeClr val="dk1"/>
                </a:solidFill>
                <a:latin typeface="Times New Roman"/>
                <a:ea typeface="Times New Roman"/>
                <a:cs typeface="Times New Roman"/>
                <a:sym typeface="Times New Roman"/>
              </a:rPr>
              <a:t>and </a:t>
            </a:r>
            <a:r>
              <a:rPr b="0" i="1" lang="en-US" sz="1800" u="none" cap="none" strike="noStrike">
                <a:solidFill>
                  <a:schemeClr val="dk1"/>
                </a:solidFill>
                <a:latin typeface="Times New Roman"/>
                <a:ea typeface="Times New Roman"/>
                <a:cs typeface="Times New Roman"/>
                <a:sym typeface="Times New Roman"/>
              </a:rPr>
              <a:t>T</a:t>
            </a:r>
            <a:r>
              <a:rPr b="0" baseline="-25000" i="1" lang="en-US" sz="1800" u="none" cap="none" strike="noStrike">
                <a:solidFill>
                  <a:schemeClr val="dk1"/>
                </a:solidFill>
                <a:latin typeface="Times New Roman"/>
                <a:ea typeface="Times New Roman"/>
                <a:cs typeface="Times New Roman"/>
                <a:sym typeface="Times New Roman"/>
              </a:rPr>
              <a:t>j</a:t>
            </a:r>
            <a:r>
              <a:rPr b="0" i="1" lang="en-US" sz="1800" u="none" cap="none" strike="noStrike">
                <a:solidFill>
                  <a:schemeClr val="dk1"/>
                </a:solidFill>
                <a:latin typeface="Times New Roman"/>
                <a:ea typeface="Times New Roman"/>
                <a:cs typeface="Times New Roman"/>
                <a:sym typeface="Times New Roman"/>
              </a:rPr>
              <a:t>, </a:t>
            </a:r>
            <a:r>
              <a:rPr b="0" i="0" lang="en-US" sz="1800" u="none" cap="none" strike="noStrike">
                <a:solidFill>
                  <a:schemeClr val="dk1"/>
                </a:solidFill>
                <a:latin typeface="Times New Roman"/>
                <a:ea typeface="Times New Roman"/>
                <a:cs typeface="Times New Roman"/>
                <a:sym typeface="Times New Roman"/>
              </a:rPr>
              <a:t>it appears to </a:t>
            </a:r>
            <a:r>
              <a:rPr b="0" i="1" lang="en-US" sz="1800" u="none" cap="none" strike="noStrike">
                <a:solidFill>
                  <a:schemeClr val="dk1"/>
                </a:solidFill>
                <a:latin typeface="Times New Roman"/>
                <a:ea typeface="Times New Roman"/>
                <a:cs typeface="Times New Roman"/>
                <a:sym typeface="Times New Roman"/>
              </a:rPr>
              <a:t>T</a:t>
            </a:r>
            <a:r>
              <a:rPr b="0" baseline="-25000" i="1" lang="en-US" sz="1800" u="none" cap="none" strike="noStrike">
                <a:solidFill>
                  <a:schemeClr val="dk1"/>
                </a:solidFill>
                <a:latin typeface="Times New Roman"/>
                <a:ea typeface="Times New Roman"/>
                <a:cs typeface="Times New Roman"/>
                <a:sym typeface="Times New Roman"/>
              </a:rPr>
              <a:t>i </a:t>
            </a:r>
            <a:r>
              <a:rPr b="0" i="0" lang="en-US" sz="1800" u="none" cap="none" strike="noStrike">
                <a:solidFill>
                  <a:schemeClr val="dk1"/>
                </a:solidFill>
                <a:latin typeface="Times New Roman"/>
                <a:ea typeface="Times New Roman"/>
                <a:cs typeface="Times New Roman"/>
                <a:sym typeface="Times New Roman"/>
              </a:rPr>
              <a:t>that either </a:t>
            </a:r>
            <a:r>
              <a:rPr b="0" i="1" lang="en-US" sz="1800" u="none" cap="none" strike="noStrike">
                <a:solidFill>
                  <a:schemeClr val="dk1"/>
                </a:solidFill>
                <a:latin typeface="Times New Roman"/>
                <a:ea typeface="Times New Roman"/>
                <a:cs typeface="Times New Roman"/>
                <a:sym typeface="Times New Roman"/>
              </a:rPr>
              <a:t>T</a:t>
            </a:r>
            <a:r>
              <a:rPr b="0" baseline="-25000" i="1" lang="en-US" sz="1800" u="none" cap="none" strike="noStrike">
                <a:solidFill>
                  <a:schemeClr val="dk1"/>
                </a:solidFill>
                <a:latin typeface="Times New Roman"/>
                <a:ea typeface="Times New Roman"/>
                <a:cs typeface="Times New Roman"/>
                <a:sym typeface="Times New Roman"/>
              </a:rPr>
              <a:t>j</a:t>
            </a:r>
            <a:r>
              <a:rPr b="0" i="1" lang="en-US" sz="1800" u="none" cap="none" strike="noStrike">
                <a:solidFill>
                  <a:schemeClr val="dk1"/>
                </a:solidFill>
                <a:latin typeface="Times New Roman"/>
                <a:ea typeface="Times New Roman"/>
                <a:cs typeface="Times New Roman"/>
                <a:sym typeface="Times New Roman"/>
              </a:rPr>
              <a:t>, </a:t>
            </a:r>
            <a:r>
              <a:rPr b="0" i="0" lang="en-US" sz="1800" u="none" cap="none" strike="noStrike">
                <a:solidFill>
                  <a:schemeClr val="dk1"/>
                </a:solidFill>
                <a:latin typeface="Times New Roman"/>
                <a:ea typeface="Times New Roman"/>
                <a:cs typeface="Times New Roman"/>
                <a:sym typeface="Times New Roman"/>
              </a:rPr>
              <a:t>finished  execution before </a:t>
            </a:r>
            <a:r>
              <a:rPr b="0" i="1" lang="en-US" sz="1800" u="none" cap="none" strike="noStrike">
                <a:solidFill>
                  <a:schemeClr val="dk1"/>
                </a:solidFill>
                <a:latin typeface="Times New Roman"/>
                <a:ea typeface="Times New Roman"/>
                <a:cs typeface="Times New Roman"/>
                <a:sym typeface="Times New Roman"/>
              </a:rPr>
              <a:t>T</a:t>
            </a:r>
            <a:r>
              <a:rPr b="0" baseline="-25000" i="1" lang="en-US" sz="1800" u="none" cap="none" strike="noStrike">
                <a:solidFill>
                  <a:schemeClr val="dk1"/>
                </a:solidFill>
                <a:latin typeface="Times New Roman"/>
                <a:ea typeface="Times New Roman"/>
                <a:cs typeface="Times New Roman"/>
                <a:sym typeface="Times New Roman"/>
              </a:rPr>
              <a:t>i </a:t>
            </a:r>
            <a:r>
              <a:rPr b="0" i="0" lang="en-US" sz="1800" u="none" cap="none" strike="noStrike">
                <a:solidFill>
                  <a:schemeClr val="dk1"/>
                </a:solidFill>
                <a:latin typeface="Times New Roman"/>
                <a:ea typeface="Times New Roman"/>
                <a:cs typeface="Times New Roman"/>
                <a:sym typeface="Times New Roman"/>
              </a:rPr>
              <a:t>started, or </a:t>
            </a:r>
            <a:r>
              <a:rPr b="0" i="1" lang="en-US" sz="1800" u="none" cap="none" strike="noStrike">
                <a:solidFill>
                  <a:schemeClr val="dk1"/>
                </a:solidFill>
                <a:latin typeface="Times New Roman"/>
                <a:ea typeface="Times New Roman"/>
                <a:cs typeface="Times New Roman"/>
                <a:sym typeface="Times New Roman"/>
              </a:rPr>
              <a:t>T</a:t>
            </a:r>
            <a:r>
              <a:rPr b="0" baseline="-25000" i="1" lang="en-US" sz="1800" u="none" cap="none" strike="noStrike">
                <a:solidFill>
                  <a:schemeClr val="dk1"/>
                </a:solidFill>
                <a:latin typeface="Times New Roman"/>
                <a:ea typeface="Times New Roman"/>
                <a:cs typeface="Times New Roman"/>
                <a:sym typeface="Times New Roman"/>
              </a:rPr>
              <a:t>j </a:t>
            </a:r>
            <a:r>
              <a:rPr b="0" i="0" lang="en-US" sz="1800" u="none" cap="none" strike="noStrike">
                <a:solidFill>
                  <a:schemeClr val="dk1"/>
                </a:solidFill>
                <a:latin typeface="Times New Roman"/>
                <a:ea typeface="Times New Roman"/>
                <a:cs typeface="Times New Roman"/>
                <a:sym typeface="Times New Roman"/>
              </a:rPr>
              <a:t>started execution after </a:t>
            </a:r>
            <a:r>
              <a:rPr b="0" i="1" lang="en-US" sz="1800" u="none" cap="none" strike="noStrike">
                <a:solidFill>
                  <a:schemeClr val="dk1"/>
                </a:solidFill>
                <a:latin typeface="Times New Roman"/>
                <a:ea typeface="Times New Roman"/>
                <a:cs typeface="Times New Roman"/>
                <a:sym typeface="Times New Roman"/>
              </a:rPr>
              <a:t>T</a:t>
            </a:r>
            <a:r>
              <a:rPr b="0" baseline="-25000" i="1" lang="en-US" sz="1800" u="none" cap="none" strike="noStrike">
                <a:solidFill>
                  <a:schemeClr val="dk1"/>
                </a:solidFill>
                <a:latin typeface="Times New Roman"/>
                <a:ea typeface="Times New Roman"/>
                <a:cs typeface="Times New Roman"/>
                <a:sym typeface="Times New Roman"/>
              </a:rPr>
              <a:t>i </a:t>
            </a:r>
            <a:r>
              <a:rPr b="0" i="0" lang="en-US" sz="1800" u="none" cap="none" strike="noStrike">
                <a:solidFill>
                  <a:schemeClr val="dk1"/>
                </a:solidFill>
                <a:latin typeface="Times New Roman"/>
                <a:ea typeface="Times New Roman"/>
                <a:cs typeface="Times New Roman"/>
                <a:sym typeface="Times New Roman"/>
              </a:rPr>
              <a:t>finished.</a:t>
            </a:r>
            <a:endParaRPr b="0" i="0" sz="1800" u="none" cap="none" strike="noStrike">
              <a:solidFill>
                <a:schemeClr val="dk1"/>
              </a:solidFill>
              <a:latin typeface="Times New Roman"/>
              <a:ea typeface="Times New Roman"/>
              <a:cs typeface="Times New Roman"/>
              <a:sym typeface="Times New Roman"/>
            </a:endParaRPr>
          </a:p>
          <a:p>
            <a:pPr indent="-107950" lvl="0" marL="93345" marR="0" rtl="0" algn="l">
              <a:lnSpc>
                <a:spcPct val="100000"/>
              </a:lnSpc>
              <a:spcBef>
                <a:spcPts val="380"/>
              </a:spcBef>
              <a:spcAft>
                <a:spcPts val="0"/>
              </a:spcAft>
              <a:buClr>
                <a:srgbClr val="000099"/>
              </a:buClr>
              <a:buSzPts val="1700"/>
              <a:buFont typeface="Times New Roman"/>
              <a:buChar char="•"/>
            </a:pPr>
            <a:r>
              <a:rPr b="1" i="0" lang="en-US" sz="1800" u="none" cap="none" strike="noStrike">
                <a:solidFill>
                  <a:srgbClr val="000099"/>
                </a:solidFill>
                <a:latin typeface="Times New Roman"/>
                <a:ea typeface="Times New Roman"/>
                <a:cs typeface="Times New Roman"/>
                <a:sym typeface="Times New Roman"/>
              </a:rPr>
              <a:t>Durability</a:t>
            </a:r>
            <a:r>
              <a:rPr b="1" i="0" lang="en-US" sz="1800" u="none" cap="none" strike="noStrike">
                <a:solidFill>
                  <a:srgbClr val="3E3E3E"/>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p>
            <a:pPr indent="-107950" lvl="1" marL="549910" marR="746125" rtl="0" algn="l">
              <a:lnSpc>
                <a:spcPct val="101400"/>
              </a:lnSpc>
              <a:spcBef>
                <a:spcPts val="360"/>
              </a:spcBef>
              <a:spcAft>
                <a:spcPts val="0"/>
              </a:spcAft>
              <a:buClr>
                <a:srgbClr val="3E3E3E"/>
              </a:buClr>
              <a:buSzPts val="1700"/>
              <a:buFont typeface="Times New Roman"/>
              <a:buChar char="•"/>
            </a:pPr>
            <a:r>
              <a:rPr b="0" i="0" lang="en-US" sz="1800" u="none" cap="none" strike="noStrike">
                <a:solidFill>
                  <a:srgbClr val="3E3E3E"/>
                </a:solidFill>
                <a:latin typeface="Times New Roman"/>
                <a:ea typeface="Times New Roman"/>
                <a:cs typeface="Times New Roman"/>
                <a:sym typeface="Times New Roman"/>
              </a:rPr>
              <a:t>After a transaction completes successfully, the changes it has made to the  database persist, even if there are system failures.</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3"/>
          <p:cNvSpPr/>
          <p:nvPr/>
        </p:nvSpPr>
        <p:spPr>
          <a:xfrm>
            <a:off x="381000" y="1066798"/>
            <a:ext cx="7320080" cy="502919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
        <p:nvSpPr>
          <p:cNvPr id="155" name="Google Shape;155;p13"/>
          <p:cNvSpPr txBox="1"/>
          <p:nvPr>
            <p:ph idx="4294967295" type="title"/>
          </p:nvPr>
        </p:nvSpPr>
        <p:spPr>
          <a:xfrm>
            <a:off x="830900" y="6148475"/>
            <a:ext cx="59118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Transaction State Diagram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txBox="1"/>
          <p:nvPr>
            <p:ph type="title"/>
          </p:nvPr>
        </p:nvSpPr>
        <p:spPr>
          <a:xfrm>
            <a:off x="841375" y="976187"/>
            <a:ext cx="42762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Transaction State</a:t>
            </a:r>
            <a:endParaRPr/>
          </a:p>
        </p:txBody>
      </p:sp>
      <p:sp>
        <p:nvSpPr>
          <p:cNvPr id="161" name="Google Shape;161;p12"/>
          <p:cNvSpPr txBox="1"/>
          <p:nvPr/>
        </p:nvSpPr>
        <p:spPr>
          <a:xfrm>
            <a:off x="381000" y="1752600"/>
            <a:ext cx="7474500" cy="4599000"/>
          </a:xfrm>
          <a:prstGeom prst="rect">
            <a:avLst/>
          </a:prstGeom>
          <a:noFill/>
          <a:ln>
            <a:noFill/>
          </a:ln>
        </p:spPr>
        <p:txBody>
          <a:bodyPr anchorCtr="0" anchor="t" bIns="0" lIns="0" spcFirstLastPara="1" rIns="0" wrap="square" tIns="12700">
            <a:spAutoFit/>
          </a:bodyPr>
          <a:lstStyle/>
          <a:p>
            <a:pPr indent="0" lvl="0" marL="12700" marR="93980" rtl="0" algn="l">
              <a:lnSpc>
                <a:spcPct val="100000"/>
              </a:lnSpc>
              <a:spcBef>
                <a:spcPts val="0"/>
              </a:spcBef>
              <a:spcAft>
                <a:spcPts val="0"/>
              </a:spcAft>
              <a:buClr>
                <a:srgbClr val="000000"/>
              </a:buClr>
              <a:buSzPts val="2000"/>
              <a:buFont typeface="Arial"/>
              <a:buNone/>
            </a:pPr>
            <a:r>
              <a:rPr b="1" i="0" lang="en-US" sz="2000" u="none" cap="none" strike="noStrike">
                <a:solidFill>
                  <a:srgbClr val="000099"/>
                </a:solidFill>
                <a:latin typeface="Times New Roman"/>
                <a:ea typeface="Times New Roman"/>
                <a:cs typeface="Times New Roman"/>
                <a:sym typeface="Times New Roman"/>
              </a:rPr>
              <a:t>Active </a:t>
            </a:r>
            <a:r>
              <a:rPr b="0" i="0" lang="en-US" sz="2000" u="none" cap="none" strike="noStrike">
                <a:solidFill>
                  <a:srgbClr val="3E3E3E"/>
                </a:solidFill>
                <a:latin typeface="Times New Roman"/>
                <a:ea typeface="Times New Roman"/>
                <a:cs typeface="Times New Roman"/>
                <a:sym typeface="Times New Roman"/>
              </a:rPr>
              <a:t>– the initial state; the transaction stays in this state while  it is executing</a:t>
            </a:r>
            <a:endParaRPr b="0" i="0" sz="2000" u="none" cap="none" strike="noStrike">
              <a:solidFill>
                <a:schemeClr val="dk1"/>
              </a:solidFill>
              <a:latin typeface="Times New Roman"/>
              <a:ea typeface="Times New Roman"/>
              <a:cs typeface="Times New Roman"/>
              <a:sym typeface="Times New Roman"/>
            </a:endParaRPr>
          </a:p>
          <a:p>
            <a:pPr indent="0" lvl="0" marL="12700" marR="836294" rtl="0" algn="l">
              <a:lnSpc>
                <a:spcPct val="119000"/>
              </a:lnSpc>
              <a:spcBef>
                <a:spcPts val="495"/>
              </a:spcBef>
              <a:spcAft>
                <a:spcPts val="0"/>
              </a:spcAft>
              <a:buClr>
                <a:srgbClr val="000000"/>
              </a:buClr>
              <a:buSzPts val="2000"/>
              <a:buFont typeface="Arial"/>
              <a:buNone/>
            </a:pPr>
            <a:r>
              <a:rPr b="1" i="0" lang="en-US" sz="2000" u="none" cap="none" strike="noStrike">
                <a:solidFill>
                  <a:srgbClr val="000099"/>
                </a:solidFill>
                <a:latin typeface="Times New Roman"/>
                <a:ea typeface="Times New Roman"/>
                <a:cs typeface="Times New Roman"/>
                <a:sym typeface="Times New Roman"/>
              </a:rPr>
              <a:t>Partially committed </a:t>
            </a:r>
            <a:r>
              <a:rPr b="0" i="0" lang="en-US" sz="2000" u="none" cap="none" strike="noStrike">
                <a:solidFill>
                  <a:srgbClr val="3E3E3E"/>
                </a:solidFill>
                <a:latin typeface="Times New Roman"/>
                <a:ea typeface="Times New Roman"/>
                <a:cs typeface="Times New Roman"/>
                <a:sym typeface="Times New Roman"/>
              </a:rPr>
              <a:t>– after the final statement has been  executed.</a:t>
            </a:r>
            <a:endParaRPr b="0" i="0" sz="2000" u="none" cap="none" strike="noStrike">
              <a:solidFill>
                <a:schemeClr val="dk1"/>
              </a:solidFill>
              <a:latin typeface="Times New Roman"/>
              <a:ea typeface="Times New Roman"/>
              <a:cs typeface="Times New Roman"/>
              <a:sym typeface="Times New Roman"/>
            </a:endParaRPr>
          </a:p>
          <a:p>
            <a:pPr indent="0" lvl="0" marL="12700" marR="5080" rtl="0" algn="l">
              <a:lnSpc>
                <a:spcPct val="119000"/>
              </a:lnSpc>
              <a:spcBef>
                <a:spcPts val="415"/>
              </a:spcBef>
              <a:spcAft>
                <a:spcPts val="0"/>
              </a:spcAft>
              <a:buClr>
                <a:srgbClr val="000000"/>
              </a:buClr>
              <a:buSzPts val="2000"/>
              <a:buFont typeface="Arial"/>
              <a:buNone/>
            </a:pPr>
            <a:r>
              <a:rPr b="1" i="0" lang="en-US" sz="2000" u="none" cap="none" strike="noStrike">
                <a:solidFill>
                  <a:srgbClr val="000099"/>
                </a:solidFill>
                <a:latin typeface="Times New Roman"/>
                <a:ea typeface="Times New Roman"/>
                <a:cs typeface="Times New Roman"/>
                <a:sym typeface="Times New Roman"/>
              </a:rPr>
              <a:t>Failed </a:t>
            </a:r>
            <a:r>
              <a:rPr b="1" i="0" lang="en-US" sz="2000" u="none" cap="none" strike="noStrike">
                <a:solidFill>
                  <a:srgbClr val="3E3E3E"/>
                </a:solidFill>
                <a:latin typeface="Times New Roman"/>
                <a:ea typeface="Times New Roman"/>
                <a:cs typeface="Times New Roman"/>
                <a:sym typeface="Times New Roman"/>
              </a:rPr>
              <a:t>-- </a:t>
            </a:r>
            <a:r>
              <a:rPr b="0" i="0" lang="en-US" sz="2000" u="none" cap="none" strike="noStrike">
                <a:solidFill>
                  <a:srgbClr val="3E3E3E"/>
                </a:solidFill>
                <a:latin typeface="Times New Roman"/>
                <a:ea typeface="Times New Roman"/>
                <a:cs typeface="Times New Roman"/>
                <a:sym typeface="Times New Roman"/>
              </a:rPr>
              <a:t>after the discovery that normal execution can no longer  proceed.</a:t>
            </a:r>
            <a:endParaRPr b="0" i="0" sz="2000" u="none" cap="none" strike="noStrike">
              <a:solidFill>
                <a:schemeClr val="dk1"/>
              </a:solidFill>
              <a:latin typeface="Times New Roman"/>
              <a:ea typeface="Times New Roman"/>
              <a:cs typeface="Times New Roman"/>
              <a:sym typeface="Times New Roman"/>
            </a:endParaRPr>
          </a:p>
          <a:p>
            <a:pPr indent="0" lvl="0" marL="12700" marR="23495" rtl="0" algn="l">
              <a:lnSpc>
                <a:spcPct val="99500"/>
              </a:lnSpc>
              <a:spcBef>
                <a:spcPts val="330"/>
              </a:spcBef>
              <a:spcAft>
                <a:spcPts val="0"/>
              </a:spcAft>
              <a:buClr>
                <a:srgbClr val="000000"/>
              </a:buClr>
              <a:buSzPts val="2000"/>
              <a:buFont typeface="Arial"/>
              <a:buNone/>
            </a:pPr>
            <a:r>
              <a:rPr b="1" i="0" lang="en-US" sz="2000" u="none" cap="none" strike="noStrike">
                <a:solidFill>
                  <a:srgbClr val="000099"/>
                </a:solidFill>
                <a:latin typeface="Times New Roman"/>
                <a:ea typeface="Times New Roman"/>
                <a:cs typeface="Times New Roman"/>
                <a:sym typeface="Times New Roman"/>
              </a:rPr>
              <a:t>Aborted </a:t>
            </a:r>
            <a:r>
              <a:rPr b="0" i="0" lang="en-US" sz="2000" u="none" cap="none" strike="noStrike">
                <a:solidFill>
                  <a:srgbClr val="3E3E3E"/>
                </a:solidFill>
                <a:latin typeface="Times New Roman"/>
                <a:ea typeface="Times New Roman"/>
                <a:cs typeface="Times New Roman"/>
                <a:sym typeface="Times New Roman"/>
              </a:rPr>
              <a:t>– after the transaction has been rolled back and the  database restored to its state prior to the start of the transaction.  Two options after it has been aborted:</a:t>
            </a:r>
            <a:endParaRPr b="0" i="0" sz="2000" u="none" cap="none" strike="noStrike">
              <a:solidFill>
                <a:schemeClr val="dk1"/>
              </a:solidFill>
              <a:latin typeface="Times New Roman"/>
              <a:ea typeface="Times New Roman"/>
              <a:cs typeface="Times New Roman"/>
              <a:sym typeface="Times New Roman"/>
            </a:endParaRPr>
          </a:p>
          <a:p>
            <a:pPr indent="-300355" lvl="0" marL="755650" marR="0" rtl="0" algn="l">
              <a:lnSpc>
                <a:spcPct val="100000"/>
              </a:lnSpc>
              <a:spcBef>
                <a:spcPts val="400"/>
              </a:spcBef>
              <a:spcAft>
                <a:spcPts val="0"/>
              </a:spcAft>
              <a:buClr>
                <a:schemeClr val="dk1"/>
              </a:buClr>
              <a:buSzPts val="2000"/>
              <a:buFont typeface="Times New Roman"/>
              <a:buChar char="–"/>
            </a:pPr>
            <a:r>
              <a:rPr b="0" i="0" lang="en-US" sz="2000" u="sng" cap="none" strike="noStrike">
                <a:solidFill>
                  <a:schemeClr val="dk1"/>
                </a:solidFill>
                <a:latin typeface="Times New Roman"/>
                <a:ea typeface="Times New Roman"/>
                <a:cs typeface="Times New Roman"/>
                <a:sym typeface="Times New Roman"/>
              </a:rPr>
              <a:t>restart</a:t>
            </a:r>
            <a:r>
              <a:rPr b="0" i="0" lang="en-US" sz="2000" u="none" cap="none" strike="noStrike">
                <a:solidFill>
                  <a:schemeClr val="dk1"/>
                </a:solidFill>
                <a:latin typeface="Times New Roman"/>
                <a:ea typeface="Times New Roman"/>
                <a:cs typeface="Times New Roman"/>
                <a:sym typeface="Times New Roman"/>
              </a:rPr>
              <a:t> the transaction</a:t>
            </a:r>
            <a:endParaRPr b="0" i="0" sz="2000" u="none" cap="none" strike="noStrike">
              <a:solidFill>
                <a:schemeClr val="dk1"/>
              </a:solidFill>
              <a:latin typeface="Times New Roman"/>
              <a:ea typeface="Times New Roman"/>
              <a:cs typeface="Times New Roman"/>
              <a:sym typeface="Times New Roman"/>
            </a:endParaRPr>
          </a:p>
          <a:p>
            <a:pPr indent="-260350" lvl="1" marL="1225550" marR="0" rtl="0" algn="l">
              <a:lnSpc>
                <a:spcPct val="100000"/>
              </a:lnSpc>
              <a:spcBef>
                <a:spcPts val="375"/>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can be done only if no internal logical error</a:t>
            </a:r>
            <a:endParaRPr b="0" i="0" sz="2000" u="none" cap="none" strike="noStrike">
              <a:solidFill>
                <a:schemeClr val="dk1"/>
              </a:solidFill>
              <a:latin typeface="Times New Roman"/>
              <a:ea typeface="Times New Roman"/>
              <a:cs typeface="Times New Roman"/>
              <a:sym typeface="Times New Roman"/>
            </a:endParaRPr>
          </a:p>
          <a:p>
            <a:pPr indent="-300355" lvl="0" marL="755650" marR="0" rtl="0" algn="l">
              <a:lnSpc>
                <a:spcPct val="100000"/>
              </a:lnSpc>
              <a:spcBef>
                <a:spcPts val="375"/>
              </a:spcBef>
              <a:spcAft>
                <a:spcPts val="0"/>
              </a:spcAft>
              <a:buClr>
                <a:schemeClr val="dk1"/>
              </a:buClr>
              <a:buSzPts val="2000"/>
              <a:buFont typeface="Times New Roman"/>
              <a:buChar char="–"/>
            </a:pPr>
            <a:r>
              <a:rPr b="0" i="0" lang="en-US" sz="2000" u="sng" cap="none" strike="noStrike">
                <a:solidFill>
                  <a:schemeClr val="dk1"/>
                </a:solidFill>
                <a:latin typeface="Times New Roman"/>
                <a:ea typeface="Times New Roman"/>
                <a:cs typeface="Times New Roman"/>
                <a:sym typeface="Times New Roman"/>
              </a:rPr>
              <a:t>kill</a:t>
            </a:r>
            <a:r>
              <a:rPr b="0" i="0" lang="en-US" sz="2000" u="none" cap="none" strike="noStrike">
                <a:solidFill>
                  <a:schemeClr val="dk1"/>
                </a:solidFill>
                <a:latin typeface="Times New Roman"/>
                <a:ea typeface="Times New Roman"/>
                <a:cs typeface="Times New Roman"/>
                <a:sym typeface="Times New Roman"/>
              </a:rPr>
              <a:t> the transaction</a:t>
            </a:r>
            <a:endParaRPr b="0" i="0" sz="2000"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375"/>
              </a:spcBef>
              <a:spcAft>
                <a:spcPts val="0"/>
              </a:spcAft>
              <a:buClr>
                <a:srgbClr val="000000"/>
              </a:buClr>
              <a:buSzPts val="2000"/>
              <a:buFont typeface="Arial"/>
              <a:buNone/>
            </a:pPr>
            <a:r>
              <a:rPr b="1" i="0" lang="en-US" sz="2000" u="none" cap="none" strike="noStrike">
                <a:solidFill>
                  <a:srgbClr val="000099"/>
                </a:solidFill>
                <a:latin typeface="Times New Roman"/>
                <a:ea typeface="Times New Roman"/>
                <a:cs typeface="Times New Roman"/>
                <a:sym typeface="Times New Roman"/>
              </a:rPr>
              <a:t>Committed </a:t>
            </a:r>
            <a:r>
              <a:rPr b="0" i="0" lang="en-US" sz="2000" u="none" cap="none" strike="noStrike">
                <a:solidFill>
                  <a:srgbClr val="3E3E3E"/>
                </a:solidFill>
                <a:latin typeface="Times New Roman"/>
                <a:ea typeface="Times New Roman"/>
                <a:cs typeface="Times New Roman"/>
                <a:sym typeface="Times New Roman"/>
              </a:rPr>
              <a:t>– after successful completion.</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4"/>
          <p:cNvSpPr txBox="1"/>
          <p:nvPr>
            <p:ph type="title"/>
          </p:nvPr>
        </p:nvSpPr>
        <p:spPr>
          <a:xfrm>
            <a:off x="841375" y="912431"/>
            <a:ext cx="44913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000000"/>
              </a:buClr>
              <a:buSzPts val="3200"/>
              <a:buFont typeface="Libre Franklin"/>
              <a:buNone/>
            </a:pPr>
            <a:r>
              <a:rPr lang="en-US" sz="3200">
                <a:solidFill>
                  <a:srgbClr val="000000"/>
                </a:solidFill>
              </a:rPr>
              <a:t>Concurrent Executions</a:t>
            </a:r>
            <a:endParaRPr sz="3200"/>
          </a:p>
        </p:txBody>
      </p:sp>
      <p:sp>
        <p:nvSpPr>
          <p:cNvPr id="167" name="Google Shape;167;p14"/>
          <p:cNvSpPr txBox="1"/>
          <p:nvPr/>
        </p:nvSpPr>
        <p:spPr>
          <a:xfrm>
            <a:off x="533401" y="1884743"/>
            <a:ext cx="7734600" cy="3872400"/>
          </a:xfrm>
          <a:prstGeom prst="rect">
            <a:avLst/>
          </a:prstGeom>
          <a:noFill/>
          <a:ln>
            <a:noFill/>
          </a:ln>
        </p:spPr>
        <p:txBody>
          <a:bodyPr anchorCtr="0" anchor="t" bIns="0" lIns="0" spcFirstLastPara="1" rIns="0" wrap="square" tIns="10775">
            <a:spAutoFit/>
          </a:bodyPr>
          <a:lstStyle/>
          <a:p>
            <a:pPr indent="-363855" lvl="0" marL="376555" marR="84455" rtl="0" algn="l">
              <a:lnSpc>
                <a:spcPct val="100699"/>
              </a:lnSpc>
              <a:spcBef>
                <a:spcPts val="0"/>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Multiple transactions are allowed to run concurrently in the system.  Advantages are:</a:t>
            </a:r>
            <a:endParaRPr b="0" i="0" sz="2000" u="none" cap="none" strike="noStrike">
              <a:solidFill>
                <a:schemeClr val="dk1"/>
              </a:solidFill>
              <a:latin typeface="Times New Roman"/>
              <a:ea typeface="Times New Roman"/>
              <a:cs typeface="Times New Roman"/>
              <a:sym typeface="Times New Roman"/>
            </a:endParaRPr>
          </a:p>
          <a:p>
            <a:pPr indent="-304800" lvl="1" marL="776605" marR="375285" rtl="0" algn="l">
              <a:lnSpc>
                <a:spcPct val="107500"/>
              </a:lnSpc>
              <a:spcBef>
                <a:spcPts val="725"/>
              </a:spcBef>
              <a:spcAft>
                <a:spcPts val="0"/>
              </a:spcAft>
              <a:buClr>
                <a:srgbClr val="FF9933"/>
              </a:buClr>
              <a:buSzPts val="1556"/>
              <a:buFont typeface="Arial"/>
              <a:buChar char="●"/>
            </a:pPr>
            <a:r>
              <a:rPr b="1" i="0" lang="en-US" sz="2000" u="none" cap="none" strike="noStrike">
                <a:solidFill>
                  <a:schemeClr val="dk1"/>
                </a:solidFill>
                <a:latin typeface="Times New Roman"/>
                <a:ea typeface="Times New Roman"/>
                <a:cs typeface="Times New Roman"/>
                <a:sym typeface="Times New Roman"/>
              </a:rPr>
              <a:t>increased processor and disk utilization</a:t>
            </a:r>
            <a:r>
              <a:rPr b="0" i="0" lang="en-US" sz="2000" u="none" cap="none" strike="noStrike">
                <a:solidFill>
                  <a:schemeClr val="dk1"/>
                </a:solidFill>
                <a:latin typeface="Times New Roman"/>
                <a:ea typeface="Times New Roman"/>
                <a:cs typeface="Times New Roman"/>
                <a:sym typeface="Times New Roman"/>
              </a:rPr>
              <a:t>, leading to better  transaction </a:t>
            </a:r>
            <a:r>
              <a:rPr b="0" i="1" lang="en-US" sz="2000" u="none" cap="none" strike="noStrike">
                <a:solidFill>
                  <a:schemeClr val="dk1"/>
                </a:solidFill>
                <a:latin typeface="Times New Roman"/>
                <a:ea typeface="Times New Roman"/>
                <a:cs typeface="Times New Roman"/>
                <a:sym typeface="Times New Roman"/>
              </a:rPr>
              <a:t>throughput</a:t>
            </a:r>
            <a:endParaRPr b="0" i="0" sz="2000" u="none" cap="none" strike="noStrike">
              <a:solidFill>
                <a:schemeClr val="dk1"/>
              </a:solidFill>
              <a:latin typeface="Times New Roman"/>
              <a:ea typeface="Times New Roman"/>
              <a:cs typeface="Times New Roman"/>
              <a:sym typeface="Times New Roman"/>
            </a:endParaRPr>
          </a:p>
          <a:p>
            <a:pPr indent="-238760" lvl="0" marL="1119505" marR="182880" rtl="0" algn="l">
              <a:lnSpc>
                <a:spcPct val="107000"/>
              </a:lnSpc>
              <a:spcBef>
                <a:spcPts val="655"/>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E.g. one transaction can be using the CPU while another is  reading from or writing to the disk</a:t>
            </a:r>
            <a:endParaRPr b="0" i="0" sz="2000" u="none" cap="none" strike="noStrike">
              <a:solidFill>
                <a:schemeClr val="dk1"/>
              </a:solidFill>
              <a:latin typeface="Times New Roman"/>
              <a:ea typeface="Times New Roman"/>
              <a:cs typeface="Times New Roman"/>
              <a:sym typeface="Times New Roman"/>
            </a:endParaRPr>
          </a:p>
          <a:p>
            <a:pPr indent="-304800" lvl="1" marL="776605" marR="770255" rtl="0" algn="l">
              <a:lnSpc>
                <a:spcPct val="107500"/>
              </a:lnSpc>
              <a:spcBef>
                <a:spcPts val="665"/>
              </a:spcBef>
              <a:spcAft>
                <a:spcPts val="0"/>
              </a:spcAft>
              <a:buClr>
                <a:srgbClr val="FF9933"/>
              </a:buClr>
              <a:buSzPts val="1556"/>
              <a:buFont typeface="Arial"/>
              <a:buChar char="●"/>
            </a:pPr>
            <a:r>
              <a:rPr b="1" i="0" lang="en-US" sz="2000" u="none" cap="none" strike="noStrike">
                <a:solidFill>
                  <a:schemeClr val="dk1"/>
                </a:solidFill>
                <a:latin typeface="Times New Roman"/>
                <a:ea typeface="Times New Roman"/>
                <a:cs typeface="Times New Roman"/>
                <a:sym typeface="Times New Roman"/>
              </a:rPr>
              <a:t>reduced average response time </a:t>
            </a:r>
            <a:r>
              <a:rPr b="0" i="0" lang="en-US" sz="2000" u="none" cap="none" strike="noStrike">
                <a:solidFill>
                  <a:schemeClr val="dk1"/>
                </a:solidFill>
                <a:latin typeface="Times New Roman"/>
                <a:ea typeface="Times New Roman"/>
                <a:cs typeface="Times New Roman"/>
                <a:sym typeface="Times New Roman"/>
              </a:rPr>
              <a:t>for transactions: short  transactions need not wait behind long ones.</a:t>
            </a:r>
            <a:endParaRPr b="0" i="0" sz="2000" u="none" cap="none" strike="noStrike">
              <a:solidFill>
                <a:schemeClr val="dk1"/>
              </a:solidFill>
              <a:latin typeface="Times New Roman"/>
              <a:ea typeface="Times New Roman"/>
              <a:cs typeface="Times New Roman"/>
              <a:sym typeface="Times New Roman"/>
            </a:endParaRPr>
          </a:p>
          <a:p>
            <a:pPr indent="-363855" lvl="0" marL="376555" marR="0" rtl="0" algn="l">
              <a:lnSpc>
                <a:spcPct val="100000"/>
              </a:lnSpc>
              <a:spcBef>
                <a:spcPts val="570"/>
              </a:spcBef>
              <a:spcAft>
                <a:spcPts val="0"/>
              </a:spcAft>
              <a:buClr>
                <a:srgbClr val="CC3300"/>
              </a:buClr>
              <a:buSzPts val="1778"/>
              <a:buFont typeface="Arial"/>
              <a:buChar char="●"/>
            </a:pPr>
            <a:r>
              <a:rPr b="1" i="0" lang="en-US" sz="2000" u="none" cap="none" strike="noStrike">
                <a:solidFill>
                  <a:srgbClr val="000099"/>
                </a:solidFill>
                <a:latin typeface="Times New Roman"/>
                <a:ea typeface="Times New Roman"/>
                <a:cs typeface="Times New Roman"/>
                <a:sym typeface="Times New Roman"/>
              </a:rPr>
              <a:t>Concurrency control schemes </a:t>
            </a:r>
            <a:r>
              <a:rPr b="0" i="0" lang="en-US" sz="2000" u="none" cap="none" strike="noStrike">
                <a:solidFill>
                  <a:schemeClr val="dk1"/>
                </a:solidFill>
                <a:latin typeface="Times New Roman"/>
                <a:ea typeface="Times New Roman"/>
                <a:cs typeface="Times New Roman"/>
                <a:sym typeface="Times New Roman"/>
              </a:rPr>
              <a:t>– mechanisms to achieve isolation that is, to control the interaction among the concurrent  transactions in order to prevent them from destroying the  consistency of the database.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5"/>
          <p:cNvSpPr txBox="1"/>
          <p:nvPr>
            <p:ph type="title"/>
          </p:nvPr>
        </p:nvSpPr>
        <p:spPr>
          <a:xfrm>
            <a:off x="398027" y="990600"/>
            <a:ext cx="20550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000000"/>
              </a:buClr>
              <a:buSzPts val="3200"/>
              <a:buFont typeface="Libre Franklin"/>
              <a:buNone/>
            </a:pPr>
            <a:r>
              <a:rPr lang="en-US" sz="3200">
                <a:solidFill>
                  <a:srgbClr val="000000"/>
                </a:solidFill>
              </a:rPr>
              <a:t>Schedules</a:t>
            </a:r>
            <a:endParaRPr sz="3200"/>
          </a:p>
        </p:txBody>
      </p:sp>
      <p:sp>
        <p:nvSpPr>
          <p:cNvPr id="173" name="Google Shape;173;p15"/>
          <p:cNvSpPr txBox="1"/>
          <p:nvPr/>
        </p:nvSpPr>
        <p:spPr>
          <a:xfrm>
            <a:off x="432663" y="1884743"/>
            <a:ext cx="7548300" cy="4342500"/>
          </a:xfrm>
          <a:prstGeom prst="rect">
            <a:avLst/>
          </a:prstGeom>
          <a:noFill/>
          <a:ln>
            <a:noFill/>
          </a:ln>
        </p:spPr>
        <p:txBody>
          <a:bodyPr anchorCtr="0" anchor="t" bIns="0" lIns="0" spcFirstLastPara="1" rIns="0" wrap="square" tIns="10775">
            <a:spAutoFit/>
          </a:bodyPr>
          <a:lstStyle/>
          <a:p>
            <a:pPr indent="-363855" lvl="0" marL="376555" marR="34290" rtl="0" algn="l">
              <a:lnSpc>
                <a:spcPct val="100699"/>
              </a:lnSpc>
              <a:spcBef>
                <a:spcPts val="0"/>
              </a:spcBef>
              <a:spcAft>
                <a:spcPts val="0"/>
              </a:spcAft>
              <a:buClr>
                <a:srgbClr val="CC3300"/>
              </a:buClr>
              <a:buSzPts val="1778"/>
              <a:buFont typeface="Arial"/>
              <a:buChar char="●"/>
            </a:pPr>
            <a:r>
              <a:rPr b="1" i="0" lang="en-US" sz="2000" u="none" cap="none" strike="noStrike">
                <a:solidFill>
                  <a:srgbClr val="000099"/>
                </a:solidFill>
                <a:latin typeface="Times New Roman"/>
                <a:ea typeface="Times New Roman"/>
                <a:cs typeface="Times New Roman"/>
                <a:sym typeface="Times New Roman"/>
              </a:rPr>
              <a:t>Schedule </a:t>
            </a:r>
            <a:r>
              <a:rPr b="0" i="0" lang="en-US" sz="2000" u="none" cap="none" strike="noStrike">
                <a:solidFill>
                  <a:schemeClr val="dk1"/>
                </a:solidFill>
                <a:latin typeface="Times New Roman"/>
                <a:ea typeface="Times New Roman"/>
                <a:cs typeface="Times New Roman"/>
                <a:sym typeface="Times New Roman"/>
              </a:rPr>
              <a:t>– a sequences of instructions that specify the chronological  order in which instructions of concurrent transactions are executed</a:t>
            </a:r>
            <a:endParaRPr b="0" i="0" sz="2000" u="none" cap="none" strike="noStrike">
              <a:solidFill>
                <a:schemeClr val="dk1"/>
              </a:solidFill>
              <a:latin typeface="Times New Roman"/>
              <a:ea typeface="Times New Roman"/>
              <a:cs typeface="Times New Roman"/>
              <a:sym typeface="Times New Roman"/>
            </a:endParaRPr>
          </a:p>
          <a:p>
            <a:pPr indent="-304800" lvl="1" marL="776605" marR="19050" rtl="0" algn="l">
              <a:lnSpc>
                <a:spcPct val="107500"/>
              </a:lnSpc>
              <a:spcBef>
                <a:spcPts val="725"/>
              </a:spcBef>
              <a:spcAft>
                <a:spcPts val="0"/>
              </a:spcAft>
              <a:buClr>
                <a:srgbClr val="FF9933"/>
              </a:buClr>
              <a:buSzPts val="1556"/>
              <a:buFont typeface="Times New Roman"/>
              <a:buChar char="●"/>
            </a:pPr>
            <a:r>
              <a:rPr b="0" i="0" lang="en-US" sz="2000" u="none" cap="none" strike="noStrike">
                <a:solidFill>
                  <a:schemeClr val="dk1"/>
                </a:solidFill>
                <a:latin typeface="Times New Roman"/>
                <a:ea typeface="Times New Roman"/>
                <a:cs typeface="Times New Roman"/>
                <a:sym typeface="Times New Roman"/>
              </a:rPr>
              <a:t>a schedule for a set of transactions must consist of all instructions  of those transactions</a:t>
            </a:r>
            <a:endParaRPr b="0" i="0" sz="2000" u="none" cap="none" strike="noStrike">
              <a:solidFill>
                <a:schemeClr val="dk1"/>
              </a:solidFill>
              <a:latin typeface="Times New Roman"/>
              <a:ea typeface="Times New Roman"/>
              <a:cs typeface="Times New Roman"/>
              <a:sym typeface="Times New Roman"/>
            </a:endParaRPr>
          </a:p>
          <a:p>
            <a:pPr indent="-304800" lvl="1" marL="776605" marR="206375" rtl="0" algn="l">
              <a:lnSpc>
                <a:spcPct val="107000"/>
              </a:lnSpc>
              <a:spcBef>
                <a:spcPts val="655"/>
              </a:spcBef>
              <a:spcAft>
                <a:spcPts val="0"/>
              </a:spcAft>
              <a:buClr>
                <a:srgbClr val="FF9933"/>
              </a:buClr>
              <a:buSzPts val="1556"/>
              <a:buFont typeface="Times New Roman"/>
              <a:buChar char="●"/>
            </a:pPr>
            <a:r>
              <a:rPr b="0" i="0" lang="en-US" sz="2000" u="none" cap="none" strike="noStrike">
                <a:solidFill>
                  <a:schemeClr val="dk1"/>
                </a:solidFill>
                <a:latin typeface="Times New Roman"/>
                <a:ea typeface="Times New Roman"/>
                <a:cs typeface="Times New Roman"/>
                <a:sym typeface="Times New Roman"/>
              </a:rPr>
              <a:t>must preserve the order in which the instructions appear in each  individual transaction.</a:t>
            </a:r>
            <a:endParaRPr b="0" i="0" sz="2000" u="none" cap="none" strike="noStrike">
              <a:solidFill>
                <a:schemeClr val="dk1"/>
              </a:solidFill>
              <a:latin typeface="Times New Roman"/>
              <a:ea typeface="Times New Roman"/>
              <a:cs typeface="Times New Roman"/>
              <a:sym typeface="Times New Roman"/>
            </a:endParaRPr>
          </a:p>
          <a:p>
            <a:pPr indent="-363855" lvl="0" marL="376555" marR="437515" rtl="0" algn="l">
              <a:lnSpc>
                <a:spcPct val="107500"/>
              </a:lnSpc>
              <a:spcBef>
                <a:spcPts val="66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A transaction that successfully completes its execution will have a  commit instructions as the last statement</a:t>
            </a:r>
            <a:endParaRPr b="0" i="0" sz="2000" u="none" cap="none" strike="noStrike">
              <a:solidFill>
                <a:schemeClr val="dk1"/>
              </a:solidFill>
              <a:latin typeface="Times New Roman"/>
              <a:ea typeface="Times New Roman"/>
              <a:cs typeface="Times New Roman"/>
              <a:sym typeface="Times New Roman"/>
            </a:endParaRPr>
          </a:p>
          <a:p>
            <a:pPr indent="-304800" lvl="1" marL="776605" marR="160020" rtl="0" algn="l">
              <a:lnSpc>
                <a:spcPct val="107000"/>
              </a:lnSpc>
              <a:spcBef>
                <a:spcPts val="655"/>
              </a:spcBef>
              <a:spcAft>
                <a:spcPts val="0"/>
              </a:spcAft>
              <a:buClr>
                <a:srgbClr val="FF9933"/>
              </a:buClr>
              <a:buSzPts val="1556"/>
              <a:buFont typeface="Times New Roman"/>
              <a:buChar char="●"/>
            </a:pPr>
            <a:r>
              <a:rPr b="0" i="0" lang="en-US" sz="2000" u="none" cap="none" strike="noStrike">
                <a:solidFill>
                  <a:schemeClr val="dk1"/>
                </a:solidFill>
                <a:latin typeface="Times New Roman"/>
                <a:ea typeface="Times New Roman"/>
                <a:cs typeface="Times New Roman"/>
                <a:sym typeface="Times New Roman"/>
              </a:rPr>
              <a:t>by default transaction assumed to execute commit instruction as  its last step</a:t>
            </a:r>
            <a:endParaRPr b="0" i="0" sz="2000" u="none" cap="none" strike="noStrike">
              <a:solidFill>
                <a:schemeClr val="dk1"/>
              </a:solidFill>
              <a:latin typeface="Times New Roman"/>
              <a:ea typeface="Times New Roman"/>
              <a:cs typeface="Times New Roman"/>
              <a:sym typeface="Times New Roman"/>
            </a:endParaRPr>
          </a:p>
          <a:p>
            <a:pPr indent="-363855" lvl="0" marL="376555" marR="5080" rtl="0" algn="l">
              <a:lnSpc>
                <a:spcPct val="107500"/>
              </a:lnSpc>
              <a:spcBef>
                <a:spcPts val="66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A transaction that fails to successfully complete its execution will have  an abort instruction as the last statement</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6"/>
          <p:cNvSpPr txBox="1"/>
          <p:nvPr>
            <p:ph type="title"/>
          </p:nvPr>
        </p:nvSpPr>
        <p:spPr>
          <a:xfrm>
            <a:off x="3721659" y="912431"/>
            <a:ext cx="21648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000000"/>
              </a:buClr>
              <a:buSzPts val="3200"/>
              <a:buFont typeface="Libre Franklin"/>
              <a:buNone/>
            </a:pPr>
            <a:r>
              <a:rPr lang="en-US" sz="3200">
                <a:solidFill>
                  <a:srgbClr val="000000"/>
                </a:solidFill>
              </a:rPr>
              <a:t>Schedule 1</a:t>
            </a:r>
            <a:endParaRPr sz="3200"/>
          </a:p>
        </p:txBody>
      </p:sp>
      <p:sp>
        <p:nvSpPr>
          <p:cNvPr id="179" name="Google Shape;179;p16"/>
          <p:cNvSpPr txBox="1"/>
          <p:nvPr/>
        </p:nvSpPr>
        <p:spPr>
          <a:xfrm>
            <a:off x="863637" y="1871028"/>
            <a:ext cx="6925800" cy="1010700"/>
          </a:xfrm>
          <a:prstGeom prst="rect">
            <a:avLst/>
          </a:prstGeom>
          <a:noFill/>
          <a:ln>
            <a:noFill/>
          </a:ln>
        </p:spPr>
        <p:txBody>
          <a:bodyPr anchorCtr="0" anchor="t" bIns="0" lIns="0" spcFirstLastPara="1" rIns="0" wrap="square" tIns="68575">
            <a:spAutoFit/>
          </a:bodyPr>
          <a:lstStyle/>
          <a:p>
            <a:pPr indent="-366395" lvl="0" marL="379095" marR="5080" rtl="0" algn="l">
              <a:lnSpc>
                <a:spcPct val="97500"/>
              </a:lnSpc>
              <a:spcBef>
                <a:spcPts val="0"/>
              </a:spcBef>
              <a:spcAft>
                <a:spcPts val="0"/>
              </a:spcAft>
              <a:buClr>
                <a:srgbClr val="CC3300"/>
              </a:buClr>
              <a:buSzPts val="1800"/>
              <a:buFont typeface="Times New Roman"/>
              <a:buChar char="●"/>
            </a:pPr>
            <a:r>
              <a:rPr b="0" i="0" lang="en-US" sz="2000" u="none" cap="none" strike="noStrike">
                <a:solidFill>
                  <a:schemeClr val="dk1"/>
                </a:solidFill>
                <a:latin typeface="Times New Roman"/>
                <a:ea typeface="Times New Roman"/>
                <a:cs typeface="Times New Roman"/>
                <a:sym typeface="Times New Roman"/>
              </a:rPr>
              <a:t>Let </a:t>
            </a:r>
            <a:r>
              <a:rPr b="0" i="1" lang="en-US" sz="2000" u="none" cap="none" strike="noStrike">
                <a:solidFill>
                  <a:schemeClr val="dk1"/>
                </a:solidFill>
                <a:latin typeface="Times New Roman"/>
                <a:ea typeface="Times New Roman"/>
                <a:cs typeface="Times New Roman"/>
                <a:sym typeface="Times New Roman"/>
              </a:rPr>
              <a:t>T</a:t>
            </a:r>
            <a:r>
              <a:rPr b="0" baseline="-25000" i="0" lang="en-US" sz="2000" u="none" cap="none" strike="noStrike">
                <a:solidFill>
                  <a:schemeClr val="dk1"/>
                </a:solidFill>
                <a:latin typeface="Times New Roman"/>
                <a:ea typeface="Times New Roman"/>
                <a:cs typeface="Times New Roman"/>
                <a:sym typeface="Times New Roman"/>
              </a:rPr>
              <a:t>1 </a:t>
            </a:r>
            <a:r>
              <a:rPr b="0" i="0" lang="en-US" sz="2000" u="none" cap="none" strike="noStrike">
                <a:solidFill>
                  <a:schemeClr val="dk1"/>
                </a:solidFill>
                <a:latin typeface="Times New Roman"/>
                <a:ea typeface="Times New Roman"/>
                <a:cs typeface="Times New Roman"/>
                <a:sym typeface="Times New Roman"/>
              </a:rPr>
              <a:t>transfer $50 from </a:t>
            </a:r>
            <a:r>
              <a:rPr b="0" i="1" lang="en-US" sz="2000" u="none" cap="none" strike="noStrike">
                <a:solidFill>
                  <a:schemeClr val="dk1"/>
                </a:solidFill>
                <a:latin typeface="Times New Roman"/>
                <a:ea typeface="Times New Roman"/>
                <a:cs typeface="Times New Roman"/>
                <a:sym typeface="Times New Roman"/>
              </a:rPr>
              <a:t>A </a:t>
            </a:r>
            <a:r>
              <a:rPr b="0" i="0" lang="en-US" sz="2000" u="none" cap="none" strike="noStrike">
                <a:solidFill>
                  <a:schemeClr val="dk1"/>
                </a:solidFill>
                <a:latin typeface="Times New Roman"/>
                <a:ea typeface="Times New Roman"/>
                <a:cs typeface="Times New Roman"/>
                <a:sym typeface="Times New Roman"/>
              </a:rPr>
              <a:t>to </a:t>
            </a:r>
            <a:r>
              <a:rPr b="0" i="1" lang="en-US" sz="2000" u="none" cap="none" strike="noStrike">
                <a:solidFill>
                  <a:schemeClr val="dk1"/>
                </a:solidFill>
                <a:latin typeface="Times New Roman"/>
                <a:ea typeface="Times New Roman"/>
                <a:cs typeface="Times New Roman"/>
                <a:sym typeface="Times New Roman"/>
              </a:rPr>
              <a:t>B</a:t>
            </a:r>
            <a:r>
              <a:rPr b="0" i="0" lang="en-US" sz="2000" u="none" cap="none" strike="noStrike">
                <a:solidFill>
                  <a:schemeClr val="dk1"/>
                </a:solidFill>
                <a:latin typeface="Times New Roman"/>
                <a:ea typeface="Times New Roman"/>
                <a:cs typeface="Times New Roman"/>
                <a:sym typeface="Times New Roman"/>
              </a:rPr>
              <a:t>, and </a:t>
            </a:r>
            <a:r>
              <a:rPr b="0" i="1" lang="en-US" sz="2000" u="none" cap="none" strike="noStrike">
                <a:solidFill>
                  <a:schemeClr val="dk1"/>
                </a:solidFill>
                <a:latin typeface="Times New Roman"/>
                <a:ea typeface="Times New Roman"/>
                <a:cs typeface="Times New Roman"/>
                <a:sym typeface="Times New Roman"/>
              </a:rPr>
              <a:t>T</a:t>
            </a:r>
            <a:r>
              <a:rPr b="0" baseline="-25000" i="0" lang="en-US" sz="2000" u="none" cap="none" strike="noStrike">
                <a:solidFill>
                  <a:schemeClr val="dk1"/>
                </a:solidFill>
                <a:latin typeface="Times New Roman"/>
                <a:ea typeface="Times New Roman"/>
                <a:cs typeface="Times New Roman"/>
                <a:sym typeface="Times New Roman"/>
              </a:rPr>
              <a:t>2 </a:t>
            </a:r>
            <a:r>
              <a:rPr b="0" i="0" lang="en-US" sz="2000" u="none" cap="none" strike="noStrike">
                <a:solidFill>
                  <a:schemeClr val="dk1"/>
                </a:solidFill>
                <a:latin typeface="Times New Roman"/>
                <a:ea typeface="Times New Roman"/>
                <a:cs typeface="Times New Roman"/>
                <a:sym typeface="Times New Roman"/>
              </a:rPr>
              <a:t>transfer 10% of the  balance from </a:t>
            </a:r>
            <a:r>
              <a:rPr b="0" i="1" lang="en-US" sz="2000" u="none" cap="none" strike="noStrike">
                <a:solidFill>
                  <a:schemeClr val="dk1"/>
                </a:solidFill>
                <a:latin typeface="Times New Roman"/>
                <a:ea typeface="Times New Roman"/>
                <a:cs typeface="Times New Roman"/>
                <a:sym typeface="Times New Roman"/>
              </a:rPr>
              <a:t>A </a:t>
            </a:r>
            <a:r>
              <a:rPr b="0" i="0" lang="en-US" sz="2000" u="none" cap="none" strike="noStrike">
                <a:solidFill>
                  <a:schemeClr val="dk1"/>
                </a:solidFill>
                <a:latin typeface="Times New Roman"/>
                <a:ea typeface="Times New Roman"/>
                <a:cs typeface="Times New Roman"/>
                <a:sym typeface="Times New Roman"/>
              </a:rPr>
              <a:t>to </a:t>
            </a:r>
            <a:r>
              <a:rPr b="0" i="1" lang="en-US" sz="2000" u="none" cap="none" strike="noStrike">
                <a:solidFill>
                  <a:schemeClr val="dk1"/>
                </a:solidFill>
                <a:latin typeface="Times New Roman"/>
                <a:ea typeface="Times New Roman"/>
                <a:cs typeface="Times New Roman"/>
                <a:sym typeface="Times New Roman"/>
              </a:rPr>
              <a:t>B.</a:t>
            </a:r>
            <a:endParaRPr b="0" i="0" sz="2000" u="none" cap="none" strike="noStrike">
              <a:solidFill>
                <a:schemeClr val="dk1"/>
              </a:solidFill>
              <a:latin typeface="Times New Roman"/>
              <a:ea typeface="Times New Roman"/>
              <a:cs typeface="Times New Roman"/>
              <a:sym typeface="Times New Roman"/>
            </a:endParaRPr>
          </a:p>
          <a:p>
            <a:pPr indent="-366395" lvl="0" marL="379095" marR="0" rtl="0" algn="l">
              <a:lnSpc>
                <a:spcPct val="100000"/>
              </a:lnSpc>
              <a:spcBef>
                <a:spcPts val="260"/>
              </a:spcBef>
              <a:spcAft>
                <a:spcPts val="0"/>
              </a:spcAft>
              <a:buClr>
                <a:srgbClr val="CC3300"/>
              </a:buClr>
              <a:buSzPts val="1800"/>
              <a:buFont typeface="Times New Roman"/>
              <a:buChar char="●"/>
            </a:pPr>
            <a:r>
              <a:rPr b="0" i="0" lang="en-US" sz="2000" u="none" cap="none" strike="noStrike">
                <a:solidFill>
                  <a:schemeClr val="dk1"/>
                </a:solidFill>
                <a:latin typeface="Times New Roman"/>
                <a:ea typeface="Times New Roman"/>
                <a:cs typeface="Times New Roman"/>
                <a:sym typeface="Times New Roman"/>
              </a:rPr>
              <a:t>A </a:t>
            </a:r>
            <a:r>
              <a:rPr b="0" i="0" lang="en-US" sz="2000" u="none" cap="none" strike="noStrike">
                <a:solidFill>
                  <a:srgbClr val="000099"/>
                </a:solidFill>
                <a:latin typeface="Times New Roman"/>
                <a:ea typeface="Times New Roman"/>
                <a:cs typeface="Times New Roman"/>
                <a:sym typeface="Times New Roman"/>
              </a:rPr>
              <a:t>serial </a:t>
            </a:r>
            <a:r>
              <a:rPr b="0" i="0" lang="en-US" sz="2000" u="none" cap="none" strike="noStrike">
                <a:solidFill>
                  <a:schemeClr val="dk1"/>
                </a:solidFill>
                <a:latin typeface="Times New Roman"/>
                <a:ea typeface="Times New Roman"/>
                <a:cs typeface="Times New Roman"/>
                <a:sym typeface="Times New Roman"/>
              </a:rPr>
              <a:t>schedule in which </a:t>
            </a:r>
            <a:r>
              <a:rPr b="0" i="1" lang="en-US" sz="2000" u="none" cap="none" strike="noStrike">
                <a:solidFill>
                  <a:schemeClr val="dk1"/>
                </a:solidFill>
                <a:latin typeface="Times New Roman"/>
                <a:ea typeface="Times New Roman"/>
                <a:cs typeface="Times New Roman"/>
                <a:sym typeface="Times New Roman"/>
              </a:rPr>
              <a:t>T</a:t>
            </a:r>
            <a:r>
              <a:rPr b="0" baseline="-25000" i="0" lang="en-US" sz="2000" u="none" cap="none" strike="noStrike">
                <a:solidFill>
                  <a:schemeClr val="dk1"/>
                </a:solidFill>
                <a:latin typeface="Times New Roman"/>
                <a:ea typeface="Times New Roman"/>
                <a:cs typeface="Times New Roman"/>
                <a:sym typeface="Times New Roman"/>
              </a:rPr>
              <a:t>1 </a:t>
            </a:r>
            <a:r>
              <a:rPr b="0" i="0" lang="en-US" sz="2000" u="none" cap="none" strike="noStrike">
                <a:solidFill>
                  <a:schemeClr val="dk1"/>
                </a:solidFill>
                <a:latin typeface="Times New Roman"/>
                <a:ea typeface="Times New Roman"/>
                <a:cs typeface="Times New Roman"/>
                <a:sym typeface="Times New Roman"/>
              </a:rPr>
              <a:t>is followed by </a:t>
            </a:r>
            <a:r>
              <a:rPr b="0" i="1" lang="en-US" sz="2000" u="none" cap="none" strike="noStrike">
                <a:solidFill>
                  <a:schemeClr val="dk1"/>
                </a:solidFill>
                <a:latin typeface="Times New Roman"/>
                <a:ea typeface="Times New Roman"/>
                <a:cs typeface="Times New Roman"/>
                <a:sym typeface="Times New Roman"/>
              </a:rPr>
              <a:t>T</a:t>
            </a:r>
            <a:r>
              <a:rPr b="0" baseline="-25000" i="0" lang="en-US" sz="2000" u="none" cap="none" strike="noStrike">
                <a:solidFill>
                  <a:schemeClr val="dk1"/>
                </a:solidFill>
                <a:latin typeface="Times New Roman"/>
                <a:ea typeface="Times New Roman"/>
                <a:cs typeface="Times New Roman"/>
                <a:sym typeface="Times New Roman"/>
              </a:rPr>
              <a:t>2 </a:t>
            </a:r>
            <a:r>
              <a:rPr b="0" i="0" lang="en-US" sz="20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80" name="Google Shape;180;p16"/>
          <p:cNvSpPr/>
          <p:nvPr/>
        </p:nvSpPr>
        <p:spPr>
          <a:xfrm>
            <a:off x="1092225" y="2953825"/>
            <a:ext cx="5480100" cy="3586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7"/>
          <p:cNvSpPr txBox="1"/>
          <p:nvPr>
            <p:ph type="title"/>
          </p:nvPr>
        </p:nvSpPr>
        <p:spPr>
          <a:xfrm>
            <a:off x="725497" y="866333"/>
            <a:ext cx="7961400" cy="505500"/>
          </a:xfrm>
          <a:prstGeom prst="rect">
            <a:avLst/>
          </a:prstGeom>
          <a:noFill/>
          <a:ln>
            <a:noFill/>
          </a:ln>
        </p:spPr>
        <p:txBody>
          <a:bodyPr anchorCtr="0" anchor="b" bIns="0" lIns="0" spcFirstLastPara="1" rIns="0" wrap="square" tIns="12700">
            <a:spAutoFit/>
          </a:bodyPr>
          <a:lstStyle/>
          <a:p>
            <a:pPr indent="0" lvl="0" marL="474344" rtl="0" algn="l">
              <a:lnSpc>
                <a:spcPct val="100000"/>
              </a:lnSpc>
              <a:spcBef>
                <a:spcPts val="0"/>
              </a:spcBef>
              <a:spcAft>
                <a:spcPts val="0"/>
              </a:spcAft>
              <a:buClr>
                <a:schemeClr val="dk2"/>
              </a:buClr>
              <a:buSzPts val="3200"/>
              <a:buFont typeface="Libre Franklin"/>
              <a:buNone/>
            </a:pPr>
            <a:r>
              <a:rPr lang="en-US" sz="3200"/>
              <a:t>                  Schedule 2</a:t>
            </a:r>
            <a:endParaRPr/>
          </a:p>
        </p:txBody>
      </p:sp>
      <p:sp>
        <p:nvSpPr>
          <p:cNvPr id="186" name="Google Shape;186;p17"/>
          <p:cNvSpPr txBox="1"/>
          <p:nvPr/>
        </p:nvSpPr>
        <p:spPr>
          <a:xfrm>
            <a:off x="760133" y="1504662"/>
            <a:ext cx="5115000" cy="320700"/>
          </a:xfrm>
          <a:prstGeom prst="rect">
            <a:avLst/>
          </a:prstGeom>
          <a:noFill/>
          <a:ln>
            <a:noFill/>
          </a:ln>
        </p:spPr>
        <p:txBody>
          <a:bodyPr anchorCtr="0" anchor="t" bIns="0" lIns="0" spcFirstLastPara="1" rIns="0" wrap="square" tIns="12700">
            <a:spAutoFit/>
          </a:bodyPr>
          <a:lstStyle/>
          <a:p>
            <a:pPr indent="-158750" lvl="0" marL="17145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A serial schedule where </a:t>
            </a:r>
            <a:r>
              <a:rPr b="0" i="1" lang="en-US" sz="2000" u="none" cap="none" strike="noStrike">
                <a:solidFill>
                  <a:schemeClr val="dk1"/>
                </a:solidFill>
                <a:latin typeface="Times New Roman"/>
                <a:ea typeface="Times New Roman"/>
                <a:cs typeface="Times New Roman"/>
                <a:sym typeface="Times New Roman"/>
              </a:rPr>
              <a:t>T</a:t>
            </a:r>
            <a:r>
              <a:rPr b="0" baseline="-25000" i="1" lang="en-US" sz="2000" u="none" cap="none" strike="noStrike">
                <a:solidFill>
                  <a:schemeClr val="dk1"/>
                </a:solidFill>
                <a:latin typeface="Times New Roman"/>
                <a:ea typeface="Times New Roman"/>
                <a:cs typeface="Times New Roman"/>
                <a:sym typeface="Times New Roman"/>
              </a:rPr>
              <a:t>2 </a:t>
            </a:r>
            <a:r>
              <a:rPr b="0" i="0" lang="en-US" sz="2000" u="none" cap="none" strike="noStrike">
                <a:solidFill>
                  <a:schemeClr val="dk1"/>
                </a:solidFill>
                <a:latin typeface="Times New Roman"/>
                <a:ea typeface="Times New Roman"/>
                <a:cs typeface="Times New Roman"/>
                <a:sym typeface="Times New Roman"/>
              </a:rPr>
              <a:t>is followed by </a:t>
            </a:r>
            <a:r>
              <a:rPr b="0" i="1" lang="en-US" sz="2000" u="none" cap="none" strike="noStrike">
                <a:solidFill>
                  <a:schemeClr val="dk1"/>
                </a:solidFill>
                <a:latin typeface="Times New Roman"/>
                <a:ea typeface="Times New Roman"/>
                <a:cs typeface="Times New Roman"/>
                <a:sym typeface="Times New Roman"/>
              </a:rPr>
              <a:t>T</a:t>
            </a:r>
            <a:r>
              <a:rPr b="0" baseline="-25000" i="0" lang="en-US" sz="2000" u="none" cap="none" strike="noStrike">
                <a:solidFill>
                  <a:schemeClr val="dk1"/>
                </a:solidFill>
                <a:latin typeface="Times New Roman"/>
                <a:ea typeface="Times New Roman"/>
                <a:cs typeface="Times New Roman"/>
                <a:sym typeface="Times New Roman"/>
              </a:rPr>
              <a:t>1</a:t>
            </a:r>
            <a:endParaRPr b="0" baseline="-25000" i="0" sz="2000" u="none" cap="none" strike="noStrike">
              <a:solidFill>
                <a:schemeClr val="dk1"/>
              </a:solidFill>
              <a:latin typeface="Times New Roman"/>
              <a:ea typeface="Times New Roman"/>
              <a:cs typeface="Times New Roman"/>
              <a:sym typeface="Times New Roman"/>
            </a:endParaRPr>
          </a:p>
        </p:txBody>
      </p:sp>
      <p:sp>
        <p:nvSpPr>
          <p:cNvPr id="187" name="Google Shape;187;p17"/>
          <p:cNvSpPr/>
          <p:nvPr/>
        </p:nvSpPr>
        <p:spPr>
          <a:xfrm>
            <a:off x="1672425" y="2144725"/>
            <a:ext cx="5381400" cy="44979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8"/>
          <p:cNvSpPr txBox="1"/>
          <p:nvPr>
            <p:ph type="title"/>
          </p:nvPr>
        </p:nvSpPr>
        <p:spPr>
          <a:xfrm>
            <a:off x="762000" y="866333"/>
            <a:ext cx="7924800" cy="505500"/>
          </a:xfrm>
          <a:prstGeom prst="rect">
            <a:avLst/>
          </a:prstGeom>
          <a:noFill/>
          <a:ln>
            <a:noFill/>
          </a:ln>
        </p:spPr>
        <p:txBody>
          <a:bodyPr anchorCtr="0" anchor="b" bIns="0" lIns="0" spcFirstLastPara="1" rIns="0" wrap="square" tIns="12700">
            <a:spAutoFit/>
          </a:bodyPr>
          <a:lstStyle/>
          <a:p>
            <a:pPr indent="0" lvl="0" marL="474344" rtl="0" algn="ctr">
              <a:lnSpc>
                <a:spcPct val="100000"/>
              </a:lnSpc>
              <a:spcBef>
                <a:spcPts val="0"/>
              </a:spcBef>
              <a:spcAft>
                <a:spcPts val="0"/>
              </a:spcAft>
              <a:buClr>
                <a:schemeClr val="dk2"/>
              </a:buClr>
              <a:buSzPts val="3200"/>
              <a:buFont typeface="Libre Franklin"/>
              <a:buNone/>
            </a:pPr>
            <a:r>
              <a:rPr lang="en-US" sz="3200"/>
              <a:t>Schedule 3</a:t>
            </a:r>
            <a:endParaRPr/>
          </a:p>
        </p:txBody>
      </p:sp>
      <p:sp>
        <p:nvSpPr>
          <p:cNvPr id="193" name="Google Shape;193;p18"/>
          <p:cNvSpPr txBox="1"/>
          <p:nvPr/>
        </p:nvSpPr>
        <p:spPr>
          <a:xfrm>
            <a:off x="887411" y="1250315"/>
            <a:ext cx="7647000" cy="688800"/>
          </a:xfrm>
          <a:prstGeom prst="rect">
            <a:avLst/>
          </a:prstGeom>
          <a:noFill/>
          <a:ln>
            <a:noFill/>
          </a:ln>
        </p:spPr>
        <p:txBody>
          <a:bodyPr anchorCtr="0" anchor="t" bIns="0" lIns="0" spcFirstLastPara="1" rIns="0" wrap="square" tIns="45075">
            <a:spAutoFit/>
          </a:bodyPr>
          <a:lstStyle/>
          <a:p>
            <a:pPr indent="0" lvl="0" marL="12700" marR="5080" rtl="0" algn="l">
              <a:lnSpc>
                <a:spcPct val="109000"/>
              </a:lnSpc>
              <a:spcBef>
                <a:spcPts val="0"/>
              </a:spcBef>
              <a:spcAft>
                <a:spcPts val="0"/>
              </a:spcAft>
              <a:buClr>
                <a:srgbClr val="000000"/>
              </a:buClr>
              <a:buSzPts val="2000"/>
              <a:buFont typeface="Arial"/>
              <a:buNone/>
            </a:pPr>
            <a:r>
              <a:rPr b="0" i="0" lang="en-US" sz="2000" u="none" cap="none" strike="noStrike">
                <a:solidFill>
                  <a:srgbClr val="3E3E3E"/>
                </a:solidFill>
                <a:latin typeface="Times New Roman"/>
                <a:ea typeface="Times New Roman"/>
                <a:cs typeface="Times New Roman"/>
                <a:sym typeface="Times New Roman"/>
              </a:rPr>
              <a:t>Let </a:t>
            </a:r>
            <a:r>
              <a:rPr b="0" i="1" lang="en-US" sz="2000" u="none" cap="none" strike="noStrike">
                <a:solidFill>
                  <a:srgbClr val="3E3E3E"/>
                </a:solidFill>
                <a:latin typeface="Times New Roman"/>
                <a:ea typeface="Times New Roman"/>
                <a:cs typeface="Times New Roman"/>
                <a:sym typeface="Times New Roman"/>
              </a:rPr>
              <a:t>T</a:t>
            </a:r>
            <a:r>
              <a:rPr b="0" baseline="-25000" i="0" lang="en-US" sz="2000" u="none" cap="none" strike="noStrike">
                <a:solidFill>
                  <a:srgbClr val="3E3E3E"/>
                </a:solidFill>
                <a:latin typeface="Times New Roman"/>
                <a:ea typeface="Times New Roman"/>
                <a:cs typeface="Times New Roman"/>
                <a:sym typeface="Times New Roman"/>
              </a:rPr>
              <a:t>1  </a:t>
            </a:r>
            <a:r>
              <a:rPr b="0" i="0" lang="en-US" sz="2000" u="none" cap="none" strike="noStrike">
                <a:solidFill>
                  <a:srgbClr val="3E3E3E"/>
                </a:solidFill>
                <a:latin typeface="Times New Roman"/>
                <a:ea typeface="Times New Roman"/>
                <a:cs typeface="Times New Roman"/>
                <a:sym typeface="Times New Roman"/>
              </a:rPr>
              <a:t>and </a:t>
            </a:r>
            <a:r>
              <a:rPr b="0" i="1" lang="en-US" sz="2000" u="none" cap="none" strike="noStrike">
                <a:solidFill>
                  <a:srgbClr val="3E3E3E"/>
                </a:solidFill>
                <a:latin typeface="Times New Roman"/>
                <a:ea typeface="Times New Roman"/>
                <a:cs typeface="Times New Roman"/>
                <a:sym typeface="Times New Roman"/>
              </a:rPr>
              <a:t>T</a:t>
            </a:r>
            <a:r>
              <a:rPr b="0" baseline="-25000" i="0" lang="en-US" sz="2000" u="none" cap="none" strike="noStrike">
                <a:solidFill>
                  <a:srgbClr val="3E3E3E"/>
                </a:solidFill>
                <a:latin typeface="Times New Roman"/>
                <a:ea typeface="Times New Roman"/>
                <a:cs typeface="Times New Roman"/>
                <a:sym typeface="Times New Roman"/>
              </a:rPr>
              <a:t>2  </a:t>
            </a:r>
            <a:r>
              <a:rPr b="0" i="0" lang="en-US" sz="2000" u="none" cap="none" strike="noStrike">
                <a:solidFill>
                  <a:srgbClr val="3E3E3E"/>
                </a:solidFill>
                <a:latin typeface="Times New Roman"/>
                <a:ea typeface="Times New Roman"/>
                <a:cs typeface="Times New Roman"/>
                <a:sym typeface="Times New Roman"/>
              </a:rPr>
              <a:t>be the transactions defined previously</a:t>
            </a:r>
            <a:r>
              <a:rPr b="0" i="1" lang="en-US" sz="2000" u="none" cap="none" strike="noStrike">
                <a:solidFill>
                  <a:srgbClr val="3E3E3E"/>
                </a:solidFill>
                <a:latin typeface="Times New Roman"/>
                <a:ea typeface="Times New Roman"/>
                <a:cs typeface="Times New Roman"/>
                <a:sym typeface="Times New Roman"/>
              </a:rPr>
              <a:t>. </a:t>
            </a:r>
            <a:r>
              <a:rPr b="0" i="0" lang="en-US" sz="2000" u="none" cap="none" strike="noStrike">
                <a:solidFill>
                  <a:srgbClr val="3E3E3E"/>
                </a:solidFill>
                <a:latin typeface="Times New Roman"/>
                <a:ea typeface="Times New Roman"/>
                <a:cs typeface="Times New Roman"/>
                <a:sym typeface="Times New Roman"/>
              </a:rPr>
              <a:t>The  following schedule is not a serial schedule, but it is  </a:t>
            </a:r>
            <a:r>
              <a:rPr b="0" i="1" lang="en-US" sz="2000" u="none" cap="none" strike="noStrike">
                <a:solidFill>
                  <a:srgbClr val="000099"/>
                </a:solidFill>
                <a:latin typeface="Times New Roman"/>
                <a:ea typeface="Times New Roman"/>
                <a:cs typeface="Times New Roman"/>
                <a:sym typeface="Times New Roman"/>
              </a:rPr>
              <a:t>equivalent </a:t>
            </a:r>
            <a:r>
              <a:rPr b="0" i="0" lang="en-US" sz="2000" u="none" cap="none" strike="noStrike">
                <a:solidFill>
                  <a:srgbClr val="3E3E3E"/>
                </a:solidFill>
                <a:latin typeface="Times New Roman"/>
                <a:ea typeface="Times New Roman"/>
                <a:cs typeface="Times New Roman"/>
                <a:sym typeface="Times New Roman"/>
              </a:rPr>
              <a:t>to Schedule 1.</a:t>
            </a:r>
            <a:endParaRPr b="0" i="0" sz="2000" u="none" cap="none" strike="noStrike">
              <a:solidFill>
                <a:schemeClr val="dk1"/>
              </a:solidFill>
              <a:latin typeface="Times New Roman"/>
              <a:ea typeface="Times New Roman"/>
              <a:cs typeface="Times New Roman"/>
              <a:sym typeface="Times New Roman"/>
            </a:endParaRPr>
          </a:p>
        </p:txBody>
      </p:sp>
      <p:sp>
        <p:nvSpPr>
          <p:cNvPr id="194" name="Google Shape;194;p18"/>
          <p:cNvSpPr/>
          <p:nvPr/>
        </p:nvSpPr>
        <p:spPr>
          <a:xfrm>
            <a:off x="2908300" y="2114550"/>
            <a:ext cx="3273300" cy="4031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
        <p:nvSpPr>
          <p:cNvPr id="195" name="Google Shape;195;p18"/>
          <p:cNvSpPr txBox="1"/>
          <p:nvPr/>
        </p:nvSpPr>
        <p:spPr>
          <a:xfrm>
            <a:off x="1438275" y="2618169"/>
            <a:ext cx="1286400" cy="847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 = 100</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15"/>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 = 50</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15"/>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Write A = 50</a:t>
            </a:r>
            <a:endParaRPr b="0" i="0" sz="1800" u="none" cap="none" strike="noStrike">
              <a:solidFill>
                <a:schemeClr val="dk1"/>
              </a:solidFill>
              <a:latin typeface="Arial"/>
              <a:ea typeface="Arial"/>
              <a:cs typeface="Arial"/>
              <a:sym typeface="Arial"/>
            </a:endParaRPr>
          </a:p>
        </p:txBody>
      </p:sp>
      <p:sp>
        <p:nvSpPr>
          <p:cNvPr id="196" name="Google Shape;196;p18"/>
          <p:cNvSpPr txBox="1"/>
          <p:nvPr/>
        </p:nvSpPr>
        <p:spPr>
          <a:xfrm>
            <a:off x="6256337" y="3327780"/>
            <a:ext cx="1337400" cy="1126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 = 50</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15"/>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temp = 5</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15"/>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 = 45</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15"/>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Write A = 45</a:t>
            </a:r>
            <a:endParaRPr b="0" i="0" sz="1800" u="none" cap="none" strike="noStrike">
              <a:solidFill>
                <a:schemeClr val="dk1"/>
              </a:solidFill>
              <a:latin typeface="Arial"/>
              <a:ea typeface="Arial"/>
              <a:cs typeface="Arial"/>
              <a:sym typeface="Arial"/>
            </a:endParaRPr>
          </a:p>
        </p:txBody>
      </p:sp>
      <p:sp>
        <p:nvSpPr>
          <p:cNvPr id="197" name="Google Shape;197;p18"/>
          <p:cNvSpPr txBox="1"/>
          <p:nvPr/>
        </p:nvSpPr>
        <p:spPr>
          <a:xfrm>
            <a:off x="1438275" y="4123118"/>
            <a:ext cx="1286510" cy="85216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B = 10</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15"/>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B = 60</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15"/>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Write B = 60</a:t>
            </a:r>
            <a:endParaRPr b="0" i="0" sz="1800" u="none" cap="none" strike="noStrike">
              <a:solidFill>
                <a:schemeClr val="dk1"/>
              </a:solidFill>
              <a:latin typeface="Arial"/>
              <a:ea typeface="Arial"/>
              <a:cs typeface="Arial"/>
              <a:sym typeface="Arial"/>
            </a:endParaRPr>
          </a:p>
        </p:txBody>
      </p:sp>
      <p:sp>
        <p:nvSpPr>
          <p:cNvPr id="198" name="Google Shape;198;p18"/>
          <p:cNvSpPr txBox="1"/>
          <p:nvPr/>
        </p:nvSpPr>
        <p:spPr>
          <a:xfrm>
            <a:off x="950913" y="5039105"/>
            <a:ext cx="6801600" cy="1718100"/>
          </a:xfrm>
          <a:prstGeom prst="rect">
            <a:avLst/>
          </a:prstGeom>
          <a:noFill/>
          <a:ln>
            <a:noFill/>
          </a:ln>
        </p:spPr>
        <p:txBody>
          <a:bodyPr anchorCtr="0" anchor="t" bIns="0" lIns="0" spcFirstLastPara="1" rIns="0" wrap="square" tIns="12700">
            <a:spAutoFit/>
          </a:bodyPr>
          <a:lstStyle/>
          <a:p>
            <a:pPr indent="0" lvl="0" marL="0" marR="650875" rtl="0" algn="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B = 60</a:t>
            </a:r>
            <a:endParaRPr b="0" i="0" sz="1800" u="none" cap="none" strike="noStrike">
              <a:solidFill>
                <a:schemeClr val="dk1"/>
              </a:solidFill>
              <a:latin typeface="Arial"/>
              <a:ea typeface="Arial"/>
              <a:cs typeface="Arial"/>
              <a:sym typeface="Arial"/>
            </a:endParaRPr>
          </a:p>
          <a:p>
            <a:pPr indent="0" lvl="0" marL="0" marR="650875" rtl="0" algn="r">
              <a:lnSpc>
                <a:spcPct val="100000"/>
              </a:lnSpc>
              <a:spcBef>
                <a:spcPts val="15"/>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B = 65</a:t>
            </a:r>
            <a:endParaRPr b="0" i="0" sz="1800" u="none" cap="none" strike="noStrike">
              <a:solidFill>
                <a:schemeClr val="dk1"/>
              </a:solidFill>
              <a:latin typeface="Arial"/>
              <a:ea typeface="Arial"/>
              <a:cs typeface="Arial"/>
              <a:sym typeface="Arial"/>
            </a:endParaRPr>
          </a:p>
          <a:p>
            <a:pPr indent="0" lvl="0" marL="0" marR="5080" rtl="0" algn="r">
              <a:lnSpc>
                <a:spcPct val="100000"/>
              </a:lnSpc>
              <a:spcBef>
                <a:spcPts val="15"/>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Write B = 65</a:t>
            </a:r>
            <a:endParaRPr b="0" i="0" sz="1800" u="none" cap="none" strike="noStrike">
              <a:solidFill>
                <a:schemeClr val="dk1"/>
              </a:solidFill>
              <a:latin typeface="Arial"/>
              <a:ea typeface="Arial"/>
              <a:cs typeface="Arial"/>
              <a:sym typeface="Arial"/>
            </a:endParaRPr>
          </a:p>
          <a:p>
            <a:pPr indent="0" lvl="0" marL="746760" marR="0" rtl="0" algn="ctr">
              <a:lnSpc>
                <a:spcPct val="100000"/>
              </a:lnSpc>
              <a:spcBef>
                <a:spcPts val="1714"/>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 + B = 110</a:t>
            </a:r>
            <a:endParaRPr b="0" i="0" sz="1800" u="none" cap="none" strike="noStrike">
              <a:solidFill>
                <a:schemeClr val="dk1"/>
              </a:solidFill>
              <a:latin typeface="Arial"/>
              <a:ea typeface="Arial"/>
              <a:cs typeface="Arial"/>
              <a:sym typeface="Arial"/>
            </a:endParaRPr>
          </a:p>
          <a:p>
            <a:pPr indent="0" lvl="0" marL="12700" marR="0" rtl="0" algn="l">
              <a:lnSpc>
                <a:spcPct val="100000"/>
              </a:lnSpc>
              <a:spcBef>
                <a:spcPts val="75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In Schedules 1 and 2  the sum A + B is preserved.</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9"/>
          <p:cNvSpPr txBox="1"/>
          <p:nvPr>
            <p:ph type="title"/>
          </p:nvPr>
        </p:nvSpPr>
        <p:spPr>
          <a:xfrm>
            <a:off x="843285" y="838200"/>
            <a:ext cx="7400100" cy="1169700"/>
          </a:xfrm>
          <a:prstGeom prst="rect">
            <a:avLst/>
          </a:prstGeom>
          <a:noFill/>
          <a:ln>
            <a:noFill/>
          </a:ln>
        </p:spPr>
        <p:txBody>
          <a:bodyPr anchorCtr="0" anchor="b" bIns="91425"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Libre Franklin"/>
              <a:buNone/>
            </a:pPr>
            <a:r>
              <a:rPr lang="en-US" sz="3600"/>
              <a:t>Serializability</a:t>
            </a:r>
            <a:br>
              <a:rPr lang="en-US"/>
            </a:br>
            <a:endParaRPr/>
          </a:p>
        </p:txBody>
      </p:sp>
      <p:sp>
        <p:nvSpPr>
          <p:cNvPr id="204" name="Google Shape;204;p19"/>
          <p:cNvSpPr txBox="1"/>
          <p:nvPr>
            <p:ph idx="1" type="body"/>
          </p:nvPr>
        </p:nvSpPr>
        <p:spPr>
          <a:xfrm>
            <a:off x="609600" y="1643443"/>
            <a:ext cx="8334900" cy="4924500"/>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0"/>
              </a:spcBef>
              <a:spcAft>
                <a:spcPts val="0"/>
              </a:spcAft>
              <a:buSzPts val="1700"/>
              <a:buFont typeface="Arial"/>
              <a:buChar char="•"/>
            </a:pPr>
            <a:r>
              <a:rPr lang="en-US" sz="2000">
                <a:latin typeface="Times New Roman"/>
                <a:ea typeface="Times New Roman"/>
                <a:cs typeface="Times New Roman"/>
                <a:sym typeface="Times New Roman"/>
              </a:rPr>
              <a:t>Serializability is a concept that helps us to check which  schedules are serializable.</a:t>
            </a:r>
            <a:endParaRPr/>
          </a:p>
          <a:p>
            <a:pPr indent="-285750" lvl="0" marL="285750" rtl="0" algn="l">
              <a:lnSpc>
                <a:spcPct val="100000"/>
              </a:lnSpc>
              <a:spcBef>
                <a:spcPts val="580"/>
              </a:spcBef>
              <a:spcAft>
                <a:spcPts val="0"/>
              </a:spcAft>
              <a:buSzPts val="1700"/>
              <a:buFont typeface="Arial"/>
              <a:buChar char="•"/>
            </a:pPr>
            <a:r>
              <a:rPr lang="en-US" sz="2000">
                <a:latin typeface="Times New Roman"/>
                <a:ea typeface="Times New Roman"/>
                <a:cs typeface="Times New Roman"/>
                <a:sym typeface="Times New Roman"/>
              </a:rPr>
              <a:t>A serializable schedule is the one that always leaves the database in consistent state.</a:t>
            </a:r>
            <a:endParaRPr/>
          </a:p>
          <a:p>
            <a:pPr indent="-285750" lvl="0" marL="285750" rtl="0" algn="l">
              <a:lnSpc>
                <a:spcPct val="100000"/>
              </a:lnSpc>
              <a:spcBef>
                <a:spcPts val="580"/>
              </a:spcBef>
              <a:spcAft>
                <a:spcPts val="0"/>
              </a:spcAft>
              <a:buSzPts val="1700"/>
              <a:buFont typeface="Arial"/>
              <a:buChar char="•"/>
            </a:pPr>
            <a:r>
              <a:rPr lang="en-US" sz="2000">
                <a:latin typeface="Times New Roman"/>
                <a:ea typeface="Times New Roman"/>
                <a:cs typeface="Times New Roman"/>
                <a:sym typeface="Times New Roman"/>
              </a:rPr>
              <a:t>A serial schedule is always a serializable schedule because in serial schedule, a transaction only starts when the other transaction finished execution.</a:t>
            </a:r>
            <a:endParaRPr sz="2000">
              <a:latin typeface="Times New Roman"/>
              <a:ea typeface="Times New Roman"/>
              <a:cs typeface="Times New Roman"/>
              <a:sym typeface="Times New Roman"/>
            </a:endParaRPr>
          </a:p>
          <a:p>
            <a:pPr indent="-285750" lvl="0" marL="285750" rtl="0" algn="l">
              <a:lnSpc>
                <a:spcPct val="100000"/>
              </a:lnSpc>
              <a:spcBef>
                <a:spcPts val="580"/>
              </a:spcBef>
              <a:spcAft>
                <a:spcPts val="0"/>
              </a:spcAft>
              <a:buSzPts val="1700"/>
              <a:buFont typeface="Arial"/>
              <a:buChar char="•"/>
            </a:pPr>
            <a:r>
              <a:rPr lang="en-US" sz="2000">
                <a:latin typeface="Times New Roman"/>
                <a:ea typeface="Times New Roman"/>
                <a:cs typeface="Times New Roman"/>
                <a:sym typeface="Times New Roman"/>
              </a:rPr>
              <a:t>Non-serial schedule may leave the database in inconsistent state so we need to check these non-serial schedules for the Serializability.</a:t>
            </a:r>
            <a:endParaRPr sz="2000">
              <a:latin typeface="Times New Roman"/>
              <a:ea typeface="Times New Roman"/>
              <a:cs typeface="Times New Roman"/>
              <a:sym typeface="Times New Roman"/>
            </a:endParaRPr>
          </a:p>
          <a:p>
            <a:pPr indent="-166370" lvl="0" marL="274320" rtl="0" algn="l">
              <a:lnSpc>
                <a:spcPct val="100000"/>
              </a:lnSpc>
              <a:spcBef>
                <a:spcPts val="580"/>
              </a:spcBef>
              <a:spcAft>
                <a:spcPts val="0"/>
              </a:spcAft>
              <a:buSzPts val="1700"/>
              <a:buNone/>
            </a:pPr>
            <a:r>
              <a:t/>
            </a:r>
            <a:endParaRPr sz="2000">
              <a:latin typeface="Times New Roman"/>
              <a:ea typeface="Times New Roman"/>
              <a:cs typeface="Times New Roman"/>
              <a:sym typeface="Times New Roman"/>
            </a:endParaRPr>
          </a:p>
          <a:p>
            <a:pPr indent="-285750" lvl="0" marL="285750" rtl="0" algn="l">
              <a:lnSpc>
                <a:spcPct val="100000"/>
              </a:lnSpc>
              <a:spcBef>
                <a:spcPts val="580"/>
              </a:spcBef>
              <a:spcAft>
                <a:spcPts val="0"/>
              </a:spcAft>
              <a:buSzPts val="1700"/>
              <a:buFont typeface="Arial"/>
              <a:buChar char="•"/>
            </a:pPr>
            <a:r>
              <a:rPr b="1" lang="en-US" sz="2000">
                <a:latin typeface="Times New Roman"/>
                <a:ea typeface="Times New Roman"/>
                <a:cs typeface="Times New Roman"/>
                <a:sym typeface="Times New Roman"/>
              </a:rPr>
              <a:t>Types of Serializability</a:t>
            </a:r>
            <a:endParaRPr/>
          </a:p>
          <a:p>
            <a:pPr indent="-177800" lvl="0" marL="285750" rtl="0" algn="l">
              <a:lnSpc>
                <a:spcPct val="100000"/>
              </a:lnSpc>
              <a:spcBef>
                <a:spcPts val="580"/>
              </a:spcBef>
              <a:spcAft>
                <a:spcPts val="0"/>
              </a:spcAft>
              <a:buSzPts val="1700"/>
              <a:buFont typeface="Arial"/>
              <a:buNone/>
            </a:pPr>
            <a:r>
              <a:t/>
            </a:r>
            <a:endParaRPr b="1" sz="2000">
              <a:latin typeface="Times New Roman"/>
              <a:ea typeface="Times New Roman"/>
              <a:cs typeface="Times New Roman"/>
              <a:sym typeface="Times New Roman"/>
            </a:endParaRPr>
          </a:p>
          <a:p>
            <a:pPr indent="-274320" lvl="0" marL="274320" rtl="0" algn="l">
              <a:lnSpc>
                <a:spcPct val="100000"/>
              </a:lnSpc>
              <a:spcBef>
                <a:spcPts val="580"/>
              </a:spcBef>
              <a:spcAft>
                <a:spcPts val="0"/>
              </a:spcAft>
              <a:buSzPts val="1700"/>
              <a:buChar char="⚫"/>
            </a:pPr>
            <a:r>
              <a:rPr lang="en-US" sz="2000">
                <a:latin typeface="Times New Roman"/>
                <a:ea typeface="Times New Roman"/>
                <a:cs typeface="Times New Roman"/>
                <a:sym typeface="Times New Roman"/>
              </a:rPr>
              <a:t>      1. </a:t>
            </a:r>
            <a:r>
              <a:rPr b="1" lang="en-US" sz="2000">
                <a:latin typeface="Times New Roman"/>
                <a:ea typeface="Times New Roman"/>
                <a:cs typeface="Times New Roman"/>
                <a:sym typeface="Times New Roman"/>
              </a:rPr>
              <a:t>Conflict Serializability</a:t>
            </a:r>
            <a:r>
              <a:rPr lang="en-US" sz="2000">
                <a:latin typeface="Times New Roman"/>
                <a:ea typeface="Times New Roman"/>
                <a:cs typeface="Times New Roman"/>
                <a:sym typeface="Times New Roman"/>
              </a:rPr>
              <a:t>-A schedule is called conflict serializable if we can convert it into a serial schedule after swapping its non-conflicting operations.</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0"/>
          <p:cNvSpPr/>
          <p:nvPr/>
        </p:nvSpPr>
        <p:spPr>
          <a:xfrm>
            <a:off x="762000" y="1219200"/>
            <a:ext cx="7620000" cy="283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ibre Baskerville"/>
                <a:ea typeface="Libre Baskerville"/>
                <a:cs typeface="Libre Baskerville"/>
                <a:sym typeface="Libre Baskerville"/>
              </a:rPr>
              <a:t>2. </a:t>
            </a:r>
            <a:r>
              <a:rPr b="1" i="0" lang="en-US" sz="2000" u="none" cap="none" strike="noStrike">
                <a:solidFill>
                  <a:schemeClr val="dk1"/>
                </a:solidFill>
                <a:latin typeface="Times New Roman"/>
                <a:ea typeface="Times New Roman"/>
                <a:cs typeface="Times New Roman"/>
                <a:sym typeface="Times New Roman"/>
              </a:rPr>
              <a:t>View Serializability</a:t>
            </a:r>
            <a:r>
              <a:rPr b="0" i="0" lang="en-US" sz="2000" u="none" cap="none" strike="noStrike">
                <a:solidFill>
                  <a:schemeClr val="dk1"/>
                </a:solidFill>
                <a:latin typeface="Times New Roman"/>
                <a:ea typeface="Times New Roman"/>
                <a:cs typeface="Times New Roman"/>
                <a:sym typeface="Times New Roman"/>
              </a:rPr>
              <a:t>-View Serializability is a process to find out that a given schedule is view serializable or not.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We need to  check whether given schedule is view equivalent to its serial schedule or not.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To check we need to follow following rules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000"/>
              <a:buFont typeface="Times New Roman"/>
              <a:buAutoNum type="arabicPeriod"/>
            </a:pPr>
            <a:r>
              <a:rPr b="0" i="0" lang="en-US" sz="2000" u="none" cap="none" strike="noStrike">
                <a:solidFill>
                  <a:schemeClr val="dk1"/>
                </a:solidFill>
                <a:latin typeface="Times New Roman"/>
                <a:ea typeface="Times New Roman"/>
                <a:cs typeface="Times New Roman"/>
                <a:sym typeface="Times New Roman"/>
              </a:rPr>
              <a:t>Read initial value of data item.</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000"/>
              <a:buFont typeface="Times New Roman"/>
              <a:buAutoNum type="arabicPeriod"/>
            </a:pPr>
            <a:r>
              <a:rPr b="0" i="0" lang="en-US" sz="2000" u="none" cap="none" strike="noStrike">
                <a:solidFill>
                  <a:schemeClr val="dk1"/>
                </a:solidFill>
                <a:latin typeface="Times New Roman"/>
                <a:ea typeface="Times New Roman"/>
                <a:cs typeface="Times New Roman"/>
                <a:sym typeface="Times New Roman"/>
              </a:rPr>
              <a:t>Write final value of data item.</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000"/>
              <a:buFont typeface="Times New Roman"/>
              <a:buAutoNum type="arabicPeriod"/>
            </a:pPr>
            <a:r>
              <a:rPr b="0" i="0" lang="en-US" sz="2000" u="none" cap="none" strike="noStrike">
                <a:solidFill>
                  <a:schemeClr val="dk1"/>
                </a:solidFill>
                <a:latin typeface="Times New Roman"/>
                <a:ea typeface="Times New Roman"/>
                <a:cs typeface="Times New Roman"/>
                <a:sym typeface="Times New Roman"/>
              </a:rPr>
              <a:t>Check W-&gt;R conflict</a:t>
            </a:r>
            <a:endParaRPr b="0" i="0" sz="2000" u="none" cap="none" strike="noStrike">
              <a:solidFill>
                <a:schemeClr val="dk1"/>
              </a:solidFill>
              <a:latin typeface="Times New Roman"/>
              <a:ea typeface="Times New Roman"/>
              <a:cs typeface="Times New Roman"/>
              <a:sym typeface="Times New Roman"/>
            </a:endParaRPr>
          </a:p>
          <a:p>
            <a:pPr indent="-228600" lvl="0" marL="342900" marR="0" rtl="0" algn="l">
              <a:lnSpc>
                <a:spcPct val="100000"/>
              </a:lnSpc>
              <a:spcBef>
                <a:spcPts val="0"/>
              </a:spcBef>
              <a:spcAft>
                <a:spcPts val="0"/>
              </a:spcAft>
              <a:buClr>
                <a:schemeClr val="dk1"/>
              </a:buClr>
              <a:buSzPts val="1800"/>
              <a:buFont typeface="Libre Baskerville"/>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1"/>
          <p:cNvSpPr txBox="1"/>
          <p:nvPr>
            <p:ph type="title"/>
          </p:nvPr>
        </p:nvSpPr>
        <p:spPr>
          <a:xfrm>
            <a:off x="381000" y="886693"/>
            <a:ext cx="7620000" cy="15522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000000"/>
              </a:buClr>
              <a:buSzPts val="3200"/>
              <a:buFont typeface="Libre Franklin"/>
              <a:buNone/>
            </a:pPr>
            <a:r>
              <a:rPr lang="en-US" sz="3200">
                <a:solidFill>
                  <a:srgbClr val="000000"/>
                </a:solidFill>
              </a:rPr>
              <a:t>Conflict Serializability</a:t>
            </a:r>
            <a:br>
              <a:rPr lang="en-US" sz="2400">
                <a:solidFill>
                  <a:srgbClr val="000000"/>
                </a:solidFill>
              </a:rPr>
            </a:br>
            <a:br>
              <a:rPr lang="en-US" sz="2400">
                <a:solidFill>
                  <a:srgbClr val="000000"/>
                </a:solidFill>
              </a:rPr>
            </a:br>
            <a:r>
              <a:rPr b="0" lang="en-US" sz="2000">
                <a:latin typeface="Times New Roman"/>
                <a:ea typeface="Times New Roman"/>
                <a:cs typeface="Times New Roman"/>
                <a:sym typeface="Times New Roman"/>
              </a:rPr>
              <a:t>A schedule is called conflict serializable if it can be transformed into a serial schedule by swapping non-conflicting operations</a:t>
            </a:r>
            <a:r>
              <a:rPr b="0" lang="en-US" sz="2400"/>
              <a:t>.</a:t>
            </a:r>
            <a:endParaRPr b="0" sz="2400"/>
          </a:p>
        </p:txBody>
      </p:sp>
      <p:pic>
        <p:nvPicPr>
          <p:cNvPr id="215" name="Google Shape;215;p21"/>
          <p:cNvPicPr preferRelativeResize="0"/>
          <p:nvPr/>
        </p:nvPicPr>
        <p:blipFill rotWithShape="1">
          <a:blip r:embed="rId3">
            <a:alphaModFix/>
          </a:blip>
          <a:srcRect b="0" l="0" r="0" t="0"/>
          <a:stretch/>
        </p:blipFill>
        <p:spPr>
          <a:xfrm>
            <a:off x="152400" y="2738203"/>
            <a:ext cx="4310062" cy="3819042"/>
          </a:xfrm>
          <a:prstGeom prst="rect">
            <a:avLst/>
          </a:prstGeom>
          <a:noFill/>
          <a:ln>
            <a:noFill/>
          </a:ln>
        </p:spPr>
      </p:pic>
      <p:pic>
        <p:nvPicPr>
          <p:cNvPr id="216" name="Google Shape;216;p21"/>
          <p:cNvPicPr preferRelativeResize="0"/>
          <p:nvPr/>
        </p:nvPicPr>
        <p:blipFill rotWithShape="1">
          <a:blip r:embed="rId4">
            <a:alphaModFix/>
          </a:blip>
          <a:srcRect b="0" l="0" r="0" t="0"/>
          <a:stretch/>
        </p:blipFill>
        <p:spPr>
          <a:xfrm>
            <a:off x="5029200" y="3776186"/>
            <a:ext cx="3781425" cy="17430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2"/>
          <p:cNvSpPr txBox="1"/>
          <p:nvPr>
            <p:ph type="title"/>
          </p:nvPr>
        </p:nvSpPr>
        <p:spPr>
          <a:xfrm>
            <a:off x="838200" y="1143000"/>
            <a:ext cx="3187200" cy="3822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000000"/>
              </a:buClr>
              <a:buSzPts val="2400"/>
              <a:buFont typeface="Libre Franklin"/>
              <a:buNone/>
            </a:pPr>
            <a:r>
              <a:rPr lang="en-US" sz="2400">
                <a:solidFill>
                  <a:srgbClr val="000000"/>
                </a:solidFill>
              </a:rPr>
              <a:t>Conflict Serializability</a:t>
            </a:r>
            <a:endParaRPr sz="2400"/>
          </a:p>
        </p:txBody>
      </p:sp>
      <p:sp>
        <p:nvSpPr>
          <p:cNvPr id="222" name="Google Shape;222;p22"/>
          <p:cNvSpPr txBox="1"/>
          <p:nvPr/>
        </p:nvSpPr>
        <p:spPr>
          <a:xfrm>
            <a:off x="963649" y="1959928"/>
            <a:ext cx="7329900" cy="1923900"/>
          </a:xfrm>
          <a:prstGeom prst="rect">
            <a:avLst/>
          </a:prstGeom>
          <a:noFill/>
          <a:ln>
            <a:noFill/>
          </a:ln>
        </p:spPr>
        <p:txBody>
          <a:bodyPr anchorCtr="0" anchor="t" bIns="0" lIns="0" spcFirstLastPara="1" rIns="0" wrap="square" tIns="12700">
            <a:spAutoFit/>
          </a:bodyPr>
          <a:lstStyle/>
          <a:p>
            <a:pPr indent="-366393" lvl="1" marL="836295" marR="308610" rtl="0" algn="l">
              <a:lnSpc>
                <a:spcPct val="100000"/>
              </a:lnSpc>
              <a:spcBef>
                <a:spcPts val="0"/>
              </a:spcBef>
              <a:spcAft>
                <a:spcPts val="0"/>
              </a:spcAft>
              <a:buClr>
                <a:srgbClr val="CC3300"/>
              </a:buClr>
              <a:buSzPts val="1800"/>
              <a:buFont typeface="Arial"/>
              <a:buChar char="●"/>
            </a:pPr>
            <a:r>
              <a:rPr b="0" i="0" lang="en-US" sz="2000" u="none" cap="none" strike="noStrike">
                <a:solidFill>
                  <a:schemeClr val="dk1"/>
                </a:solidFill>
                <a:latin typeface="Arial"/>
                <a:ea typeface="Arial"/>
                <a:cs typeface="Arial"/>
                <a:sym typeface="Arial"/>
              </a:rPr>
              <a:t>T1-&gt;T2-&gt;T3</a:t>
            </a:r>
            <a:endParaRPr b="0" i="0" sz="1400" u="none" cap="none" strike="noStrike">
              <a:solidFill>
                <a:srgbClr val="000000"/>
              </a:solidFill>
              <a:latin typeface="Arial"/>
              <a:ea typeface="Arial"/>
              <a:cs typeface="Arial"/>
              <a:sym typeface="Arial"/>
            </a:endParaRPr>
          </a:p>
          <a:p>
            <a:pPr indent="-366393" lvl="1" marL="836295" marR="308610" rtl="0" algn="l">
              <a:lnSpc>
                <a:spcPct val="100000"/>
              </a:lnSpc>
              <a:spcBef>
                <a:spcPts val="100"/>
              </a:spcBef>
              <a:spcAft>
                <a:spcPts val="0"/>
              </a:spcAft>
              <a:buClr>
                <a:srgbClr val="CC3300"/>
              </a:buClr>
              <a:buSzPts val="1800"/>
              <a:buFont typeface="Arial"/>
              <a:buChar char="●"/>
            </a:pPr>
            <a:r>
              <a:rPr b="0" i="0" lang="en-US" sz="2000" u="none" cap="none" strike="noStrike">
                <a:solidFill>
                  <a:schemeClr val="dk1"/>
                </a:solidFill>
                <a:latin typeface="Arial"/>
                <a:ea typeface="Arial"/>
                <a:cs typeface="Arial"/>
                <a:sym typeface="Arial"/>
              </a:rPr>
              <a:t>T1-&gt;T3-&gt;T2</a:t>
            </a:r>
            <a:endParaRPr b="0" i="0" sz="1400" u="none" cap="none" strike="noStrike">
              <a:solidFill>
                <a:srgbClr val="000000"/>
              </a:solidFill>
              <a:latin typeface="Arial"/>
              <a:ea typeface="Arial"/>
              <a:cs typeface="Arial"/>
              <a:sym typeface="Arial"/>
            </a:endParaRPr>
          </a:p>
          <a:p>
            <a:pPr indent="-366393" lvl="1" marL="836295" marR="308610" rtl="0" algn="l">
              <a:lnSpc>
                <a:spcPct val="100000"/>
              </a:lnSpc>
              <a:spcBef>
                <a:spcPts val="100"/>
              </a:spcBef>
              <a:spcAft>
                <a:spcPts val="0"/>
              </a:spcAft>
              <a:buClr>
                <a:srgbClr val="CC3300"/>
              </a:buClr>
              <a:buSzPts val="1800"/>
              <a:buFont typeface="Arial"/>
              <a:buChar char="●"/>
            </a:pPr>
            <a:r>
              <a:rPr b="0" i="0" lang="en-US" sz="2000" u="none" cap="none" strike="noStrike">
                <a:solidFill>
                  <a:schemeClr val="dk1"/>
                </a:solidFill>
                <a:latin typeface="Arial"/>
                <a:ea typeface="Arial"/>
                <a:cs typeface="Arial"/>
                <a:sym typeface="Arial"/>
              </a:rPr>
              <a:t>T2-&gt;T1-&gt;T3</a:t>
            </a:r>
            <a:endParaRPr b="0" i="0" sz="1400" u="none" cap="none" strike="noStrike">
              <a:solidFill>
                <a:srgbClr val="000000"/>
              </a:solidFill>
              <a:latin typeface="Arial"/>
              <a:ea typeface="Arial"/>
              <a:cs typeface="Arial"/>
              <a:sym typeface="Arial"/>
            </a:endParaRPr>
          </a:p>
          <a:p>
            <a:pPr indent="-366393" lvl="1" marL="836295" marR="308610" rtl="0" algn="l">
              <a:lnSpc>
                <a:spcPct val="100000"/>
              </a:lnSpc>
              <a:spcBef>
                <a:spcPts val="100"/>
              </a:spcBef>
              <a:spcAft>
                <a:spcPts val="0"/>
              </a:spcAft>
              <a:buClr>
                <a:srgbClr val="CC3300"/>
              </a:buClr>
              <a:buSzPts val="1800"/>
              <a:buFont typeface="Arial"/>
              <a:buChar char="●"/>
            </a:pPr>
            <a:r>
              <a:rPr b="0" i="0" lang="en-US" sz="2000" u="none" cap="none" strike="noStrike">
                <a:solidFill>
                  <a:srgbClr val="FF0000"/>
                </a:solidFill>
                <a:latin typeface="Arial"/>
                <a:ea typeface="Arial"/>
                <a:cs typeface="Arial"/>
                <a:sym typeface="Arial"/>
              </a:rPr>
              <a:t>T2-&gt;T3-&gt;T1</a:t>
            </a:r>
            <a:endParaRPr b="0" i="0" sz="1400" u="none" cap="none" strike="noStrike">
              <a:solidFill>
                <a:srgbClr val="000000"/>
              </a:solidFill>
              <a:latin typeface="Arial"/>
              <a:ea typeface="Arial"/>
              <a:cs typeface="Arial"/>
              <a:sym typeface="Arial"/>
            </a:endParaRPr>
          </a:p>
          <a:p>
            <a:pPr indent="-366393" lvl="1" marL="836295" marR="308610" rtl="0" algn="l">
              <a:lnSpc>
                <a:spcPct val="100000"/>
              </a:lnSpc>
              <a:spcBef>
                <a:spcPts val="100"/>
              </a:spcBef>
              <a:spcAft>
                <a:spcPts val="0"/>
              </a:spcAft>
              <a:buClr>
                <a:srgbClr val="CC3300"/>
              </a:buClr>
              <a:buSzPts val="1800"/>
              <a:buFont typeface="Arial"/>
              <a:buChar char="●"/>
            </a:pPr>
            <a:r>
              <a:rPr b="0" i="0" lang="en-US" sz="2000" u="none" cap="none" strike="noStrike">
                <a:solidFill>
                  <a:schemeClr val="dk1"/>
                </a:solidFill>
                <a:latin typeface="Arial"/>
                <a:ea typeface="Arial"/>
                <a:cs typeface="Arial"/>
                <a:sym typeface="Arial"/>
              </a:rPr>
              <a:t>T3-&gt;T2-&gt;T1</a:t>
            </a:r>
            <a:endParaRPr b="0" i="0" sz="1400" u="none" cap="none" strike="noStrike">
              <a:solidFill>
                <a:srgbClr val="000000"/>
              </a:solidFill>
              <a:latin typeface="Arial"/>
              <a:ea typeface="Arial"/>
              <a:cs typeface="Arial"/>
              <a:sym typeface="Arial"/>
            </a:endParaRPr>
          </a:p>
          <a:p>
            <a:pPr indent="-366393" lvl="1" marL="836295" marR="308610" rtl="0" algn="l">
              <a:lnSpc>
                <a:spcPct val="100000"/>
              </a:lnSpc>
              <a:spcBef>
                <a:spcPts val="100"/>
              </a:spcBef>
              <a:spcAft>
                <a:spcPts val="0"/>
              </a:spcAft>
              <a:buClr>
                <a:srgbClr val="CC3300"/>
              </a:buClr>
              <a:buSzPts val="1800"/>
              <a:buFont typeface="Arial"/>
              <a:buChar char="●"/>
            </a:pPr>
            <a:r>
              <a:rPr b="0" i="0" lang="en-US" sz="2000" u="none" cap="none" strike="noStrike">
                <a:solidFill>
                  <a:schemeClr val="dk1"/>
                </a:solidFill>
                <a:latin typeface="Arial"/>
                <a:ea typeface="Arial"/>
                <a:cs typeface="Arial"/>
                <a:sym typeface="Arial"/>
              </a:rPr>
              <a:t>T3-&gt;T1-&gt;T2.</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3"/>
          <p:cNvSpPr txBox="1"/>
          <p:nvPr>
            <p:ph type="title"/>
          </p:nvPr>
        </p:nvSpPr>
        <p:spPr>
          <a:xfrm>
            <a:off x="685800" y="862750"/>
            <a:ext cx="40068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000000"/>
              </a:buClr>
              <a:buSzPts val="3200"/>
              <a:buFont typeface="Libre Franklin"/>
              <a:buNone/>
            </a:pPr>
            <a:r>
              <a:rPr lang="en-US" sz="3200">
                <a:solidFill>
                  <a:srgbClr val="000000"/>
                </a:solidFill>
              </a:rPr>
              <a:t>View Serializability</a:t>
            </a:r>
            <a:endParaRPr sz="3200"/>
          </a:p>
        </p:txBody>
      </p:sp>
      <p:sp>
        <p:nvSpPr>
          <p:cNvPr id="228" name="Google Shape;228;p23"/>
          <p:cNvSpPr txBox="1"/>
          <p:nvPr/>
        </p:nvSpPr>
        <p:spPr>
          <a:xfrm>
            <a:off x="685800" y="1409580"/>
            <a:ext cx="8229600" cy="2325000"/>
          </a:xfrm>
          <a:prstGeom prst="rect">
            <a:avLst/>
          </a:prstGeom>
          <a:noFill/>
          <a:ln>
            <a:noFill/>
          </a:ln>
        </p:spPr>
        <p:txBody>
          <a:bodyPr anchorCtr="0" anchor="t" bIns="0" lIns="0" spcFirstLastPara="1" rIns="0" wrap="square" tIns="94600">
            <a:spAutoFit/>
          </a:bodyPr>
          <a:lstStyle/>
          <a:p>
            <a:pPr indent="-363855" lvl="0" marL="376555" marR="0" rtl="0" algn="l">
              <a:lnSpc>
                <a:spcPct val="100000"/>
              </a:lnSpc>
              <a:spcBef>
                <a:spcPts val="0"/>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View serializability is a process to find out that a given schedule is view serializable or not</a:t>
            </a:r>
            <a:endParaRPr b="0" i="0" sz="1400" u="none" cap="none" strike="noStrike">
              <a:solidFill>
                <a:srgbClr val="000000"/>
              </a:solidFill>
              <a:latin typeface="Arial"/>
              <a:ea typeface="Arial"/>
              <a:cs typeface="Arial"/>
              <a:sym typeface="Arial"/>
            </a:endParaRPr>
          </a:p>
          <a:p>
            <a:pPr indent="-363855" lvl="0" marL="376555" marR="0" rtl="0" algn="l">
              <a:lnSpc>
                <a:spcPct val="100000"/>
              </a:lnSpc>
              <a:spcBef>
                <a:spcPts val="74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To check we need to follow following rules</a:t>
            </a:r>
            <a:endParaRPr b="0" i="0" sz="1400" u="none" cap="none" strike="noStrike">
              <a:solidFill>
                <a:srgbClr val="000000"/>
              </a:solidFill>
              <a:latin typeface="Arial"/>
              <a:ea typeface="Arial"/>
              <a:cs typeface="Arial"/>
              <a:sym typeface="Arial"/>
            </a:endParaRPr>
          </a:p>
          <a:p>
            <a:pPr indent="-342900" lvl="0" marL="355600" marR="0" rtl="0" algn="l">
              <a:lnSpc>
                <a:spcPct val="100000"/>
              </a:lnSpc>
              <a:spcBef>
                <a:spcPts val="745"/>
              </a:spcBef>
              <a:spcAft>
                <a:spcPts val="0"/>
              </a:spcAft>
              <a:buClr>
                <a:srgbClr val="CC3300"/>
              </a:buClr>
              <a:buSzPts val="1778"/>
              <a:buFont typeface="Times New Roman"/>
              <a:buAutoNum type="arabicPeriod"/>
            </a:pPr>
            <a:r>
              <a:rPr b="0" i="0" lang="en-US" sz="2000" u="none" cap="none" strike="noStrike">
                <a:solidFill>
                  <a:schemeClr val="dk1"/>
                </a:solidFill>
                <a:latin typeface="Times New Roman"/>
                <a:ea typeface="Times New Roman"/>
                <a:cs typeface="Times New Roman"/>
                <a:sym typeface="Times New Roman"/>
              </a:rPr>
              <a:t>Read initial value of data item</a:t>
            </a:r>
            <a:endParaRPr b="0" i="0" sz="1400" u="none" cap="none" strike="noStrike">
              <a:solidFill>
                <a:srgbClr val="000000"/>
              </a:solidFill>
              <a:latin typeface="Arial"/>
              <a:ea typeface="Arial"/>
              <a:cs typeface="Arial"/>
              <a:sym typeface="Arial"/>
            </a:endParaRPr>
          </a:p>
          <a:p>
            <a:pPr indent="-342900" lvl="0" marL="355600" marR="0" rtl="0" algn="l">
              <a:lnSpc>
                <a:spcPct val="100000"/>
              </a:lnSpc>
              <a:spcBef>
                <a:spcPts val="745"/>
              </a:spcBef>
              <a:spcAft>
                <a:spcPts val="0"/>
              </a:spcAft>
              <a:buClr>
                <a:srgbClr val="CC3300"/>
              </a:buClr>
              <a:buSzPts val="1778"/>
              <a:buFont typeface="Times New Roman"/>
              <a:buAutoNum type="arabicPeriod"/>
            </a:pPr>
            <a:r>
              <a:rPr b="0" i="0" lang="en-US" sz="2000" u="none" cap="none" strike="noStrike">
                <a:solidFill>
                  <a:schemeClr val="dk1"/>
                </a:solidFill>
                <a:latin typeface="Times New Roman"/>
                <a:ea typeface="Times New Roman"/>
                <a:cs typeface="Times New Roman"/>
                <a:sym typeface="Times New Roman"/>
              </a:rPr>
              <a:t>Write final value of data item</a:t>
            </a:r>
            <a:endParaRPr b="0" i="0" sz="1400" u="none" cap="none" strike="noStrike">
              <a:solidFill>
                <a:srgbClr val="000000"/>
              </a:solidFill>
              <a:latin typeface="Arial"/>
              <a:ea typeface="Arial"/>
              <a:cs typeface="Arial"/>
              <a:sym typeface="Arial"/>
            </a:endParaRPr>
          </a:p>
          <a:p>
            <a:pPr indent="-342900" lvl="0" marL="355600" marR="0" rtl="0" algn="l">
              <a:lnSpc>
                <a:spcPct val="100000"/>
              </a:lnSpc>
              <a:spcBef>
                <a:spcPts val="745"/>
              </a:spcBef>
              <a:spcAft>
                <a:spcPts val="0"/>
              </a:spcAft>
              <a:buClr>
                <a:srgbClr val="CC3300"/>
              </a:buClr>
              <a:buSzPts val="1778"/>
              <a:buFont typeface="Times New Roman"/>
              <a:buAutoNum type="arabicPeriod"/>
            </a:pPr>
            <a:r>
              <a:rPr b="0" i="0" lang="en-US" sz="2000" u="none" cap="none" strike="noStrike">
                <a:solidFill>
                  <a:schemeClr val="dk1"/>
                </a:solidFill>
                <a:latin typeface="Times New Roman"/>
                <a:ea typeface="Times New Roman"/>
                <a:cs typeface="Times New Roman"/>
                <a:sym typeface="Times New Roman"/>
              </a:rPr>
              <a:t>Check W-&gt;R conflict</a:t>
            </a:r>
            <a:endParaRPr b="0" i="0" sz="2000" u="none" cap="none" strike="noStrike">
              <a:solidFill>
                <a:schemeClr val="dk1"/>
              </a:solidFill>
              <a:latin typeface="Times New Roman"/>
              <a:ea typeface="Times New Roman"/>
              <a:cs typeface="Times New Roman"/>
              <a:sym typeface="Times New Roman"/>
            </a:endParaRPr>
          </a:p>
        </p:txBody>
      </p:sp>
      <p:pic>
        <p:nvPicPr>
          <p:cNvPr id="229" name="Google Shape;229;p23"/>
          <p:cNvPicPr preferRelativeResize="0"/>
          <p:nvPr/>
        </p:nvPicPr>
        <p:blipFill rotWithShape="1">
          <a:blip r:embed="rId3">
            <a:alphaModFix/>
          </a:blip>
          <a:srcRect b="0" l="0" r="0" t="0"/>
          <a:stretch/>
        </p:blipFill>
        <p:spPr>
          <a:xfrm>
            <a:off x="685800" y="3734575"/>
            <a:ext cx="4422525" cy="2818625"/>
          </a:xfrm>
          <a:prstGeom prst="rect">
            <a:avLst/>
          </a:prstGeom>
          <a:noFill/>
          <a:ln>
            <a:noFill/>
          </a:ln>
        </p:spPr>
      </p:pic>
      <p:pic>
        <p:nvPicPr>
          <p:cNvPr id="230" name="Google Shape;230;p23"/>
          <p:cNvPicPr preferRelativeResize="0"/>
          <p:nvPr/>
        </p:nvPicPr>
        <p:blipFill rotWithShape="1">
          <a:blip r:embed="rId4">
            <a:alphaModFix/>
          </a:blip>
          <a:srcRect b="0" l="0" r="0" t="0"/>
          <a:stretch/>
        </p:blipFill>
        <p:spPr>
          <a:xfrm>
            <a:off x="5384300" y="3734575"/>
            <a:ext cx="3531100" cy="28186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4"/>
          <p:cNvSpPr txBox="1"/>
          <p:nvPr>
            <p:ph type="title"/>
          </p:nvPr>
        </p:nvSpPr>
        <p:spPr>
          <a:xfrm>
            <a:off x="685800" y="914400"/>
            <a:ext cx="54102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000000"/>
              </a:buClr>
              <a:buSzPts val="3200"/>
              <a:buFont typeface="Libre Franklin"/>
              <a:buNone/>
            </a:pPr>
            <a:r>
              <a:rPr lang="en-US" sz="3200">
                <a:solidFill>
                  <a:srgbClr val="000000"/>
                </a:solidFill>
              </a:rPr>
              <a:t>Recoverable Schedules</a:t>
            </a:r>
            <a:endParaRPr sz="3200"/>
          </a:p>
        </p:txBody>
      </p:sp>
      <p:sp>
        <p:nvSpPr>
          <p:cNvPr id="236" name="Google Shape;236;p24"/>
          <p:cNvSpPr/>
          <p:nvPr/>
        </p:nvSpPr>
        <p:spPr>
          <a:xfrm>
            <a:off x="914400" y="1600200"/>
            <a:ext cx="7467600" cy="31701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Schedules in which transactions commit only after all transactions, whose changes they read commit are called recoverable schedules.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In other words, if some transaction T</a:t>
            </a:r>
            <a:r>
              <a:rPr b="0" baseline="-25000" i="0" lang="en-US" sz="2000" u="none" cap="none" strike="noStrike">
                <a:solidFill>
                  <a:schemeClr val="dk1"/>
                </a:solidFill>
                <a:latin typeface="Times New Roman"/>
                <a:ea typeface="Times New Roman"/>
                <a:cs typeface="Times New Roman"/>
                <a:sym typeface="Times New Roman"/>
              </a:rPr>
              <a:t>j</a:t>
            </a:r>
            <a:r>
              <a:rPr b="0" i="0" lang="en-US" sz="2000" u="none" cap="none" strike="noStrike">
                <a:solidFill>
                  <a:schemeClr val="dk1"/>
                </a:solidFill>
                <a:latin typeface="Times New Roman"/>
                <a:ea typeface="Times New Roman"/>
                <a:cs typeface="Times New Roman"/>
                <a:sym typeface="Times New Roman"/>
              </a:rPr>
              <a:t> is reading value updated or written by some other transaction T</a:t>
            </a:r>
            <a:r>
              <a:rPr b="0" baseline="-25000" i="0" lang="en-US" sz="2000" u="none" cap="none" strike="noStrike">
                <a:solidFill>
                  <a:schemeClr val="dk1"/>
                </a:solidFill>
                <a:latin typeface="Times New Roman"/>
                <a:ea typeface="Times New Roman"/>
                <a:cs typeface="Times New Roman"/>
                <a:sym typeface="Times New Roman"/>
              </a:rPr>
              <a:t>i</a:t>
            </a:r>
            <a:r>
              <a:rPr b="0" i="0" lang="en-US" sz="2000" u="none" cap="none" strike="noStrike">
                <a:solidFill>
                  <a:schemeClr val="dk1"/>
                </a:solidFill>
                <a:latin typeface="Times New Roman"/>
                <a:ea typeface="Times New Roman"/>
                <a:cs typeface="Times New Roman"/>
                <a:sym typeface="Times New Roman"/>
              </a:rPr>
              <a:t>, then the commit of T</a:t>
            </a:r>
            <a:r>
              <a:rPr b="0" baseline="-25000" i="0" lang="en-US" sz="2000" u="none" cap="none" strike="noStrike">
                <a:solidFill>
                  <a:schemeClr val="dk1"/>
                </a:solidFill>
                <a:latin typeface="Times New Roman"/>
                <a:ea typeface="Times New Roman"/>
                <a:cs typeface="Times New Roman"/>
                <a:sym typeface="Times New Roman"/>
              </a:rPr>
              <a:t>j</a:t>
            </a:r>
            <a:r>
              <a:rPr b="0" i="0" lang="en-US" sz="2000" u="none" cap="none" strike="noStrike">
                <a:solidFill>
                  <a:schemeClr val="dk1"/>
                </a:solidFill>
                <a:latin typeface="Times New Roman"/>
                <a:ea typeface="Times New Roman"/>
                <a:cs typeface="Times New Roman"/>
                <a:sym typeface="Times New Roman"/>
              </a:rPr>
              <a:t> must occur after the commit of T</a:t>
            </a:r>
            <a:r>
              <a:rPr b="0" baseline="-25000" i="0" lang="en-US" sz="2000" u="none" cap="none" strike="noStrike">
                <a:solidFill>
                  <a:schemeClr val="dk1"/>
                </a:solidFill>
                <a:latin typeface="Times New Roman"/>
                <a:ea typeface="Times New Roman"/>
                <a:cs typeface="Times New Roman"/>
                <a:sym typeface="Times New Roman"/>
              </a:rPr>
              <a:t>i</a:t>
            </a:r>
            <a:r>
              <a:rPr b="0" i="0" lang="en-US" sz="20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158750" lvl="0" marL="28575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There can be three types of recoverable schedule: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1.</a:t>
            </a:r>
            <a:r>
              <a:rPr b="1"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Times New Roman"/>
                <a:ea typeface="Times New Roman"/>
                <a:cs typeface="Times New Roman"/>
                <a:sym typeface="Times New Roman"/>
              </a:rPr>
              <a:t>Cascading Schedule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2. Cascadeless Schedule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3. Strict Schedule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5"/>
          <p:cNvSpPr txBox="1"/>
          <p:nvPr>
            <p:ph type="title"/>
          </p:nvPr>
        </p:nvSpPr>
        <p:spPr>
          <a:xfrm>
            <a:off x="866052" y="813691"/>
            <a:ext cx="57411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000000"/>
              </a:buClr>
              <a:buSzPts val="3200"/>
              <a:buFont typeface="Libre Franklin"/>
              <a:buNone/>
            </a:pPr>
            <a:r>
              <a:rPr lang="en-US" sz="3200">
                <a:solidFill>
                  <a:srgbClr val="000000"/>
                </a:solidFill>
              </a:rPr>
              <a:t>Cascading Rollbacks</a:t>
            </a:r>
            <a:endParaRPr sz="3200"/>
          </a:p>
        </p:txBody>
      </p:sp>
      <p:sp>
        <p:nvSpPr>
          <p:cNvPr id="242" name="Google Shape;242;p25"/>
          <p:cNvSpPr txBox="1"/>
          <p:nvPr/>
        </p:nvSpPr>
        <p:spPr>
          <a:xfrm>
            <a:off x="866051" y="1795843"/>
            <a:ext cx="6893700" cy="1248600"/>
          </a:xfrm>
          <a:prstGeom prst="rect">
            <a:avLst/>
          </a:prstGeom>
          <a:noFill/>
          <a:ln>
            <a:noFill/>
          </a:ln>
        </p:spPr>
        <p:txBody>
          <a:bodyPr anchorCtr="0" anchor="t" bIns="0" lIns="0" spcFirstLastPara="1" rIns="0" wrap="square" tIns="10775">
            <a:spAutoFit/>
          </a:bodyPr>
          <a:lstStyle/>
          <a:p>
            <a:pPr indent="-363855" lvl="0" marL="376555" marR="5080" rtl="0" algn="l">
              <a:lnSpc>
                <a:spcPct val="100699"/>
              </a:lnSpc>
              <a:spcBef>
                <a:spcPts val="0"/>
              </a:spcBef>
              <a:spcAft>
                <a:spcPts val="0"/>
              </a:spcAft>
              <a:buClr>
                <a:srgbClr val="CC3300"/>
              </a:buClr>
              <a:buSzPts val="1778"/>
              <a:buFont typeface="Arial"/>
              <a:buChar char="●"/>
            </a:pPr>
            <a:r>
              <a:rPr b="1" i="0" lang="en-US" sz="2000" u="none" cap="none" strike="noStrike">
                <a:solidFill>
                  <a:srgbClr val="000099"/>
                </a:solidFill>
                <a:latin typeface="Times New Roman"/>
                <a:ea typeface="Times New Roman"/>
                <a:cs typeface="Times New Roman"/>
                <a:sym typeface="Times New Roman"/>
              </a:rPr>
              <a:t>Cascading rollback </a:t>
            </a:r>
            <a:r>
              <a:rPr b="0" i="0" lang="en-US" sz="2000" u="none" cap="none" strike="noStrike">
                <a:solidFill>
                  <a:schemeClr val="dk1"/>
                </a:solidFill>
                <a:latin typeface="Times New Roman"/>
                <a:ea typeface="Times New Roman"/>
                <a:cs typeface="Times New Roman"/>
                <a:sym typeface="Times New Roman"/>
              </a:rPr>
              <a:t>– When there is a failure in one transaction and this leads to the rolling back or aborting other dependent transactions, then such scheduling is referred to as Cascading rollback or cascading abort. </a:t>
            </a:r>
            <a:endParaRPr b="0" i="0" sz="2000" u="none" cap="none" strike="noStrike">
              <a:solidFill>
                <a:schemeClr val="dk1"/>
              </a:solidFill>
              <a:latin typeface="Times New Roman"/>
              <a:ea typeface="Times New Roman"/>
              <a:cs typeface="Times New Roman"/>
              <a:sym typeface="Times New Roman"/>
            </a:endParaRPr>
          </a:p>
        </p:txBody>
      </p:sp>
      <p:pic>
        <p:nvPicPr>
          <p:cNvPr id="243" name="Google Shape;243;p25"/>
          <p:cNvPicPr preferRelativeResize="0"/>
          <p:nvPr/>
        </p:nvPicPr>
        <p:blipFill rotWithShape="1">
          <a:blip r:embed="rId3">
            <a:alphaModFix/>
          </a:blip>
          <a:srcRect b="0" l="0" r="0" t="0"/>
          <a:stretch/>
        </p:blipFill>
        <p:spPr>
          <a:xfrm>
            <a:off x="1219200" y="3299564"/>
            <a:ext cx="6626004" cy="310123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6"/>
          <p:cNvSpPr txBox="1"/>
          <p:nvPr>
            <p:ph type="title"/>
          </p:nvPr>
        </p:nvSpPr>
        <p:spPr>
          <a:xfrm>
            <a:off x="866051" y="838200"/>
            <a:ext cx="40533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000000"/>
              </a:buClr>
              <a:buSzPts val="3200"/>
              <a:buFont typeface="Libre Franklin"/>
              <a:buNone/>
            </a:pPr>
            <a:r>
              <a:rPr lang="en-US" sz="3200">
                <a:solidFill>
                  <a:srgbClr val="000000"/>
                </a:solidFill>
              </a:rPr>
              <a:t>Cascadeless Schedules</a:t>
            </a:r>
            <a:endParaRPr sz="3200"/>
          </a:p>
        </p:txBody>
      </p:sp>
      <p:sp>
        <p:nvSpPr>
          <p:cNvPr id="249" name="Google Shape;249;p26"/>
          <p:cNvSpPr txBox="1"/>
          <p:nvPr/>
        </p:nvSpPr>
        <p:spPr>
          <a:xfrm>
            <a:off x="866051" y="1262443"/>
            <a:ext cx="7324800" cy="5451600"/>
          </a:xfrm>
          <a:prstGeom prst="rect">
            <a:avLst/>
          </a:prstGeom>
          <a:noFill/>
          <a:ln>
            <a:noFill/>
          </a:ln>
        </p:spPr>
        <p:txBody>
          <a:bodyPr anchorCtr="0" anchor="t" bIns="0" lIns="0" spcFirstLastPara="1" rIns="0" wrap="square" tIns="10775">
            <a:spAutoFit/>
          </a:bodyPr>
          <a:lstStyle/>
          <a:p>
            <a:pPr indent="-363855" lvl="0" marL="376555" marR="125729" rtl="0" algn="l">
              <a:lnSpc>
                <a:spcPct val="100699"/>
              </a:lnSpc>
              <a:spcBef>
                <a:spcPts val="0"/>
              </a:spcBef>
              <a:spcAft>
                <a:spcPts val="0"/>
              </a:spcAft>
              <a:buClr>
                <a:srgbClr val="CC3300"/>
              </a:buClr>
              <a:buSzPts val="1600"/>
              <a:buFont typeface="Arial"/>
              <a:buChar char="●"/>
            </a:pPr>
            <a:r>
              <a:rPr b="1" i="0" lang="en-US" sz="1800" u="none" cap="none" strike="noStrike">
                <a:solidFill>
                  <a:srgbClr val="000099"/>
                </a:solidFill>
                <a:latin typeface="Times New Roman"/>
                <a:ea typeface="Times New Roman"/>
                <a:cs typeface="Times New Roman"/>
                <a:sym typeface="Times New Roman"/>
              </a:rPr>
              <a:t>Cascadeless schedules </a:t>
            </a:r>
            <a:r>
              <a:rPr b="0" i="0" lang="en-US" sz="1800" u="none" cap="none" strike="noStrike">
                <a:solidFill>
                  <a:schemeClr val="dk1"/>
                </a:solidFill>
                <a:latin typeface="Times New Roman"/>
                <a:ea typeface="Times New Roman"/>
                <a:cs typeface="Times New Roman"/>
                <a:sym typeface="Times New Roman"/>
              </a:rPr>
              <a:t>— Schedules in which transactions read values only after all transactions whose changes they are going to read commit are called cascadeless schedules.</a:t>
            </a:r>
            <a:endParaRPr b="0" i="0" sz="1400" u="none" cap="none" strike="noStrike">
              <a:solidFill>
                <a:srgbClr val="000000"/>
              </a:solidFill>
              <a:latin typeface="Arial"/>
              <a:ea typeface="Arial"/>
              <a:cs typeface="Arial"/>
              <a:sym typeface="Arial"/>
            </a:endParaRPr>
          </a:p>
          <a:p>
            <a:pPr indent="-363855" lvl="0" marL="376555" marR="125729" rtl="0" algn="l">
              <a:lnSpc>
                <a:spcPct val="100699"/>
              </a:lnSpc>
              <a:spcBef>
                <a:spcPts val="85"/>
              </a:spcBef>
              <a:spcAft>
                <a:spcPts val="0"/>
              </a:spcAft>
              <a:buClr>
                <a:srgbClr val="CC3300"/>
              </a:buClr>
              <a:buSzPts val="1600"/>
              <a:buFont typeface="Arial"/>
              <a:buChar char="●"/>
            </a:pPr>
            <a:r>
              <a:rPr b="0" i="0" lang="en-US" sz="1800" u="none" cap="none" strike="noStrike">
                <a:solidFill>
                  <a:schemeClr val="dk1"/>
                </a:solidFill>
                <a:latin typeface="Times New Roman"/>
                <a:ea typeface="Times New Roman"/>
                <a:cs typeface="Times New Roman"/>
                <a:sym typeface="Times New Roman"/>
              </a:rPr>
              <a:t>A strategy to prevent cascading aborts is to disallow a transaction from reading uncommitted changes from another transaction in the same schedule.</a:t>
            </a:r>
            <a:endParaRPr b="0" i="0" sz="1400" u="none" cap="none" strike="noStrike">
              <a:solidFill>
                <a:srgbClr val="000000"/>
              </a:solidFill>
              <a:latin typeface="Arial"/>
              <a:ea typeface="Arial"/>
              <a:cs typeface="Arial"/>
              <a:sym typeface="Arial"/>
            </a:endParaRPr>
          </a:p>
          <a:p>
            <a:pPr indent="0" lvl="0" marL="12700" marR="125729" rtl="0" algn="l">
              <a:lnSpc>
                <a:spcPct val="100699"/>
              </a:lnSpc>
              <a:spcBef>
                <a:spcPts val="85"/>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12700" marR="125729" rtl="0" algn="l">
              <a:lnSpc>
                <a:spcPct val="100699"/>
              </a:lnSpc>
              <a:spcBef>
                <a:spcPts val="85"/>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T1                                               T2</a:t>
            </a:r>
            <a:endParaRPr b="0" i="0" sz="1400" u="none" cap="none" strike="noStrike">
              <a:solidFill>
                <a:srgbClr val="000000"/>
              </a:solidFill>
              <a:latin typeface="Arial"/>
              <a:ea typeface="Arial"/>
              <a:cs typeface="Arial"/>
              <a:sym typeface="Arial"/>
            </a:endParaRPr>
          </a:p>
          <a:p>
            <a:pPr indent="0" lvl="0" marL="12700" marR="125729" rtl="0" algn="l">
              <a:lnSpc>
                <a:spcPct val="100699"/>
              </a:lnSpc>
              <a:spcBef>
                <a:spcPts val="85"/>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12700" marR="125729" rtl="0" algn="l">
              <a:lnSpc>
                <a:spcPct val="100699"/>
              </a:lnSpc>
              <a:spcBef>
                <a:spcPts val="85"/>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R(A)</a:t>
            </a:r>
            <a:endParaRPr b="0" i="0" sz="1400" u="none" cap="none" strike="noStrike">
              <a:solidFill>
                <a:srgbClr val="000000"/>
              </a:solidFill>
              <a:latin typeface="Arial"/>
              <a:ea typeface="Arial"/>
              <a:cs typeface="Arial"/>
              <a:sym typeface="Arial"/>
            </a:endParaRPr>
          </a:p>
          <a:p>
            <a:pPr indent="0" lvl="0" marL="12700" marR="125729" rtl="0" algn="l">
              <a:lnSpc>
                <a:spcPct val="100699"/>
              </a:lnSpc>
              <a:spcBef>
                <a:spcPts val="85"/>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W(A)</a:t>
            </a:r>
            <a:endParaRPr b="0" i="0" sz="1400" u="none" cap="none" strike="noStrike">
              <a:solidFill>
                <a:srgbClr val="000000"/>
              </a:solidFill>
              <a:latin typeface="Arial"/>
              <a:ea typeface="Arial"/>
              <a:cs typeface="Arial"/>
              <a:sym typeface="Arial"/>
            </a:endParaRPr>
          </a:p>
          <a:p>
            <a:pPr indent="0" lvl="0" marL="12700" marR="125729" rtl="0" algn="l">
              <a:lnSpc>
                <a:spcPct val="100699"/>
              </a:lnSpc>
              <a:spcBef>
                <a:spcPts val="85"/>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12700" marR="125729" rtl="0" algn="l">
              <a:lnSpc>
                <a:spcPct val="100699"/>
              </a:lnSpc>
              <a:spcBef>
                <a:spcPts val="85"/>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W(A)</a:t>
            </a:r>
            <a:endParaRPr b="0" i="0" sz="1400" u="none" cap="none" strike="noStrike">
              <a:solidFill>
                <a:srgbClr val="000000"/>
              </a:solidFill>
              <a:latin typeface="Arial"/>
              <a:ea typeface="Arial"/>
              <a:cs typeface="Arial"/>
              <a:sym typeface="Arial"/>
            </a:endParaRPr>
          </a:p>
          <a:p>
            <a:pPr indent="0" lvl="0" marL="12700" marR="125729" rtl="0" algn="l">
              <a:lnSpc>
                <a:spcPct val="100699"/>
              </a:lnSpc>
              <a:spcBef>
                <a:spcPts val="85"/>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Commit</a:t>
            </a:r>
            <a:endParaRPr b="0" i="0" sz="1400" u="none" cap="none" strike="noStrike">
              <a:solidFill>
                <a:srgbClr val="000000"/>
              </a:solidFill>
              <a:latin typeface="Arial"/>
              <a:ea typeface="Arial"/>
              <a:cs typeface="Arial"/>
              <a:sym typeface="Arial"/>
            </a:endParaRPr>
          </a:p>
          <a:p>
            <a:pPr indent="0" lvl="0" marL="12700" marR="125729" rtl="0" algn="l">
              <a:lnSpc>
                <a:spcPct val="100699"/>
              </a:lnSpc>
              <a:spcBef>
                <a:spcPts val="85"/>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12700" marR="125729" rtl="0" algn="l">
              <a:lnSpc>
                <a:spcPct val="100699"/>
              </a:lnSpc>
              <a:spcBef>
                <a:spcPts val="85"/>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R(A)</a:t>
            </a:r>
            <a:endParaRPr b="0" i="0" sz="1400" u="none" cap="none" strike="noStrike">
              <a:solidFill>
                <a:srgbClr val="000000"/>
              </a:solidFill>
              <a:latin typeface="Arial"/>
              <a:ea typeface="Arial"/>
              <a:cs typeface="Arial"/>
              <a:sym typeface="Arial"/>
            </a:endParaRPr>
          </a:p>
          <a:p>
            <a:pPr indent="0" lvl="0" marL="12700" marR="125729" rtl="0" algn="l">
              <a:lnSpc>
                <a:spcPct val="100699"/>
              </a:lnSpc>
              <a:spcBef>
                <a:spcPts val="85"/>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Commit</a:t>
            </a:r>
            <a:endParaRPr b="0" i="0" sz="1400" u="none" cap="none" strike="noStrike">
              <a:solidFill>
                <a:srgbClr val="000000"/>
              </a:solidFill>
              <a:latin typeface="Arial"/>
              <a:ea typeface="Arial"/>
              <a:cs typeface="Arial"/>
              <a:sym typeface="Arial"/>
            </a:endParaRPr>
          </a:p>
          <a:p>
            <a:pPr indent="-363855" lvl="0" marL="376555" marR="125729" rtl="0" algn="l">
              <a:lnSpc>
                <a:spcPct val="100699"/>
              </a:lnSpc>
              <a:spcBef>
                <a:spcPts val="85"/>
              </a:spcBef>
              <a:spcAft>
                <a:spcPts val="0"/>
              </a:spcAft>
              <a:buClr>
                <a:srgbClr val="CC3300"/>
              </a:buClr>
              <a:buSzPts val="1600"/>
              <a:buFont typeface="Arial"/>
              <a:buChar char="●"/>
            </a:pPr>
            <a:r>
              <a:rPr b="0" i="0" lang="en-US" sz="1800" u="none" cap="none" strike="noStrike">
                <a:solidFill>
                  <a:schemeClr val="dk1"/>
                </a:solidFill>
                <a:latin typeface="Times New Roman"/>
                <a:ea typeface="Times New Roman"/>
                <a:cs typeface="Times New Roman"/>
                <a:sym typeface="Times New Roman"/>
              </a:rPr>
              <a:t>This schedule is cascadeless. Since the updated value of </a:t>
            </a:r>
            <a:r>
              <a:rPr b="1" i="0" lang="en-US" sz="1800" u="none" cap="none" strike="noStrike">
                <a:solidFill>
                  <a:schemeClr val="dk1"/>
                </a:solidFill>
                <a:latin typeface="Times New Roman"/>
                <a:ea typeface="Times New Roman"/>
                <a:cs typeface="Times New Roman"/>
                <a:sym typeface="Times New Roman"/>
              </a:rPr>
              <a:t>A</a:t>
            </a:r>
            <a:r>
              <a:rPr b="0" i="0" lang="en-US" sz="1800" u="none" cap="none" strike="noStrike">
                <a:solidFill>
                  <a:schemeClr val="dk1"/>
                </a:solidFill>
                <a:latin typeface="Times New Roman"/>
                <a:ea typeface="Times New Roman"/>
                <a:cs typeface="Times New Roman"/>
                <a:sym typeface="Times New Roman"/>
              </a:rPr>
              <a:t> is read by T</a:t>
            </a:r>
            <a:r>
              <a:rPr b="0" baseline="-25000" i="0" lang="en-US" sz="1800" u="none" cap="none" strike="noStrike">
                <a:solidFill>
                  <a:schemeClr val="dk1"/>
                </a:solidFill>
                <a:latin typeface="Times New Roman"/>
                <a:ea typeface="Times New Roman"/>
                <a:cs typeface="Times New Roman"/>
                <a:sym typeface="Times New Roman"/>
              </a:rPr>
              <a:t>2</a:t>
            </a:r>
            <a:r>
              <a:rPr b="0" i="0" lang="en-US" sz="1800" u="none" cap="none" strike="noStrike">
                <a:solidFill>
                  <a:schemeClr val="dk1"/>
                </a:solidFill>
                <a:latin typeface="Times New Roman"/>
                <a:ea typeface="Times New Roman"/>
                <a:cs typeface="Times New Roman"/>
                <a:sym typeface="Times New Roman"/>
              </a:rPr>
              <a:t> only after the updating transaction i.e. T</a:t>
            </a:r>
            <a:r>
              <a:rPr b="0" baseline="-25000" i="0" lang="en-US" sz="1800" u="none" cap="none" strike="noStrike">
                <a:solidFill>
                  <a:schemeClr val="dk1"/>
                </a:solidFill>
                <a:latin typeface="Times New Roman"/>
                <a:ea typeface="Times New Roman"/>
                <a:cs typeface="Times New Roman"/>
                <a:sym typeface="Times New Roman"/>
              </a:rPr>
              <a:t>1</a:t>
            </a:r>
            <a:r>
              <a:rPr b="0" i="0" lang="en-US" sz="1800" u="none" cap="none" strike="noStrike">
                <a:solidFill>
                  <a:schemeClr val="dk1"/>
                </a:solidFill>
                <a:latin typeface="Times New Roman"/>
                <a:ea typeface="Times New Roman"/>
                <a:cs typeface="Times New Roman"/>
                <a:sym typeface="Times New Roman"/>
              </a:rPr>
              <a:t> commits.</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7"/>
          <p:cNvSpPr txBox="1"/>
          <p:nvPr>
            <p:ph type="title"/>
          </p:nvPr>
        </p:nvSpPr>
        <p:spPr>
          <a:xfrm>
            <a:off x="381000" y="990600"/>
            <a:ext cx="4572000" cy="861900"/>
          </a:xfrm>
          <a:prstGeom prst="rect">
            <a:avLst/>
          </a:prstGeom>
          <a:noFill/>
          <a:ln>
            <a:noFill/>
          </a:ln>
        </p:spPr>
        <p:txBody>
          <a:bodyPr anchorCtr="0" anchor="b" bIns="91425"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Arial"/>
              <a:buNone/>
            </a:pPr>
            <a:r>
              <a:rPr lang="en-US" sz="2800">
                <a:latin typeface="Arial"/>
                <a:ea typeface="Arial"/>
                <a:cs typeface="Arial"/>
                <a:sym typeface="Arial"/>
              </a:rPr>
              <a:t>     </a:t>
            </a:r>
            <a:r>
              <a:rPr lang="en-US" sz="3600">
                <a:latin typeface="Arial"/>
                <a:ea typeface="Arial"/>
                <a:cs typeface="Arial"/>
                <a:sym typeface="Arial"/>
              </a:rPr>
              <a:t>Strict Schedule</a:t>
            </a:r>
            <a:br>
              <a:rPr lang="en-US" sz="2800">
                <a:latin typeface="Arial"/>
                <a:ea typeface="Arial"/>
                <a:cs typeface="Arial"/>
                <a:sym typeface="Arial"/>
              </a:rPr>
            </a:br>
            <a:endParaRPr sz="2800"/>
          </a:p>
        </p:txBody>
      </p:sp>
      <p:sp>
        <p:nvSpPr>
          <p:cNvPr id="255" name="Google Shape;255;p27"/>
          <p:cNvSpPr txBox="1"/>
          <p:nvPr>
            <p:ph idx="1" type="body"/>
          </p:nvPr>
        </p:nvSpPr>
        <p:spPr>
          <a:xfrm>
            <a:off x="457200" y="1295400"/>
            <a:ext cx="8305800" cy="1385100"/>
          </a:xfrm>
          <a:prstGeom prst="rect">
            <a:avLst/>
          </a:prstGeom>
          <a:noFill/>
          <a:ln>
            <a:noFill/>
          </a:ln>
        </p:spPr>
        <p:txBody>
          <a:bodyPr anchorCtr="0" anchor="t" bIns="45700" lIns="91425" spcFirstLastPara="1" rIns="91425" wrap="square" tIns="45700">
            <a:normAutofit fontScale="62500" lnSpcReduction="20000"/>
          </a:bodyPr>
          <a:lstStyle/>
          <a:p>
            <a:pPr indent="-275224" lvl="0" marL="285750" rtl="0" algn="l">
              <a:lnSpc>
                <a:spcPct val="100000"/>
              </a:lnSpc>
              <a:spcBef>
                <a:spcPts val="0"/>
              </a:spcBef>
              <a:spcAft>
                <a:spcPts val="0"/>
              </a:spcAft>
              <a:buSzPct val="78928"/>
              <a:buFont typeface="Arial"/>
              <a:buChar char="•"/>
            </a:pPr>
            <a:r>
              <a:rPr lang="en-US">
                <a:latin typeface="Times New Roman"/>
                <a:ea typeface="Times New Roman"/>
                <a:cs typeface="Times New Roman"/>
                <a:sym typeface="Times New Roman"/>
              </a:rPr>
              <a:t>A schedule is strict if a value written by a transaction can not be read or overwritten by other  transactions until the transaction either commit or abort.</a:t>
            </a:r>
            <a:endParaRPr/>
          </a:p>
          <a:p>
            <a:pPr indent="0" lvl="0" marL="0" rtl="0" algn="l">
              <a:lnSpc>
                <a:spcPct val="100000"/>
              </a:lnSpc>
              <a:spcBef>
                <a:spcPts val="580"/>
              </a:spcBef>
              <a:spcAft>
                <a:spcPts val="0"/>
              </a:spcAft>
              <a:buSzPct val="102857"/>
              <a:buNone/>
            </a:pPr>
            <a:r>
              <a:rPr lang="en-US">
                <a:latin typeface="Times New Roman"/>
                <a:ea typeface="Times New Roman"/>
                <a:cs typeface="Times New Roman"/>
                <a:sym typeface="Times New Roman"/>
              </a:rPr>
              <a:t>                                                        Or</a:t>
            </a:r>
            <a:endParaRPr/>
          </a:p>
          <a:p>
            <a:pPr indent="-275224" lvl="0" marL="285750" rtl="0" algn="l">
              <a:lnSpc>
                <a:spcPct val="100000"/>
              </a:lnSpc>
              <a:spcBef>
                <a:spcPts val="580"/>
              </a:spcBef>
              <a:spcAft>
                <a:spcPts val="0"/>
              </a:spcAft>
              <a:buSzPct val="78928"/>
              <a:buFont typeface="Arial"/>
              <a:buChar char="•"/>
            </a:pPr>
            <a:r>
              <a:rPr lang="en-US">
                <a:latin typeface="Times New Roman"/>
                <a:ea typeface="Times New Roman"/>
                <a:cs typeface="Times New Roman"/>
                <a:sym typeface="Times New Roman"/>
              </a:rPr>
              <a:t>if schedule contains no </a:t>
            </a:r>
            <a:r>
              <a:rPr b="1" lang="en-US">
                <a:latin typeface="Times New Roman"/>
                <a:ea typeface="Times New Roman"/>
                <a:cs typeface="Times New Roman"/>
                <a:sym typeface="Times New Roman"/>
              </a:rPr>
              <a:t>read </a:t>
            </a:r>
            <a:r>
              <a:rPr lang="en-US">
                <a:latin typeface="Times New Roman"/>
                <a:ea typeface="Times New Roman"/>
                <a:cs typeface="Times New Roman"/>
                <a:sym typeface="Times New Roman"/>
              </a:rPr>
              <a:t>or </a:t>
            </a:r>
            <a:r>
              <a:rPr b="1" lang="en-US">
                <a:latin typeface="Times New Roman"/>
                <a:ea typeface="Times New Roman"/>
                <a:cs typeface="Times New Roman"/>
                <a:sym typeface="Times New Roman"/>
              </a:rPr>
              <a:t>write</a:t>
            </a:r>
            <a:r>
              <a:rPr lang="en-US">
                <a:latin typeface="Times New Roman"/>
                <a:ea typeface="Times New Roman"/>
                <a:cs typeface="Times New Roman"/>
                <a:sym typeface="Times New Roman"/>
              </a:rPr>
              <a:t> before commit then it is known as strict schedule. Strict schedule is strict in nature. </a:t>
            </a:r>
            <a:endParaRPr/>
          </a:p>
        </p:txBody>
      </p:sp>
      <p:pic>
        <p:nvPicPr>
          <p:cNvPr id="256" name="Google Shape;256;p27"/>
          <p:cNvPicPr preferRelativeResize="0"/>
          <p:nvPr/>
        </p:nvPicPr>
        <p:blipFill rotWithShape="1">
          <a:blip r:embed="rId3">
            <a:alphaModFix/>
          </a:blip>
          <a:srcRect b="0" l="0" r="0" t="0"/>
          <a:stretch/>
        </p:blipFill>
        <p:spPr>
          <a:xfrm>
            <a:off x="1382650" y="2667000"/>
            <a:ext cx="5850675" cy="3847025"/>
          </a:xfrm>
          <a:prstGeom prst="rect">
            <a:avLst/>
          </a:prstGeom>
          <a:noFill/>
          <a:ln>
            <a:noFill/>
          </a:ln>
        </p:spPr>
      </p:pic>
      <p:sp>
        <p:nvSpPr>
          <p:cNvPr id="257" name="Google Shape;257;p27"/>
          <p:cNvSpPr/>
          <p:nvPr/>
        </p:nvSpPr>
        <p:spPr>
          <a:xfrm>
            <a:off x="381000" y="5976150"/>
            <a:ext cx="8618700" cy="64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In this schedule no read-write or write-write conflict arises before commit hence its strict schedule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8"/>
          <p:cNvSpPr txBox="1"/>
          <p:nvPr>
            <p:ph type="title"/>
          </p:nvPr>
        </p:nvSpPr>
        <p:spPr>
          <a:xfrm>
            <a:off x="685800" y="990600"/>
            <a:ext cx="5257800" cy="430800"/>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Clr>
                <a:srgbClr val="000000"/>
              </a:buClr>
              <a:buSzPts val="3200"/>
              <a:buFont typeface="Libre Franklin"/>
              <a:buNone/>
            </a:pPr>
            <a:r>
              <a:rPr lang="en-US" sz="3200">
                <a:solidFill>
                  <a:srgbClr val="000000"/>
                </a:solidFill>
              </a:rPr>
              <a:t>Non recoverable Schedules</a:t>
            </a:r>
            <a:endParaRPr sz="3200"/>
          </a:p>
        </p:txBody>
      </p:sp>
      <p:sp>
        <p:nvSpPr>
          <p:cNvPr id="263" name="Google Shape;263;p28"/>
          <p:cNvSpPr txBox="1"/>
          <p:nvPr>
            <p:ph idx="1" type="body"/>
          </p:nvPr>
        </p:nvSpPr>
        <p:spPr>
          <a:xfrm>
            <a:off x="618575" y="1414850"/>
            <a:ext cx="7801500" cy="4986000"/>
          </a:xfrm>
          <a:prstGeom prst="rect">
            <a:avLst/>
          </a:prstGeom>
          <a:noFill/>
          <a:ln>
            <a:noFill/>
          </a:ln>
        </p:spPr>
        <p:txBody>
          <a:bodyPr anchorCtr="0" anchor="t" bIns="45700" lIns="91425" spcFirstLastPara="1" rIns="91425" wrap="square" tIns="45700">
            <a:normAutofit fontScale="55000" lnSpcReduction="10000"/>
          </a:bodyPr>
          <a:lstStyle/>
          <a:p>
            <a:pPr indent="-264699" lvl="0" marL="285750" rtl="0" algn="l">
              <a:lnSpc>
                <a:spcPct val="100000"/>
              </a:lnSpc>
              <a:spcBef>
                <a:spcPts val="0"/>
              </a:spcBef>
              <a:spcAft>
                <a:spcPts val="0"/>
              </a:spcAft>
              <a:buSzPct val="78928"/>
              <a:buFont typeface="Arial"/>
              <a:buChar char="•"/>
            </a:pPr>
            <a:r>
              <a:rPr lang="en-US">
                <a:latin typeface="Times New Roman"/>
                <a:ea typeface="Times New Roman"/>
                <a:cs typeface="Times New Roman"/>
                <a:sym typeface="Times New Roman"/>
              </a:rPr>
              <a:t>Consider the following schedule involving two transactions T</a:t>
            </a:r>
            <a:r>
              <a:rPr baseline="-25000" lang="en-US">
                <a:latin typeface="Times New Roman"/>
                <a:ea typeface="Times New Roman"/>
                <a:cs typeface="Times New Roman"/>
                <a:sym typeface="Times New Roman"/>
              </a:rPr>
              <a:t>1</a:t>
            </a:r>
            <a:r>
              <a:rPr lang="en-US">
                <a:latin typeface="Times New Roman"/>
                <a:ea typeface="Times New Roman"/>
                <a:cs typeface="Times New Roman"/>
                <a:sym typeface="Times New Roman"/>
              </a:rPr>
              <a:t> and T</a:t>
            </a:r>
            <a:r>
              <a:rPr baseline="-25000" lang="en-US">
                <a:latin typeface="Times New Roman"/>
                <a:ea typeface="Times New Roman"/>
                <a:cs typeface="Times New Roman"/>
                <a:sym typeface="Times New Roman"/>
              </a:rPr>
              <a:t>2</a:t>
            </a:r>
            <a:r>
              <a:rPr lang="en-US">
                <a:latin typeface="Times New Roman"/>
                <a:ea typeface="Times New Roman"/>
                <a:cs typeface="Times New Roman"/>
                <a:sym typeface="Times New Roman"/>
              </a:rPr>
              <a:t>.</a:t>
            </a:r>
            <a:endParaRPr/>
          </a:p>
          <a:p>
            <a:pPr indent="-176085" lvl="0" marL="274320" rtl="0" algn="l">
              <a:lnSpc>
                <a:spcPct val="100000"/>
              </a:lnSpc>
              <a:spcBef>
                <a:spcPts val="580"/>
              </a:spcBef>
              <a:spcAft>
                <a:spcPts val="0"/>
              </a:spcAft>
              <a:buSzPct val="78928"/>
              <a:buNone/>
            </a:pPr>
            <a:r>
              <a:t/>
            </a:r>
            <a:endParaRPr b="1"/>
          </a:p>
          <a:p>
            <a:pPr indent="-176085" lvl="0" marL="274320" rtl="0" algn="l">
              <a:lnSpc>
                <a:spcPct val="100000"/>
              </a:lnSpc>
              <a:spcBef>
                <a:spcPts val="580"/>
              </a:spcBef>
              <a:spcAft>
                <a:spcPts val="0"/>
              </a:spcAft>
              <a:buSzPct val="78928"/>
              <a:buNone/>
            </a:pPr>
            <a:r>
              <a:t/>
            </a:r>
            <a:endParaRPr b="1"/>
          </a:p>
          <a:p>
            <a:pPr indent="-176085" lvl="0" marL="274320" rtl="0" algn="l">
              <a:lnSpc>
                <a:spcPct val="100000"/>
              </a:lnSpc>
              <a:spcBef>
                <a:spcPts val="580"/>
              </a:spcBef>
              <a:spcAft>
                <a:spcPts val="0"/>
              </a:spcAft>
              <a:buSzPct val="78928"/>
              <a:buNone/>
            </a:pPr>
            <a:r>
              <a:t/>
            </a:r>
            <a:endParaRPr b="1"/>
          </a:p>
          <a:p>
            <a:pPr indent="0" lvl="0" marL="0" rtl="0" algn="l">
              <a:lnSpc>
                <a:spcPct val="100000"/>
              </a:lnSpc>
              <a:spcBef>
                <a:spcPts val="580"/>
              </a:spcBef>
              <a:spcAft>
                <a:spcPts val="0"/>
              </a:spcAft>
              <a:buSzPct val="78928"/>
              <a:buNone/>
            </a:pPr>
            <a:r>
              <a:rPr b="1" lang="en-US"/>
              <a:t>              T1                                                                   T2</a:t>
            </a:r>
            <a:endParaRPr/>
          </a:p>
          <a:p>
            <a:pPr indent="-176085" lvl="0" marL="274320" rtl="0" algn="l">
              <a:lnSpc>
                <a:spcPct val="100000"/>
              </a:lnSpc>
              <a:spcBef>
                <a:spcPts val="580"/>
              </a:spcBef>
              <a:spcAft>
                <a:spcPts val="0"/>
              </a:spcAft>
              <a:buSzPct val="78928"/>
              <a:buNone/>
            </a:pPr>
            <a:r>
              <a:t/>
            </a:r>
            <a:endParaRPr b="1"/>
          </a:p>
          <a:p>
            <a:pPr indent="0" lvl="0" marL="0" rtl="0" algn="l">
              <a:lnSpc>
                <a:spcPct val="100000"/>
              </a:lnSpc>
              <a:spcBef>
                <a:spcPts val="580"/>
              </a:spcBef>
              <a:spcAft>
                <a:spcPts val="0"/>
              </a:spcAft>
              <a:buSzPct val="78928"/>
              <a:buNone/>
            </a:pPr>
            <a:r>
              <a:rPr b="1" lang="en-US"/>
              <a:t>             R(A)</a:t>
            </a:r>
            <a:endParaRPr/>
          </a:p>
          <a:p>
            <a:pPr indent="0" lvl="0" marL="0" rtl="0" algn="l">
              <a:lnSpc>
                <a:spcPct val="100000"/>
              </a:lnSpc>
              <a:spcBef>
                <a:spcPts val="580"/>
              </a:spcBef>
              <a:spcAft>
                <a:spcPts val="0"/>
              </a:spcAft>
              <a:buSzPct val="78928"/>
              <a:buNone/>
            </a:pPr>
            <a:r>
              <a:rPr b="1" lang="en-US"/>
              <a:t>            W(A)</a:t>
            </a:r>
            <a:endParaRPr/>
          </a:p>
          <a:p>
            <a:pPr indent="0" lvl="0" marL="0" rtl="0" algn="l">
              <a:lnSpc>
                <a:spcPct val="100000"/>
              </a:lnSpc>
              <a:spcBef>
                <a:spcPts val="580"/>
              </a:spcBef>
              <a:spcAft>
                <a:spcPts val="0"/>
              </a:spcAft>
              <a:buSzPct val="78928"/>
              <a:buNone/>
            </a:pPr>
            <a:r>
              <a:rPr b="1" lang="en-US"/>
              <a:t>                                                                                   </a:t>
            </a:r>
            <a:endParaRPr/>
          </a:p>
          <a:p>
            <a:pPr indent="0" lvl="0" marL="0" rtl="0" algn="l">
              <a:lnSpc>
                <a:spcPct val="100000"/>
              </a:lnSpc>
              <a:spcBef>
                <a:spcPts val="580"/>
              </a:spcBef>
              <a:spcAft>
                <a:spcPts val="0"/>
              </a:spcAft>
              <a:buSzPct val="78928"/>
              <a:buNone/>
            </a:pPr>
            <a:r>
              <a:rPr b="1" lang="en-US"/>
              <a:t>                                                                                     R(A)</a:t>
            </a:r>
            <a:endParaRPr/>
          </a:p>
          <a:p>
            <a:pPr indent="0" lvl="0" marL="0" rtl="0" algn="l">
              <a:lnSpc>
                <a:spcPct val="100000"/>
              </a:lnSpc>
              <a:spcBef>
                <a:spcPts val="580"/>
              </a:spcBef>
              <a:spcAft>
                <a:spcPts val="0"/>
              </a:spcAft>
              <a:buSzPct val="78928"/>
              <a:buNone/>
            </a:pPr>
            <a:r>
              <a:rPr b="1" lang="en-US"/>
              <a:t>				            Commit</a:t>
            </a:r>
            <a:endParaRPr/>
          </a:p>
          <a:p>
            <a:pPr indent="0" lvl="0" marL="0" rtl="0" algn="l">
              <a:lnSpc>
                <a:spcPct val="100000"/>
              </a:lnSpc>
              <a:spcBef>
                <a:spcPts val="580"/>
              </a:spcBef>
              <a:spcAft>
                <a:spcPts val="0"/>
              </a:spcAft>
              <a:buSzPct val="78928"/>
              <a:buNone/>
            </a:pPr>
            <a:r>
              <a:rPr b="1" lang="en-US"/>
              <a:t>            Abort</a:t>
            </a:r>
            <a:endParaRPr/>
          </a:p>
          <a:p>
            <a:pPr indent="-176085" lvl="0" marL="274320" rtl="0" algn="l">
              <a:lnSpc>
                <a:spcPct val="100000"/>
              </a:lnSpc>
              <a:spcBef>
                <a:spcPts val="580"/>
              </a:spcBef>
              <a:spcAft>
                <a:spcPts val="0"/>
              </a:spcAft>
              <a:buSzPct val="78928"/>
              <a:buNone/>
            </a:pPr>
            <a:r>
              <a:t/>
            </a:r>
            <a:endParaRPr b="1"/>
          </a:p>
          <a:p>
            <a:pPr indent="-253269" lvl="0" marL="274320" rtl="0" algn="l">
              <a:lnSpc>
                <a:spcPct val="100000"/>
              </a:lnSpc>
              <a:spcBef>
                <a:spcPts val="580"/>
              </a:spcBef>
              <a:spcAft>
                <a:spcPts val="0"/>
              </a:spcAft>
              <a:buSzPct val="78928"/>
              <a:buChar char="⚫"/>
            </a:pPr>
            <a:r>
              <a:rPr lang="en-US">
                <a:latin typeface="Times New Roman"/>
                <a:ea typeface="Times New Roman"/>
                <a:cs typeface="Times New Roman"/>
                <a:sym typeface="Times New Roman"/>
              </a:rPr>
              <a:t>T</a:t>
            </a:r>
            <a:r>
              <a:rPr baseline="-25000" lang="en-US">
                <a:latin typeface="Times New Roman"/>
                <a:ea typeface="Times New Roman"/>
                <a:cs typeface="Times New Roman"/>
                <a:sym typeface="Times New Roman"/>
              </a:rPr>
              <a:t>2</a:t>
            </a:r>
            <a:r>
              <a:rPr lang="en-US">
                <a:latin typeface="Times New Roman"/>
                <a:ea typeface="Times New Roman"/>
                <a:cs typeface="Times New Roman"/>
                <a:sym typeface="Times New Roman"/>
              </a:rPr>
              <a:t> read the value of A written by T</a:t>
            </a:r>
            <a:r>
              <a:rPr baseline="-25000" lang="en-US">
                <a:latin typeface="Times New Roman"/>
                <a:ea typeface="Times New Roman"/>
                <a:cs typeface="Times New Roman"/>
                <a:sym typeface="Times New Roman"/>
              </a:rPr>
              <a:t>1</a:t>
            </a:r>
            <a:r>
              <a:rPr lang="en-US">
                <a:latin typeface="Times New Roman"/>
                <a:ea typeface="Times New Roman"/>
                <a:cs typeface="Times New Roman"/>
                <a:sym typeface="Times New Roman"/>
              </a:rPr>
              <a:t>, and committed. T</a:t>
            </a:r>
            <a:r>
              <a:rPr baseline="-25000" lang="en-US">
                <a:latin typeface="Times New Roman"/>
                <a:ea typeface="Times New Roman"/>
                <a:cs typeface="Times New Roman"/>
                <a:sym typeface="Times New Roman"/>
              </a:rPr>
              <a:t>1</a:t>
            </a:r>
            <a:r>
              <a:rPr lang="en-US">
                <a:latin typeface="Times New Roman"/>
                <a:ea typeface="Times New Roman"/>
                <a:cs typeface="Times New Roman"/>
                <a:sym typeface="Times New Roman"/>
              </a:rPr>
              <a:t> later aborted, therefore the value read by T</a:t>
            </a:r>
            <a:r>
              <a:rPr baseline="-25000" lang="en-US">
                <a:latin typeface="Times New Roman"/>
                <a:ea typeface="Times New Roman"/>
                <a:cs typeface="Times New Roman"/>
                <a:sym typeface="Times New Roman"/>
              </a:rPr>
              <a:t>2</a:t>
            </a:r>
            <a:r>
              <a:rPr lang="en-US">
                <a:latin typeface="Times New Roman"/>
                <a:ea typeface="Times New Roman"/>
                <a:cs typeface="Times New Roman"/>
                <a:sym typeface="Times New Roman"/>
              </a:rPr>
              <a:t> is wrong, but since T</a:t>
            </a:r>
            <a:r>
              <a:rPr baseline="-25000" lang="en-US">
                <a:latin typeface="Times New Roman"/>
                <a:ea typeface="Times New Roman"/>
                <a:cs typeface="Times New Roman"/>
                <a:sym typeface="Times New Roman"/>
              </a:rPr>
              <a:t>2</a:t>
            </a:r>
            <a:r>
              <a:rPr lang="en-US">
                <a:latin typeface="Times New Roman"/>
                <a:ea typeface="Times New Roman"/>
                <a:cs typeface="Times New Roman"/>
                <a:sym typeface="Times New Roman"/>
              </a:rPr>
              <a:t> committed, this schedule is </a:t>
            </a:r>
            <a:r>
              <a:rPr b="1" lang="en-US">
                <a:latin typeface="Times New Roman"/>
                <a:ea typeface="Times New Roman"/>
                <a:cs typeface="Times New Roman"/>
                <a:sym typeface="Times New Roman"/>
              </a:rPr>
              <a:t>non-recoverable</a:t>
            </a:r>
            <a:endParaRPr/>
          </a:p>
          <a:p>
            <a:pPr indent="-176085" lvl="0" marL="274320" rtl="0" algn="l">
              <a:lnSpc>
                <a:spcPct val="100000"/>
              </a:lnSpc>
              <a:spcBef>
                <a:spcPts val="580"/>
              </a:spcBef>
              <a:spcAft>
                <a:spcPts val="0"/>
              </a:spcAft>
              <a:buSzPct val="78928"/>
              <a:buNone/>
            </a:pPr>
            <a:r>
              <a:t/>
            </a:r>
            <a:endParaRPr b="1"/>
          </a:p>
          <a:p>
            <a:pPr indent="-187515" lvl="0" marL="285750" rtl="0" algn="l">
              <a:lnSpc>
                <a:spcPct val="100000"/>
              </a:lnSpc>
              <a:spcBef>
                <a:spcPts val="580"/>
              </a:spcBef>
              <a:spcAft>
                <a:spcPts val="0"/>
              </a:spcAft>
              <a:buSzPct val="78928"/>
              <a:buFont typeface="Arial"/>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9"/>
          <p:cNvSpPr txBox="1"/>
          <p:nvPr>
            <p:ph type="title"/>
          </p:nvPr>
        </p:nvSpPr>
        <p:spPr>
          <a:xfrm>
            <a:off x="761999" y="876493"/>
            <a:ext cx="40179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000000"/>
              </a:buClr>
              <a:buSzPts val="3200"/>
              <a:buFont typeface="Libre Franklin"/>
              <a:buNone/>
            </a:pPr>
            <a:r>
              <a:rPr lang="en-US" sz="3200">
                <a:solidFill>
                  <a:srgbClr val="000000"/>
                </a:solidFill>
              </a:rPr>
              <a:t>Concurrency Control</a:t>
            </a:r>
            <a:endParaRPr sz="3200"/>
          </a:p>
        </p:txBody>
      </p:sp>
      <p:sp>
        <p:nvSpPr>
          <p:cNvPr id="269" name="Google Shape;269;p29"/>
          <p:cNvSpPr txBox="1"/>
          <p:nvPr/>
        </p:nvSpPr>
        <p:spPr>
          <a:xfrm>
            <a:off x="966063" y="1808543"/>
            <a:ext cx="7627500" cy="4602000"/>
          </a:xfrm>
          <a:prstGeom prst="rect">
            <a:avLst/>
          </a:prstGeom>
          <a:noFill/>
          <a:ln>
            <a:noFill/>
          </a:ln>
        </p:spPr>
        <p:txBody>
          <a:bodyPr anchorCtr="0" anchor="t" bIns="0" lIns="0" spcFirstLastPara="1" rIns="0" wrap="square" tIns="10775">
            <a:spAutoFit/>
          </a:bodyPr>
          <a:lstStyle/>
          <a:p>
            <a:pPr indent="-285750" lvl="0" marL="298450" marR="5080" rtl="0" algn="l">
              <a:lnSpc>
                <a:spcPct val="100699"/>
              </a:lnSpc>
              <a:spcBef>
                <a:spcPts val="0"/>
              </a:spcBef>
              <a:spcAft>
                <a:spcPts val="0"/>
              </a:spcAft>
              <a:buClr>
                <a:srgbClr val="CC3300"/>
              </a:buClr>
              <a:buSzPts val="1778"/>
              <a:buFont typeface="Arial"/>
              <a:buChar char="•"/>
            </a:pPr>
            <a:r>
              <a:rPr b="0" i="0" lang="en-US" sz="2000" u="none" cap="none" strike="noStrike">
                <a:solidFill>
                  <a:schemeClr val="dk1"/>
                </a:solidFill>
                <a:latin typeface="Times New Roman"/>
                <a:ea typeface="Times New Roman"/>
                <a:cs typeface="Times New Roman"/>
                <a:sym typeface="Times New Roman"/>
              </a:rPr>
              <a:t>Concurrency control is the procedure in DBMS for managing simultaneous operations without conflicting with each another.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In the concurrency control, the multiple transactions can be executed simultaneously.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It may affect the transaction result. It is highly important to maintain the order of execution of those transactions.</a:t>
            </a:r>
            <a:endParaRPr b="0" i="0" sz="1400" u="none" cap="none" strike="noStrike">
              <a:solidFill>
                <a:srgbClr val="000000"/>
              </a:solidFill>
              <a:latin typeface="Arial"/>
              <a:ea typeface="Arial"/>
              <a:cs typeface="Arial"/>
              <a:sym typeface="Arial"/>
            </a:endParaRPr>
          </a:p>
          <a:p>
            <a:pPr indent="-158750" lvl="0" marL="28575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Problems of concurrency control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Several problems can occur when concurrent transactions are executed in an uncontrolled manner.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Following are the three problems in concurrency control.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Lost updates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Dirty read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Unrepeatable read</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0"/>
          <p:cNvSpPr txBox="1"/>
          <p:nvPr>
            <p:ph type="title"/>
          </p:nvPr>
        </p:nvSpPr>
        <p:spPr>
          <a:xfrm>
            <a:off x="685800" y="797060"/>
            <a:ext cx="58473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000000"/>
              </a:buClr>
              <a:buSzPts val="3200"/>
              <a:buFont typeface="Libre Franklin"/>
              <a:buNone/>
            </a:pPr>
            <a:r>
              <a:rPr lang="en-US" sz="3200">
                <a:solidFill>
                  <a:srgbClr val="000000"/>
                </a:solidFill>
              </a:rPr>
              <a:t>Concurrency Control (Cont.)</a:t>
            </a:r>
            <a:endParaRPr sz="3200"/>
          </a:p>
        </p:txBody>
      </p:sp>
      <p:sp>
        <p:nvSpPr>
          <p:cNvPr id="275" name="Google Shape;275;p30"/>
          <p:cNvSpPr txBox="1"/>
          <p:nvPr/>
        </p:nvSpPr>
        <p:spPr>
          <a:xfrm>
            <a:off x="685800" y="1371600"/>
            <a:ext cx="7311900" cy="5575800"/>
          </a:xfrm>
          <a:prstGeom prst="rect">
            <a:avLst/>
          </a:prstGeom>
          <a:noFill/>
          <a:ln>
            <a:noFill/>
          </a:ln>
        </p:spPr>
        <p:txBody>
          <a:bodyPr anchorCtr="0" anchor="t" bIns="0" lIns="0" spcFirstLastPara="1" rIns="0" wrap="square" tIns="1077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Times New Roman"/>
                <a:ea typeface="Times New Roman"/>
                <a:cs typeface="Times New Roman"/>
                <a:sym typeface="Times New Roman"/>
              </a:rPr>
              <a:t>Lost update problem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Times New Roman"/>
                <a:ea typeface="Times New Roman"/>
                <a:cs typeface="Times New Roman"/>
                <a:sym typeface="Times New Roman"/>
              </a:rPr>
              <a:t> </a:t>
            </a:r>
            <a:endParaRPr b="1" i="0" sz="1800" u="none" cap="none" strike="noStrike">
              <a:solidFill>
                <a:srgbClr val="FF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When two transactions that access the same database items contain their operations in a way that makes the value of some database item incorrect, then the lost update problem occurs.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If two transactions T1 and T2 read a record and then update it, then the effect of updating of the first record will be overwritten by the second update.</a:t>
            </a:r>
            <a:endParaRPr b="0" i="0" sz="1400" u="none" cap="none" strike="noStrike">
              <a:solidFill>
                <a:srgbClr val="000000"/>
              </a:solidFill>
              <a:latin typeface="Arial"/>
              <a:ea typeface="Arial"/>
              <a:cs typeface="Arial"/>
              <a:sym typeface="Arial"/>
            </a:endParaRPr>
          </a:p>
          <a:p>
            <a:pPr indent="-262256" lvl="0" marL="376555" marR="5080" rtl="0" algn="l">
              <a:lnSpc>
                <a:spcPct val="100699"/>
              </a:lnSpc>
              <a:spcBef>
                <a:spcPts val="85"/>
              </a:spcBef>
              <a:spcAft>
                <a:spcPts val="0"/>
              </a:spcAft>
              <a:buClr>
                <a:srgbClr val="CC3300"/>
              </a:buClr>
              <a:buSzPts val="1600"/>
              <a:buFont typeface="Libre Baskerville"/>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Times New Roman"/>
                <a:ea typeface="Times New Roman"/>
                <a:cs typeface="Times New Roman"/>
                <a:sym typeface="Times New Roman"/>
              </a:rPr>
              <a:t>Dirty 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The dirty read occurs in the case when one transaction updates an item of the database, and then the transaction fails for some reason. The updated database item is accessed by another transaction before it is changed back to the original value.</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A transaction T1 updates a record which is read by T2. If T1 aborts then T2 now has values which have never formed part of the stable database.</a:t>
            </a:r>
            <a:endParaRPr b="0" i="0" sz="1400" u="none" cap="none" strike="noStrike">
              <a:solidFill>
                <a:srgbClr val="000000"/>
              </a:solidFill>
              <a:latin typeface="Arial"/>
              <a:ea typeface="Arial"/>
              <a:cs typeface="Arial"/>
              <a:sym typeface="Arial"/>
            </a:endParaRPr>
          </a:p>
          <a:p>
            <a:pPr indent="-262256" lvl="0" marL="376555" marR="5080" rtl="0" algn="l">
              <a:lnSpc>
                <a:spcPct val="100699"/>
              </a:lnSpc>
              <a:spcBef>
                <a:spcPts val="85"/>
              </a:spcBef>
              <a:spcAft>
                <a:spcPts val="0"/>
              </a:spcAft>
              <a:buClr>
                <a:srgbClr val="CC3300"/>
              </a:buClr>
              <a:buSzPts val="1600"/>
              <a:buFont typeface="Libre Baskerville"/>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1"/>
          <p:cNvSpPr txBox="1"/>
          <p:nvPr>
            <p:ph idx="1" type="body"/>
          </p:nvPr>
        </p:nvSpPr>
        <p:spPr>
          <a:xfrm>
            <a:off x="533400" y="1143000"/>
            <a:ext cx="7924800" cy="3047100"/>
          </a:xfrm>
          <a:prstGeom prst="rect">
            <a:avLst/>
          </a:prstGeom>
          <a:noFill/>
          <a:ln>
            <a:noFill/>
          </a:ln>
        </p:spPr>
        <p:txBody>
          <a:bodyPr anchorCtr="0" anchor="t" bIns="45700" lIns="91425" spcFirstLastPara="1" rIns="91425" wrap="square" tIns="45700">
            <a:normAutofit fontScale="70000" lnSpcReduction="20000"/>
          </a:bodyPr>
          <a:lstStyle/>
          <a:p>
            <a:pPr indent="-262984" lvl="0" marL="274320" rtl="0" algn="l">
              <a:lnSpc>
                <a:spcPct val="100000"/>
              </a:lnSpc>
              <a:spcBef>
                <a:spcPts val="0"/>
              </a:spcBef>
              <a:spcAft>
                <a:spcPts val="0"/>
              </a:spcAft>
              <a:buSzPct val="85000"/>
              <a:buChar char="⚫"/>
            </a:pPr>
            <a:r>
              <a:rPr b="1" lang="en-US" sz="2800">
                <a:solidFill>
                  <a:srgbClr val="FF0000"/>
                </a:solidFill>
                <a:latin typeface="Times New Roman"/>
                <a:ea typeface="Times New Roman"/>
                <a:cs typeface="Times New Roman"/>
                <a:sym typeface="Times New Roman"/>
              </a:rPr>
              <a:t>Inconsistent Retrievals Problem /</a:t>
            </a:r>
            <a:r>
              <a:rPr lang="en-US" sz="2800">
                <a:latin typeface="Times New Roman"/>
                <a:ea typeface="Times New Roman"/>
                <a:cs typeface="Times New Roman"/>
                <a:sym typeface="Times New Roman"/>
              </a:rPr>
              <a:t> </a:t>
            </a:r>
            <a:r>
              <a:rPr b="1" lang="en-US" sz="2800">
                <a:solidFill>
                  <a:srgbClr val="FF0000"/>
                </a:solidFill>
                <a:latin typeface="Times New Roman"/>
                <a:ea typeface="Times New Roman"/>
                <a:cs typeface="Times New Roman"/>
                <a:sym typeface="Times New Roman"/>
              </a:rPr>
              <a:t>Unrepeatable read</a:t>
            </a:r>
            <a:endParaRPr/>
          </a:p>
          <a:p>
            <a:pPr indent="-274415" lvl="0" marL="285750" rtl="0" algn="l">
              <a:lnSpc>
                <a:spcPct val="100000"/>
              </a:lnSpc>
              <a:spcBef>
                <a:spcPts val="580"/>
              </a:spcBef>
              <a:spcAft>
                <a:spcPts val="0"/>
              </a:spcAft>
              <a:buSzPct val="85000"/>
              <a:buFont typeface="Arial"/>
              <a:buChar char="•"/>
            </a:pPr>
            <a:r>
              <a:rPr lang="en-US" sz="2800">
                <a:latin typeface="Times New Roman"/>
                <a:ea typeface="Times New Roman"/>
                <a:cs typeface="Times New Roman"/>
                <a:sym typeface="Times New Roman"/>
              </a:rPr>
              <a:t>Inconsistent Retrievals Problem is also known as unrepeatable read. When a transaction calculates some summary function over a set of data while the other transactions are updating the data, then the Inconsistent Retrievals Problem occurs.</a:t>
            </a:r>
            <a:endParaRPr/>
          </a:p>
          <a:p>
            <a:pPr indent="-168624" lvl="0" marL="285750" rtl="0" algn="l">
              <a:lnSpc>
                <a:spcPct val="100000"/>
              </a:lnSpc>
              <a:spcBef>
                <a:spcPts val="580"/>
              </a:spcBef>
              <a:spcAft>
                <a:spcPts val="0"/>
              </a:spcAft>
              <a:buSzPct val="85000"/>
              <a:buFont typeface="Arial"/>
              <a:buNone/>
            </a:pPr>
            <a:r>
              <a:t/>
            </a:r>
            <a:endParaRPr sz="2800">
              <a:latin typeface="Times New Roman"/>
              <a:ea typeface="Times New Roman"/>
              <a:cs typeface="Times New Roman"/>
              <a:sym typeface="Times New Roman"/>
            </a:endParaRPr>
          </a:p>
          <a:p>
            <a:pPr indent="-274415" lvl="0" marL="285750" rtl="0" algn="l">
              <a:lnSpc>
                <a:spcPct val="100000"/>
              </a:lnSpc>
              <a:spcBef>
                <a:spcPts val="580"/>
              </a:spcBef>
              <a:spcAft>
                <a:spcPts val="0"/>
              </a:spcAft>
              <a:buSzPct val="85000"/>
              <a:buFont typeface="Arial"/>
              <a:buChar char="•"/>
            </a:pPr>
            <a:r>
              <a:rPr lang="en-US" sz="2800">
                <a:latin typeface="Times New Roman"/>
                <a:ea typeface="Times New Roman"/>
                <a:cs typeface="Times New Roman"/>
                <a:sym typeface="Times New Roman"/>
              </a:rPr>
              <a:t>A transaction T1 reads a record and then does some other processing during which the transaction T2 updates the record. Now when the transaction T1 reads the record, then the new value will be inconsistent with the previous value.</a:t>
            </a:r>
            <a:endParaRPr/>
          </a:p>
          <a:p>
            <a:pPr indent="-165560" lvl="0" marL="274320" rtl="0" algn="l">
              <a:lnSpc>
                <a:spcPct val="100000"/>
              </a:lnSpc>
              <a:spcBef>
                <a:spcPts val="580"/>
              </a:spcBef>
              <a:spcAft>
                <a:spcPts val="0"/>
              </a:spcAft>
              <a:buSzPct val="78928"/>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2"/>
          <p:cNvSpPr txBox="1"/>
          <p:nvPr>
            <p:ph type="title"/>
          </p:nvPr>
        </p:nvSpPr>
        <p:spPr>
          <a:xfrm>
            <a:off x="685800" y="829150"/>
            <a:ext cx="7467600" cy="598200"/>
          </a:xfrm>
          <a:prstGeom prst="rect">
            <a:avLst/>
          </a:prstGeom>
          <a:noFill/>
          <a:ln>
            <a:noFill/>
          </a:ln>
        </p:spPr>
        <p:txBody>
          <a:bodyPr anchorCtr="0" anchor="b" bIns="91425"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Libre Franklin"/>
              <a:buNone/>
            </a:pPr>
            <a:r>
              <a:rPr lang="en-US" sz="3600"/>
              <a:t>Concurrency Control Protocol</a:t>
            </a:r>
            <a:endParaRPr sz="3800"/>
          </a:p>
        </p:txBody>
      </p:sp>
      <p:sp>
        <p:nvSpPr>
          <p:cNvPr id="286" name="Google Shape;286;p32"/>
          <p:cNvSpPr txBox="1"/>
          <p:nvPr>
            <p:ph idx="1" type="body"/>
          </p:nvPr>
        </p:nvSpPr>
        <p:spPr>
          <a:xfrm>
            <a:off x="304800" y="1274950"/>
            <a:ext cx="8458200" cy="5301000"/>
          </a:xfrm>
          <a:prstGeom prst="rect">
            <a:avLst/>
          </a:prstGeom>
          <a:noFill/>
          <a:ln>
            <a:noFill/>
          </a:ln>
        </p:spPr>
        <p:txBody>
          <a:bodyPr anchorCtr="0" anchor="t" bIns="45700" lIns="91425" spcFirstLastPara="1" rIns="91425" wrap="square" tIns="45700">
            <a:normAutofit fontScale="92500" lnSpcReduction="20000"/>
          </a:bodyPr>
          <a:lstStyle/>
          <a:p>
            <a:pPr indent="-266223" lvl="0" marL="274320" rtl="0" algn="l">
              <a:lnSpc>
                <a:spcPct val="100000"/>
              </a:lnSpc>
              <a:spcBef>
                <a:spcPts val="0"/>
              </a:spcBef>
              <a:spcAft>
                <a:spcPts val="0"/>
              </a:spcAft>
              <a:buSzPct val="85000"/>
              <a:buChar char="⚫"/>
            </a:pPr>
            <a:r>
              <a:rPr lang="en-US" sz="2000">
                <a:latin typeface="Times New Roman"/>
                <a:ea typeface="Times New Roman"/>
                <a:cs typeface="Times New Roman"/>
                <a:sym typeface="Times New Roman"/>
              </a:rPr>
              <a:t>Different concurrency control protocols offer different benefits between the amount of concurrency they allow and the amount of overhead that they impose.</a:t>
            </a:r>
            <a:endParaRPr/>
          </a:p>
          <a:p>
            <a:pPr indent="-266223" lvl="0" marL="274320" rtl="0" algn="l">
              <a:lnSpc>
                <a:spcPct val="100000"/>
              </a:lnSpc>
              <a:spcBef>
                <a:spcPts val="580"/>
              </a:spcBef>
              <a:spcAft>
                <a:spcPts val="0"/>
              </a:spcAft>
              <a:buSzPct val="85000"/>
              <a:buChar char="⚫"/>
            </a:pPr>
            <a:r>
              <a:rPr lang="en-US" sz="2000">
                <a:latin typeface="Times New Roman"/>
                <a:ea typeface="Times New Roman"/>
                <a:cs typeface="Times New Roman"/>
                <a:sym typeface="Times New Roman"/>
              </a:rPr>
              <a:t>1. Lock-Based Protocols</a:t>
            </a:r>
            <a:endParaRPr/>
          </a:p>
          <a:p>
            <a:pPr indent="-266223" lvl="0" marL="274320" rtl="0" algn="l">
              <a:lnSpc>
                <a:spcPct val="100000"/>
              </a:lnSpc>
              <a:spcBef>
                <a:spcPts val="580"/>
              </a:spcBef>
              <a:spcAft>
                <a:spcPts val="0"/>
              </a:spcAft>
              <a:buSzPct val="85000"/>
              <a:buChar char="⚫"/>
            </a:pPr>
            <a:r>
              <a:rPr lang="en-US" sz="2000">
                <a:latin typeface="Times New Roman"/>
                <a:ea typeface="Times New Roman"/>
                <a:cs typeface="Times New Roman"/>
                <a:sym typeface="Times New Roman"/>
              </a:rPr>
              <a:t>2. Two Phase</a:t>
            </a:r>
            <a:endParaRPr/>
          </a:p>
          <a:p>
            <a:pPr indent="-266223" lvl="0" marL="274320" rtl="0" algn="l">
              <a:lnSpc>
                <a:spcPct val="100000"/>
              </a:lnSpc>
              <a:spcBef>
                <a:spcPts val="580"/>
              </a:spcBef>
              <a:spcAft>
                <a:spcPts val="0"/>
              </a:spcAft>
              <a:buSzPct val="85000"/>
              <a:buChar char="⚫"/>
            </a:pPr>
            <a:r>
              <a:rPr lang="en-US" sz="2000">
                <a:latin typeface="Times New Roman"/>
                <a:ea typeface="Times New Roman"/>
                <a:cs typeface="Times New Roman"/>
                <a:sym typeface="Times New Roman"/>
              </a:rPr>
              <a:t>3. Timestamp-Based Protocols</a:t>
            </a:r>
            <a:endParaRPr/>
          </a:p>
          <a:p>
            <a:pPr indent="-266223" lvl="0" marL="274320" rtl="0" algn="l">
              <a:lnSpc>
                <a:spcPct val="100000"/>
              </a:lnSpc>
              <a:spcBef>
                <a:spcPts val="580"/>
              </a:spcBef>
              <a:spcAft>
                <a:spcPts val="0"/>
              </a:spcAft>
              <a:buSzPct val="85000"/>
              <a:buChar char="⚫"/>
            </a:pPr>
            <a:r>
              <a:rPr lang="en-US" sz="2000">
                <a:latin typeface="Times New Roman"/>
                <a:ea typeface="Times New Roman"/>
                <a:cs typeface="Times New Roman"/>
                <a:sym typeface="Times New Roman"/>
              </a:rPr>
              <a:t>4. Validation-Based Protocols</a:t>
            </a:r>
            <a:endParaRPr/>
          </a:p>
          <a:p>
            <a:pPr indent="-166370" lvl="0" marL="274320" rtl="0" algn="l">
              <a:lnSpc>
                <a:spcPct val="100000"/>
              </a:lnSpc>
              <a:spcBef>
                <a:spcPts val="580"/>
              </a:spcBef>
              <a:spcAft>
                <a:spcPts val="0"/>
              </a:spcAft>
              <a:buSzPct val="85000"/>
              <a:buNone/>
            </a:pPr>
            <a:r>
              <a:t/>
            </a:r>
            <a:endParaRPr sz="2000">
              <a:latin typeface="Times New Roman"/>
              <a:ea typeface="Times New Roman"/>
              <a:cs typeface="Times New Roman"/>
              <a:sym typeface="Times New Roman"/>
            </a:endParaRPr>
          </a:p>
          <a:p>
            <a:pPr indent="-266223" lvl="0" marL="274320" rtl="0" algn="l">
              <a:lnSpc>
                <a:spcPct val="100000"/>
              </a:lnSpc>
              <a:spcBef>
                <a:spcPts val="580"/>
              </a:spcBef>
              <a:spcAft>
                <a:spcPts val="0"/>
              </a:spcAft>
              <a:buSzPct val="85000"/>
              <a:buChar char="⚫"/>
            </a:pPr>
            <a:r>
              <a:rPr lang="en-US" sz="2000">
                <a:solidFill>
                  <a:srgbClr val="FF0000"/>
                </a:solidFill>
                <a:latin typeface="Times New Roman"/>
                <a:ea typeface="Times New Roman"/>
                <a:cs typeface="Times New Roman"/>
                <a:sym typeface="Times New Roman"/>
              </a:rPr>
              <a:t>1. Lock-Based Protocol</a:t>
            </a:r>
            <a:endParaRPr/>
          </a:p>
          <a:p>
            <a:pPr indent="-266223" lvl="0" marL="274320" rtl="0" algn="l">
              <a:lnSpc>
                <a:spcPct val="100000"/>
              </a:lnSpc>
              <a:spcBef>
                <a:spcPts val="580"/>
              </a:spcBef>
              <a:spcAft>
                <a:spcPts val="0"/>
              </a:spcAft>
              <a:buSzPct val="85000"/>
              <a:buChar char="⚫"/>
            </a:pPr>
            <a:r>
              <a:rPr lang="en-US" sz="2000">
                <a:latin typeface="Times New Roman"/>
                <a:ea typeface="Times New Roman"/>
                <a:cs typeface="Times New Roman"/>
                <a:sym typeface="Times New Roman"/>
              </a:rPr>
              <a:t>In this type of protocol, any transaction cannot read or write data until it acquires an appropriate lock on it. All lock requests are made to the concurrency-control manager. Transactions proceed only once the lock request is granted.</a:t>
            </a:r>
            <a:endParaRPr sz="2000">
              <a:latin typeface="Times New Roman"/>
              <a:ea typeface="Times New Roman"/>
              <a:cs typeface="Times New Roman"/>
              <a:sym typeface="Times New Roman"/>
            </a:endParaRPr>
          </a:p>
          <a:p>
            <a:pPr indent="-266223" lvl="0" marL="274320" rtl="0" algn="l">
              <a:lnSpc>
                <a:spcPct val="100000"/>
              </a:lnSpc>
              <a:spcBef>
                <a:spcPts val="580"/>
              </a:spcBef>
              <a:spcAft>
                <a:spcPts val="0"/>
              </a:spcAft>
              <a:buSzPct val="85000"/>
              <a:buChar char="⚫"/>
            </a:pPr>
            <a:r>
              <a:rPr lang="en-US" sz="2000">
                <a:latin typeface="Times New Roman"/>
                <a:ea typeface="Times New Roman"/>
                <a:cs typeface="Times New Roman"/>
                <a:sym typeface="Times New Roman"/>
              </a:rPr>
              <a:t>There are two types of lock:</a:t>
            </a:r>
            <a:endParaRPr/>
          </a:p>
          <a:p>
            <a:pPr indent="-266223" lvl="0" marL="274320" rtl="0" algn="l">
              <a:lnSpc>
                <a:spcPct val="100000"/>
              </a:lnSpc>
              <a:spcBef>
                <a:spcPts val="580"/>
              </a:spcBef>
              <a:spcAft>
                <a:spcPts val="0"/>
              </a:spcAft>
              <a:buSzPct val="85000"/>
              <a:buChar char="⚫"/>
            </a:pPr>
            <a:r>
              <a:rPr lang="en-US" sz="2000">
                <a:latin typeface="Times New Roman"/>
                <a:ea typeface="Times New Roman"/>
                <a:cs typeface="Times New Roman"/>
                <a:sym typeface="Times New Roman"/>
              </a:rPr>
              <a:t>  i. Shared lock</a:t>
            </a:r>
            <a:endParaRPr/>
          </a:p>
          <a:p>
            <a:pPr indent="-266223" lvl="0" marL="274320" rtl="0" algn="l">
              <a:lnSpc>
                <a:spcPct val="100000"/>
              </a:lnSpc>
              <a:spcBef>
                <a:spcPts val="580"/>
              </a:spcBef>
              <a:spcAft>
                <a:spcPts val="0"/>
              </a:spcAft>
              <a:buSzPct val="85000"/>
              <a:buChar char="⚫"/>
            </a:pPr>
            <a:r>
              <a:rPr lang="en-US" sz="2000">
                <a:latin typeface="Times New Roman"/>
                <a:ea typeface="Times New Roman"/>
                <a:cs typeface="Times New Roman"/>
                <a:sym typeface="Times New Roman"/>
              </a:rPr>
              <a:t>  ii. Exclusive lock</a:t>
            </a:r>
            <a:endParaRPr sz="2000">
              <a:latin typeface="Times New Roman"/>
              <a:ea typeface="Times New Roman"/>
              <a:cs typeface="Times New Roman"/>
              <a:sym typeface="Times New Roman"/>
            </a:endParaRPr>
          </a:p>
          <a:p>
            <a:pPr indent="-166370" lvl="0" marL="274320" rtl="0" algn="l">
              <a:lnSpc>
                <a:spcPct val="100000"/>
              </a:lnSpc>
              <a:spcBef>
                <a:spcPts val="580"/>
              </a:spcBef>
              <a:spcAft>
                <a:spcPts val="0"/>
              </a:spcAft>
              <a:buSzPct val="85000"/>
              <a:buNone/>
            </a:pPr>
            <a:r>
              <a:t/>
            </a:r>
            <a:endParaRPr sz="2000"/>
          </a:p>
          <a:p>
            <a:pPr indent="-133985" lvl="0" marL="274320" rtl="0" algn="l">
              <a:lnSpc>
                <a:spcPct val="100000"/>
              </a:lnSpc>
              <a:spcBef>
                <a:spcPts val="580"/>
              </a:spcBef>
              <a:spcAft>
                <a:spcPts val="0"/>
              </a:spcAft>
              <a:buSzPct val="78928"/>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3"/>
          <p:cNvSpPr txBox="1"/>
          <p:nvPr>
            <p:ph idx="1" type="body"/>
          </p:nvPr>
        </p:nvSpPr>
        <p:spPr>
          <a:xfrm>
            <a:off x="457200" y="914400"/>
            <a:ext cx="8175900" cy="6093900"/>
          </a:xfrm>
          <a:prstGeom prst="rect">
            <a:avLst/>
          </a:prstGeom>
          <a:noFill/>
          <a:ln>
            <a:noFill/>
          </a:ln>
        </p:spPr>
        <p:txBody>
          <a:bodyPr anchorCtr="0" anchor="t" bIns="45700" lIns="91425" spcFirstLastPara="1" rIns="91425" wrap="square" tIns="45700">
            <a:normAutofit fontScale="70000" lnSpcReduction="20000"/>
          </a:bodyPr>
          <a:lstStyle/>
          <a:p>
            <a:pPr indent="-263794" lvl="0" marL="274320" rtl="0" algn="l">
              <a:lnSpc>
                <a:spcPct val="100000"/>
              </a:lnSpc>
              <a:spcBef>
                <a:spcPts val="0"/>
              </a:spcBef>
              <a:spcAft>
                <a:spcPts val="0"/>
              </a:spcAft>
              <a:buSzPct val="78928"/>
              <a:buChar char="⚫"/>
            </a:pPr>
            <a:r>
              <a:rPr b="1" lang="en-US">
                <a:solidFill>
                  <a:srgbClr val="FF0000"/>
                </a:solidFill>
              </a:rPr>
              <a:t> </a:t>
            </a:r>
            <a:r>
              <a:rPr b="1" lang="en-US">
                <a:solidFill>
                  <a:srgbClr val="FF0000"/>
                </a:solidFill>
                <a:latin typeface="Times New Roman"/>
                <a:ea typeface="Times New Roman"/>
                <a:cs typeface="Times New Roman"/>
                <a:sym typeface="Times New Roman"/>
              </a:rPr>
              <a:t>i. Shared lock (S Lock) -</a:t>
            </a:r>
            <a:endParaRPr/>
          </a:p>
          <a:p>
            <a:pPr indent="-263794" lvl="0" marL="274320" rtl="0" algn="l">
              <a:lnSpc>
                <a:spcPct val="100000"/>
              </a:lnSpc>
              <a:spcBef>
                <a:spcPts val="580"/>
              </a:spcBef>
              <a:spcAft>
                <a:spcPts val="0"/>
              </a:spcAft>
              <a:buSzPct val="78928"/>
              <a:buChar char="⚫"/>
            </a:pPr>
            <a:r>
              <a:rPr lang="en-US">
                <a:latin typeface="Times New Roman"/>
                <a:ea typeface="Times New Roman"/>
                <a:cs typeface="Times New Roman"/>
                <a:sym typeface="Times New Roman"/>
              </a:rPr>
              <a:t>A shared lock is also called a Read-only lock. With the shared lock, the data item can be shared between transactions. This is because you will never have permission to update data on the data item.</a:t>
            </a:r>
            <a:endParaRPr/>
          </a:p>
          <a:p>
            <a:pPr indent="-165560" lvl="0" marL="274320" rtl="0" algn="l">
              <a:lnSpc>
                <a:spcPct val="100000"/>
              </a:lnSpc>
              <a:spcBef>
                <a:spcPts val="580"/>
              </a:spcBef>
              <a:spcAft>
                <a:spcPts val="0"/>
              </a:spcAft>
              <a:buSzPct val="78928"/>
              <a:buNone/>
            </a:pPr>
            <a:r>
              <a:t/>
            </a:r>
            <a:endParaRPr>
              <a:latin typeface="Times New Roman"/>
              <a:ea typeface="Times New Roman"/>
              <a:cs typeface="Times New Roman"/>
              <a:sym typeface="Times New Roman"/>
            </a:endParaRPr>
          </a:p>
          <a:p>
            <a:pPr indent="-263794" lvl="0" marL="274320" rtl="0" algn="l">
              <a:lnSpc>
                <a:spcPct val="100000"/>
              </a:lnSpc>
              <a:spcBef>
                <a:spcPts val="580"/>
              </a:spcBef>
              <a:spcAft>
                <a:spcPts val="0"/>
              </a:spcAft>
              <a:buSzPct val="78928"/>
              <a:buChar char="⚫"/>
            </a:pPr>
            <a:r>
              <a:rPr lang="en-US">
                <a:latin typeface="Times New Roman"/>
                <a:ea typeface="Times New Roman"/>
                <a:cs typeface="Times New Roman"/>
                <a:sym typeface="Times New Roman"/>
              </a:rPr>
              <a:t>For example, consider a case where two transactions are reading the account balance of a person. The database will let them read by placing a shared lock. However, if another transaction wants to update that account's balance, shared lock prevent it until the reading process is over.</a:t>
            </a:r>
            <a:endParaRPr>
              <a:latin typeface="Times New Roman"/>
              <a:ea typeface="Times New Roman"/>
              <a:cs typeface="Times New Roman"/>
              <a:sym typeface="Times New Roman"/>
            </a:endParaRPr>
          </a:p>
          <a:p>
            <a:pPr indent="-165560" lvl="0" marL="274320" rtl="0" algn="l">
              <a:lnSpc>
                <a:spcPct val="100000"/>
              </a:lnSpc>
              <a:spcBef>
                <a:spcPts val="580"/>
              </a:spcBef>
              <a:spcAft>
                <a:spcPts val="0"/>
              </a:spcAft>
              <a:buSzPct val="78928"/>
              <a:buNone/>
            </a:pPr>
            <a:r>
              <a:t/>
            </a:r>
            <a:endParaRPr>
              <a:solidFill>
                <a:srgbClr val="FF0000"/>
              </a:solidFill>
              <a:latin typeface="Times New Roman"/>
              <a:ea typeface="Times New Roman"/>
              <a:cs typeface="Times New Roman"/>
              <a:sym typeface="Times New Roman"/>
            </a:endParaRPr>
          </a:p>
          <a:p>
            <a:pPr indent="-263794" lvl="0" marL="274320" rtl="0" algn="l">
              <a:lnSpc>
                <a:spcPct val="100000"/>
              </a:lnSpc>
              <a:spcBef>
                <a:spcPts val="580"/>
              </a:spcBef>
              <a:spcAft>
                <a:spcPts val="0"/>
              </a:spcAft>
              <a:buSzPct val="78928"/>
              <a:buChar char="⚫"/>
            </a:pPr>
            <a:r>
              <a:rPr b="1" lang="en-US">
                <a:solidFill>
                  <a:srgbClr val="FF0000"/>
                </a:solidFill>
                <a:latin typeface="Times New Roman"/>
                <a:ea typeface="Times New Roman"/>
                <a:cs typeface="Times New Roman"/>
                <a:sym typeface="Times New Roman"/>
              </a:rPr>
              <a:t>ii. Exclusive lock (X Lock) –</a:t>
            </a:r>
            <a:endParaRPr/>
          </a:p>
          <a:p>
            <a:pPr indent="-263794" lvl="0" marL="274320" rtl="0" algn="l">
              <a:lnSpc>
                <a:spcPct val="100000"/>
              </a:lnSpc>
              <a:spcBef>
                <a:spcPts val="580"/>
              </a:spcBef>
              <a:spcAft>
                <a:spcPts val="0"/>
              </a:spcAft>
              <a:buSzPct val="78928"/>
              <a:buChar char="⚫"/>
            </a:pPr>
            <a:r>
              <a:rPr lang="en-US">
                <a:latin typeface="Times New Roman"/>
                <a:ea typeface="Times New Roman"/>
                <a:cs typeface="Times New Roman"/>
                <a:sym typeface="Times New Roman"/>
              </a:rPr>
              <a:t>In the exclusive lock, the data item can be both reads as well as written by the transaction.</a:t>
            </a:r>
            <a:endParaRPr/>
          </a:p>
          <a:p>
            <a:pPr indent="-263794" lvl="0" marL="274320" rtl="0" algn="l">
              <a:lnSpc>
                <a:spcPct val="100000"/>
              </a:lnSpc>
              <a:spcBef>
                <a:spcPts val="580"/>
              </a:spcBef>
              <a:spcAft>
                <a:spcPts val="0"/>
              </a:spcAft>
              <a:buSzPct val="78928"/>
              <a:buChar char="⚫"/>
            </a:pPr>
            <a:r>
              <a:rPr lang="en-US">
                <a:latin typeface="Times New Roman"/>
                <a:ea typeface="Times New Roman"/>
                <a:cs typeface="Times New Roman"/>
                <a:sym typeface="Times New Roman"/>
              </a:rPr>
              <a:t>This lock is exclusive, and in this lock, multiple transactions do not modify the same data simultaneously.</a:t>
            </a:r>
            <a:endParaRPr/>
          </a:p>
          <a:p>
            <a:pPr indent="-165560" lvl="0" marL="274320" rtl="0" algn="l">
              <a:lnSpc>
                <a:spcPct val="100000"/>
              </a:lnSpc>
              <a:spcBef>
                <a:spcPts val="580"/>
              </a:spcBef>
              <a:spcAft>
                <a:spcPts val="0"/>
              </a:spcAft>
              <a:buSzPct val="78928"/>
              <a:buNone/>
            </a:pPr>
            <a:r>
              <a:t/>
            </a:r>
            <a:endParaRPr>
              <a:latin typeface="Times New Roman"/>
              <a:ea typeface="Times New Roman"/>
              <a:cs typeface="Times New Roman"/>
              <a:sym typeface="Times New Roman"/>
            </a:endParaRPr>
          </a:p>
          <a:p>
            <a:pPr indent="-263794" lvl="0" marL="274320" rtl="0" algn="l">
              <a:lnSpc>
                <a:spcPct val="100000"/>
              </a:lnSpc>
              <a:spcBef>
                <a:spcPts val="580"/>
              </a:spcBef>
              <a:spcAft>
                <a:spcPts val="0"/>
              </a:spcAft>
              <a:buSzPct val="78928"/>
              <a:buChar char="⚫"/>
            </a:pPr>
            <a:r>
              <a:rPr lang="en-US">
                <a:latin typeface="Times New Roman"/>
                <a:ea typeface="Times New Roman"/>
                <a:cs typeface="Times New Roman"/>
                <a:sym typeface="Times New Roman"/>
              </a:rPr>
              <a:t>For example, when a transaction needs to update the account balance of a person. You can allows this transaction by placing X lock on it. Therefore, when the second transaction wants to read or write, exclusive lock prevent this operation.</a:t>
            </a:r>
            <a:r>
              <a:rPr lang="en-US">
                <a:solidFill>
                  <a:srgbClr val="FF0000"/>
                </a:solidFill>
              </a:rPr>
              <a:t>	</a:t>
            </a:r>
            <a:endParaRPr>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4"/>
          <p:cNvSpPr txBox="1"/>
          <p:nvPr>
            <p:ph idx="1" type="body"/>
          </p:nvPr>
        </p:nvSpPr>
        <p:spPr>
          <a:xfrm>
            <a:off x="304800" y="1219200"/>
            <a:ext cx="8534400" cy="3600900"/>
          </a:xfrm>
          <a:prstGeom prst="rect">
            <a:avLst/>
          </a:prstGeom>
          <a:noFill/>
          <a:ln>
            <a:noFill/>
          </a:ln>
        </p:spPr>
        <p:txBody>
          <a:bodyPr anchorCtr="0" anchor="t" bIns="45700" lIns="91425" spcFirstLastPara="1" rIns="91425" wrap="square" tIns="45700">
            <a:normAutofit fontScale="77500" lnSpcReduction="20000"/>
          </a:bodyPr>
          <a:lstStyle/>
          <a:p>
            <a:pPr indent="-247602" lvl="0" marL="274320" rtl="0" algn="l">
              <a:lnSpc>
                <a:spcPct val="100000"/>
              </a:lnSpc>
              <a:spcBef>
                <a:spcPts val="0"/>
              </a:spcBef>
              <a:spcAft>
                <a:spcPts val="0"/>
              </a:spcAft>
              <a:buSzPct val="85000"/>
              <a:buChar char="⚫"/>
            </a:pPr>
            <a:r>
              <a:rPr lang="en-US" sz="2200">
                <a:solidFill>
                  <a:srgbClr val="FF0000"/>
                </a:solidFill>
                <a:latin typeface="Times New Roman"/>
                <a:ea typeface="Times New Roman"/>
                <a:cs typeface="Times New Roman"/>
                <a:sym typeface="Times New Roman"/>
              </a:rPr>
              <a:t>2. Two Phase</a:t>
            </a:r>
            <a:endParaRPr/>
          </a:p>
          <a:p>
            <a:pPr indent="-247602" lvl="0" marL="274320" rtl="0" algn="l">
              <a:lnSpc>
                <a:spcPct val="100000"/>
              </a:lnSpc>
              <a:spcBef>
                <a:spcPts val="580"/>
              </a:spcBef>
              <a:spcAft>
                <a:spcPts val="0"/>
              </a:spcAft>
              <a:buSzPct val="85000"/>
              <a:buChar char="⚫"/>
            </a:pPr>
            <a:r>
              <a:rPr lang="en-US" sz="2200">
                <a:latin typeface="Times New Roman"/>
                <a:ea typeface="Times New Roman"/>
                <a:cs typeface="Times New Roman"/>
                <a:sym typeface="Times New Roman"/>
              </a:rPr>
              <a:t>In this type of locking protocol, the transaction should acquire a lock after it releases one of its locks. </a:t>
            </a:r>
            <a:endParaRPr sz="2200">
              <a:latin typeface="Times New Roman"/>
              <a:ea typeface="Times New Roman"/>
              <a:cs typeface="Times New Roman"/>
              <a:sym typeface="Times New Roman"/>
            </a:endParaRPr>
          </a:p>
          <a:p>
            <a:pPr indent="-155575" lvl="0" marL="274320" rtl="0" algn="l">
              <a:lnSpc>
                <a:spcPct val="100000"/>
              </a:lnSpc>
              <a:spcBef>
                <a:spcPts val="580"/>
              </a:spcBef>
              <a:spcAft>
                <a:spcPts val="0"/>
              </a:spcAft>
              <a:buSzPct val="85000"/>
              <a:buNone/>
            </a:pPr>
            <a:r>
              <a:t/>
            </a:r>
            <a:endParaRPr sz="2200">
              <a:latin typeface="Times New Roman"/>
              <a:ea typeface="Times New Roman"/>
              <a:cs typeface="Times New Roman"/>
              <a:sym typeface="Times New Roman"/>
            </a:endParaRPr>
          </a:p>
          <a:p>
            <a:pPr indent="-247602" lvl="0" marL="274320" rtl="0" algn="l">
              <a:lnSpc>
                <a:spcPct val="100000"/>
              </a:lnSpc>
              <a:spcBef>
                <a:spcPts val="580"/>
              </a:spcBef>
              <a:spcAft>
                <a:spcPts val="0"/>
              </a:spcAft>
              <a:buSzPct val="85000"/>
              <a:buChar char="⚫"/>
            </a:pPr>
            <a:r>
              <a:rPr lang="en-US" sz="2200">
                <a:latin typeface="Times New Roman"/>
                <a:ea typeface="Times New Roman"/>
                <a:cs typeface="Times New Roman"/>
                <a:sym typeface="Times New Roman"/>
              </a:rPr>
              <a:t>The Two-Phase Locking protocol allows each transaction to make a lock or unlock request in two steps: </a:t>
            </a:r>
            <a:endParaRPr/>
          </a:p>
          <a:p>
            <a:pPr indent="-247602" lvl="0" marL="274320" rtl="0" algn="l">
              <a:lnSpc>
                <a:spcPct val="100000"/>
              </a:lnSpc>
              <a:spcBef>
                <a:spcPts val="580"/>
              </a:spcBef>
              <a:spcAft>
                <a:spcPts val="0"/>
              </a:spcAft>
              <a:buSzPct val="85000"/>
              <a:buChar char="⚫"/>
            </a:pPr>
            <a:r>
              <a:rPr b="1" lang="en-US" sz="2200">
                <a:latin typeface="Times New Roman"/>
                <a:ea typeface="Times New Roman"/>
                <a:cs typeface="Times New Roman"/>
                <a:sym typeface="Times New Roman"/>
              </a:rPr>
              <a:t>Growing Phase</a:t>
            </a:r>
            <a:r>
              <a:rPr lang="en-US" sz="2200">
                <a:latin typeface="Times New Roman"/>
                <a:ea typeface="Times New Roman"/>
                <a:cs typeface="Times New Roman"/>
                <a:sym typeface="Times New Roman"/>
              </a:rPr>
              <a:t>: In this phase transaction may obtain locks but may not release any locks.</a:t>
            </a:r>
            <a:endParaRPr/>
          </a:p>
          <a:p>
            <a:pPr indent="-247602" lvl="0" marL="274320" rtl="0" algn="l">
              <a:lnSpc>
                <a:spcPct val="100000"/>
              </a:lnSpc>
              <a:spcBef>
                <a:spcPts val="580"/>
              </a:spcBef>
              <a:spcAft>
                <a:spcPts val="0"/>
              </a:spcAft>
              <a:buSzPct val="85000"/>
              <a:buChar char="⚫"/>
            </a:pPr>
            <a:r>
              <a:rPr b="1" lang="en-US" sz="2200">
                <a:latin typeface="Times New Roman"/>
                <a:ea typeface="Times New Roman"/>
                <a:cs typeface="Times New Roman"/>
                <a:sym typeface="Times New Roman"/>
              </a:rPr>
              <a:t>Shrinking Phase</a:t>
            </a:r>
            <a:r>
              <a:rPr lang="en-US" sz="2200">
                <a:latin typeface="Times New Roman"/>
                <a:ea typeface="Times New Roman"/>
                <a:cs typeface="Times New Roman"/>
                <a:sym typeface="Times New Roman"/>
              </a:rPr>
              <a:t>: In this phase, a transaction may release locks but not obtain any new lock</a:t>
            </a:r>
            <a:endParaRPr/>
          </a:p>
          <a:p>
            <a:pPr indent="-145415" lvl="0" marL="285750" rtl="0" algn="l">
              <a:lnSpc>
                <a:spcPct val="100000"/>
              </a:lnSpc>
              <a:spcBef>
                <a:spcPts val="580"/>
              </a:spcBef>
              <a:spcAft>
                <a:spcPts val="0"/>
              </a:spcAft>
              <a:buSzPct val="78928"/>
              <a:buFont typeface="Arial"/>
              <a:buNone/>
            </a:pPr>
            <a:r>
              <a:t/>
            </a:r>
            <a:endParaRPr/>
          </a:p>
          <a:p>
            <a:pPr indent="-133985" lvl="0" marL="274320" rtl="0" algn="l">
              <a:lnSpc>
                <a:spcPct val="100000"/>
              </a:lnSpc>
              <a:spcBef>
                <a:spcPts val="580"/>
              </a:spcBef>
              <a:spcAft>
                <a:spcPts val="0"/>
              </a:spcAft>
              <a:buSzPct val="78928"/>
              <a:buNone/>
            </a:pPr>
            <a:r>
              <a:t/>
            </a:r>
            <a:endParaRPr>
              <a:solidFill>
                <a:srgbClr val="FF0000"/>
              </a:solidFill>
            </a:endParaRPr>
          </a:p>
          <a:p>
            <a:pPr indent="-133985" lvl="0" marL="274320" rtl="0" algn="l">
              <a:lnSpc>
                <a:spcPct val="100000"/>
              </a:lnSpc>
              <a:spcBef>
                <a:spcPts val="580"/>
              </a:spcBef>
              <a:spcAft>
                <a:spcPts val="0"/>
              </a:spcAft>
              <a:buSzPct val="78928"/>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5"/>
          <p:cNvSpPr txBox="1"/>
          <p:nvPr>
            <p:ph idx="1" type="body"/>
          </p:nvPr>
        </p:nvSpPr>
        <p:spPr>
          <a:xfrm>
            <a:off x="609600" y="1066800"/>
            <a:ext cx="7796700" cy="2493000"/>
          </a:xfrm>
          <a:prstGeom prst="rect">
            <a:avLst/>
          </a:prstGeom>
          <a:noFill/>
          <a:ln>
            <a:noFill/>
          </a:ln>
        </p:spPr>
        <p:txBody>
          <a:bodyPr anchorCtr="0" anchor="t" bIns="45700" lIns="91425" spcFirstLastPara="1" rIns="91425" wrap="square" tIns="45700">
            <a:normAutofit fontScale="62500" lnSpcReduction="10000"/>
          </a:bodyPr>
          <a:lstStyle/>
          <a:p>
            <a:pPr indent="-253269" lvl="0" marL="274320" rtl="0" algn="l">
              <a:lnSpc>
                <a:spcPct val="100000"/>
              </a:lnSpc>
              <a:spcBef>
                <a:spcPts val="0"/>
              </a:spcBef>
              <a:spcAft>
                <a:spcPts val="0"/>
              </a:spcAft>
              <a:buSzPct val="78928"/>
              <a:buChar char="⚫"/>
            </a:pPr>
            <a:r>
              <a:rPr lang="en-US">
                <a:solidFill>
                  <a:srgbClr val="FF0000"/>
                </a:solidFill>
                <a:latin typeface="Times New Roman"/>
                <a:ea typeface="Times New Roman"/>
                <a:cs typeface="Times New Roman"/>
                <a:sym typeface="Times New Roman"/>
              </a:rPr>
              <a:t>3. Timestamp-Based Protocols-</a:t>
            </a:r>
            <a:endParaRPr/>
          </a:p>
          <a:p>
            <a:pPr indent="-264699" lvl="0" marL="285750" rtl="0" algn="l">
              <a:lnSpc>
                <a:spcPct val="100000"/>
              </a:lnSpc>
              <a:spcBef>
                <a:spcPts val="580"/>
              </a:spcBef>
              <a:spcAft>
                <a:spcPts val="0"/>
              </a:spcAft>
              <a:buSzPct val="78928"/>
              <a:buFont typeface="Arial"/>
              <a:buChar char="•"/>
            </a:pPr>
            <a:r>
              <a:rPr lang="en-US">
                <a:latin typeface="Times New Roman"/>
                <a:ea typeface="Times New Roman"/>
                <a:cs typeface="Times New Roman"/>
                <a:sym typeface="Times New Roman"/>
              </a:rPr>
              <a:t>The timestamp-based algorithm uses a timestamp to serialize the execution of concurrent transactions.</a:t>
            </a:r>
            <a:endParaRPr/>
          </a:p>
          <a:p>
            <a:pPr indent="-264699" lvl="0" marL="285750" rtl="0" algn="l">
              <a:lnSpc>
                <a:spcPct val="100000"/>
              </a:lnSpc>
              <a:spcBef>
                <a:spcPts val="580"/>
              </a:spcBef>
              <a:spcAft>
                <a:spcPts val="0"/>
              </a:spcAft>
              <a:buSzPct val="78928"/>
              <a:buFont typeface="Arial"/>
              <a:buChar char="•"/>
            </a:pPr>
            <a:r>
              <a:rPr lang="en-US">
                <a:latin typeface="Times New Roman"/>
                <a:ea typeface="Times New Roman"/>
                <a:cs typeface="Times New Roman"/>
                <a:sym typeface="Times New Roman"/>
              </a:rPr>
              <a:t>This protocol ensures that every conflicting read and write operations are executed in timestamp order.</a:t>
            </a:r>
            <a:endParaRPr/>
          </a:p>
          <a:p>
            <a:pPr indent="-264699" lvl="0" marL="285750" rtl="0" algn="l">
              <a:lnSpc>
                <a:spcPct val="100000"/>
              </a:lnSpc>
              <a:spcBef>
                <a:spcPts val="580"/>
              </a:spcBef>
              <a:spcAft>
                <a:spcPts val="0"/>
              </a:spcAft>
              <a:buSzPct val="78928"/>
              <a:buFont typeface="Arial"/>
              <a:buChar char="•"/>
            </a:pPr>
            <a:r>
              <a:rPr lang="en-US">
                <a:latin typeface="Times New Roman"/>
                <a:ea typeface="Times New Roman"/>
                <a:cs typeface="Times New Roman"/>
                <a:sym typeface="Times New Roman"/>
              </a:rPr>
              <a:t>The protocol uses the </a:t>
            </a:r>
            <a:r>
              <a:rPr b="1" lang="en-US">
                <a:latin typeface="Times New Roman"/>
                <a:ea typeface="Times New Roman"/>
                <a:cs typeface="Times New Roman"/>
                <a:sym typeface="Times New Roman"/>
              </a:rPr>
              <a:t>System Time or Logical Count as</a:t>
            </a:r>
            <a:r>
              <a:rPr lang="en-US">
                <a:latin typeface="Times New Roman"/>
                <a:ea typeface="Times New Roman"/>
                <a:cs typeface="Times New Roman"/>
                <a:sym typeface="Times New Roman"/>
              </a:rPr>
              <a:t> a Timestamp. </a:t>
            </a:r>
            <a:endParaRPr>
              <a:latin typeface="Times New Roman"/>
              <a:ea typeface="Times New Roman"/>
              <a:cs typeface="Times New Roman"/>
              <a:sym typeface="Times New Roman"/>
            </a:endParaRPr>
          </a:p>
          <a:p>
            <a:pPr indent="-264699" lvl="0" marL="285750" rtl="0" algn="l">
              <a:lnSpc>
                <a:spcPct val="100000"/>
              </a:lnSpc>
              <a:spcBef>
                <a:spcPts val="580"/>
              </a:spcBef>
              <a:spcAft>
                <a:spcPts val="0"/>
              </a:spcAft>
              <a:buSzPct val="78928"/>
              <a:buFont typeface="Arial"/>
              <a:buChar char="•"/>
            </a:pPr>
            <a:r>
              <a:rPr lang="en-US">
                <a:latin typeface="Times New Roman"/>
                <a:ea typeface="Times New Roman"/>
                <a:cs typeface="Times New Roman"/>
                <a:sym typeface="Times New Roman"/>
              </a:rPr>
              <a:t>The older transaction is always given priority in this method</a:t>
            </a:r>
            <a:endParaRPr>
              <a:solidFill>
                <a:srgbClr val="FF0000"/>
              </a:solidFill>
              <a:latin typeface="Times New Roman"/>
              <a:ea typeface="Times New Roman"/>
              <a:cs typeface="Times New Roman"/>
              <a:sym typeface="Times New Roman"/>
            </a:endParaRPr>
          </a:p>
          <a:p>
            <a:pPr indent="-165560" lvl="0" marL="274320" rtl="0" algn="l">
              <a:lnSpc>
                <a:spcPct val="100000"/>
              </a:lnSpc>
              <a:spcBef>
                <a:spcPts val="580"/>
              </a:spcBef>
              <a:spcAft>
                <a:spcPts val="0"/>
              </a:spcAft>
              <a:buSzPct val="78928"/>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6"/>
          <p:cNvSpPr txBox="1"/>
          <p:nvPr>
            <p:ph idx="1" type="body"/>
          </p:nvPr>
        </p:nvSpPr>
        <p:spPr>
          <a:xfrm>
            <a:off x="457200" y="990600"/>
            <a:ext cx="8229600" cy="3600900"/>
          </a:xfrm>
          <a:prstGeom prst="rect">
            <a:avLst/>
          </a:prstGeom>
          <a:noFill/>
          <a:ln>
            <a:noFill/>
          </a:ln>
        </p:spPr>
        <p:txBody>
          <a:bodyPr anchorCtr="0" anchor="t" bIns="45700" lIns="91425" spcFirstLastPara="1" rIns="91425" wrap="square" tIns="45700">
            <a:noAutofit/>
          </a:bodyPr>
          <a:lstStyle/>
          <a:p>
            <a:pPr indent="-274320" lvl="0" marL="274320" rtl="0" algn="l">
              <a:lnSpc>
                <a:spcPct val="100000"/>
              </a:lnSpc>
              <a:spcBef>
                <a:spcPts val="0"/>
              </a:spcBef>
              <a:spcAft>
                <a:spcPts val="0"/>
              </a:spcAft>
              <a:buSzPts val="1700"/>
              <a:buChar char="⚫"/>
            </a:pPr>
            <a:r>
              <a:rPr lang="en-US" sz="2000">
                <a:solidFill>
                  <a:srgbClr val="FF0000"/>
                </a:solidFill>
                <a:latin typeface="Times New Roman"/>
                <a:ea typeface="Times New Roman"/>
                <a:cs typeface="Times New Roman"/>
                <a:sym typeface="Times New Roman"/>
              </a:rPr>
              <a:t>4.Validation-Based Protocols</a:t>
            </a:r>
            <a:endParaRPr/>
          </a:p>
          <a:p>
            <a:pPr indent="-166370" lvl="0" marL="274320" rtl="0" algn="l">
              <a:lnSpc>
                <a:spcPct val="100000"/>
              </a:lnSpc>
              <a:spcBef>
                <a:spcPts val="580"/>
              </a:spcBef>
              <a:spcAft>
                <a:spcPts val="0"/>
              </a:spcAft>
              <a:buSzPts val="1700"/>
              <a:buNone/>
            </a:pPr>
            <a:r>
              <a:t/>
            </a:r>
            <a:endParaRPr sz="2000">
              <a:solidFill>
                <a:srgbClr val="FF0000"/>
              </a:solidFill>
              <a:latin typeface="Times New Roman"/>
              <a:ea typeface="Times New Roman"/>
              <a:cs typeface="Times New Roman"/>
              <a:sym typeface="Times New Roman"/>
            </a:endParaRPr>
          </a:p>
          <a:p>
            <a:pPr indent="-274320" lvl="0" marL="274320" rtl="0" algn="l">
              <a:lnSpc>
                <a:spcPct val="100000"/>
              </a:lnSpc>
              <a:spcBef>
                <a:spcPts val="580"/>
              </a:spcBef>
              <a:spcAft>
                <a:spcPts val="0"/>
              </a:spcAft>
              <a:buSzPts val="1700"/>
              <a:buChar char="⚫"/>
            </a:pPr>
            <a:r>
              <a:rPr lang="en-US" sz="2000">
                <a:latin typeface="Times New Roman"/>
                <a:ea typeface="Times New Roman"/>
                <a:cs typeface="Times New Roman"/>
                <a:sym typeface="Times New Roman"/>
              </a:rPr>
              <a:t>This protocol is used in DBMS for avoiding concurrency in transactions.</a:t>
            </a:r>
            <a:endParaRPr/>
          </a:p>
          <a:p>
            <a:pPr indent="-274320" lvl="0" marL="274320" rtl="0" algn="l">
              <a:lnSpc>
                <a:spcPct val="100000"/>
              </a:lnSpc>
              <a:spcBef>
                <a:spcPts val="580"/>
              </a:spcBef>
              <a:spcAft>
                <a:spcPts val="0"/>
              </a:spcAft>
              <a:buSzPts val="1700"/>
              <a:buChar char="⚫"/>
            </a:pPr>
            <a:r>
              <a:rPr lang="en-US" sz="2000">
                <a:latin typeface="Times New Roman"/>
                <a:ea typeface="Times New Roman"/>
                <a:cs typeface="Times New Roman"/>
                <a:sym typeface="Times New Roman"/>
              </a:rPr>
              <a:t>The three phases for validation based protocol:</a:t>
            </a:r>
            <a:endParaRPr/>
          </a:p>
          <a:p>
            <a:pPr indent="-285750" lvl="0" marL="285750" rtl="0" algn="l">
              <a:lnSpc>
                <a:spcPct val="100000"/>
              </a:lnSpc>
              <a:spcBef>
                <a:spcPts val="580"/>
              </a:spcBef>
              <a:spcAft>
                <a:spcPts val="0"/>
              </a:spcAft>
              <a:buSzPts val="1700"/>
              <a:buFont typeface="Arial"/>
              <a:buChar char="•"/>
            </a:pPr>
            <a:r>
              <a:rPr b="1" lang="en-US" sz="2000">
                <a:latin typeface="Times New Roman"/>
                <a:ea typeface="Times New Roman"/>
                <a:cs typeface="Times New Roman"/>
                <a:sym typeface="Times New Roman"/>
              </a:rPr>
              <a:t>Read phase:</a:t>
            </a:r>
            <a:r>
              <a:rPr lang="en-US" sz="2000">
                <a:latin typeface="Times New Roman"/>
                <a:ea typeface="Times New Roman"/>
                <a:cs typeface="Times New Roman"/>
                <a:sym typeface="Times New Roman"/>
              </a:rPr>
              <a:t> In this phase, the transaction T is read and executed. It is used to read the value of various data items and stores them in temporary local variables.</a:t>
            </a:r>
            <a:endParaRPr/>
          </a:p>
          <a:p>
            <a:pPr indent="-285750" lvl="0" marL="285750" rtl="0" algn="l">
              <a:lnSpc>
                <a:spcPct val="100000"/>
              </a:lnSpc>
              <a:spcBef>
                <a:spcPts val="580"/>
              </a:spcBef>
              <a:spcAft>
                <a:spcPts val="0"/>
              </a:spcAft>
              <a:buSzPts val="1700"/>
              <a:buFont typeface="Arial"/>
              <a:buChar char="•"/>
            </a:pPr>
            <a:r>
              <a:rPr b="1" lang="en-US" sz="2000">
                <a:latin typeface="Times New Roman"/>
                <a:ea typeface="Times New Roman"/>
                <a:cs typeface="Times New Roman"/>
                <a:sym typeface="Times New Roman"/>
              </a:rPr>
              <a:t>Validation Phase:</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In this phase, the temporary variable value will be validated against the actual data, to make sure that there is no violation of serializability.</a:t>
            </a:r>
            <a:endParaRPr/>
          </a:p>
          <a:p>
            <a:pPr indent="-285750" lvl="0" marL="285750" rtl="0" algn="l">
              <a:lnSpc>
                <a:spcPct val="100000"/>
              </a:lnSpc>
              <a:spcBef>
                <a:spcPts val="580"/>
              </a:spcBef>
              <a:spcAft>
                <a:spcPts val="0"/>
              </a:spcAft>
              <a:buSzPts val="1700"/>
              <a:buFont typeface="Arial"/>
              <a:buChar char="•"/>
            </a:pPr>
            <a:r>
              <a:rPr b="1" lang="en-US" sz="2000">
                <a:latin typeface="Times New Roman"/>
                <a:ea typeface="Times New Roman"/>
                <a:cs typeface="Times New Roman"/>
                <a:sym typeface="Times New Roman"/>
              </a:rPr>
              <a:t>Write phase:</a:t>
            </a:r>
            <a:r>
              <a:rPr lang="en-US" sz="2000">
                <a:latin typeface="Times New Roman"/>
                <a:ea typeface="Times New Roman"/>
                <a:cs typeface="Times New Roman"/>
                <a:sym typeface="Times New Roman"/>
              </a:rPr>
              <a:t> If the validation of the transaction is validated, then the temporary results are written to the database otherwise, the updates are discarded and the transaction is rolled back.</a:t>
            </a:r>
            <a:endParaRPr sz="2000">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7"/>
          <p:cNvSpPr txBox="1"/>
          <p:nvPr>
            <p:ph type="title"/>
          </p:nvPr>
        </p:nvSpPr>
        <p:spPr>
          <a:xfrm>
            <a:off x="286512" y="937453"/>
            <a:ext cx="89337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000000"/>
              </a:buClr>
              <a:buSzPts val="3200"/>
              <a:buFont typeface="Libre Franklin"/>
              <a:buNone/>
            </a:pPr>
            <a:r>
              <a:rPr lang="en-US" sz="3200">
                <a:solidFill>
                  <a:srgbClr val="000000"/>
                </a:solidFill>
              </a:rPr>
              <a:t>Concurrency Control vs. Serializability Tests</a:t>
            </a:r>
            <a:endParaRPr sz="3200"/>
          </a:p>
        </p:txBody>
      </p:sp>
      <p:sp>
        <p:nvSpPr>
          <p:cNvPr id="312" name="Google Shape;312;p37"/>
          <p:cNvSpPr txBox="1"/>
          <p:nvPr/>
        </p:nvSpPr>
        <p:spPr>
          <a:xfrm>
            <a:off x="1066800" y="1676400"/>
            <a:ext cx="7487400" cy="4167600"/>
          </a:xfrm>
          <a:prstGeom prst="rect">
            <a:avLst/>
          </a:prstGeom>
          <a:noFill/>
          <a:ln>
            <a:noFill/>
          </a:ln>
        </p:spPr>
        <p:txBody>
          <a:bodyPr anchorCtr="0" anchor="t" bIns="0" lIns="0" spcFirstLastPara="1" rIns="0" wrap="square" tIns="12700">
            <a:spAutoFit/>
          </a:bodyPr>
          <a:lstStyle/>
          <a:p>
            <a:pPr indent="-363855" lvl="0" marL="376555" marR="643255" rtl="0" algn="just">
              <a:lnSpc>
                <a:spcPct val="100000"/>
              </a:lnSpc>
              <a:spcBef>
                <a:spcPts val="0"/>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Concurrency-control protocols allow concurrent schedules, but  ensure that the schedules are conflict/view serializable, and are  recoverable and cascadeless .</a:t>
            </a:r>
            <a:endParaRPr b="0" i="0" sz="1400" u="none" cap="none" strike="noStrike">
              <a:solidFill>
                <a:srgbClr val="000000"/>
              </a:solidFill>
              <a:latin typeface="Arial"/>
              <a:ea typeface="Arial"/>
              <a:cs typeface="Arial"/>
              <a:sym typeface="Arial"/>
            </a:endParaRPr>
          </a:p>
          <a:p>
            <a:pPr indent="-363855" lvl="0" marL="376555" marR="979169" rtl="0" algn="l">
              <a:lnSpc>
                <a:spcPct val="107000"/>
              </a:lnSpc>
              <a:spcBef>
                <a:spcPts val="730"/>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Concurrency control protocols generally do not examine the  precedence graph as it is being created</a:t>
            </a:r>
            <a:endParaRPr b="0" i="0" sz="2000" u="none" cap="none" strike="noStrike">
              <a:solidFill>
                <a:schemeClr val="dk1"/>
              </a:solidFill>
              <a:latin typeface="Times New Roman"/>
              <a:ea typeface="Times New Roman"/>
              <a:cs typeface="Times New Roman"/>
              <a:sym typeface="Times New Roman"/>
            </a:endParaRPr>
          </a:p>
          <a:p>
            <a:pPr indent="-304800" lvl="1" marL="776605" marR="5080" rtl="0" algn="l">
              <a:lnSpc>
                <a:spcPct val="107000"/>
              </a:lnSpc>
              <a:spcBef>
                <a:spcPts val="670"/>
              </a:spcBef>
              <a:spcAft>
                <a:spcPts val="0"/>
              </a:spcAft>
              <a:buClr>
                <a:srgbClr val="FF9933"/>
              </a:buClr>
              <a:buSzPts val="1556"/>
              <a:buFont typeface="Times New Roman"/>
              <a:buChar char="●"/>
            </a:pPr>
            <a:r>
              <a:rPr b="0" i="0" lang="en-US" sz="2000" u="none" cap="none" strike="noStrike">
                <a:solidFill>
                  <a:schemeClr val="dk1"/>
                </a:solidFill>
                <a:latin typeface="Times New Roman"/>
                <a:ea typeface="Times New Roman"/>
                <a:cs typeface="Times New Roman"/>
                <a:sym typeface="Times New Roman"/>
              </a:rPr>
              <a:t>Instead a protocol imposes a discipline that avoids nonseralizable  schedules.</a:t>
            </a:r>
            <a:endParaRPr b="0" i="0" sz="2000" u="none" cap="none" strike="noStrike">
              <a:solidFill>
                <a:schemeClr val="dk1"/>
              </a:solidFill>
              <a:latin typeface="Times New Roman"/>
              <a:ea typeface="Times New Roman"/>
              <a:cs typeface="Times New Roman"/>
              <a:sym typeface="Times New Roman"/>
            </a:endParaRPr>
          </a:p>
          <a:p>
            <a:pPr indent="-363855" lvl="0" marL="376555" marR="387985" rtl="0" algn="just">
              <a:lnSpc>
                <a:spcPct val="100000"/>
              </a:lnSpc>
              <a:spcBef>
                <a:spcPts val="61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Different concurrency control protocols provide different tradeoffs  between the amount of concurrency they allow and the amount of  overhead that they incur.</a:t>
            </a:r>
            <a:endParaRPr b="0" i="0" sz="2000" u="none" cap="none" strike="noStrike">
              <a:solidFill>
                <a:schemeClr val="dk1"/>
              </a:solidFill>
              <a:latin typeface="Times New Roman"/>
              <a:ea typeface="Times New Roman"/>
              <a:cs typeface="Times New Roman"/>
              <a:sym typeface="Times New Roman"/>
            </a:endParaRPr>
          </a:p>
          <a:p>
            <a:pPr indent="-363855" lvl="0" marL="376555" marR="54610" rtl="0" algn="l">
              <a:lnSpc>
                <a:spcPct val="107500"/>
              </a:lnSpc>
              <a:spcBef>
                <a:spcPts val="72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Tests for serializability help us understand why a concurrency control  protocol is correct</a:t>
            </a:r>
            <a:r>
              <a:rPr b="0" i="0" lang="en-US" sz="18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8"/>
          <p:cNvSpPr txBox="1"/>
          <p:nvPr>
            <p:ph type="title"/>
          </p:nvPr>
        </p:nvSpPr>
        <p:spPr>
          <a:xfrm>
            <a:off x="841375" y="823787"/>
            <a:ext cx="25659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Deadlocks</a:t>
            </a:r>
            <a:endParaRPr/>
          </a:p>
        </p:txBody>
      </p:sp>
      <p:sp>
        <p:nvSpPr>
          <p:cNvPr id="318" name="Google Shape;318;p38"/>
          <p:cNvSpPr/>
          <p:nvPr/>
        </p:nvSpPr>
        <p:spPr>
          <a:xfrm>
            <a:off x="533400" y="1143000"/>
            <a:ext cx="7924800" cy="3170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In a database, a deadlock is an unwanted situation in which two or more transactions are waiting indefinitely for one another to give up locks.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Libre Baskerville"/>
                <a:ea typeface="Libre Baskerville"/>
                <a:cs typeface="Libre Baskerville"/>
                <a:sym typeface="Libre Baskerville"/>
              </a:rPr>
              <a:t>Suppose, Transaction T1 holds a lock on some rows in the Students table and </a:t>
            </a:r>
            <a:r>
              <a:rPr b="1" i="0" lang="en-US" sz="2000" u="none" cap="none" strike="noStrike">
                <a:solidFill>
                  <a:schemeClr val="dk1"/>
                </a:solidFill>
                <a:latin typeface="Libre Baskerville"/>
                <a:ea typeface="Libre Baskerville"/>
                <a:cs typeface="Libre Baskerville"/>
                <a:sym typeface="Libre Baskerville"/>
              </a:rPr>
              <a:t>needs to update</a:t>
            </a:r>
            <a:r>
              <a:rPr b="0" i="0" lang="en-US" sz="2000" u="none" cap="none" strike="noStrike">
                <a:solidFill>
                  <a:schemeClr val="dk1"/>
                </a:solidFill>
                <a:latin typeface="Libre Baskerville"/>
                <a:ea typeface="Libre Baskerville"/>
                <a:cs typeface="Libre Baskerville"/>
                <a:sym typeface="Libre Baskerville"/>
              </a:rPr>
              <a:t> some rows in the Grades table. Simultaneously, Transaction </a:t>
            </a:r>
            <a:r>
              <a:rPr b="1" i="0" lang="en-US" sz="2000" u="none" cap="none" strike="noStrike">
                <a:solidFill>
                  <a:schemeClr val="dk1"/>
                </a:solidFill>
                <a:latin typeface="Libre Baskerville"/>
                <a:ea typeface="Libre Baskerville"/>
                <a:cs typeface="Libre Baskerville"/>
                <a:sym typeface="Libre Baskerville"/>
              </a:rPr>
              <a:t>T2 holds</a:t>
            </a:r>
            <a:r>
              <a:rPr b="0" i="0" lang="en-US" sz="2000" u="none" cap="none" strike="noStrike">
                <a:solidFill>
                  <a:schemeClr val="dk1"/>
                </a:solidFill>
                <a:latin typeface="Libre Baskerville"/>
                <a:ea typeface="Libre Baskerville"/>
                <a:cs typeface="Libre Baskerville"/>
                <a:sym typeface="Libre Baskerville"/>
              </a:rPr>
              <a:t> locks on those very rows (Which T1 needs to update) in the Grades table </a:t>
            </a:r>
            <a:r>
              <a:rPr b="1" i="0" lang="en-US" sz="2000" u="none" cap="none" strike="noStrike">
                <a:solidFill>
                  <a:schemeClr val="dk1"/>
                </a:solidFill>
                <a:latin typeface="Libre Baskerville"/>
                <a:ea typeface="Libre Baskerville"/>
                <a:cs typeface="Libre Baskerville"/>
                <a:sym typeface="Libre Baskerville"/>
              </a:rPr>
              <a:t>but needs</a:t>
            </a:r>
            <a:r>
              <a:rPr b="0" i="0" lang="en-US" sz="2000" u="none" cap="none" strike="noStrike">
                <a:solidFill>
                  <a:schemeClr val="dk1"/>
                </a:solidFill>
                <a:latin typeface="Libre Baskerville"/>
                <a:ea typeface="Libre Baskerville"/>
                <a:cs typeface="Libre Baskerville"/>
                <a:sym typeface="Libre Baskerville"/>
              </a:rPr>
              <a:t> to update the rows in the Student table </a:t>
            </a:r>
            <a:r>
              <a:rPr b="1" i="0" lang="en-US" sz="2000" u="none" cap="none" strike="noStrike">
                <a:solidFill>
                  <a:schemeClr val="dk1"/>
                </a:solidFill>
                <a:latin typeface="Libre Baskerville"/>
                <a:ea typeface="Libre Baskerville"/>
                <a:cs typeface="Libre Baskerville"/>
                <a:sym typeface="Libre Baskerville"/>
              </a:rPr>
              <a:t>held by Transaction T1</a:t>
            </a:r>
            <a:r>
              <a:rPr b="0" i="0" lang="en-US" sz="2000" u="none" cap="none" strike="noStrike">
                <a:solidFill>
                  <a:schemeClr val="dk1"/>
                </a:solidFill>
                <a:latin typeface="Libre Baskerville"/>
                <a:ea typeface="Libre Baskerville"/>
                <a:cs typeface="Libre Baskerville"/>
                <a:sym typeface="Libre Baskerville"/>
              </a:rPr>
              <a:t>. </a:t>
            </a:r>
            <a:endParaRPr b="0" i="0" sz="2000" u="none" cap="none" strike="noStrike">
              <a:solidFill>
                <a:schemeClr val="dk1"/>
              </a:solidFill>
              <a:latin typeface="Libre Baskerville"/>
              <a:ea typeface="Libre Baskerville"/>
              <a:cs typeface="Libre Baskerville"/>
              <a:sym typeface="Libre Baskerville"/>
            </a:endParaRPr>
          </a:p>
          <a:p>
            <a:pPr indent="-342900" lvl="0" marL="3429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Libre Baskerville"/>
                <a:ea typeface="Libre Baskerville"/>
                <a:cs typeface="Libre Baskerville"/>
                <a:sym typeface="Libre Baskerville"/>
              </a:rPr>
              <a:t>Now, the main problem arises. Transaction T1 will wait for transaction T2 to give up lock, and similarly transaction T2 will wait for transaction T1 to give up lock. </a:t>
            </a:r>
            <a:endParaRPr b="0" i="0" sz="2000" u="none" cap="none" strike="noStrike">
              <a:solidFill>
                <a:schemeClr val="dk1"/>
              </a:solidFill>
              <a:latin typeface="Libre Baskerville"/>
              <a:ea typeface="Libre Baskerville"/>
              <a:cs typeface="Libre Baskerville"/>
              <a:sym typeface="Libre Baskerville"/>
            </a:endParaRPr>
          </a:p>
          <a:p>
            <a:pPr indent="-215900" lvl="0" marL="34290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id="319" name="Google Shape;319;p38"/>
          <p:cNvPicPr preferRelativeResize="0"/>
          <p:nvPr/>
        </p:nvPicPr>
        <p:blipFill rotWithShape="1">
          <a:blip r:embed="rId3">
            <a:alphaModFix/>
          </a:blip>
          <a:srcRect b="0" l="0" r="0" t="0"/>
          <a:stretch/>
        </p:blipFill>
        <p:spPr>
          <a:xfrm>
            <a:off x="1676400" y="4655725"/>
            <a:ext cx="6046199" cy="20235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9"/>
          <p:cNvSpPr txBox="1"/>
          <p:nvPr>
            <p:ph type="title"/>
          </p:nvPr>
        </p:nvSpPr>
        <p:spPr>
          <a:xfrm>
            <a:off x="841375" y="899987"/>
            <a:ext cx="64713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Implementation of Locking</a:t>
            </a:r>
            <a:endParaRPr/>
          </a:p>
        </p:txBody>
      </p:sp>
      <p:sp>
        <p:nvSpPr>
          <p:cNvPr id="325" name="Google Shape;325;p39"/>
          <p:cNvSpPr txBox="1"/>
          <p:nvPr/>
        </p:nvSpPr>
        <p:spPr>
          <a:xfrm>
            <a:off x="841363" y="1604855"/>
            <a:ext cx="6823200" cy="3831300"/>
          </a:xfrm>
          <a:prstGeom prst="rect">
            <a:avLst/>
          </a:prstGeom>
          <a:noFill/>
          <a:ln>
            <a:noFill/>
          </a:ln>
        </p:spPr>
        <p:txBody>
          <a:bodyPr anchorCtr="0" anchor="t" bIns="0" lIns="0" spcFirstLastPara="1" rIns="0" wrap="square" tIns="10775">
            <a:spAutoFit/>
          </a:bodyPr>
          <a:lstStyle/>
          <a:p>
            <a:pPr indent="-363855" lvl="0" marL="376555" marR="5080" rtl="0" algn="l">
              <a:lnSpc>
                <a:spcPct val="100699"/>
              </a:lnSpc>
              <a:spcBef>
                <a:spcPts val="0"/>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A </a:t>
            </a:r>
            <a:r>
              <a:rPr b="1" i="0" lang="en-US" sz="2000" u="none" cap="none" strike="noStrike">
                <a:solidFill>
                  <a:srgbClr val="000099"/>
                </a:solidFill>
                <a:latin typeface="Times New Roman"/>
                <a:ea typeface="Times New Roman"/>
                <a:cs typeface="Times New Roman"/>
                <a:sym typeface="Times New Roman"/>
              </a:rPr>
              <a:t>lock manager </a:t>
            </a:r>
            <a:r>
              <a:rPr b="0" i="0" lang="en-US" sz="2000" u="none" cap="none" strike="noStrike">
                <a:solidFill>
                  <a:schemeClr val="dk1"/>
                </a:solidFill>
                <a:latin typeface="Times New Roman"/>
                <a:ea typeface="Times New Roman"/>
                <a:cs typeface="Times New Roman"/>
                <a:sym typeface="Times New Roman"/>
              </a:rPr>
              <a:t>can be implemented as a separate process to  which transactions send lock and unlock requests</a:t>
            </a:r>
            <a:endParaRPr b="0" i="0" sz="2000" u="none" cap="none" strike="noStrike">
              <a:solidFill>
                <a:schemeClr val="dk1"/>
              </a:solidFill>
              <a:latin typeface="Times New Roman"/>
              <a:ea typeface="Times New Roman"/>
              <a:cs typeface="Times New Roman"/>
              <a:sym typeface="Times New Roman"/>
            </a:endParaRPr>
          </a:p>
          <a:p>
            <a:pPr indent="-363855" lvl="0" marL="376555" marR="243840" rtl="0" algn="l">
              <a:lnSpc>
                <a:spcPct val="100000"/>
              </a:lnSpc>
              <a:spcBef>
                <a:spcPts val="64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The lock manager replies to a lock request by sending a lock  grant messages (or a message asking the transaction to roll  back, in case of a deadlock)</a:t>
            </a:r>
            <a:endParaRPr b="0" i="0" sz="1400" u="none" cap="none" strike="noStrike">
              <a:solidFill>
                <a:srgbClr val="000000"/>
              </a:solidFill>
              <a:latin typeface="Arial"/>
              <a:ea typeface="Arial"/>
              <a:cs typeface="Arial"/>
              <a:sym typeface="Arial"/>
            </a:endParaRPr>
          </a:p>
          <a:p>
            <a:pPr indent="-363855" lvl="0" marL="376555" marR="0" rtl="0" algn="l">
              <a:lnSpc>
                <a:spcPct val="100000"/>
              </a:lnSpc>
              <a:spcBef>
                <a:spcPts val="64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The requesting transaction waits until its request is answered</a:t>
            </a:r>
            <a:endParaRPr b="0" i="0" sz="2000" u="none" cap="none" strike="noStrike">
              <a:solidFill>
                <a:schemeClr val="dk1"/>
              </a:solidFill>
              <a:latin typeface="Times New Roman"/>
              <a:ea typeface="Times New Roman"/>
              <a:cs typeface="Times New Roman"/>
              <a:sym typeface="Times New Roman"/>
            </a:endParaRPr>
          </a:p>
          <a:p>
            <a:pPr indent="-363855" lvl="0" marL="376555" marR="481330" rtl="0" algn="l">
              <a:lnSpc>
                <a:spcPct val="107000"/>
              </a:lnSpc>
              <a:spcBef>
                <a:spcPts val="700"/>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The lock manager maintains a data-structure called a </a:t>
            </a:r>
            <a:r>
              <a:rPr b="1" i="0" lang="en-US" sz="2000" u="none" cap="none" strike="noStrike">
                <a:solidFill>
                  <a:srgbClr val="000099"/>
                </a:solidFill>
                <a:latin typeface="Times New Roman"/>
                <a:ea typeface="Times New Roman"/>
                <a:cs typeface="Times New Roman"/>
                <a:sym typeface="Times New Roman"/>
              </a:rPr>
              <a:t>lock  table </a:t>
            </a:r>
            <a:r>
              <a:rPr b="0" i="0" lang="en-US" sz="2000" u="none" cap="none" strike="noStrike">
                <a:solidFill>
                  <a:schemeClr val="dk1"/>
                </a:solidFill>
                <a:latin typeface="Times New Roman"/>
                <a:ea typeface="Times New Roman"/>
                <a:cs typeface="Times New Roman"/>
                <a:sym typeface="Times New Roman"/>
              </a:rPr>
              <a:t>to record granted locks and pending requests</a:t>
            </a:r>
            <a:endParaRPr b="0" i="0" sz="2000" u="none" cap="none" strike="noStrike">
              <a:solidFill>
                <a:schemeClr val="dk1"/>
              </a:solidFill>
              <a:latin typeface="Times New Roman"/>
              <a:ea typeface="Times New Roman"/>
              <a:cs typeface="Times New Roman"/>
              <a:sym typeface="Times New Roman"/>
            </a:endParaRPr>
          </a:p>
          <a:p>
            <a:pPr indent="-363855" lvl="0" marL="376555" marR="282575" rtl="0" algn="l">
              <a:lnSpc>
                <a:spcPct val="107500"/>
              </a:lnSpc>
              <a:spcBef>
                <a:spcPts val="66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The lock table is usually implemented as an in-memory hash  table indexed on the name of the data item being locked</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0"/>
          <p:cNvSpPr txBox="1"/>
          <p:nvPr>
            <p:ph type="title"/>
          </p:nvPr>
        </p:nvSpPr>
        <p:spPr>
          <a:xfrm>
            <a:off x="841375" y="922654"/>
            <a:ext cx="2673300" cy="6900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4000"/>
              <a:buFont typeface="Libre Franklin"/>
              <a:buNone/>
            </a:pPr>
            <a:r>
              <a:rPr lang="en-US"/>
              <a:t>Lock Table</a:t>
            </a:r>
            <a:endParaRPr/>
          </a:p>
        </p:txBody>
      </p:sp>
      <p:pic>
        <p:nvPicPr>
          <p:cNvPr descr="https://media.geeksforgeeks.org/wp-content/uploads/Slide1-4.jpg" id="331" name="Google Shape;331;p40"/>
          <p:cNvPicPr preferRelativeResize="0"/>
          <p:nvPr/>
        </p:nvPicPr>
        <p:blipFill rotWithShape="1">
          <a:blip r:embed="rId3">
            <a:alphaModFix/>
          </a:blip>
          <a:srcRect b="0" l="0" r="0" t="0"/>
          <a:stretch/>
        </p:blipFill>
        <p:spPr>
          <a:xfrm>
            <a:off x="1851800" y="1854550"/>
            <a:ext cx="5920598" cy="442697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1"/>
          <p:cNvSpPr txBox="1"/>
          <p:nvPr>
            <p:ph idx="1" type="body"/>
          </p:nvPr>
        </p:nvSpPr>
        <p:spPr>
          <a:xfrm>
            <a:off x="304800" y="985225"/>
            <a:ext cx="8653500" cy="5491800"/>
          </a:xfrm>
          <a:prstGeom prst="rect">
            <a:avLst/>
          </a:prstGeom>
          <a:noFill/>
          <a:ln>
            <a:noFill/>
          </a:ln>
        </p:spPr>
        <p:txBody>
          <a:bodyPr anchorCtr="0" anchor="t" bIns="45700" lIns="91425" spcFirstLastPara="1" rIns="91425" wrap="square" tIns="45700">
            <a:normAutofit fontScale="77500" lnSpcReduction="20000"/>
          </a:bodyPr>
          <a:lstStyle/>
          <a:p>
            <a:pPr indent="-274320" lvl="0" marL="274320" rtl="0" algn="l">
              <a:lnSpc>
                <a:spcPct val="100000"/>
              </a:lnSpc>
              <a:spcBef>
                <a:spcPts val="0"/>
              </a:spcBef>
              <a:spcAft>
                <a:spcPts val="0"/>
              </a:spcAft>
              <a:buSzPct val="78928"/>
              <a:buChar char="⚫"/>
            </a:pPr>
            <a:r>
              <a:rPr lang="en-US"/>
              <a:t>Initially the lock table is empty as no data item is locked.</a:t>
            </a:r>
            <a:endParaRPr/>
          </a:p>
          <a:p>
            <a:pPr indent="-274320" lvl="0" marL="274320" rtl="0" algn="l">
              <a:lnSpc>
                <a:spcPct val="100000"/>
              </a:lnSpc>
              <a:spcBef>
                <a:spcPts val="580"/>
              </a:spcBef>
              <a:spcAft>
                <a:spcPts val="0"/>
              </a:spcAft>
              <a:buSzPct val="78928"/>
              <a:buChar char="⚫"/>
            </a:pPr>
            <a:r>
              <a:rPr lang="en-US"/>
              <a:t>Whenever lock manager receives a lock request from a transaction T</a:t>
            </a:r>
            <a:r>
              <a:rPr baseline="-25000" lang="en-US"/>
              <a:t>i</a:t>
            </a:r>
            <a:r>
              <a:rPr lang="en-US"/>
              <a:t> on a particular data item Q</a:t>
            </a:r>
            <a:r>
              <a:rPr baseline="-25000" lang="en-US"/>
              <a:t>i</a:t>
            </a:r>
            <a:r>
              <a:rPr lang="en-US"/>
              <a:t> following cases may arise:</a:t>
            </a:r>
            <a:endParaRPr/>
          </a:p>
          <a:p>
            <a:pPr indent="-228599" lvl="1" marL="548640" rtl="0" algn="l">
              <a:lnSpc>
                <a:spcPct val="100000"/>
              </a:lnSpc>
              <a:spcBef>
                <a:spcPts val="370"/>
              </a:spcBef>
              <a:spcAft>
                <a:spcPts val="0"/>
              </a:spcAft>
              <a:buSzPct val="85000"/>
              <a:buChar char="⚫"/>
            </a:pPr>
            <a:r>
              <a:rPr lang="en-US"/>
              <a:t>If Q</a:t>
            </a:r>
            <a:r>
              <a:rPr baseline="-25000" lang="en-US"/>
              <a:t>i</a:t>
            </a:r>
            <a:r>
              <a:rPr lang="en-US"/>
              <a:t> is not already locked, a linked list will be created and lock will be granted to the requesting transaction T</a:t>
            </a:r>
            <a:r>
              <a:rPr baseline="-25000" lang="en-US"/>
              <a:t>i</a:t>
            </a:r>
            <a:r>
              <a:rPr lang="en-US"/>
              <a:t>.</a:t>
            </a:r>
            <a:endParaRPr/>
          </a:p>
          <a:p>
            <a:pPr indent="-228599" lvl="1" marL="548640" rtl="0" algn="l">
              <a:lnSpc>
                <a:spcPct val="100000"/>
              </a:lnSpc>
              <a:spcBef>
                <a:spcPts val="370"/>
              </a:spcBef>
              <a:spcAft>
                <a:spcPts val="0"/>
              </a:spcAft>
              <a:buSzPct val="85000"/>
              <a:buChar char="⚫"/>
            </a:pPr>
            <a:r>
              <a:rPr lang="en-US"/>
              <a:t>If the data item is already locked, a new node will be added at the end of its linked list containing the information about request made by T</a:t>
            </a:r>
            <a:r>
              <a:rPr baseline="-25000" lang="en-US"/>
              <a:t>i</a:t>
            </a:r>
            <a:r>
              <a:rPr lang="en-US"/>
              <a:t>.</a:t>
            </a:r>
            <a:endParaRPr/>
          </a:p>
          <a:p>
            <a:pPr indent="-274320" lvl="0" marL="274320" rtl="0" algn="l">
              <a:lnSpc>
                <a:spcPct val="100000"/>
              </a:lnSpc>
              <a:spcBef>
                <a:spcPts val="580"/>
              </a:spcBef>
              <a:spcAft>
                <a:spcPts val="0"/>
              </a:spcAft>
              <a:buSzPct val="78928"/>
              <a:buChar char="⚫"/>
            </a:pPr>
            <a:r>
              <a:rPr lang="en-US"/>
              <a:t>If the lock mode requested by T</a:t>
            </a:r>
            <a:r>
              <a:rPr baseline="-25000" lang="en-US"/>
              <a:t>i</a:t>
            </a:r>
            <a:r>
              <a:rPr lang="en-US"/>
              <a:t> is compatible with lock mode of transaction currently having the lock, T</a:t>
            </a:r>
            <a:r>
              <a:rPr baseline="-25000" lang="en-US"/>
              <a:t>i</a:t>
            </a:r>
            <a:r>
              <a:rPr lang="en-US"/>
              <a:t> will acquire the lock too and status will be changed to ‘granted’. Else, status of T</a:t>
            </a:r>
            <a:r>
              <a:rPr baseline="-25000" lang="en-US"/>
              <a:t>i</a:t>
            </a:r>
            <a:r>
              <a:rPr lang="en-US"/>
              <a:t>’s lock will be ‘waiting’.</a:t>
            </a:r>
            <a:endParaRPr/>
          </a:p>
          <a:p>
            <a:pPr indent="-274320" lvl="0" marL="274320" rtl="0" algn="l">
              <a:lnSpc>
                <a:spcPct val="100000"/>
              </a:lnSpc>
              <a:spcBef>
                <a:spcPts val="580"/>
              </a:spcBef>
              <a:spcAft>
                <a:spcPts val="0"/>
              </a:spcAft>
              <a:buSzPct val="78928"/>
              <a:buChar char="⚫"/>
            </a:pPr>
            <a:r>
              <a:rPr lang="en-US"/>
              <a:t>If a transaction T</a:t>
            </a:r>
            <a:r>
              <a:rPr baseline="-25000" lang="en-US"/>
              <a:t>i</a:t>
            </a:r>
            <a:r>
              <a:rPr lang="en-US"/>
              <a:t> wants to unlock the data item it is currently holding, it will send an unlock request to the lock manager. The lock manager will delete T</a:t>
            </a:r>
            <a:r>
              <a:rPr baseline="-25000" lang="en-US"/>
              <a:t>i</a:t>
            </a:r>
            <a:r>
              <a:rPr lang="en-US"/>
              <a:t>’s node from this linked list. Lock will be granted to the next transaction in the list.</a:t>
            </a:r>
            <a:endParaRPr/>
          </a:p>
          <a:p>
            <a:pPr indent="-274320" lvl="0" marL="274320" rtl="0" algn="l">
              <a:lnSpc>
                <a:spcPct val="100000"/>
              </a:lnSpc>
              <a:spcBef>
                <a:spcPts val="580"/>
              </a:spcBef>
              <a:spcAft>
                <a:spcPts val="0"/>
              </a:spcAft>
              <a:buSzPct val="78928"/>
              <a:buChar char="⚫"/>
            </a:pPr>
            <a:r>
              <a:rPr lang="en-US"/>
              <a:t>Sometimes transaction T</a:t>
            </a:r>
            <a:r>
              <a:rPr baseline="-25000" lang="en-US"/>
              <a:t>i</a:t>
            </a:r>
            <a:r>
              <a:rPr lang="en-US"/>
              <a:t> may have to be aborted. In such a case all the waiting request made by T</a:t>
            </a:r>
            <a:r>
              <a:rPr baseline="-25000" lang="en-US"/>
              <a:t>i</a:t>
            </a:r>
            <a:r>
              <a:rPr lang="en-US"/>
              <a:t> will be deleted from the linked lists present in lock table. Once abortion is complete, locks held by T</a:t>
            </a:r>
            <a:r>
              <a:rPr baseline="-25000" lang="en-US"/>
              <a:t>i</a:t>
            </a:r>
            <a:r>
              <a:rPr lang="en-US"/>
              <a:t> will also be released.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2"/>
          <p:cNvSpPr txBox="1"/>
          <p:nvPr>
            <p:ph type="title"/>
          </p:nvPr>
        </p:nvSpPr>
        <p:spPr>
          <a:xfrm>
            <a:off x="841375" y="899987"/>
            <a:ext cx="45960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Deadlock Handling</a:t>
            </a:r>
            <a:endParaRPr/>
          </a:p>
        </p:txBody>
      </p:sp>
      <p:sp>
        <p:nvSpPr>
          <p:cNvPr id="342" name="Google Shape;342;p42"/>
          <p:cNvSpPr txBox="1"/>
          <p:nvPr/>
        </p:nvSpPr>
        <p:spPr>
          <a:xfrm>
            <a:off x="866051" y="1872043"/>
            <a:ext cx="6994500" cy="3436500"/>
          </a:xfrm>
          <a:prstGeom prst="rect">
            <a:avLst/>
          </a:prstGeom>
          <a:noFill/>
          <a:ln>
            <a:noFill/>
          </a:ln>
        </p:spPr>
        <p:txBody>
          <a:bodyPr anchorCtr="0" anchor="t" bIns="0" lIns="0" spcFirstLastPara="1" rIns="0" wrap="square" tIns="10775">
            <a:spAutoFit/>
          </a:bodyPr>
          <a:lstStyle/>
          <a:p>
            <a:pPr indent="-363855" lvl="0" marL="376555" marR="224790" rtl="0" algn="just">
              <a:lnSpc>
                <a:spcPct val="100699"/>
              </a:lnSpc>
              <a:spcBef>
                <a:spcPts val="0"/>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System is deadlocked if there is a set of transactions such that  every transaction in the set is waiting for another transaction in  the set.</a:t>
            </a:r>
            <a:endParaRPr b="0" i="0" sz="2000" u="none" cap="none" strike="noStrike">
              <a:solidFill>
                <a:schemeClr val="dk1"/>
              </a:solidFill>
              <a:latin typeface="Times New Roman"/>
              <a:ea typeface="Times New Roman"/>
              <a:cs typeface="Times New Roman"/>
              <a:sym typeface="Times New Roman"/>
            </a:endParaRPr>
          </a:p>
          <a:p>
            <a:pPr indent="-363855" lvl="0" marL="376555" marR="0" rtl="0" algn="l">
              <a:lnSpc>
                <a:spcPct val="107500"/>
              </a:lnSpc>
              <a:spcBef>
                <a:spcPts val="645"/>
              </a:spcBef>
              <a:spcAft>
                <a:spcPts val="0"/>
              </a:spcAft>
              <a:buClr>
                <a:srgbClr val="CC3300"/>
              </a:buClr>
              <a:buSzPts val="1778"/>
              <a:buFont typeface="Times New Roman"/>
              <a:buChar char="●"/>
            </a:pPr>
            <a:r>
              <a:rPr b="1" i="1" lang="en-US" sz="2000" u="none" cap="none" strike="noStrike">
                <a:solidFill>
                  <a:srgbClr val="000099"/>
                </a:solidFill>
                <a:latin typeface="Times New Roman"/>
                <a:ea typeface="Times New Roman"/>
                <a:cs typeface="Times New Roman"/>
                <a:sym typeface="Times New Roman"/>
              </a:rPr>
              <a:t>Deadlock prevention </a:t>
            </a:r>
            <a:r>
              <a:rPr b="0" i="0" lang="en-US" sz="2000" u="none" cap="none" strike="noStrike">
                <a:solidFill>
                  <a:schemeClr val="dk1"/>
                </a:solidFill>
                <a:latin typeface="Times New Roman"/>
                <a:ea typeface="Times New Roman"/>
                <a:cs typeface="Times New Roman"/>
                <a:sym typeface="Times New Roman"/>
              </a:rPr>
              <a:t>protocols ensure that the system will</a:t>
            </a:r>
            <a:endParaRPr b="0" i="0" sz="2000" u="none" cap="none" strike="noStrike">
              <a:solidFill>
                <a:schemeClr val="dk1"/>
              </a:solidFill>
              <a:latin typeface="Times New Roman"/>
              <a:ea typeface="Times New Roman"/>
              <a:cs typeface="Times New Roman"/>
              <a:sym typeface="Times New Roman"/>
            </a:endParaRPr>
          </a:p>
          <a:p>
            <a:pPr indent="0" lvl="0" marL="376555" marR="0" rtl="0" algn="l">
              <a:lnSpc>
                <a:spcPct val="107500"/>
              </a:lnSpc>
              <a:spcBef>
                <a:spcPts val="0"/>
              </a:spcBef>
              <a:spcAft>
                <a:spcPts val="0"/>
              </a:spcAft>
              <a:buClr>
                <a:srgbClr val="000000"/>
              </a:buClr>
              <a:buSzPts val="2000"/>
              <a:buFont typeface="Arial"/>
              <a:buNone/>
            </a:pPr>
            <a:r>
              <a:rPr b="0" i="1" lang="en-US" sz="2000" u="none" cap="none" strike="noStrike">
                <a:solidFill>
                  <a:schemeClr val="dk1"/>
                </a:solidFill>
                <a:latin typeface="Times New Roman"/>
                <a:ea typeface="Times New Roman"/>
                <a:cs typeface="Times New Roman"/>
                <a:sym typeface="Times New Roman"/>
              </a:rPr>
              <a:t>never </a:t>
            </a:r>
            <a:r>
              <a:rPr b="0" i="0" lang="en-US" sz="2000" u="none" cap="none" strike="noStrike">
                <a:solidFill>
                  <a:schemeClr val="dk1"/>
                </a:solidFill>
                <a:latin typeface="Times New Roman"/>
                <a:ea typeface="Times New Roman"/>
                <a:cs typeface="Times New Roman"/>
                <a:sym typeface="Times New Roman"/>
              </a:rPr>
              <a:t>enter into a deadlock state. Some prevention strategies :</a:t>
            </a:r>
            <a:endParaRPr b="0" i="0" sz="1400" u="none" cap="none" strike="noStrike">
              <a:solidFill>
                <a:srgbClr val="000000"/>
              </a:solidFill>
              <a:latin typeface="Arial"/>
              <a:ea typeface="Arial"/>
              <a:cs typeface="Arial"/>
              <a:sym typeface="Arial"/>
            </a:endParaRPr>
          </a:p>
          <a:p>
            <a:pPr indent="-304800" lvl="1" marL="776605" marR="167005" rtl="0" algn="l">
              <a:lnSpc>
                <a:spcPct val="107000"/>
              </a:lnSpc>
              <a:spcBef>
                <a:spcPts val="730"/>
              </a:spcBef>
              <a:spcAft>
                <a:spcPts val="0"/>
              </a:spcAft>
              <a:buClr>
                <a:srgbClr val="FF9933"/>
              </a:buClr>
              <a:buSzPts val="1556"/>
              <a:buFont typeface="Times New Roman"/>
              <a:buChar char="●"/>
            </a:pPr>
            <a:r>
              <a:rPr b="0" i="0" lang="en-US" sz="2000" u="none" cap="none" strike="noStrike">
                <a:solidFill>
                  <a:schemeClr val="dk1"/>
                </a:solidFill>
                <a:latin typeface="Times New Roman"/>
                <a:ea typeface="Times New Roman"/>
                <a:cs typeface="Times New Roman"/>
                <a:sym typeface="Times New Roman"/>
              </a:rPr>
              <a:t>Require that each transaction locks all its data items before  it begins execution (predeclaration).</a:t>
            </a:r>
            <a:endParaRPr b="0" i="0" sz="2000" u="none" cap="none" strike="noStrike">
              <a:solidFill>
                <a:schemeClr val="dk1"/>
              </a:solidFill>
              <a:latin typeface="Times New Roman"/>
              <a:ea typeface="Times New Roman"/>
              <a:cs typeface="Times New Roman"/>
              <a:sym typeface="Times New Roman"/>
            </a:endParaRPr>
          </a:p>
          <a:p>
            <a:pPr indent="-304800" lvl="1" marL="776605" marR="5080" rtl="0" algn="l">
              <a:lnSpc>
                <a:spcPct val="100000"/>
              </a:lnSpc>
              <a:spcBef>
                <a:spcPts val="585"/>
              </a:spcBef>
              <a:spcAft>
                <a:spcPts val="0"/>
              </a:spcAft>
              <a:buClr>
                <a:srgbClr val="FF9933"/>
              </a:buClr>
              <a:buSzPts val="1556"/>
              <a:buFont typeface="Times New Roman"/>
              <a:buChar char="●"/>
            </a:pPr>
            <a:r>
              <a:rPr b="0" i="0" lang="en-US" sz="2000" u="none" cap="none" strike="noStrike">
                <a:solidFill>
                  <a:schemeClr val="dk1"/>
                </a:solidFill>
                <a:latin typeface="Times New Roman"/>
                <a:ea typeface="Times New Roman"/>
                <a:cs typeface="Times New Roman"/>
                <a:sym typeface="Times New Roman"/>
              </a:rPr>
              <a:t>Impose partial ordering of all data items and require that a  transaction can lock data items only in the order specified by  the partial order.</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3"/>
          <p:cNvSpPr txBox="1"/>
          <p:nvPr>
            <p:ph type="title"/>
          </p:nvPr>
        </p:nvSpPr>
        <p:spPr>
          <a:xfrm>
            <a:off x="225425" y="858712"/>
            <a:ext cx="89853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More Deadlock Prevention Strategies</a:t>
            </a:r>
            <a:endParaRPr/>
          </a:p>
        </p:txBody>
      </p:sp>
      <p:sp>
        <p:nvSpPr>
          <p:cNvPr id="348" name="Google Shape;348;p43"/>
          <p:cNvSpPr txBox="1"/>
          <p:nvPr/>
        </p:nvSpPr>
        <p:spPr>
          <a:xfrm>
            <a:off x="572363" y="1400555"/>
            <a:ext cx="7449300" cy="4553400"/>
          </a:xfrm>
          <a:prstGeom prst="rect">
            <a:avLst/>
          </a:prstGeom>
          <a:noFill/>
          <a:ln>
            <a:noFill/>
          </a:ln>
        </p:spPr>
        <p:txBody>
          <a:bodyPr anchorCtr="0" anchor="t" bIns="0" lIns="0" spcFirstLastPara="1" rIns="0" wrap="square" tIns="10775">
            <a:spAutoFit/>
          </a:bodyPr>
          <a:lstStyle/>
          <a:p>
            <a:pPr indent="-363855" lvl="0" marL="376555" marR="701040" rtl="0" algn="l">
              <a:lnSpc>
                <a:spcPct val="100699"/>
              </a:lnSpc>
              <a:spcBef>
                <a:spcPts val="0"/>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Following schemes use transaction timestamps for the sake of  deadlock prevention alone.</a:t>
            </a:r>
            <a:endParaRPr b="0" i="0" sz="2000" u="none" cap="none" strike="noStrike">
              <a:solidFill>
                <a:schemeClr val="dk1"/>
              </a:solidFill>
              <a:latin typeface="Times New Roman"/>
              <a:ea typeface="Times New Roman"/>
              <a:cs typeface="Times New Roman"/>
              <a:sym typeface="Times New Roman"/>
            </a:endParaRPr>
          </a:p>
          <a:p>
            <a:pPr indent="-363855" lvl="0" marL="376555" marR="0" rtl="0" algn="l">
              <a:lnSpc>
                <a:spcPct val="100000"/>
              </a:lnSpc>
              <a:spcBef>
                <a:spcPts val="645"/>
              </a:spcBef>
              <a:spcAft>
                <a:spcPts val="0"/>
              </a:spcAft>
              <a:buClr>
                <a:srgbClr val="CC3300"/>
              </a:buClr>
              <a:buSzPts val="1778"/>
              <a:buFont typeface="Arial"/>
              <a:buChar char="●"/>
            </a:pPr>
            <a:r>
              <a:rPr b="1" i="0" lang="en-US" sz="2000" u="none" cap="none" strike="noStrike">
                <a:solidFill>
                  <a:srgbClr val="000099"/>
                </a:solidFill>
                <a:latin typeface="Times New Roman"/>
                <a:ea typeface="Times New Roman"/>
                <a:cs typeface="Times New Roman"/>
                <a:sym typeface="Times New Roman"/>
              </a:rPr>
              <a:t>wait-die </a:t>
            </a:r>
            <a:r>
              <a:rPr b="0" i="0" lang="en-US" sz="2000" u="none" cap="none" strike="noStrike">
                <a:solidFill>
                  <a:schemeClr val="dk1"/>
                </a:solidFill>
                <a:latin typeface="Times New Roman"/>
                <a:ea typeface="Times New Roman"/>
                <a:cs typeface="Times New Roman"/>
                <a:sym typeface="Times New Roman"/>
              </a:rPr>
              <a:t>scheme — non-preemptive</a:t>
            </a:r>
            <a:endParaRPr b="0" i="0" sz="2000" u="none" cap="none" strike="noStrike">
              <a:solidFill>
                <a:schemeClr val="dk1"/>
              </a:solidFill>
              <a:latin typeface="Times New Roman"/>
              <a:ea typeface="Times New Roman"/>
              <a:cs typeface="Times New Roman"/>
              <a:sym typeface="Times New Roman"/>
            </a:endParaRPr>
          </a:p>
          <a:p>
            <a:pPr indent="-304800" lvl="1" marL="776605" marR="156210" rtl="0" algn="l">
              <a:lnSpc>
                <a:spcPct val="100200"/>
              </a:lnSpc>
              <a:spcBef>
                <a:spcPts val="610"/>
              </a:spcBef>
              <a:spcAft>
                <a:spcPts val="0"/>
              </a:spcAft>
              <a:buClr>
                <a:srgbClr val="FF9933"/>
              </a:buClr>
              <a:buSzPts val="1556"/>
              <a:buFont typeface="Times New Roman"/>
              <a:buChar char="●"/>
            </a:pPr>
            <a:r>
              <a:rPr b="0" i="0" lang="en-US" sz="2000" u="none" cap="none" strike="noStrike">
                <a:solidFill>
                  <a:schemeClr val="dk1"/>
                </a:solidFill>
                <a:latin typeface="Times New Roman"/>
                <a:ea typeface="Times New Roman"/>
                <a:cs typeface="Times New Roman"/>
                <a:sym typeface="Times New Roman"/>
              </a:rPr>
              <a:t>older transaction may wait for younger one to release data item.  (older means smaller timestamp) Younger transactions never wait for older ones; they are rolled  back instead.</a:t>
            </a:r>
            <a:endParaRPr b="0" i="0" sz="1400" u="none" cap="none" strike="noStrike">
              <a:solidFill>
                <a:srgbClr val="000000"/>
              </a:solidFill>
              <a:latin typeface="Arial"/>
              <a:ea typeface="Arial"/>
              <a:cs typeface="Arial"/>
              <a:sym typeface="Arial"/>
            </a:endParaRPr>
          </a:p>
          <a:p>
            <a:pPr indent="-304800" lvl="1" marL="776605" marR="5080" rtl="0" algn="l">
              <a:lnSpc>
                <a:spcPct val="107000"/>
              </a:lnSpc>
              <a:spcBef>
                <a:spcPts val="730"/>
              </a:spcBef>
              <a:spcAft>
                <a:spcPts val="0"/>
              </a:spcAft>
              <a:buClr>
                <a:srgbClr val="FF9933"/>
              </a:buClr>
              <a:buSzPts val="1556"/>
              <a:buFont typeface="Times New Roman"/>
              <a:buChar char="●"/>
            </a:pPr>
            <a:r>
              <a:rPr b="0" i="0" lang="en-US" sz="2000" u="none" cap="none" strike="noStrike">
                <a:solidFill>
                  <a:schemeClr val="dk1"/>
                </a:solidFill>
                <a:latin typeface="Times New Roman"/>
                <a:ea typeface="Times New Roman"/>
                <a:cs typeface="Times New Roman"/>
                <a:sym typeface="Times New Roman"/>
              </a:rPr>
              <a:t>a transaction may die several times before acquiring needed data  item</a:t>
            </a:r>
            <a:endParaRPr b="0" i="0" sz="2000" u="none" cap="none" strike="noStrike">
              <a:solidFill>
                <a:schemeClr val="dk1"/>
              </a:solidFill>
              <a:latin typeface="Times New Roman"/>
              <a:ea typeface="Times New Roman"/>
              <a:cs typeface="Times New Roman"/>
              <a:sym typeface="Times New Roman"/>
            </a:endParaRPr>
          </a:p>
          <a:p>
            <a:pPr indent="-363855" lvl="0" marL="376555" marR="0" rtl="0" algn="l">
              <a:lnSpc>
                <a:spcPct val="100000"/>
              </a:lnSpc>
              <a:spcBef>
                <a:spcPts val="585"/>
              </a:spcBef>
              <a:spcAft>
                <a:spcPts val="0"/>
              </a:spcAft>
              <a:buClr>
                <a:srgbClr val="CC3300"/>
              </a:buClr>
              <a:buSzPts val="1778"/>
              <a:buFont typeface="Arial"/>
              <a:buChar char="●"/>
            </a:pPr>
            <a:r>
              <a:rPr b="1" i="0" lang="en-US" sz="2000" u="none" cap="none" strike="noStrike">
                <a:solidFill>
                  <a:srgbClr val="000099"/>
                </a:solidFill>
                <a:latin typeface="Times New Roman"/>
                <a:ea typeface="Times New Roman"/>
                <a:cs typeface="Times New Roman"/>
                <a:sym typeface="Times New Roman"/>
              </a:rPr>
              <a:t>wound-wait </a:t>
            </a:r>
            <a:r>
              <a:rPr b="0" i="0" lang="en-US" sz="2000" u="none" cap="none" strike="noStrike">
                <a:solidFill>
                  <a:schemeClr val="dk1"/>
                </a:solidFill>
                <a:latin typeface="Times New Roman"/>
                <a:ea typeface="Times New Roman"/>
                <a:cs typeface="Times New Roman"/>
                <a:sym typeface="Times New Roman"/>
              </a:rPr>
              <a:t>scheme — preemptive</a:t>
            </a:r>
            <a:endParaRPr b="0" i="0" sz="2000" u="none" cap="none" strike="noStrike">
              <a:solidFill>
                <a:schemeClr val="dk1"/>
              </a:solidFill>
              <a:latin typeface="Times New Roman"/>
              <a:ea typeface="Times New Roman"/>
              <a:cs typeface="Times New Roman"/>
              <a:sym typeface="Times New Roman"/>
            </a:endParaRPr>
          </a:p>
          <a:p>
            <a:pPr indent="-304800" lvl="1" marL="776605" marR="38100" rtl="0" algn="l">
              <a:lnSpc>
                <a:spcPct val="100000"/>
              </a:lnSpc>
              <a:spcBef>
                <a:spcPts val="615"/>
              </a:spcBef>
              <a:spcAft>
                <a:spcPts val="0"/>
              </a:spcAft>
              <a:buClr>
                <a:srgbClr val="FF9933"/>
              </a:buClr>
              <a:buSzPts val="1556"/>
              <a:buFont typeface="Times New Roman"/>
              <a:buChar char="●"/>
            </a:pPr>
            <a:r>
              <a:rPr b="0" i="0" lang="en-US" sz="2000" u="none" cap="none" strike="noStrike">
                <a:solidFill>
                  <a:schemeClr val="dk1"/>
                </a:solidFill>
                <a:latin typeface="Times New Roman"/>
                <a:ea typeface="Times New Roman"/>
                <a:cs typeface="Times New Roman"/>
                <a:sym typeface="Times New Roman"/>
              </a:rPr>
              <a:t>older transaction </a:t>
            </a:r>
            <a:r>
              <a:rPr b="0" i="1" lang="en-US" sz="2000" u="none" cap="none" strike="noStrike">
                <a:solidFill>
                  <a:schemeClr val="dk1"/>
                </a:solidFill>
                <a:latin typeface="Times New Roman"/>
                <a:ea typeface="Times New Roman"/>
                <a:cs typeface="Times New Roman"/>
                <a:sym typeface="Times New Roman"/>
              </a:rPr>
              <a:t>wounds </a:t>
            </a:r>
            <a:r>
              <a:rPr b="0" i="0" lang="en-US" sz="2000" u="none" cap="none" strike="noStrike">
                <a:solidFill>
                  <a:schemeClr val="dk1"/>
                </a:solidFill>
                <a:latin typeface="Times New Roman"/>
                <a:ea typeface="Times New Roman"/>
                <a:cs typeface="Times New Roman"/>
                <a:sym typeface="Times New Roman"/>
              </a:rPr>
              <a:t>(forces rollback) of younger transaction  instead of waiting for it. Younger transactions may wait for older  ones.</a:t>
            </a:r>
            <a:endParaRPr b="0" i="0" sz="2000" u="none" cap="none" strike="noStrike">
              <a:solidFill>
                <a:schemeClr val="dk1"/>
              </a:solidFill>
              <a:latin typeface="Times New Roman"/>
              <a:ea typeface="Times New Roman"/>
              <a:cs typeface="Times New Roman"/>
              <a:sym typeface="Times New Roman"/>
            </a:endParaRPr>
          </a:p>
          <a:p>
            <a:pPr indent="-304800" lvl="1" marL="776605" marR="0" rtl="0" algn="l">
              <a:lnSpc>
                <a:spcPct val="100000"/>
              </a:lnSpc>
              <a:spcBef>
                <a:spcPts val="645"/>
              </a:spcBef>
              <a:spcAft>
                <a:spcPts val="0"/>
              </a:spcAft>
              <a:buClr>
                <a:srgbClr val="FF9933"/>
              </a:buClr>
              <a:buSzPts val="1556"/>
              <a:buFont typeface="Times New Roman"/>
              <a:buChar char="●"/>
            </a:pPr>
            <a:r>
              <a:rPr b="0" i="0" lang="en-US" sz="2000" u="none" cap="none" strike="noStrike">
                <a:solidFill>
                  <a:schemeClr val="dk1"/>
                </a:solidFill>
                <a:latin typeface="Times New Roman"/>
                <a:ea typeface="Times New Roman"/>
                <a:cs typeface="Times New Roman"/>
                <a:sym typeface="Times New Roman"/>
              </a:rPr>
              <a:t>may be fewer rollbacks than </a:t>
            </a:r>
            <a:r>
              <a:rPr b="0" i="1" lang="en-US" sz="2000" u="none" cap="none" strike="noStrike">
                <a:solidFill>
                  <a:schemeClr val="dk1"/>
                </a:solidFill>
                <a:latin typeface="Times New Roman"/>
                <a:ea typeface="Times New Roman"/>
                <a:cs typeface="Times New Roman"/>
                <a:sym typeface="Times New Roman"/>
              </a:rPr>
              <a:t>wait-die </a:t>
            </a:r>
            <a:r>
              <a:rPr b="0" i="0" lang="en-US" sz="2000" u="none" cap="none" strike="noStrike">
                <a:solidFill>
                  <a:schemeClr val="dk1"/>
                </a:solidFill>
                <a:latin typeface="Times New Roman"/>
                <a:ea typeface="Times New Roman"/>
                <a:cs typeface="Times New Roman"/>
                <a:sym typeface="Times New Roman"/>
              </a:rPr>
              <a:t>scheme.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4"/>
          <p:cNvSpPr txBox="1"/>
          <p:nvPr>
            <p:ph type="title"/>
          </p:nvPr>
        </p:nvSpPr>
        <p:spPr>
          <a:xfrm>
            <a:off x="841375" y="823787"/>
            <a:ext cx="47376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Deadlock Detection</a:t>
            </a:r>
            <a:endParaRPr/>
          </a:p>
        </p:txBody>
      </p:sp>
      <p:sp>
        <p:nvSpPr>
          <p:cNvPr id="354" name="Google Shape;354;p44"/>
          <p:cNvSpPr txBox="1"/>
          <p:nvPr/>
        </p:nvSpPr>
        <p:spPr>
          <a:xfrm>
            <a:off x="866051" y="1414843"/>
            <a:ext cx="7521600" cy="2639100"/>
          </a:xfrm>
          <a:prstGeom prst="rect">
            <a:avLst/>
          </a:prstGeom>
          <a:noFill/>
          <a:ln>
            <a:noFill/>
          </a:ln>
        </p:spPr>
        <p:txBody>
          <a:bodyPr anchorCtr="0" anchor="t" bIns="0" lIns="0" spcFirstLastPara="1" rIns="0" wrap="square" tIns="10775">
            <a:spAutoFit/>
          </a:bodyPr>
          <a:lstStyle/>
          <a:p>
            <a:pPr indent="-363855" lvl="0" marL="376555" marR="127635" rtl="0" algn="l">
              <a:lnSpc>
                <a:spcPct val="100000"/>
              </a:lnSpc>
              <a:spcBef>
                <a:spcPts val="0"/>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In a database, when a transaction waits indefinitely to obtain a lock, then the DBMS should detect whether the transaction is involved in a deadlock or not. </a:t>
            </a:r>
            <a:endParaRPr b="0" i="0" sz="2000" u="none" cap="none" strike="noStrike">
              <a:solidFill>
                <a:schemeClr val="dk1"/>
              </a:solidFill>
              <a:latin typeface="Times New Roman"/>
              <a:ea typeface="Times New Roman"/>
              <a:cs typeface="Times New Roman"/>
              <a:sym typeface="Times New Roman"/>
            </a:endParaRPr>
          </a:p>
          <a:p>
            <a:pPr indent="-363855" lvl="0" marL="376555" marR="127635" rtl="0" algn="l">
              <a:lnSpc>
                <a:spcPct val="100000"/>
              </a:lnSpc>
              <a:spcBef>
                <a:spcPts val="64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The lock manager maintains a </a:t>
            </a:r>
            <a:r>
              <a:rPr b="1" i="0" lang="en-US" sz="2000" u="none" cap="none" strike="noStrike">
                <a:solidFill>
                  <a:schemeClr val="dk1"/>
                </a:solidFill>
                <a:latin typeface="Times New Roman"/>
                <a:ea typeface="Times New Roman"/>
                <a:cs typeface="Times New Roman"/>
                <a:sym typeface="Times New Roman"/>
              </a:rPr>
              <a:t>wait-for </a:t>
            </a:r>
            <a:r>
              <a:rPr b="0" i="0" lang="en-US" sz="2000" u="none" cap="none" strike="noStrike">
                <a:solidFill>
                  <a:schemeClr val="dk1"/>
                </a:solidFill>
                <a:latin typeface="Times New Roman"/>
                <a:ea typeface="Times New Roman"/>
                <a:cs typeface="Times New Roman"/>
                <a:sym typeface="Times New Roman"/>
              </a:rPr>
              <a:t>the graph to detect the deadlock cycle in the database.</a:t>
            </a:r>
            <a:endParaRPr b="0" i="0" sz="2000" u="none" cap="none" strike="noStrike">
              <a:solidFill>
                <a:schemeClr val="dk1"/>
              </a:solidFill>
              <a:latin typeface="Times New Roman"/>
              <a:ea typeface="Times New Roman"/>
              <a:cs typeface="Times New Roman"/>
              <a:sym typeface="Times New Roman"/>
            </a:endParaRPr>
          </a:p>
          <a:p>
            <a:pPr indent="-363855" lvl="0" marL="376555" marR="127635" rtl="0" algn="l">
              <a:lnSpc>
                <a:spcPct val="100000"/>
              </a:lnSpc>
              <a:spcBef>
                <a:spcPts val="64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The system is in a deadlock state if and only if the </a:t>
            </a:r>
            <a:r>
              <a:rPr b="1" i="0" lang="en-US" sz="2000" u="none" cap="none" strike="noStrike">
                <a:solidFill>
                  <a:schemeClr val="dk1"/>
                </a:solidFill>
                <a:latin typeface="Times New Roman"/>
                <a:ea typeface="Times New Roman"/>
                <a:cs typeface="Times New Roman"/>
                <a:sym typeface="Times New Roman"/>
              </a:rPr>
              <a:t>wait-for</a:t>
            </a:r>
            <a:r>
              <a:rPr b="0" i="0" lang="en-US" sz="2000" u="none" cap="none" strike="noStrike">
                <a:solidFill>
                  <a:schemeClr val="dk1"/>
                </a:solidFill>
                <a:latin typeface="Times New Roman"/>
                <a:ea typeface="Times New Roman"/>
                <a:cs typeface="Times New Roman"/>
                <a:sym typeface="Times New Roman"/>
              </a:rPr>
              <a:t> graph has  a cycle. Must invoke a deadlock-detection algorithm periodically to  look for cycles.</a:t>
            </a:r>
            <a:endParaRPr b="0" i="0" sz="2000" u="none" cap="none" strike="noStrike">
              <a:solidFill>
                <a:schemeClr val="dk1"/>
              </a:solidFill>
              <a:latin typeface="Times New Roman"/>
              <a:ea typeface="Times New Roman"/>
              <a:cs typeface="Times New Roman"/>
              <a:sym typeface="Times New Roman"/>
            </a:endParaRPr>
          </a:p>
        </p:txBody>
      </p:sp>
      <p:pic>
        <p:nvPicPr>
          <p:cNvPr descr="Deadlock in DBMS" id="355" name="Google Shape;355;p44"/>
          <p:cNvPicPr preferRelativeResize="0"/>
          <p:nvPr/>
        </p:nvPicPr>
        <p:blipFill rotWithShape="1">
          <a:blip r:embed="rId3">
            <a:alphaModFix/>
          </a:blip>
          <a:srcRect b="0" l="0" r="0" t="0"/>
          <a:stretch/>
        </p:blipFill>
        <p:spPr>
          <a:xfrm>
            <a:off x="2514600" y="3810000"/>
            <a:ext cx="3609975" cy="286056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5"/>
          <p:cNvSpPr txBox="1"/>
          <p:nvPr>
            <p:ph type="title"/>
          </p:nvPr>
        </p:nvSpPr>
        <p:spPr>
          <a:xfrm>
            <a:off x="841375" y="899987"/>
            <a:ext cx="47103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Deadlock Recovery</a:t>
            </a:r>
            <a:endParaRPr/>
          </a:p>
        </p:txBody>
      </p:sp>
      <p:sp>
        <p:nvSpPr>
          <p:cNvPr id="361" name="Google Shape;361;p45"/>
          <p:cNvSpPr txBox="1"/>
          <p:nvPr/>
        </p:nvSpPr>
        <p:spPr>
          <a:xfrm>
            <a:off x="664249" y="1561525"/>
            <a:ext cx="7872300" cy="4880700"/>
          </a:xfrm>
          <a:prstGeom prst="rect">
            <a:avLst/>
          </a:prstGeom>
          <a:noFill/>
          <a:ln>
            <a:noFill/>
          </a:ln>
        </p:spPr>
        <p:txBody>
          <a:bodyPr anchorCtr="0" anchor="t" bIns="0" lIns="0" spcFirstLastPara="1" rIns="0" wrap="square" tIns="94600">
            <a:spAutoFit/>
          </a:bodyPr>
          <a:lstStyle/>
          <a:p>
            <a:pPr indent="-304800" lvl="0" marL="776605" marR="361315" rtl="0" algn="l">
              <a:lnSpc>
                <a:spcPct val="100000"/>
              </a:lnSpc>
              <a:spcBef>
                <a:spcPts val="0"/>
              </a:spcBef>
              <a:spcAft>
                <a:spcPts val="0"/>
              </a:spcAft>
              <a:buClr>
                <a:srgbClr val="FF9933"/>
              </a:buClr>
              <a:buSzPts val="1400"/>
              <a:buFont typeface="Times New Roman"/>
              <a:buChar char="●"/>
            </a:pPr>
            <a:r>
              <a:rPr b="0" i="0" lang="en-US" sz="1800" u="none" cap="none" strike="noStrike">
                <a:solidFill>
                  <a:schemeClr val="dk1"/>
                </a:solidFill>
                <a:latin typeface="Times New Roman"/>
                <a:ea typeface="Times New Roman"/>
                <a:cs typeface="Times New Roman"/>
                <a:sym typeface="Times New Roman"/>
              </a:rPr>
              <a:t>Deadlock recovery is generally used when deadlocks are rare and the cost of recovery is low.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Methods for Recovery</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Times New Roman"/>
              <a:buAutoNum type="arabicPeriod"/>
            </a:pPr>
            <a:r>
              <a:rPr b="1" i="0" lang="en-US" sz="1800" u="none" cap="none" strike="noStrike">
                <a:solidFill>
                  <a:schemeClr val="dk1"/>
                </a:solidFill>
                <a:latin typeface="Times New Roman"/>
                <a:ea typeface="Times New Roman"/>
                <a:cs typeface="Times New Roman"/>
                <a:sym typeface="Times New Roman"/>
              </a:rPr>
              <a:t>Termination of processes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Some victim process is chosen for termination from the cycle of deadlocked processes. </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This process is terminated, requiring a later restart All the resources allocated to this processes are released, so that they may be reassigned to other deadlocked processes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2. Rolling back processes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In order to rollback a victim process, there needs to have been some previous checkpoint at which time the state of the victim process was saved to stable storage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There must also be an assurance that the rolled back process is not holding any resource needed by the other deadlocked processes at that point.</a:t>
            </a:r>
            <a:endParaRPr b="0" i="0" sz="1800" u="none" cap="none" strike="noStrike">
              <a:solidFill>
                <a:schemeClr val="dk1"/>
              </a:solidFill>
              <a:latin typeface="Times New Roman"/>
              <a:ea typeface="Times New Roman"/>
              <a:cs typeface="Times New Roman"/>
              <a:sym typeface="Times New Roman"/>
            </a:endParaRPr>
          </a:p>
          <a:p>
            <a:pPr indent="-304800" lvl="0" marL="776605" marR="361315" rtl="0" algn="l">
              <a:lnSpc>
                <a:spcPct val="100000"/>
              </a:lnSpc>
              <a:spcBef>
                <a:spcPts val="585"/>
              </a:spcBef>
              <a:spcAft>
                <a:spcPts val="0"/>
              </a:spcAft>
              <a:buClr>
                <a:srgbClr val="FF9933"/>
              </a:buClr>
              <a:buSzPts val="1400"/>
              <a:buFont typeface="Times New Roman"/>
              <a:buChar char="●"/>
            </a:pPr>
            <a:r>
              <a:rPr b="0" i="0" lang="en-US" sz="1800" u="none" cap="none" strike="noStrike">
                <a:solidFill>
                  <a:schemeClr val="dk1"/>
                </a:solidFill>
                <a:latin typeface="Times New Roman"/>
                <a:ea typeface="Times New Roman"/>
                <a:cs typeface="Times New Roman"/>
                <a:sym typeface="Times New Roman"/>
              </a:rPr>
              <a:t>Starvation happens if same transaction is always chosen as  victim. Include the number of rollbacks in the cost factor to  avoid starvation</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6"/>
          <p:cNvSpPr txBox="1"/>
          <p:nvPr>
            <p:ph type="title"/>
          </p:nvPr>
        </p:nvSpPr>
        <p:spPr>
          <a:xfrm>
            <a:off x="612775" y="976187"/>
            <a:ext cx="51276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Failure Classification</a:t>
            </a:r>
            <a:endParaRPr/>
          </a:p>
        </p:txBody>
      </p:sp>
      <p:sp>
        <p:nvSpPr>
          <p:cNvPr id="367" name="Google Shape;367;p46"/>
          <p:cNvSpPr txBox="1"/>
          <p:nvPr/>
        </p:nvSpPr>
        <p:spPr>
          <a:xfrm>
            <a:off x="485051" y="1637728"/>
            <a:ext cx="7504500" cy="4050600"/>
          </a:xfrm>
          <a:prstGeom prst="rect">
            <a:avLst/>
          </a:prstGeom>
          <a:noFill/>
          <a:ln>
            <a:noFill/>
          </a:ln>
        </p:spPr>
        <p:txBody>
          <a:bodyPr anchorCtr="0" anchor="t" bIns="0" lIns="0" spcFirstLastPara="1" rIns="0" wrap="square" tIns="94600">
            <a:spAutoFit/>
          </a:bodyPr>
          <a:lstStyle/>
          <a:p>
            <a:pPr indent="-363855" lvl="0" marL="376555" marR="0" rtl="0" algn="l">
              <a:lnSpc>
                <a:spcPct val="100000"/>
              </a:lnSpc>
              <a:spcBef>
                <a:spcPts val="0"/>
              </a:spcBef>
              <a:spcAft>
                <a:spcPts val="0"/>
              </a:spcAft>
              <a:buClr>
                <a:srgbClr val="CC3300"/>
              </a:buClr>
              <a:buSzPts val="1600"/>
              <a:buFont typeface="Arial"/>
              <a:buChar char="●"/>
            </a:pPr>
            <a:r>
              <a:rPr b="1" i="0" lang="en-US" sz="1800" u="none" cap="none" strike="noStrike">
                <a:solidFill>
                  <a:schemeClr val="dk1"/>
                </a:solidFill>
                <a:latin typeface="Times New Roman"/>
                <a:ea typeface="Times New Roman"/>
                <a:cs typeface="Times New Roman"/>
                <a:sym typeface="Times New Roman"/>
              </a:rPr>
              <a:t>Transaction failure </a:t>
            </a:r>
            <a:r>
              <a:rPr b="0" i="0" lang="en-US" sz="18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304800" lvl="1" marL="776605" marR="5080" rtl="0" algn="l">
              <a:lnSpc>
                <a:spcPct val="118888"/>
              </a:lnSpc>
              <a:spcBef>
                <a:spcPts val="730"/>
              </a:spcBef>
              <a:spcAft>
                <a:spcPts val="0"/>
              </a:spcAft>
              <a:buClr>
                <a:srgbClr val="FF9933"/>
              </a:buClr>
              <a:buSzPts val="1400"/>
              <a:buFont typeface="Arial"/>
              <a:buChar char="●"/>
            </a:pPr>
            <a:r>
              <a:rPr b="1" i="0" lang="en-US" sz="1800" u="none" cap="none" strike="noStrike">
                <a:solidFill>
                  <a:schemeClr val="dk1"/>
                </a:solidFill>
                <a:latin typeface="Times New Roman"/>
                <a:ea typeface="Times New Roman"/>
                <a:cs typeface="Times New Roman"/>
                <a:sym typeface="Times New Roman"/>
              </a:rPr>
              <a:t>Logical errors</a:t>
            </a:r>
            <a:r>
              <a:rPr b="0" i="0" lang="en-US" sz="1800" u="none" cap="none" strike="noStrike">
                <a:solidFill>
                  <a:schemeClr val="dk1"/>
                </a:solidFill>
                <a:latin typeface="Times New Roman"/>
                <a:ea typeface="Times New Roman"/>
                <a:cs typeface="Times New Roman"/>
                <a:sym typeface="Times New Roman"/>
              </a:rPr>
              <a:t>: transaction cannot complete due to some internal  error condition</a:t>
            </a:r>
            <a:endParaRPr b="0" i="0" sz="1800" u="none" cap="none" strike="noStrike">
              <a:solidFill>
                <a:schemeClr val="dk1"/>
              </a:solidFill>
              <a:latin typeface="Times New Roman"/>
              <a:ea typeface="Times New Roman"/>
              <a:cs typeface="Times New Roman"/>
              <a:sym typeface="Times New Roman"/>
            </a:endParaRPr>
          </a:p>
          <a:p>
            <a:pPr indent="-304800" lvl="1" marL="776605" marR="360045" rtl="0" algn="l">
              <a:lnSpc>
                <a:spcPct val="118888"/>
              </a:lnSpc>
              <a:spcBef>
                <a:spcPts val="670"/>
              </a:spcBef>
              <a:spcAft>
                <a:spcPts val="0"/>
              </a:spcAft>
              <a:buClr>
                <a:srgbClr val="FF9933"/>
              </a:buClr>
              <a:buSzPts val="1400"/>
              <a:buFont typeface="Arial"/>
              <a:buChar char="●"/>
            </a:pPr>
            <a:r>
              <a:rPr b="1" i="0" lang="en-US" sz="1800" u="none" cap="none" strike="noStrike">
                <a:solidFill>
                  <a:schemeClr val="dk1"/>
                </a:solidFill>
                <a:latin typeface="Times New Roman"/>
                <a:ea typeface="Times New Roman"/>
                <a:cs typeface="Times New Roman"/>
                <a:sym typeface="Times New Roman"/>
              </a:rPr>
              <a:t>System errors</a:t>
            </a:r>
            <a:r>
              <a:rPr b="0" i="0" lang="en-US" sz="1800" u="none" cap="none" strike="noStrike">
                <a:solidFill>
                  <a:schemeClr val="dk1"/>
                </a:solidFill>
                <a:latin typeface="Times New Roman"/>
                <a:ea typeface="Times New Roman"/>
                <a:cs typeface="Times New Roman"/>
                <a:sym typeface="Times New Roman"/>
              </a:rPr>
              <a:t>: the database system must terminate an active  transaction due to an error condition (e.g., deadlock)</a:t>
            </a:r>
            <a:endParaRPr b="0" i="0" sz="1400" u="none" cap="none" strike="noStrike">
              <a:solidFill>
                <a:srgbClr val="000000"/>
              </a:solidFill>
              <a:latin typeface="Arial"/>
              <a:ea typeface="Arial"/>
              <a:cs typeface="Arial"/>
              <a:sym typeface="Arial"/>
            </a:endParaRPr>
          </a:p>
          <a:p>
            <a:pPr indent="-363855" lvl="0" marL="376555" marR="234950" rtl="0" algn="l">
              <a:lnSpc>
                <a:spcPct val="118888"/>
              </a:lnSpc>
              <a:spcBef>
                <a:spcPts val="670"/>
              </a:spcBef>
              <a:spcAft>
                <a:spcPts val="0"/>
              </a:spcAft>
              <a:buClr>
                <a:srgbClr val="CC3300"/>
              </a:buClr>
              <a:buSzPts val="1600"/>
              <a:buFont typeface="Arial"/>
              <a:buChar char="●"/>
            </a:pPr>
            <a:r>
              <a:rPr b="1" i="0" lang="en-US" sz="1800" u="none" cap="none" strike="noStrike">
                <a:solidFill>
                  <a:schemeClr val="dk1"/>
                </a:solidFill>
                <a:latin typeface="Times New Roman"/>
                <a:ea typeface="Times New Roman"/>
                <a:cs typeface="Times New Roman"/>
                <a:sym typeface="Times New Roman"/>
              </a:rPr>
              <a:t>System crash</a:t>
            </a:r>
            <a:r>
              <a:rPr b="0" i="0" lang="en-US" sz="1800" u="none" cap="none" strike="noStrike">
                <a:solidFill>
                  <a:schemeClr val="dk1"/>
                </a:solidFill>
                <a:latin typeface="Times New Roman"/>
                <a:ea typeface="Times New Roman"/>
                <a:cs typeface="Times New Roman"/>
                <a:sym typeface="Times New Roman"/>
              </a:rPr>
              <a:t>: a power failure or other hardware or software failure  causes the system to crash.</a:t>
            </a:r>
            <a:endParaRPr b="0" i="0" sz="1400" u="none" cap="none" strike="noStrike">
              <a:solidFill>
                <a:srgbClr val="000000"/>
              </a:solidFill>
              <a:latin typeface="Arial"/>
              <a:ea typeface="Arial"/>
              <a:cs typeface="Arial"/>
              <a:sym typeface="Arial"/>
            </a:endParaRPr>
          </a:p>
          <a:p>
            <a:pPr indent="-363855" lvl="0" marL="376555" marR="62230" rtl="0" algn="l">
              <a:lnSpc>
                <a:spcPct val="118888"/>
              </a:lnSpc>
              <a:spcBef>
                <a:spcPts val="655"/>
              </a:spcBef>
              <a:spcAft>
                <a:spcPts val="0"/>
              </a:spcAft>
              <a:buClr>
                <a:srgbClr val="CC3300"/>
              </a:buClr>
              <a:buSzPts val="1600"/>
              <a:buFont typeface="Arial"/>
              <a:buChar char="●"/>
            </a:pPr>
            <a:r>
              <a:rPr b="1" i="0" lang="en-US" sz="1800" u="none" cap="none" strike="noStrike">
                <a:solidFill>
                  <a:schemeClr val="dk1"/>
                </a:solidFill>
                <a:latin typeface="Times New Roman"/>
                <a:ea typeface="Times New Roman"/>
                <a:cs typeface="Times New Roman"/>
                <a:sym typeface="Times New Roman"/>
              </a:rPr>
              <a:t>Disk failure</a:t>
            </a:r>
            <a:r>
              <a:rPr b="0" i="0" lang="en-US" sz="1800" u="none" cap="none" strike="noStrike">
                <a:solidFill>
                  <a:schemeClr val="dk1"/>
                </a:solidFill>
                <a:latin typeface="Times New Roman"/>
                <a:ea typeface="Times New Roman"/>
                <a:cs typeface="Times New Roman"/>
                <a:sym typeface="Times New Roman"/>
              </a:rPr>
              <a:t>: a head crash or similar disk failure destroys all or part of  disk storage</a:t>
            </a:r>
            <a:endParaRPr b="0" i="0" sz="1800" u="none" cap="none" strike="noStrike">
              <a:solidFill>
                <a:schemeClr val="dk1"/>
              </a:solidFill>
              <a:latin typeface="Times New Roman"/>
              <a:ea typeface="Times New Roman"/>
              <a:cs typeface="Times New Roman"/>
              <a:sym typeface="Times New Roman"/>
            </a:endParaRPr>
          </a:p>
          <a:p>
            <a:pPr indent="-304800" lvl="0" marL="776605" marR="946785" rtl="0" algn="l">
              <a:lnSpc>
                <a:spcPct val="119444"/>
              </a:lnSpc>
              <a:spcBef>
                <a:spcPts val="665"/>
              </a:spcBef>
              <a:spcAft>
                <a:spcPts val="0"/>
              </a:spcAft>
              <a:buClr>
                <a:srgbClr val="FF9933"/>
              </a:buClr>
              <a:buSzPts val="1400"/>
              <a:buFont typeface="Times New Roman"/>
              <a:buChar char="●"/>
            </a:pPr>
            <a:r>
              <a:rPr b="0" i="0" lang="en-US" sz="1800" u="none" cap="none" strike="noStrike">
                <a:solidFill>
                  <a:schemeClr val="dk1"/>
                </a:solidFill>
                <a:latin typeface="Times New Roman"/>
                <a:ea typeface="Times New Roman"/>
                <a:cs typeface="Times New Roman"/>
                <a:sym typeface="Times New Roman"/>
              </a:rPr>
              <a:t>Destruction is assumed to be detectable: disk drives use  checksums to detect failures</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7"/>
          <p:cNvSpPr txBox="1"/>
          <p:nvPr>
            <p:ph type="title"/>
          </p:nvPr>
        </p:nvSpPr>
        <p:spPr>
          <a:xfrm>
            <a:off x="612775" y="899987"/>
            <a:ext cx="58095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Recovery and Atomicity</a:t>
            </a:r>
            <a:endParaRPr/>
          </a:p>
        </p:txBody>
      </p:sp>
      <p:sp>
        <p:nvSpPr>
          <p:cNvPr id="373" name="Google Shape;373;p47"/>
          <p:cNvSpPr txBox="1"/>
          <p:nvPr/>
        </p:nvSpPr>
        <p:spPr>
          <a:xfrm>
            <a:off x="485051" y="1795843"/>
            <a:ext cx="7319100" cy="3036300"/>
          </a:xfrm>
          <a:prstGeom prst="rect">
            <a:avLst/>
          </a:prstGeom>
          <a:noFill/>
          <a:ln>
            <a:noFill/>
          </a:ln>
        </p:spPr>
        <p:txBody>
          <a:bodyPr anchorCtr="0" anchor="t" bIns="0" lIns="0" spcFirstLastPara="1" rIns="0" wrap="square" tIns="10775">
            <a:spAutoFit/>
          </a:bodyPr>
          <a:lstStyle/>
          <a:p>
            <a:pPr indent="-363855" lvl="0" marL="376555" marR="5080" rtl="0" algn="l">
              <a:lnSpc>
                <a:spcPct val="100699"/>
              </a:lnSpc>
              <a:spcBef>
                <a:spcPts val="0"/>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To ensure atomicity despite failures, we first output information  describing the modifications to stable storage without modifying the  database itself.</a:t>
            </a:r>
            <a:endParaRPr b="0" i="0" sz="1400" u="none" cap="none" strike="noStrike">
              <a:solidFill>
                <a:srgbClr val="000000"/>
              </a:solidFill>
              <a:latin typeface="Arial"/>
              <a:ea typeface="Arial"/>
              <a:cs typeface="Arial"/>
              <a:sym typeface="Arial"/>
            </a:endParaRPr>
          </a:p>
          <a:p>
            <a:pPr indent="-363855" lvl="0" marL="376555" marR="0" rtl="0" algn="l">
              <a:lnSpc>
                <a:spcPct val="100000"/>
              </a:lnSpc>
              <a:spcBef>
                <a:spcPts val="645"/>
              </a:spcBef>
              <a:spcAft>
                <a:spcPts val="0"/>
              </a:spcAft>
              <a:buClr>
                <a:srgbClr val="CC3300"/>
              </a:buClr>
              <a:buSzPts val="1778"/>
              <a:buFont typeface="Times New Roman"/>
              <a:buChar char="●"/>
            </a:pPr>
            <a:r>
              <a:rPr b="1" i="0" lang="en-US" sz="2000" u="none" cap="none" strike="noStrike">
                <a:solidFill>
                  <a:srgbClr val="000099"/>
                </a:solidFill>
                <a:latin typeface="Times New Roman"/>
                <a:ea typeface="Times New Roman"/>
                <a:cs typeface="Times New Roman"/>
                <a:sym typeface="Times New Roman"/>
              </a:rPr>
              <a:t>log-based recovery mechanisms-</a:t>
            </a:r>
            <a:endParaRPr b="0" i="0" sz="1400" u="none" cap="none" strike="noStrike">
              <a:solidFill>
                <a:srgbClr val="000000"/>
              </a:solidFill>
              <a:latin typeface="Arial"/>
              <a:ea typeface="Arial"/>
              <a:cs typeface="Arial"/>
              <a:sym typeface="Arial"/>
            </a:endParaRPr>
          </a:p>
          <a:p>
            <a:pPr indent="-363855" lvl="0" marL="376555" marR="0" rtl="0" algn="l">
              <a:lnSpc>
                <a:spcPct val="100000"/>
              </a:lnSpc>
              <a:spcBef>
                <a:spcPts val="64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The log is a sequence of records. Log of each transaction is maintained in some stable storage so that if any failure occurs, then it can be recovered from there.</a:t>
            </a:r>
            <a:r>
              <a:rPr b="1" i="0" lang="en-US" sz="2000" u="none" cap="none" strike="noStrike">
                <a:solidFill>
                  <a:srgbClr val="000099"/>
                </a:solidFill>
                <a:latin typeface="Times New Roman"/>
                <a:ea typeface="Times New Roman"/>
                <a:cs typeface="Times New Roman"/>
                <a:sym typeface="Times New Roman"/>
              </a:rPr>
              <a:t> </a:t>
            </a:r>
            <a:endParaRPr b="1" i="0" sz="2000" u="none" cap="none" strike="noStrike">
              <a:solidFill>
                <a:srgbClr val="000099"/>
              </a:solidFill>
              <a:latin typeface="Times New Roman"/>
              <a:ea typeface="Times New Roman"/>
              <a:cs typeface="Times New Roman"/>
              <a:sym typeface="Times New Roman"/>
            </a:endParaRPr>
          </a:p>
          <a:p>
            <a:pPr indent="-363855" lvl="0" marL="376555" marR="0" rtl="0" algn="l">
              <a:lnSpc>
                <a:spcPct val="100000"/>
              </a:lnSpc>
              <a:spcBef>
                <a:spcPts val="64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If any operation is performed on the database, then it will be recorded in the log.</a:t>
            </a:r>
            <a:endParaRPr b="1" i="0" sz="2000" u="none" cap="none" strike="noStrike">
              <a:solidFill>
                <a:srgbClr val="000099"/>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8"/>
          <p:cNvSpPr txBox="1"/>
          <p:nvPr>
            <p:ph type="title"/>
          </p:nvPr>
        </p:nvSpPr>
        <p:spPr>
          <a:xfrm>
            <a:off x="841375" y="899987"/>
            <a:ext cx="50706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Log-Based Recovery</a:t>
            </a:r>
            <a:endParaRPr/>
          </a:p>
        </p:txBody>
      </p:sp>
      <p:sp>
        <p:nvSpPr>
          <p:cNvPr id="379" name="Google Shape;379;p48"/>
          <p:cNvSpPr txBox="1"/>
          <p:nvPr/>
        </p:nvSpPr>
        <p:spPr>
          <a:xfrm>
            <a:off x="976943" y="1698235"/>
            <a:ext cx="7638300" cy="4112100"/>
          </a:xfrm>
          <a:prstGeom prst="rect">
            <a:avLst/>
          </a:prstGeom>
          <a:noFill/>
          <a:ln>
            <a:noFill/>
          </a:ln>
        </p:spPr>
        <p:txBody>
          <a:bodyPr anchorCtr="0" anchor="t" bIns="0" lIns="0" spcFirstLastPara="1" rIns="0" wrap="square" tIns="39350">
            <a:spAutoFit/>
          </a:bodyPr>
          <a:lstStyle/>
          <a:p>
            <a:pPr indent="-281940" lvl="0" marL="29464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A </a:t>
            </a:r>
            <a:r>
              <a:rPr b="1" i="0" lang="en-US" sz="2000" u="none" cap="none" strike="noStrike">
                <a:solidFill>
                  <a:srgbClr val="000099"/>
                </a:solidFill>
                <a:latin typeface="Times New Roman"/>
                <a:ea typeface="Times New Roman"/>
                <a:cs typeface="Times New Roman"/>
                <a:sym typeface="Times New Roman"/>
              </a:rPr>
              <a:t>log </a:t>
            </a:r>
            <a:r>
              <a:rPr b="0" i="0" lang="en-US" sz="2000" u="none" cap="none" strike="noStrike">
                <a:solidFill>
                  <a:schemeClr val="dk1"/>
                </a:solidFill>
                <a:latin typeface="Times New Roman"/>
                <a:ea typeface="Times New Roman"/>
                <a:cs typeface="Times New Roman"/>
                <a:sym typeface="Times New Roman"/>
              </a:rPr>
              <a:t>is kept on stable storage.</a:t>
            </a:r>
            <a:endParaRPr b="0" i="0" sz="1400" u="none" cap="none" strike="noStrike">
              <a:solidFill>
                <a:srgbClr val="000000"/>
              </a:solidFill>
              <a:latin typeface="Arial"/>
              <a:ea typeface="Arial"/>
              <a:cs typeface="Arial"/>
              <a:sym typeface="Arial"/>
            </a:endParaRPr>
          </a:p>
          <a:p>
            <a:pPr indent="-306070" lvl="0" marL="694690" marR="236220" rtl="0" algn="l">
              <a:lnSpc>
                <a:spcPct val="89900"/>
              </a:lnSpc>
              <a:spcBef>
                <a:spcPts val="525"/>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The log is a sequence of </a:t>
            </a:r>
            <a:r>
              <a:rPr b="1" i="0" lang="en-US" sz="2000" u="none" cap="none" strike="noStrike">
                <a:solidFill>
                  <a:srgbClr val="000099"/>
                </a:solidFill>
                <a:latin typeface="Times New Roman"/>
                <a:ea typeface="Times New Roman"/>
                <a:cs typeface="Times New Roman"/>
                <a:sym typeface="Times New Roman"/>
              </a:rPr>
              <a:t>log records</a:t>
            </a:r>
            <a:r>
              <a:rPr b="0" i="0" lang="en-US" sz="2000" u="none" cap="none" strike="noStrike">
                <a:solidFill>
                  <a:schemeClr val="dk1"/>
                </a:solidFill>
                <a:latin typeface="Times New Roman"/>
                <a:ea typeface="Times New Roman"/>
                <a:cs typeface="Times New Roman"/>
                <a:sym typeface="Times New Roman"/>
              </a:rPr>
              <a:t>, and  maintains a record of update activities on  the database.</a:t>
            </a:r>
            <a:endParaRPr b="0" i="0" sz="2000" u="none" cap="none" strike="noStrike">
              <a:solidFill>
                <a:schemeClr val="dk1"/>
              </a:solidFill>
              <a:latin typeface="Times New Roman"/>
              <a:ea typeface="Times New Roman"/>
              <a:cs typeface="Times New Roman"/>
              <a:sym typeface="Times New Roman"/>
            </a:endParaRPr>
          </a:p>
          <a:p>
            <a:pPr indent="-281940" lvl="0" marL="294640" marR="546735" rtl="0" algn="l">
              <a:lnSpc>
                <a:spcPct val="174500"/>
              </a:lnSpc>
              <a:spcBef>
                <a:spcPts val="675"/>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When transaction </a:t>
            </a:r>
            <a:r>
              <a:rPr b="0" i="1" lang="en-US" sz="2000" u="none" cap="none" strike="noStrike">
                <a:solidFill>
                  <a:schemeClr val="dk1"/>
                </a:solidFill>
                <a:latin typeface="Times New Roman"/>
                <a:ea typeface="Times New Roman"/>
                <a:cs typeface="Times New Roman"/>
                <a:sym typeface="Times New Roman"/>
              </a:rPr>
              <a:t>T</a:t>
            </a:r>
            <a:r>
              <a:rPr b="0" baseline="-25000" i="1" lang="en-US" sz="2000" u="none" cap="none" strike="noStrike">
                <a:solidFill>
                  <a:schemeClr val="dk1"/>
                </a:solidFill>
                <a:latin typeface="Times New Roman"/>
                <a:ea typeface="Times New Roman"/>
                <a:cs typeface="Times New Roman"/>
                <a:sym typeface="Times New Roman"/>
              </a:rPr>
              <a:t>i </a:t>
            </a:r>
            <a:r>
              <a:rPr b="0" i="0" lang="en-US" sz="2000" u="none" cap="none" strike="noStrike">
                <a:solidFill>
                  <a:schemeClr val="dk1"/>
                </a:solidFill>
                <a:latin typeface="Times New Roman"/>
                <a:ea typeface="Times New Roman"/>
                <a:cs typeface="Times New Roman"/>
                <a:sym typeface="Times New Roman"/>
              </a:rPr>
              <a:t>starts, it registers  itself by writing a</a:t>
            </a:r>
            <a:endParaRPr b="0" i="0" sz="1400" u="none" cap="none" strike="noStrike">
              <a:solidFill>
                <a:srgbClr val="000000"/>
              </a:solidFill>
              <a:latin typeface="Arial"/>
              <a:ea typeface="Arial"/>
              <a:cs typeface="Arial"/>
              <a:sym typeface="Arial"/>
            </a:endParaRPr>
          </a:p>
          <a:p>
            <a:pPr indent="0" lvl="0" marL="1084580" marR="0" rtl="0" algn="l">
              <a:lnSpc>
                <a:spcPct val="169250"/>
              </a:lnSpc>
              <a:spcBef>
                <a:spcPts val="0"/>
              </a:spcBef>
              <a:spcAft>
                <a:spcPts val="0"/>
              </a:spcAft>
              <a:buClr>
                <a:srgbClr val="000000"/>
              </a:buClr>
              <a:buSzPts val="2000"/>
              <a:buFont typeface="Arial"/>
              <a:buNone/>
            </a:pPr>
            <a:r>
              <a:rPr b="0" i="1" lang="en-US" sz="2000" u="none" cap="none" strike="noStrike">
                <a:solidFill>
                  <a:schemeClr val="dk1"/>
                </a:solidFill>
                <a:latin typeface="Times New Roman"/>
                <a:ea typeface="Times New Roman"/>
                <a:cs typeface="Times New Roman"/>
                <a:sym typeface="Times New Roman"/>
              </a:rPr>
              <a:t>&lt;T</a:t>
            </a:r>
            <a:r>
              <a:rPr b="0" baseline="-25000" i="1" lang="en-US" sz="2000" u="none" cap="none" strike="noStrike">
                <a:solidFill>
                  <a:schemeClr val="dk1"/>
                </a:solidFill>
                <a:latin typeface="Times New Roman"/>
                <a:ea typeface="Times New Roman"/>
                <a:cs typeface="Times New Roman"/>
                <a:sym typeface="Times New Roman"/>
              </a:rPr>
              <a:t>i</a:t>
            </a:r>
            <a:r>
              <a:rPr b="0" i="1" lang="en-US" sz="2000" u="none" cap="none" strike="noStrike">
                <a:solidFill>
                  <a:schemeClr val="dk1"/>
                </a:solidFill>
                <a:latin typeface="Times New Roman"/>
                <a:ea typeface="Times New Roman"/>
                <a:cs typeface="Times New Roman"/>
                <a:sym typeface="Times New Roman"/>
              </a:rPr>
              <a:t>   </a:t>
            </a:r>
            <a:r>
              <a:rPr b="1" i="0" lang="en-US" sz="2000" u="none" cap="none" strike="noStrike">
                <a:solidFill>
                  <a:schemeClr val="dk1"/>
                </a:solidFill>
                <a:latin typeface="Times New Roman"/>
                <a:ea typeface="Times New Roman"/>
                <a:cs typeface="Times New Roman"/>
                <a:sym typeface="Times New Roman"/>
              </a:rPr>
              <a:t>start</a:t>
            </a:r>
            <a:r>
              <a:rPr b="0" i="0" lang="en-US" sz="2000" u="none" cap="none" strike="noStrike">
                <a:solidFill>
                  <a:schemeClr val="dk1"/>
                </a:solidFill>
                <a:latin typeface="Times New Roman"/>
                <a:ea typeface="Times New Roman"/>
                <a:cs typeface="Times New Roman"/>
                <a:sym typeface="Times New Roman"/>
              </a:rPr>
              <a:t>&gt;log record</a:t>
            </a:r>
            <a:endParaRPr b="0" i="0" sz="1400" u="none" cap="none" strike="noStrike">
              <a:solidFill>
                <a:srgbClr val="000000"/>
              </a:solidFill>
              <a:latin typeface="Arial"/>
              <a:ea typeface="Arial"/>
              <a:cs typeface="Arial"/>
              <a:sym typeface="Arial"/>
            </a:endParaRPr>
          </a:p>
          <a:p>
            <a:pPr indent="-281940" lvl="0" marL="294640" marR="0" rtl="0" algn="l">
              <a:lnSpc>
                <a:spcPct val="183000"/>
              </a:lnSpc>
              <a:spcBef>
                <a:spcPts val="250"/>
              </a:spcBef>
              <a:spcAft>
                <a:spcPts val="0"/>
              </a:spcAft>
              <a:buClr>
                <a:schemeClr val="dk1"/>
              </a:buClr>
              <a:buSzPts val="2000"/>
              <a:buFont typeface="Times New Roman"/>
              <a:buChar char="•"/>
            </a:pPr>
            <a:r>
              <a:rPr b="0" i="1" lang="en-US" sz="2000" u="none" cap="none" strike="noStrike">
                <a:solidFill>
                  <a:schemeClr val="dk1"/>
                </a:solidFill>
                <a:latin typeface="Times New Roman"/>
                <a:ea typeface="Times New Roman"/>
                <a:cs typeface="Times New Roman"/>
                <a:sym typeface="Times New Roman"/>
              </a:rPr>
              <a:t>Before T</a:t>
            </a:r>
            <a:r>
              <a:rPr b="0" baseline="-25000" i="1" lang="en-US" sz="2000" u="none" cap="none" strike="noStrike">
                <a:solidFill>
                  <a:schemeClr val="dk1"/>
                </a:solidFill>
                <a:latin typeface="Times New Roman"/>
                <a:ea typeface="Times New Roman"/>
                <a:cs typeface="Times New Roman"/>
                <a:sym typeface="Times New Roman"/>
              </a:rPr>
              <a:t>i </a:t>
            </a:r>
            <a:r>
              <a:rPr b="0" i="0" lang="en-US" sz="2000" u="none" cap="none" strike="noStrike">
                <a:solidFill>
                  <a:schemeClr val="dk1"/>
                </a:solidFill>
                <a:latin typeface="Times New Roman"/>
                <a:ea typeface="Times New Roman"/>
                <a:cs typeface="Times New Roman"/>
                <a:sym typeface="Times New Roman"/>
              </a:rPr>
              <a:t>executes </a:t>
            </a:r>
            <a:r>
              <a:rPr b="1" i="0" lang="en-US" sz="2000" u="none" cap="none" strike="noStrike">
                <a:solidFill>
                  <a:schemeClr val="dk1"/>
                </a:solidFill>
                <a:latin typeface="Times New Roman"/>
                <a:ea typeface="Times New Roman"/>
                <a:cs typeface="Times New Roman"/>
                <a:sym typeface="Times New Roman"/>
              </a:rPr>
              <a:t>write</a:t>
            </a:r>
            <a:r>
              <a:rPr b="0" i="0" lang="en-US" sz="2000" u="none" cap="none" strike="noStrike">
                <a:solidFill>
                  <a:schemeClr val="dk1"/>
                </a:solidFill>
                <a:latin typeface="Times New Roman"/>
                <a:ea typeface="Times New Roman"/>
                <a:cs typeface="Times New Roman"/>
                <a:sym typeface="Times New Roman"/>
              </a:rPr>
              <a:t>(</a:t>
            </a:r>
            <a:r>
              <a:rPr b="0" i="1" lang="en-US" sz="2000" u="none" cap="none" strike="noStrike">
                <a:solidFill>
                  <a:schemeClr val="dk1"/>
                </a:solidFill>
                <a:latin typeface="Times New Roman"/>
                <a:ea typeface="Times New Roman"/>
                <a:cs typeface="Times New Roman"/>
                <a:sym typeface="Times New Roman"/>
              </a:rPr>
              <a:t>X</a:t>
            </a:r>
            <a:r>
              <a:rPr b="0" i="0" lang="en-US" sz="2000" u="none" cap="none" strike="noStrike">
                <a:solidFill>
                  <a:schemeClr val="dk1"/>
                </a:solidFill>
                <a:latin typeface="Times New Roman"/>
                <a:ea typeface="Times New Roman"/>
                <a:cs typeface="Times New Roman"/>
                <a:sym typeface="Times New Roman"/>
              </a:rPr>
              <a:t>), a log record</a:t>
            </a:r>
            <a:endParaRPr b="0" i="0" sz="2000" u="none" cap="none" strike="noStrike">
              <a:solidFill>
                <a:schemeClr val="dk1"/>
              </a:solidFill>
              <a:latin typeface="Times New Roman"/>
              <a:ea typeface="Times New Roman"/>
              <a:cs typeface="Times New Roman"/>
              <a:sym typeface="Times New Roman"/>
            </a:endParaRPr>
          </a:p>
          <a:p>
            <a:pPr indent="0" lvl="0" marL="1310005" marR="0" rtl="0" algn="l">
              <a:lnSpc>
                <a:spcPct val="173250"/>
              </a:lnSpc>
              <a:spcBef>
                <a:spcPts val="0"/>
              </a:spcBef>
              <a:spcAft>
                <a:spcPts val="0"/>
              </a:spcAft>
              <a:buClr>
                <a:srgbClr val="000000"/>
              </a:buClr>
              <a:buSzPts val="2000"/>
              <a:buFont typeface="Arial"/>
              <a:buNone/>
            </a:pPr>
            <a:r>
              <a:rPr b="0" i="1" lang="en-US" sz="2000" u="none" cap="none" strike="noStrike">
                <a:solidFill>
                  <a:schemeClr val="dk1"/>
                </a:solidFill>
                <a:latin typeface="Times New Roman"/>
                <a:ea typeface="Times New Roman"/>
                <a:cs typeface="Times New Roman"/>
                <a:sym typeface="Times New Roman"/>
              </a:rPr>
              <a:t>&lt;T</a:t>
            </a:r>
            <a:r>
              <a:rPr b="0" baseline="-25000" i="1" lang="en-US" sz="2000" u="none" cap="none" strike="noStrike">
                <a:solidFill>
                  <a:schemeClr val="dk1"/>
                </a:solidFill>
                <a:latin typeface="Times New Roman"/>
                <a:ea typeface="Times New Roman"/>
                <a:cs typeface="Times New Roman"/>
                <a:sym typeface="Times New Roman"/>
              </a:rPr>
              <a:t>i</a:t>
            </a:r>
            <a:r>
              <a:rPr b="0" i="1" lang="en-US" sz="2000" u="none" cap="none" strike="noStrike">
                <a:solidFill>
                  <a:schemeClr val="dk1"/>
                </a:solidFill>
                <a:latin typeface="Times New Roman"/>
                <a:ea typeface="Times New Roman"/>
                <a:cs typeface="Times New Roman"/>
                <a:sym typeface="Times New Roman"/>
              </a:rPr>
              <a:t>, X,	V</a:t>
            </a:r>
            <a:r>
              <a:rPr b="0" baseline="-25000" i="1" lang="en-US" sz="2000" u="none" cap="none" strike="noStrike">
                <a:solidFill>
                  <a:schemeClr val="dk1"/>
                </a:solidFill>
                <a:latin typeface="Times New Roman"/>
                <a:ea typeface="Times New Roman"/>
                <a:cs typeface="Times New Roman"/>
                <a:sym typeface="Times New Roman"/>
              </a:rPr>
              <a:t>1</a:t>
            </a:r>
            <a:r>
              <a:rPr b="0" i="1" lang="en-US" sz="2000" u="none" cap="none" strike="noStrike">
                <a:solidFill>
                  <a:schemeClr val="dk1"/>
                </a:solidFill>
                <a:latin typeface="Times New Roman"/>
                <a:ea typeface="Times New Roman"/>
                <a:cs typeface="Times New Roman"/>
                <a:sym typeface="Times New Roman"/>
              </a:rPr>
              <a:t>,	V</a:t>
            </a:r>
            <a:r>
              <a:rPr b="0" baseline="-25000" i="1" lang="en-US" sz="2000" u="none" cap="none" strike="noStrike">
                <a:solidFill>
                  <a:schemeClr val="dk1"/>
                </a:solidFill>
                <a:latin typeface="Times New Roman"/>
                <a:ea typeface="Times New Roman"/>
                <a:cs typeface="Times New Roman"/>
                <a:sym typeface="Times New Roman"/>
              </a:rPr>
              <a:t>2</a:t>
            </a:r>
            <a:r>
              <a:rPr b="0" i="1" lang="en-US" sz="2000" u="none" cap="none" strike="noStrike">
                <a:solidFill>
                  <a:schemeClr val="dk1"/>
                </a:solidFill>
                <a:latin typeface="Times New Roman"/>
                <a:ea typeface="Times New Roman"/>
                <a:cs typeface="Times New Roman"/>
                <a:sym typeface="Times New Roman"/>
              </a:rPr>
              <a:t>&gt;</a:t>
            </a:r>
            <a:endParaRPr b="0" i="0" sz="2000" u="none" cap="none" strike="noStrike">
              <a:solidFill>
                <a:schemeClr val="dk1"/>
              </a:solidFill>
              <a:latin typeface="Times New Roman"/>
              <a:ea typeface="Times New Roman"/>
              <a:cs typeface="Times New Roman"/>
              <a:sym typeface="Times New Roman"/>
            </a:endParaRPr>
          </a:p>
          <a:p>
            <a:pPr indent="0" lvl="0" marL="294640" marR="274320" rtl="0" algn="l">
              <a:lnSpc>
                <a:spcPct val="172500"/>
              </a:lnSpc>
              <a:spcBef>
                <a:spcPts val="244"/>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is written, where </a:t>
            </a:r>
            <a:r>
              <a:rPr b="0" i="1" lang="en-US" sz="2000" u="none" cap="none" strike="noStrike">
                <a:solidFill>
                  <a:schemeClr val="dk1"/>
                </a:solidFill>
                <a:latin typeface="Times New Roman"/>
                <a:ea typeface="Times New Roman"/>
                <a:cs typeface="Times New Roman"/>
                <a:sym typeface="Times New Roman"/>
              </a:rPr>
              <a:t>V</a:t>
            </a:r>
            <a:r>
              <a:rPr b="0" baseline="-25000" i="1" lang="en-US" sz="2000" u="none" cap="none" strike="noStrike">
                <a:solidFill>
                  <a:schemeClr val="dk1"/>
                </a:solidFill>
                <a:latin typeface="Times New Roman"/>
                <a:ea typeface="Times New Roman"/>
                <a:cs typeface="Times New Roman"/>
                <a:sym typeface="Times New Roman"/>
              </a:rPr>
              <a:t>1 </a:t>
            </a:r>
            <a:r>
              <a:rPr b="0" i="0" lang="en-US" sz="2000" u="none" cap="none" strike="noStrike">
                <a:solidFill>
                  <a:schemeClr val="dk1"/>
                </a:solidFill>
                <a:latin typeface="Times New Roman"/>
                <a:ea typeface="Times New Roman"/>
                <a:cs typeface="Times New Roman"/>
                <a:sym typeface="Times New Roman"/>
              </a:rPr>
              <a:t>is the value of </a:t>
            </a:r>
            <a:r>
              <a:rPr b="0" i="1" lang="en-US" sz="2000" u="none" cap="none" strike="noStrike">
                <a:solidFill>
                  <a:schemeClr val="dk1"/>
                </a:solidFill>
                <a:latin typeface="Times New Roman"/>
                <a:ea typeface="Times New Roman"/>
                <a:cs typeface="Times New Roman"/>
                <a:sym typeface="Times New Roman"/>
              </a:rPr>
              <a:t>X  </a:t>
            </a:r>
            <a:r>
              <a:rPr b="0" i="0" lang="en-US" sz="2000" u="none" cap="none" strike="noStrike">
                <a:solidFill>
                  <a:schemeClr val="dk1"/>
                </a:solidFill>
                <a:latin typeface="Times New Roman"/>
                <a:ea typeface="Times New Roman"/>
                <a:cs typeface="Times New Roman"/>
                <a:sym typeface="Times New Roman"/>
              </a:rPr>
              <a:t>before the write (the </a:t>
            </a:r>
            <a:r>
              <a:rPr b="1" i="0" lang="en-US" sz="2000" u="none" cap="none" strike="noStrike">
                <a:solidFill>
                  <a:srgbClr val="000099"/>
                </a:solidFill>
                <a:latin typeface="Times New Roman"/>
                <a:ea typeface="Times New Roman"/>
                <a:cs typeface="Times New Roman"/>
                <a:sym typeface="Times New Roman"/>
              </a:rPr>
              <a:t>old value</a:t>
            </a:r>
            <a:r>
              <a:rPr b="0" i="0" lang="en-US" sz="2000" u="none" cap="none" strike="noStrike">
                <a:solidFill>
                  <a:schemeClr val="dk1"/>
                </a:solidFill>
                <a:latin typeface="Times New Roman"/>
                <a:ea typeface="Times New Roman"/>
                <a:cs typeface="Times New Roman"/>
                <a:sym typeface="Times New Roman"/>
              </a:rPr>
              <a:t>)</a:t>
            </a:r>
            <a:r>
              <a:rPr b="1"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Times New Roman"/>
                <a:ea typeface="Times New Roman"/>
                <a:cs typeface="Times New Roman"/>
                <a:sym typeface="Times New Roman"/>
              </a:rPr>
              <a:t>and </a:t>
            </a:r>
            <a:r>
              <a:rPr b="0" i="1" lang="en-US" sz="2000" u="none" cap="none" strike="noStrike">
                <a:solidFill>
                  <a:schemeClr val="dk1"/>
                </a:solidFill>
                <a:latin typeface="Times New Roman"/>
                <a:ea typeface="Times New Roman"/>
                <a:cs typeface="Times New Roman"/>
                <a:sym typeface="Times New Roman"/>
              </a:rPr>
              <a:t>V</a:t>
            </a:r>
            <a:r>
              <a:rPr b="0" baseline="-25000" i="1" lang="en-US" sz="2000" u="none" cap="none" strike="noStrike">
                <a:solidFill>
                  <a:schemeClr val="dk1"/>
                </a:solidFill>
                <a:latin typeface="Times New Roman"/>
                <a:ea typeface="Times New Roman"/>
                <a:cs typeface="Times New Roman"/>
                <a:sym typeface="Times New Roman"/>
              </a:rPr>
              <a:t>2  </a:t>
            </a:r>
            <a:r>
              <a:rPr b="0" i="0" lang="en-US" sz="2000" u="none" cap="none" strike="noStrike">
                <a:solidFill>
                  <a:schemeClr val="dk1"/>
                </a:solidFill>
                <a:latin typeface="Times New Roman"/>
                <a:ea typeface="Times New Roman"/>
                <a:cs typeface="Times New Roman"/>
                <a:sym typeface="Times New Roman"/>
              </a:rPr>
              <a:t>is the value to be written to </a:t>
            </a:r>
            <a:r>
              <a:rPr b="0" i="1" lang="en-US" sz="2000" u="none" cap="none" strike="noStrike">
                <a:solidFill>
                  <a:schemeClr val="dk1"/>
                </a:solidFill>
                <a:latin typeface="Times New Roman"/>
                <a:ea typeface="Times New Roman"/>
                <a:cs typeface="Times New Roman"/>
                <a:sym typeface="Times New Roman"/>
              </a:rPr>
              <a:t>X </a:t>
            </a:r>
            <a:r>
              <a:rPr b="0" i="0" lang="en-US" sz="2000" u="none" cap="none" strike="noStrike">
                <a:solidFill>
                  <a:schemeClr val="dk1"/>
                </a:solidFill>
                <a:latin typeface="Times New Roman"/>
                <a:ea typeface="Times New Roman"/>
                <a:cs typeface="Times New Roman"/>
                <a:sym typeface="Times New Roman"/>
              </a:rPr>
              <a:t>(the </a:t>
            </a:r>
            <a:r>
              <a:rPr b="1" i="0" lang="en-US" sz="2000" u="none" cap="none" strike="noStrike">
                <a:solidFill>
                  <a:srgbClr val="000099"/>
                </a:solidFill>
                <a:latin typeface="Times New Roman"/>
                <a:ea typeface="Times New Roman"/>
                <a:cs typeface="Times New Roman"/>
                <a:sym typeface="Times New Roman"/>
              </a:rPr>
              <a:t>new  value</a:t>
            </a:r>
            <a:r>
              <a:rPr b="1" i="0" lang="en-US" sz="2000" u="none" cap="none" strike="noStrike">
                <a:solidFill>
                  <a:schemeClr val="dk1"/>
                </a:solidFill>
                <a:latin typeface="Times New Roman"/>
                <a:ea typeface="Times New Roman"/>
                <a:cs typeface="Times New Roman"/>
                <a:sym typeface="Times New Roman"/>
              </a:rPr>
              <a:t>)</a:t>
            </a:r>
            <a:r>
              <a:rPr b="0" i="0" lang="en-US" sz="2000" u="none" cap="none" strike="noStrike">
                <a:solidFill>
                  <a:schemeClr val="dk1"/>
                </a:solidFill>
                <a:latin typeface="Times New Roman"/>
                <a:ea typeface="Times New Roman"/>
                <a:cs typeface="Times New Roman"/>
                <a:sym typeface="Times New Roman"/>
              </a:rPr>
              <a:t>.</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9"/>
          <p:cNvSpPr txBox="1"/>
          <p:nvPr>
            <p:ph idx="1" type="body"/>
          </p:nvPr>
        </p:nvSpPr>
        <p:spPr>
          <a:xfrm>
            <a:off x="335483" y="914400"/>
            <a:ext cx="7915800" cy="2216100"/>
          </a:xfrm>
          <a:prstGeom prst="rect">
            <a:avLst/>
          </a:prstGeom>
          <a:noFill/>
          <a:ln>
            <a:noFill/>
          </a:ln>
        </p:spPr>
        <p:txBody>
          <a:bodyPr anchorCtr="0" anchor="t" bIns="45700" lIns="91425" spcFirstLastPara="1" rIns="91425" wrap="square" tIns="45700">
            <a:normAutofit fontScale="62500"/>
          </a:bodyPr>
          <a:lstStyle/>
          <a:p>
            <a:pPr indent="-274347" lvl="0" marL="274320" rtl="0" algn="l">
              <a:lnSpc>
                <a:spcPct val="100000"/>
              </a:lnSpc>
              <a:spcBef>
                <a:spcPts val="0"/>
              </a:spcBef>
              <a:spcAft>
                <a:spcPts val="0"/>
              </a:spcAft>
              <a:buSzPct val="85000"/>
              <a:buChar char="⚫"/>
            </a:pPr>
            <a:r>
              <a:rPr b="1" lang="en-US" sz="2900">
                <a:solidFill>
                  <a:srgbClr val="000099"/>
                </a:solidFill>
                <a:latin typeface="Times New Roman"/>
                <a:ea typeface="Times New Roman"/>
                <a:cs typeface="Times New Roman"/>
                <a:sym typeface="Times New Roman"/>
              </a:rPr>
              <a:t>Shadow-copy </a:t>
            </a:r>
            <a:r>
              <a:rPr lang="en-US" sz="2900">
                <a:latin typeface="Times New Roman"/>
                <a:ea typeface="Times New Roman"/>
                <a:cs typeface="Times New Roman"/>
                <a:sym typeface="Times New Roman"/>
              </a:rPr>
              <a:t>and </a:t>
            </a:r>
            <a:r>
              <a:rPr b="1" lang="en-US" sz="2900">
                <a:solidFill>
                  <a:srgbClr val="000099"/>
                </a:solidFill>
                <a:latin typeface="Times New Roman"/>
                <a:ea typeface="Times New Roman"/>
                <a:cs typeface="Times New Roman"/>
                <a:sym typeface="Times New Roman"/>
              </a:rPr>
              <a:t>Shadow-paging</a:t>
            </a:r>
            <a:endParaRPr sz="2900">
              <a:latin typeface="Times New Roman"/>
              <a:ea typeface="Times New Roman"/>
              <a:cs typeface="Times New Roman"/>
              <a:sym typeface="Times New Roman"/>
            </a:endParaRPr>
          </a:p>
          <a:p>
            <a:pPr indent="-285777" lvl="0" marL="285750" rtl="0" algn="l">
              <a:lnSpc>
                <a:spcPct val="100000"/>
              </a:lnSpc>
              <a:spcBef>
                <a:spcPts val="580"/>
              </a:spcBef>
              <a:spcAft>
                <a:spcPts val="0"/>
              </a:spcAft>
              <a:buSzPct val="85000"/>
              <a:buFont typeface="Arial"/>
              <a:buChar char="•"/>
            </a:pPr>
            <a:r>
              <a:rPr lang="en-US" sz="2900">
                <a:latin typeface="Times New Roman"/>
                <a:ea typeface="Times New Roman"/>
                <a:cs typeface="Times New Roman"/>
                <a:sym typeface="Times New Roman"/>
              </a:rPr>
              <a:t>This is the method where all the transactions are executed in the primary memory or the shadow copy of database.</a:t>
            </a:r>
            <a:endParaRPr/>
          </a:p>
          <a:p>
            <a:pPr indent="-285777" lvl="0" marL="285750" rtl="0" algn="l">
              <a:lnSpc>
                <a:spcPct val="100000"/>
              </a:lnSpc>
              <a:spcBef>
                <a:spcPts val="580"/>
              </a:spcBef>
              <a:spcAft>
                <a:spcPts val="0"/>
              </a:spcAft>
              <a:buSzPct val="85000"/>
              <a:buFont typeface="Arial"/>
              <a:buChar char="•"/>
            </a:pPr>
            <a:r>
              <a:rPr lang="en-US" sz="2900">
                <a:latin typeface="Times New Roman"/>
                <a:ea typeface="Times New Roman"/>
                <a:cs typeface="Times New Roman"/>
                <a:sym typeface="Times New Roman"/>
              </a:rPr>
              <a:t>Once all the transactions completely executed, it will be updated to the database. </a:t>
            </a:r>
            <a:endParaRPr sz="2900">
              <a:latin typeface="Times New Roman"/>
              <a:ea typeface="Times New Roman"/>
              <a:cs typeface="Times New Roman"/>
              <a:sym typeface="Times New Roman"/>
            </a:endParaRPr>
          </a:p>
          <a:p>
            <a:pPr indent="-285777" lvl="0" marL="285750" rtl="0" algn="l">
              <a:lnSpc>
                <a:spcPct val="100000"/>
              </a:lnSpc>
              <a:spcBef>
                <a:spcPts val="580"/>
              </a:spcBef>
              <a:spcAft>
                <a:spcPts val="0"/>
              </a:spcAft>
              <a:buSzPct val="85000"/>
              <a:buFont typeface="Arial"/>
              <a:buChar char="•"/>
            </a:pPr>
            <a:r>
              <a:rPr lang="en-US" sz="2900">
                <a:latin typeface="Times New Roman"/>
                <a:ea typeface="Times New Roman"/>
                <a:cs typeface="Times New Roman"/>
                <a:sym typeface="Times New Roman"/>
              </a:rPr>
              <a:t>if there is any failure in the middle of transaction, it will not be reflected in the database. Database will be updated after all the transaction is complete</a:t>
            </a:r>
            <a:r>
              <a:rPr lang="en-US"/>
              <a:t>.</a:t>
            </a:r>
            <a:endParaRPr/>
          </a:p>
        </p:txBody>
      </p:sp>
      <p:sp>
        <p:nvSpPr>
          <p:cNvPr id="385" name="Google Shape;385;p49"/>
          <p:cNvSpPr/>
          <p:nvPr/>
        </p:nvSpPr>
        <p:spPr>
          <a:xfrm>
            <a:off x="1752600" y="3188494"/>
            <a:ext cx="5081587" cy="244633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0"/>
          <p:cNvSpPr txBox="1"/>
          <p:nvPr>
            <p:ph type="title"/>
          </p:nvPr>
        </p:nvSpPr>
        <p:spPr>
          <a:xfrm>
            <a:off x="841375" y="823787"/>
            <a:ext cx="30735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Checkpoints</a:t>
            </a:r>
            <a:endParaRPr/>
          </a:p>
        </p:txBody>
      </p:sp>
      <p:sp>
        <p:nvSpPr>
          <p:cNvPr id="391" name="Google Shape;391;p50"/>
          <p:cNvSpPr txBox="1"/>
          <p:nvPr/>
        </p:nvSpPr>
        <p:spPr>
          <a:xfrm>
            <a:off x="513325" y="1275000"/>
            <a:ext cx="8348400" cy="5656200"/>
          </a:xfrm>
          <a:prstGeom prst="rect">
            <a:avLst/>
          </a:prstGeom>
          <a:noFill/>
          <a:ln>
            <a:noFill/>
          </a:ln>
        </p:spPr>
        <p:txBody>
          <a:bodyPr anchorCtr="0" anchor="t" bIns="0" lIns="0" spcFirstLastPara="1" rIns="0" wrap="square" tIns="10775">
            <a:spAutoFit/>
          </a:bodyPr>
          <a:lstStyle/>
          <a:p>
            <a:pPr indent="-401955" lvl="0" marL="414655" marR="470534" rtl="0" algn="l">
              <a:lnSpc>
                <a:spcPct val="100699"/>
              </a:lnSpc>
              <a:spcBef>
                <a:spcPts val="0"/>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The checkpoint is a type of mechanism where all the previous logs are removed from the system and permanently stored in the storage disk.</a:t>
            </a:r>
            <a:endParaRPr b="0" i="0" sz="1400" u="none" cap="none" strike="noStrike">
              <a:solidFill>
                <a:srgbClr val="000000"/>
              </a:solidFill>
              <a:latin typeface="Arial"/>
              <a:ea typeface="Arial"/>
              <a:cs typeface="Arial"/>
              <a:sym typeface="Arial"/>
            </a:endParaRPr>
          </a:p>
          <a:p>
            <a:pPr indent="-401955" lvl="0" marL="414655" marR="470534" rtl="0" algn="l">
              <a:lnSpc>
                <a:spcPct val="100699"/>
              </a:lnSpc>
              <a:spcBef>
                <a:spcPts val="8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Checkpoint declares a point before which the DBMS was in consistent state, and all the transactions were committed.</a:t>
            </a:r>
            <a:endParaRPr b="0" i="0" sz="1400" u="none" cap="none" strike="noStrike">
              <a:solidFill>
                <a:srgbClr val="000000"/>
              </a:solidFill>
              <a:latin typeface="Arial"/>
              <a:ea typeface="Arial"/>
              <a:cs typeface="Arial"/>
              <a:sym typeface="Arial"/>
            </a:endParaRPr>
          </a:p>
          <a:p>
            <a:pPr indent="-401955" lvl="0" marL="414655" marR="470534" rtl="0" algn="l">
              <a:lnSpc>
                <a:spcPct val="100699"/>
              </a:lnSpc>
              <a:spcBef>
                <a:spcPts val="8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The recovery system reads the logs backwards from the end to the last checkpoint.</a:t>
            </a:r>
            <a:endParaRPr b="0" i="0" sz="1400" u="none" cap="none" strike="noStrike">
              <a:solidFill>
                <a:srgbClr val="000000"/>
              </a:solidFill>
              <a:latin typeface="Arial"/>
              <a:ea typeface="Arial"/>
              <a:cs typeface="Arial"/>
              <a:sym typeface="Arial"/>
            </a:endParaRPr>
          </a:p>
          <a:p>
            <a:pPr indent="-401955" lvl="0" marL="414655" marR="470534" rtl="0" algn="l">
              <a:lnSpc>
                <a:spcPct val="100699"/>
              </a:lnSpc>
              <a:spcBef>
                <a:spcPts val="8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 It maintains two lists, an undo-list and a redo-list.</a:t>
            </a:r>
            <a:endParaRPr b="0" i="0" sz="1400" u="none" cap="none" strike="noStrike">
              <a:solidFill>
                <a:srgbClr val="000000"/>
              </a:solidFill>
              <a:latin typeface="Arial"/>
              <a:ea typeface="Arial"/>
              <a:cs typeface="Arial"/>
              <a:sym typeface="Arial"/>
            </a:endParaRPr>
          </a:p>
          <a:p>
            <a:pPr indent="-401955" lvl="0" marL="414655" marR="470534" rtl="0" algn="l">
              <a:lnSpc>
                <a:spcPct val="100699"/>
              </a:lnSpc>
              <a:spcBef>
                <a:spcPts val="8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If the recovery system sees a log with &lt;tn, start=""&gt; and &lt;tn, commit=""&gt; or just &lt;tn, commit=""&gt;, it puts the transaction in the redo-list.</a:t>
            </a:r>
            <a:endParaRPr b="0" i="0" sz="1400" u="none" cap="none" strike="noStrike">
              <a:solidFill>
                <a:srgbClr val="000000"/>
              </a:solidFill>
              <a:latin typeface="Arial"/>
              <a:ea typeface="Arial"/>
              <a:cs typeface="Arial"/>
              <a:sym typeface="Arial"/>
            </a:endParaRPr>
          </a:p>
          <a:p>
            <a:pPr indent="-401955" lvl="0" marL="414655" marR="470534" rtl="0" algn="l">
              <a:lnSpc>
                <a:spcPct val="100699"/>
              </a:lnSpc>
              <a:spcBef>
                <a:spcPts val="8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 If the recovery system sees a log with &lt;tn, start=""&gt; but no commit or abort log found, it puts the transaction in undo-list.</a:t>
            </a:r>
            <a:endParaRPr b="0" i="0" sz="1400" u="none" cap="none" strike="noStrike">
              <a:solidFill>
                <a:srgbClr val="000000"/>
              </a:solidFill>
              <a:latin typeface="Arial"/>
              <a:ea typeface="Arial"/>
              <a:cs typeface="Arial"/>
              <a:sym typeface="Arial"/>
            </a:endParaRPr>
          </a:p>
          <a:p>
            <a:pPr indent="-401955" lvl="0" marL="414655" marR="470534" rtl="0" algn="l">
              <a:lnSpc>
                <a:spcPct val="100699"/>
              </a:lnSpc>
              <a:spcBef>
                <a:spcPts val="8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All the transactions in the undo-list are then undone and their logs are removed. </a:t>
            </a:r>
            <a:endParaRPr b="0" i="0" sz="2000" u="none" cap="none" strike="noStrike">
              <a:solidFill>
                <a:schemeClr val="dk1"/>
              </a:solidFill>
              <a:latin typeface="Times New Roman"/>
              <a:ea typeface="Times New Roman"/>
              <a:cs typeface="Times New Roman"/>
              <a:sym typeface="Times New Roman"/>
            </a:endParaRPr>
          </a:p>
          <a:p>
            <a:pPr indent="-401955" lvl="0" marL="414655" marR="470534" rtl="0" algn="l">
              <a:lnSpc>
                <a:spcPct val="100699"/>
              </a:lnSpc>
              <a:spcBef>
                <a:spcPts val="85"/>
              </a:spcBef>
              <a:spcAft>
                <a:spcPts val="0"/>
              </a:spcAft>
              <a:buClr>
                <a:srgbClr val="CC3300"/>
              </a:buClr>
              <a:buSzPts val="1778"/>
              <a:buFont typeface="Times New Roman"/>
              <a:buChar char="●"/>
            </a:pPr>
            <a:r>
              <a:rPr b="0" i="0" lang="en-US" sz="2000" u="none" cap="none" strike="noStrike">
                <a:solidFill>
                  <a:schemeClr val="dk1"/>
                </a:solidFill>
                <a:latin typeface="Times New Roman"/>
                <a:ea typeface="Times New Roman"/>
                <a:cs typeface="Times New Roman"/>
                <a:sym typeface="Times New Roman"/>
              </a:rPr>
              <a:t>All the transactions in the redo-list and their previous logs are removed and then redone before saving their logs.</a:t>
            </a:r>
            <a:endParaRPr b="0" i="0" sz="1400" u="none" cap="none" strike="noStrike">
              <a:solidFill>
                <a:srgbClr val="000000"/>
              </a:solidFill>
              <a:latin typeface="Arial"/>
              <a:ea typeface="Arial"/>
              <a:cs typeface="Arial"/>
              <a:sym typeface="Arial"/>
            </a:endParaRPr>
          </a:p>
          <a:p>
            <a:pPr indent="-289067" lvl="0" marL="414655" marR="470534" rtl="0" algn="l">
              <a:lnSpc>
                <a:spcPct val="100699"/>
              </a:lnSpc>
              <a:spcBef>
                <a:spcPts val="85"/>
              </a:spcBef>
              <a:spcAft>
                <a:spcPts val="0"/>
              </a:spcAft>
              <a:buClr>
                <a:srgbClr val="CC3300"/>
              </a:buClr>
              <a:buSzPts val="1778"/>
              <a:buFont typeface="Libre Baskerville"/>
              <a:buNone/>
            </a:pPr>
            <a:r>
              <a:t/>
            </a:r>
            <a:endParaRPr b="0" i="0" sz="2000" u="none" cap="none" strike="noStrike">
              <a:solidFill>
                <a:schemeClr val="dk1"/>
              </a:solidFill>
              <a:latin typeface="Times New Roman"/>
              <a:ea typeface="Times New Roman"/>
              <a:cs typeface="Times New Roman"/>
              <a:sym typeface="Times New Roman"/>
            </a:endParaRPr>
          </a:p>
          <a:p>
            <a:pPr indent="-300356" lvl="0" marL="414655" marR="470534" rtl="0" algn="l">
              <a:lnSpc>
                <a:spcPct val="100699"/>
              </a:lnSpc>
              <a:spcBef>
                <a:spcPts val="85"/>
              </a:spcBef>
              <a:spcAft>
                <a:spcPts val="0"/>
              </a:spcAft>
              <a:buClr>
                <a:srgbClr val="CC3300"/>
              </a:buClr>
              <a:buSzPts val="1600"/>
              <a:buFont typeface="Libre Baskerville"/>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1"/>
          <p:cNvSpPr txBox="1"/>
          <p:nvPr>
            <p:ph type="title"/>
          </p:nvPr>
        </p:nvSpPr>
        <p:spPr>
          <a:xfrm>
            <a:off x="841375" y="899987"/>
            <a:ext cx="4848900" cy="5055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3200"/>
              <a:buFont typeface="Libre Franklin"/>
              <a:buNone/>
            </a:pPr>
            <a:r>
              <a:rPr lang="en-US" sz="3200"/>
              <a:t>Checkpoints (Cont.)</a:t>
            </a:r>
            <a:endParaRPr/>
          </a:p>
        </p:txBody>
      </p:sp>
      <p:sp>
        <p:nvSpPr>
          <p:cNvPr id="397" name="Google Shape;397;p51"/>
          <p:cNvSpPr txBox="1"/>
          <p:nvPr>
            <p:ph idx="1" type="body"/>
          </p:nvPr>
        </p:nvSpPr>
        <p:spPr>
          <a:xfrm>
            <a:off x="457200" y="1676400"/>
            <a:ext cx="8073300" cy="4680000"/>
          </a:xfrm>
          <a:prstGeom prst="rect">
            <a:avLst/>
          </a:prstGeom>
          <a:noFill/>
          <a:ln>
            <a:noFill/>
          </a:ln>
        </p:spPr>
        <p:txBody>
          <a:bodyPr anchorCtr="0" anchor="t" bIns="0" lIns="0" spcFirstLastPara="1" rIns="0" wrap="square" tIns="10775">
            <a:spAutoFit/>
          </a:bodyPr>
          <a:lstStyle/>
          <a:p>
            <a:pPr indent="-401954" lvl="0" marL="433069" marR="287655" rtl="0" algn="l">
              <a:lnSpc>
                <a:spcPct val="100699"/>
              </a:lnSpc>
              <a:spcBef>
                <a:spcPts val="0"/>
              </a:spcBef>
              <a:spcAft>
                <a:spcPts val="0"/>
              </a:spcAft>
              <a:buClr>
                <a:srgbClr val="CC3300"/>
              </a:buClr>
              <a:buSzPts val="1600"/>
              <a:buChar char="●"/>
            </a:pPr>
            <a:r>
              <a:rPr lang="en-US" sz="1800">
                <a:latin typeface="Times New Roman"/>
                <a:ea typeface="Times New Roman"/>
                <a:cs typeface="Times New Roman"/>
                <a:sym typeface="Times New Roman"/>
              </a:rPr>
              <a:t>During recovery we need to consider only the most recent  transaction T</a:t>
            </a:r>
            <a:r>
              <a:rPr baseline="-25000" lang="en-US" sz="1800">
                <a:latin typeface="Times New Roman"/>
                <a:ea typeface="Times New Roman"/>
                <a:cs typeface="Times New Roman"/>
                <a:sym typeface="Times New Roman"/>
              </a:rPr>
              <a:t>i </a:t>
            </a:r>
            <a:r>
              <a:rPr lang="en-US" sz="1800">
                <a:latin typeface="Times New Roman"/>
                <a:ea typeface="Times New Roman"/>
                <a:cs typeface="Times New Roman"/>
                <a:sym typeface="Times New Roman"/>
              </a:rPr>
              <a:t>that started before the checkpoint, and transactions  that started after </a:t>
            </a:r>
            <a:r>
              <a:rPr i="1" lang="en-US" sz="1800">
                <a:latin typeface="Times New Roman"/>
                <a:ea typeface="Times New Roman"/>
                <a:cs typeface="Times New Roman"/>
                <a:sym typeface="Times New Roman"/>
              </a:rPr>
              <a:t>T</a:t>
            </a:r>
            <a:r>
              <a:rPr baseline="-25000" i="1" lang="en-US" sz="1800">
                <a:latin typeface="Times New Roman"/>
                <a:ea typeface="Times New Roman"/>
                <a:cs typeface="Times New Roman"/>
                <a:sym typeface="Times New Roman"/>
              </a:rPr>
              <a:t>i</a:t>
            </a:r>
            <a:r>
              <a:rPr lang="en-US"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403860" lvl="1" marL="852169" rtl="0" algn="l">
              <a:lnSpc>
                <a:spcPct val="119444"/>
              </a:lnSpc>
              <a:spcBef>
                <a:spcPts val="645"/>
              </a:spcBef>
              <a:spcAft>
                <a:spcPts val="0"/>
              </a:spcAft>
              <a:buClr>
                <a:srgbClr val="FF9933"/>
              </a:buClr>
              <a:buSzPts val="1400"/>
              <a:buAutoNum type="arabicPeriod"/>
            </a:pPr>
            <a:r>
              <a:rPr lang="en-US" sz="1800">
                <a:latin typeface="Times New Roman"/>
                <a:ea typeface="Times New Roman"/>
                <a:cs typeface="Times New Roman"/>
                <a:sym typeface="Times New Roman"/>
              </a:rPr>
              <a:t>Scan backwards from end of log to find the most recent</a:t>
            </a:r>
            <a:endParaRPr sz="1800">
              <a:latin typeface="Times New Roman"/>
              <a:ea typeface="Times New Roman"/>
              <a:cs typeface="Times New Roman"/>
              <a:sym typeface="Times New Roman"/>
            </a:endParaRPr>
          </a:p>
          <a:p>
            <a:pPr indent="-274320" lvl="0" marL="852169" rtl="0" algn="l">
              <a:lnSpc>
                <a:spcPct val="119444"/>
              </a:lnSpc>
              <a:spcBef>
                <a:spcPts val="580"/>
              </a:spcBef>
              <a:spcAft>
                <a:spcPts val="0"/>
              </a:spcAft>
              <a:buSzPts val="1530"/>
              <a:buChar char="⚫"/>
            </a:pPr>
            <a:r>
              <a:rPr lang="en-US" sz="1800">
                <a:latin typeface="Times New Roman"/>
                <a:ea typeface="Times New Roman"/>
                <a:cs typeface="Times New Roman"/>
                <a:sym typeface="Times New Roman"/>
              </a:rPr>
              <a:t>&lt;</a:t>
            </a:r>
            <a:r>
              <a:rPr b="1" lang="en-US" sz="1800">
                <a:latin typeface="Times New Roman"/>
                <a:ea typeface="Times New Roman"/>
                <a:cs typeface="Times New Roman"/>
                <a:sym typeface="Times New Roman"/>
              </a:rPr>
              <a:t>checkpoint </a:t>
            </a:r>
            <a:r>
              <a:rPr i="1" lang="en-US" sz="1800">
                <a:latin typeface="Times New Roman"/>
                <a:ea typeface="Times New Roman"/>
                <a:cs typeface="Times New Roman"/>
                <a:sym typeface="Times New Roman"/>
              </a:rPr>
              <a:t>L</a:t>
            </a:r>
            <a:r>
              <a:rPr lang="en-US" sz="1800">
                <a:latin typeface="Times New Roman"/>
                <a:ea typeface="Times New Roman"/>
                <a:cs typeface="Times New Roman"/>
                <a:sym typeface="Times New Roman"/>
              </a:rPr>
              <a:t>&gt; record</a:t>
            </a:r>
            <a:endParaRPr/>
          </a:p>
          <a:p>
            <a:pPr indent="-361950" lvl="0" marL="852169" marR="379095" rtl="0" algn="l">
              <a:lnSpc>
                <a:spcPct val="118888"/>
              </a:lnSpc>
              <a:spcBef>
                <a:spcPts val="730"/>
              </a:spcBef>
              <a:spcAft>
                <a:spcPts val="0"/>
              </a:spcAft>
              <a:buClr>
                <a:srgbClr val="FF9933"/>
              </a:buClr>
              <a:buSzPts val="1400"/>
              <a:buChar char="●"/>
            </a:pPr>
            <a:r>
              <a:rPr lang="en-US" sz="1800">
                <a:latin typeface="Times New Roman"/>
                <a:ea typeface="Times New Roman"/>
                <a:cs typeface="Times New Roman"/>
                <a:sym typeface="Times New Roman"/>
              </a:rPr>
              <a:t>Only transactions that are in </a:t>
            </a:r>
            <a:r>
              <a:rPr i="1" lang="en-US" sz="1800">
                <a:latin typeface="Times New Roman"/>
                <a:ea typeface="Times New Roman"/>
                <a:cs typeface="Times New Roman"/>
                <a:sym typeface="Times New Roman"/>
              </a:rPr>
              <a:t>L </a:t>
            </a:r>
            <a:r>
              <a:rPr lang="en-US" sz="1800">
                <a:latin typeface="Times New Roman"/>
                <a:ea typeface="Times New Roman"/>
                <a:cs typeface="Times New Roman"/>
                <a:sym typeface="Times New Roman"/>
              </a:rPr>
              <a:t>or started after the checkpoint  need to be redone or undone</a:t>
            </a:r>
            <a:endParaRPr/>
          </a:p>
          <a:p>
            <a:pPr indent="-361950" lvl="0" marL="852169" marR="236854" rtl="0" algn="l">
              <a:lnSpc>
                <a:spcPct val="119444"/>
              </a:lnSpc>
              <a:spcBef>
                <a:spcPts val="665"/>
              </a:spcBef>
              <a:spcAft>
                <a:spcPts val="0"/>
              </a:spcAft>
              <a:buClr>
                <a:srgbClr val="FF9933"/>
              </a:buClr>
              <a:buSzPts val="1400"/>
              <a:buChar char="●"/>
            </a:pPr>
            <a:r>
              <a:rPr lang="en-US" sz="1800">
                <a:latin typeface="Times New Roman"/>
                <a:ea typeface="Times New Roman"/>
                <a:cs typeface="Times New Roman"/>
                <a:sym typeface="Times New Roman"/>
              </a:rPr>
              <a:t>Transactions that committed or aborted before the checkpoint  already have all their updates output to stable storage.</a:t>
            </a:r>
            <a:endParaRPr/>
          </a:p>
          <a:p>
            <a:pPr indent="-401954" lvl="0" marL="433069" rtl="0" algn="l">
              <a:lnSpc>
                <a:spcPct val="100000"/>
              </a:lnSpc>
              <a:spcBef>
                <a:spcPts val="570"/>
              </a:spcBef>
              <a:spcAft>
                <a:spcPts val="0"/>
              </a:spcAft>
              <a:buClr>
                <a:srgbClr val="CC3300"/>
              </a:buClr>
              <a:buSzPts val="1600"/>
              <a:buChar char="●"/>
            </a:pPr>
            <a:r>
              <a:rPr lang="en-US" sz="1800">
                <a:latin typeface="Times New Roman"/>
                <a:ea typeface="Times New Roman"/>
                <a:cs typeface="Times New Roman"/>
                <a:sym typeface="Times New Roman"/>
              </a:rPr>
              <a:t>Some earlier part of the log may be needed for undo operations</a:t>
            </a:r>
            <a:endParaRPr/>
          </a:p>
          <a:p>
            <a:pPr indent="-403860" lvl="1" marL="852169" marR="5080" rtl="0" algn="l">
              <a:lnSpc>
                <a:spcPct val="119444"/>
              </a:lnSpc>
              <a:spcBef>
                <a:spcPts val="695"/>
              </a:spcBef>
              <a:spcAft>
                <a:spcPts val="0"/>
              </a:spcAft>
              <a:buClr>
                <a:srgbClr val="FF9933"/>
              </a:buClr>
              <a:buSzPts val="1400"/>
              <a:buAutoNum type="arabicPeriod" startAt="2"/>
            </a:pPr>
            <a:r>
              <a:rPr lang="en-US" sz="1800">
                <a:latin typeface="Times New Roman"/>
                <a:ea typeface="Times New Roman"/>
                <a:cs typeface="Times New Roman"/>
                <a:sym typeface="Times New Roman"/>
              </a:rPr>
              <a:t>Continue scanning backwards till a record </a:t>
            </a:r>
            <a:r>
              <a:rPr i="1" lang="en-US" sz="1800">
                <a:latin typeface="Times New Roman"/>
                <a:ea typeface="Times New Roman"/>
                <a:cs typeface="Times New Roman"/>
                <a:sym typeface="Times New Roman"/>
              </a:rPr>
              <a:t>&lt;T</a:t>
            </a:r>
            <a:r>
              <a:rPr baseline="-25000" i="1" lang="en-US" sz="1800">
                <a:latin typeface="Times New Roman"/>
                <a:ea typeface="Times New Roman"/>
                <a:cs typeface="Times New Roman"/>
                <a:sym typeface="Times New Roman"/>
              </a:rPr>
              <a:t>i </a:t>
            </a:r>
            <a:r>
              <a:rPr b="1" lang="en-US" sz="1800">
                <a:latin typeface="Times New Roman"/>
                <a:ea typeface="Times New Roman"/>
                <a:cs typeface="Times New Roman"/>
                <a:sym typeface="Times New Roman"/>
              </a:rPr>
              <a:t>start</a:t>
            </a:r>
            <a:r>
              <a:rPr lang="en-US" sz="1800">
                <a:latin typeface="Times New Roman"/>
                <a:ea typeface="Times New Roman"/>
                <a:cs typeface="Times New Roman"/>
                <a:sym typeface="Times New Roman"/>
              </a:rPr>
              <a:t>&gt; is found for  every transaction </a:t>
            </a:r>
            <a:r>
              <a:rPr i="1" lang="en-US" sz="1800">
                <a:latin typeface="Times New Roman"/>
                <a:ea typeface="Times New Roman"/>
                <a:cs typeface="Times New Roman"/>
                <a:sym typeface="Times New Roman"/>
              </a:rPr>
              <a:t>T</a:t>
            </a:r>
            <a:r>
              <a:rPr baseline="-25000" i="1" lang="en-US" sz="1800">
                <a:latin typeface="Times New Roman"/>
                <a:ea typeface="Times New Roman"/>
                <a:cs typeface="Times New Roman"/>
                <a:sym typeface="Times New Roman"/>
              </a:rPr>
              <a:t>i </a:t>
            </a:r>
            <a:r>
              <a:rPr lang="en-US" sz="1800">
                <a:latin typeface="Times New Roman"/>
                <a:ea typeface="Times New Roman"/>
                <a:cs typeface="Times New Roman"/>
                <a:sym typeface="Times New Roman"/>
              </a:rPr>
              <a:t>in </a:t>
            </a:r>
            <a:r>
              <a:rPr i="1" lang="en-US" sz="1800">
                <a:latin typeface="Times New Roman"/>
                <a:ea typeface="Times New Roman"/>
                <a:cs typeface="Times New Roman"/>
                <a:sym typeface="Times New Roman"/>
              </a:rPr>
              <a:t>L</a:t>
            </a:r>
            <a:r>
              <a:rPr lang="en-US" sz="1800">
                <a:latin typeface="Times New Roman"/>
                <a:ea typeface="Times New Roman"/>
                <a:cs typeface="Times New Roman"/>
                <a:sym typeface="Times New Roman"/>
              </a:rPr>
              <a:t>.</a:t>
            </a:r>
            <a:endParaRPr/>
          </a:p>
          <a:p>
            <a:pPr indent="-361950" lvl="0" marL="852169" marR="553085" rtl="0" algn="l">
              <a:lnSpc>
                <a:spcPct val="119444"/>
              </a:lnSpc>
              <a:spcBef>
                <a:spcPts val="650"/>
              </a:spcBef>
              <a:spcAft>
                <a:spcPts val="0"/>
              </a:spcAft>
              <a:buClr>
                <a:srgbClr val="FF9933"/>
              </a:buClr>
              <a:buSzPts val="1400"/>
              <a:buChar char="●"/>
            </a:pPr>
            <a:r>
              <a:rPr lang="en-US" sz="1800">
                <a:latin typeface="Times New Roman"/>
                <a:ea typeface="Times New Roman"/>
                <a:cs typeface="Times New Roman"/>
                <a:sym typeface="Times New Roman"/>
              </a:rPr>
              <a:t>Parts of log prior to earliest </a:t>
            </a:r>
            <a:r>
              <a:rPr i="1" lang="en-US" sz="1800">
                <a:latin typeface="Times New Roman"/>
                <a:ea typeface="Times New Roman"/>
                <a:cs typeface="Times New Roman"/>
                <a:sym typeface="Times New Roman"/>
              </a:rPr>
              <a:t>&lt;T</a:t>
            </a:r>
            <a:r>
              <a:rPr baseline="-25000" i="1" lang="en-US" sz="1800">
                <a:latin typeface="Times New Roman"/>
                <a:ea typeface="Times New Roman"/>
                <a:cs typeface="Times New Roman"/>
                <a:sym typeface="Times New Roman"/>
              </a:rPr>
              <a:t>i </a:t>
            </a:r>
            <a:r>
              <a:rPr b="1" lang="en-US" sz="1800">
                <a:latin typeface="Times New Roman"/>
                <a:ea typeface="Times New Roman"/>
                <a:cs typeface="Times New Roman"/>
                <a:sym typeface="Times New Roman"/>
              </a:rPr>
              <a:t>start</a:t>
            </a:r>
            <a:r>
              <a:rPr lang="en-US" sz="1800">
                <a:latin typeface="Times New Roman"/>
                <a:ea typeface="Times New Roman"/>
                <a:cs typeface="Times New Roman"/>
                <a:sym typeface="Times New Roman"/>
              </a:rPr>
              <a:t>&gt; record above are not  needed for recovery, and can be erased whenever desired.</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2"/>
          <p:cNvSpPr txBox="1"/>
          <p:nvPr>
            <p:ph type="title"/>
          </p:nvPr>
        </p:nvSpPr>
        <p:spPr>
          <a:xfrm>
            <a:off x="628650" y="930650"/>
            <a:ext cx="7886700" cy="565800"/>
          </a:xfrm>
          <a:prstGeom prst="rect">
            <a:avLst/>
          </a:prstGeom>
          <a:noFill/>
          <a:ln>
            <a:noFill/>
          </a:ln>
        </p:spPr>
        <p:txBody>
          <a:bodyPr anchorCtr="0" anchor="ctr"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3200"/>
              <a:buFont typeface="Arial"/>
              <a:buNone/>
            </a:pPr>
            <a:r>
              <a:rPr b="1" lang="en-US" sz="3200">
                <a:solidFill>
                  <a:srgbClr val="C00000"/>
                </a:solidFill>
                <a:latin typeface="Times New Roman"/>
                <a:ea typeface="Times New Roman"/>
                <a:cs typeface="Times New Roman"/>
                <a:sym typeface="Times New Roman"/>
              </a:rPr>
              <a:t>Questions</a:t>
            </a:r>
            <a:endParaRPr/>
          </a:p>
        </p:txBody>
      </p:sp>
      <p:sp>
        <p:nvSpPr>
          <p:cNvPr id="404" name="Google Shape;404;p52"/>
          <p:cNvSpPr txBox="1"/>
          <p:nvPr>
            <p:ph idx="1" type="body"/>
          </p:nvPr>
        </p:nvSpPr>
        <p:spPr>
          <a:xfrm>
            <a:off x="628650" y="1496450"/>
            <a:ext cx="8094900" cy="5132400"/>
          </a:xfrm>
          <a:prstGeom prst="rect">
            <a:avLst/>
          </a:prstGeom>
          <a:noFill/>
          <a:ln>
            <a:noFill/>
          </a:ln>
        </p:spPr>
        <p:txBody>
          <a:bodyPr anchorCtr="0" anchor="t" bIns="45700" lIns="91425" spcFirstLastPara="1" rIns="91425" wrap="square" tIns="45700">
            <a:normAutofit fontScale="92500" lnSpcReduction="20000"/>
          </a:bodyPr>
          <a:lstStyle/>
          <a:p>
            <a:pPr indent="-334327" lvl="0" marL="457200" rtl="0" algn="l">
              <a:lnSpc>
                <a:spcPct val="100000"/>
              </a:lnSpc>
              <a:spcBef>
                <a:spcPts val="1000"/>
              </a:spcBef>
              <a:spcAft>
                <a:spcPts val="0"/>
              </a:spcAft>
              <a:buSzPct val="100000"/>
              <a:buAutoNum type="arabicPeriod"/>
            </a:pPr>
            <a:r>
              <a:rPr lang="en-US" sz="1800">
                <a:latin typeface="Times New Roman"/>
                <a:ea typeface="Times New Roman"/>
                <a:cs typeface="Times New Roman"/>
                <a:sym typeface="Times New Roman"/>
              </a:rPr>
              <a:t>What are the main steps involved in query processing, and why is query optimization important?</a:t>
            </a:r>
            <a:endParaRPr sz="1800">
              <a:latin typeface="Times New Roman"/>
              <a:ea typeface="Times New Roman"/>
              <a:cs typeface="Times New Roman"/>
              <a:sym typeface="Times New Roman"/>
            </a:endParaRPr>
          </a:p>
          <a:p>
            <a:pPr indent="-334327" lvl="0" marL="457200" rtl="0" algn="l">
              <a:lnSpc>
                <a:spcPct val="100000"/>
              </a:lnSpc>
              <a:spcBef>
                <a:spcPts val="0"/>
              </a:spcBef>
              <a:spcAft>
                <a:spcPts val="0"/>
              </a:spcAft>
              <a:buSzPct val="100000"/>
              <a:buAutoNum type="arabicPeriod"/>
            </a:pPr>
            <a:r>
              <a:rPr lang="en-US" sz="1800">
                <a:latin typeface="Times New Roman"/>
                <a:ea typeface="Times New Roman"/>
                <a:cs typeface="Times New Roman"/>
                <a:sym typeface="Times New Roman"/>
              </a:rPr>
              <a:t>Explain the ACID properties of transactions and their significance in database management systems.</a:t>
            </a:r>
            <a:endParaRPr sz="1800">
              <a:latin typeface="Times New Roman"/>
              <a:ea typeface="Times New Roman"/>
              <a:cs typeface="Times New Roman"/>
              <a:sym typeface="Times New Roman"/>
            </a:endParaRPr>
          </a:p>
          <a:p>
            <a:pPr indent="-334327" lvl="0" marL="457200" rtl="0" algn="l">
              <a:lnSpc>
                <a:spcPct val="100000"/>
              </a:lnSpc>
              <a:spcBef>
                <a:spcPts val="0"/>
              </a:spcBef>
              <a:spcAft>
                <a:spcPts val="0"/>
              </a:spcAft>
              <a:buSzPct val="100000"/>
              <a:buAutoNum type="arabicPeriod"/>
            </a:pPr>
            <a:r>
              <a:rPr lang="en-US" sz="1800">
                <a:latin typeface="Times New Roman"/>
                <a:ea typeface="Times New Roman"/>
                <a:cs typeface="Times New Roman"/>
                <a:sym typeface="Times New Roman"/>
              </a:rPr>
              <a:t>Differentiate between a serial schedule and a concurrent schedule. What are the advantages and challenges of each?</a:t>
            </a:r>
            <a:endParaRPr sz="1800">
              <a:latin typeface="Times New Roman"/>
              <a:ea typeface="Times New Roman"/>
              <a:cs typeface="Times New Roman"/>
              <a:sym typeface="Times New Roman"/>
            </a:endParaRPr>
          </a:p>
          <a:p>
            <a:pPr indent="-334327" lvl="0" marL="457200" rtl="0" algn="l">
              <a:lnSpc>
                <a:spcPct val="100000"/>
              </a:lnSpc>
              <a:spcBef>
                <a:spcPts val="0"/>
              </a:spcBef>
              <a:spcAft>
                <a:spcPts val="0"/>
              </a:spcAft>
              <a:buSzPct val="100000"/>
              <a:buAutoNum type="arabicPeriod"/>
            </a:pPr>
            <a:r>
              <a:rPr lang="en-US" sz="1800">
                <a:latin typeface="Times New Roman"/>
                <a:ea typeface="Times New Roman"/>
                <a:cs typeface="Times New Roman"/>
                <a:sym typeface="Times New Roman"/>
              </a:rPr>
              <a:t>What is serializability in the context of transaction schedules? How can conflict serializability be determined using a precedence graph?</a:t>
            </a:r>
            <a:endParaRPr sz="1800">
              <a:latin typeface="Times New Roman"/>
              <a:ea typeface="Times New Roman"/>
              <a:cs typeface="Times New Roman"/>
              <a:sym typeface="Times New Roman"/>
            </a:endParaRPr>
          </a:p>
          <a:p>
            <a:pPr indent="-334327" lvl="0" marL="457200" rtl="0" algn="l">
              <a:lnSpc>
                <a:spcPct val="100000"/>
              </a:lnSpc>
              <a:spcBef>
                <a:spcPts val="0"/>
              </a:spcBef>
              <a:spcAft>
                <a:spcPts val="0"/>
              </a:spcAft>
              <a:buSzPct val="100000"/>
              <a:buAutoNum type="arabicPeriod"/>
            </a:pPr>
            <a:r>
              <a:rPr lang="en-US" sz="1800">
                <a:latin typeface="Times New Roman"/>
                <a:ea typeface="Times New Roman"/>
                <a:cs typeface="Times New Roman"/>
                <a:sym typeface="Times New Roman"/>
              </a:rPr>
              <a:t>Discuss the concept of cascaded aborts in transaction management and its impact on database consistency.</a:t>
            </a:r>
            <a:endParaRPr sz="1800">
              <a:latin typeface="Times New Roman"/>
              <a:ea typeface="Times New Roman"/>
              <a:cs typeface="Times New Roman"/>
              <a:sym typeface="Times New Roman"/>
            </a:endParaRPr>
          </a:p>
          <a:p>
            <a:pPr indent="-334327" lvl="0" marL="457200" rtl="0" algn="l">
              <a:lnSpc>
                <a:spcPct val="100000"/>
              </a:lnSpc>
              <a:spcBef>
                <a:spcPts val="0"/>
              </a:spcBef>
              <a:spcAft>
                <a:spcPts val="0"/>
              </a:spcAft>
              <a:buSzPct val="100000"/>
              <a:buAutoNum type="arabicPeriod"/>
            </a:pPr>
            <a:r>
              <a:rPr lang="en-US" sz="1800">
                <a:latin typeface="Times New Roman"/>
                <a:ea typeface="Times New Roman"/>
                <a:cs typeface="Times New Roman"/>
                <a:sym typeface="Times New Roman"/>
              </a:rPr>
              <a:t>Define recoverable and non-recoverable schedules. What are the criteria for determining whether a schedule is recoverable?</a:t>
            </a:r>
            <a:endParaRPr sz="1800">
              <a:latin typeface="Times New Roman"/>
              <a:ea typeface="Times New Roman"/>
              <a:cs typeface="Times New Roman"/>
              <a:sym typeface="Times New Roman"/>
            </a:endParaRPr>
          </a:p>
          <a:p>
            <a:pPr indent="-334327" lvl="0" marL="457200" rtl="0" algn="l">
              <a:lnSpc>
                <a:spcPct val="100000"/>
              </a:lnSpc>
              <a:spcBef>
                <a:spcPts val="0"/>
              </a:spcBef>
              <a:spcAft>
                <a:spcPts val="0"/>
              </a:spcAft>
              <a:buSzPct val="100000"/>
              <a:buAutoNum type="arabicPeriod"/>
            </a:pPr>
            <a:r>
              <a:rPr lang="en-US" sz="1800">
                <a:latin typeface="Times New Roman"/>
                <a:ea typeface="Times New Roman"/>
                <a:cs typeface="Times New Roman"/>
                <a:sym typeface="Times New Roman"/>
              </a:rPr>
              <a:t>Why is concurrency control necessary in multi-user database environments? Describe the locking-based protocol for concurrency control.</a:t>
            </a:r>
            <a:endParaRPr sz="1800">
              <a:latin typeface="Times New Roman"/>
              <a:ea typeface="Times New Roman"/>
              <a:cs typeface="Times New Roman"/>
              <a:sym typeface="Times New Roman"/>
            </a:endParaRPr>
          </a:p>
          <a:p>
            <a:pPr indent="-334327" lvl="0" marL="457200" rtl="0" algn="l">
              <a:lnSpc>
                <a:spcPct val="100000"/>
              </a:lnSpc>
              <a:spcBef>
                <a:spcPts val="0"/>
              </a:spcBef>
              <a:spcAft>
                <a:spcPts val="0"/>
              </a:spcAft>
              <a:buSzPct val="100000"/>
              <a:buAutoNum type="arabicPeriod"/>
            </a:pPr>
            <a:r>
              <a:rPr lang="en-US" sz="1800">
                <a:latin typeface="Times New Roman"/>
                <a:ea typeface="Times New Roman"/>
                <a:cs typeface="Times New Roman"/>
                <a:sym typeface="Times New Roman"/>
              </a:rPr>
              <a:t>What are deadlocks, and why are they a concern in concurrent systems? Explain prevention and detection techniques for handling deadlocks.</a:t>
            </a:r>
            <a:endParaRPr sz="1800">
              <a:latin typeface="Times New Roman"/>
              <a:ea typeface="Times New Roman"/>
              <a:cs typeface="Times New Roman"/>
              <a:sym typeface="Times New Roman"/>
            </a:endParaRPr>
          </a:p>
          <a:p>
            <a:pPr indent="-334327" lvl="0" marL="457200" rtl="0" algn="l">
              <a:lnSpc>
                <a:spcPct val="100000"/>
              </a:lnSpc>
              <a:spcBef>
                <a:spcPts val="0"/>
              </a:spcBef>
              <a:spcAft>
                <a:spcPts val="0"/>
              </a:spcAft>
              <a:buSzPct val="100000"/>
              <a:buAutoNum type="arabicPeriod"/>
            </a:pPr>
            <a:r>
              <a:rPr lang="en-US" sz="1800">
                <a:latin typeface="Times New Roman"/>
                <a:ea typeface="Times New Roman"/>
                <a:cs typeface="Times New Roman"/>
                <a:sym typeface="Times New Roman"/>
              </a:rPr>
              <a:t>Compare and contrast shadow paging and log-based recovery methods. Discuss their advantages and limitations.</a:t>
            </a:r>
            <a:endParaRPr sz="1800">
              <a:latin typeface="Times New Roman"/>
              <a:ea typeface="Times New Roman"/>
              <a:cs typeface="Times New Roman"/>
              <a:sym typeface="Times New Roman"/>
            </a:endParaRPr>
          </a:p>
          <a:p>
            <a:pPr indent="-334327" lvl="0" marL="457200" rtl="0" algn="l">
              <a:lnSpc>
                <a:spcPct val="100000"/>
              </a:lnSpc>
              <a:spcBef>
                <a:spcPts val="0"/>
              </a:spcBef>
              <a:spcAft>
                <a:spcPts val="0"/>
              </a:spcAft>
              <a:buSzPct val="100000"/>
              <a:buAutoNum type="arabicPeriod"/>
            </a:pPr>
            <a:r>
              <a:rPr lang="en-US" sz="1800">
                <a:latin typeface="Times New Roman"/>
                <a:ea typeface="Times New Roman"/>
                <a:cs typeface="Times New Roman"/>
                <a:sym typeface="Times New Roman"/>
              </a:rPr>
              <a:t>How does the write-ahead logging protocol ensure durability in transaction recovery? Explain the purpose of redo and undo operations in log-based recovery.</a:t>
            </a:r>
            <a:endParaRPr sz="1800">
              <a:latin typeface="Times New Roman"/>
              <a:ea typeface="Times New Roman"/>
              <a:cs typeface="Times New Roman"/>
              <a:sym typeface="Times New Roman"/>
            </a:endParaRPr>
          </a:p>
          <a:p>
            <a:pPr indent="-334327" lvl="0" marL="457200" rtl="0" algn="l">
              <a:lnSpc>
                <a:spcPct val="100000"/>
              </a:lnSpc>
              <a:spcBef>
                <a:spcPts val="0"/>
              </a:spcBef>
              <a:spcAft>
                <a:spcPts val="0"/>
              </a:spcAft>
              <a:buSzPct val="100000"/>
              <a:buAutoNum type="arabicPeriod"/>
            </a:pPr>
            <a:r>
              <a:rPr lang="en-US" sz="1800">
                <a:latin typeface="Times New Roman"/>
                <a:ea typeface="Times New Roman"/>
                <a:cs typeface="Times New Roman"/>
                <a:sym typeface="Times New Roman"/>
              </a:rPr>
              <a:t>What is the role of checkpoints in recovery and concurrency control? Discuss different types of checkpoints and their implementation.</a:t>
            </a:r>
            <a:endParaRPr sz="1800">
              <a:latin typeface="Times New Roman"/>
              <a:ea typeface="Times New Roman"/>
              <a:cs typeface="Times New Roman"/>
              <a:sym typeface="Times New Roman"/>
            </a:endParaRPr>
          </a:p>
          <a:p>
            <a:pPr indent="-334327" lvl="0" marL="457200" rtl="0" algn="l">
              <a:lnSpc>
                <a:spcPct val="100000"/>
              </a:lnSpc>
              <a:spcBef>
                <a:spcPts val="0"/>
              </a:spcBef>
              <a:spcAft>
                <a:spcPts val="0"/>
              </a:spcAft>
              <a:buSzPct val="100000"/>
              <a:buAutoNum type="arabicPeriod"/>
            </a:pPr>
            <a:r>
              <a:rPr lang="en-US" sz="1800">
                <a:latin typeface="Times New Roman"/>
                <a:ea typeface="Times New Roman"/>
                <a:cs typeface="Times New Roman"/>
                <a:sym typeface="Times New Roman"/>
              </a:rPr>
              <a:t>How does cost-based query optimization work? Describe the factors considered and the goal of the optimization process.</a:t>
            </a:r>
            <a:endParaRPr sz="1800">
              <a:latin typeface="Times New Roman"/>
              <a:ea typeface="Times New Roman"/>
              <a:cs typeface="Times New Roman"/>
              <a:sym typeface="Times New Roman"/>
            </a:endParaRPr>
          </a:p>
        </p:txBody>
      </p:sp>
      <p:sp>
        <p:nvSpPr>
          <p:cNvPr id="405" name="Google Shape;405;p52"/>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