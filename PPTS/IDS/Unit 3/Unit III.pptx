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0"/>
  </p:notesMasterIdLst>
  <p:sldIdLst>
    <p:sldId id="256" r:id="rId2"/>
    <p:sldId id="257" r:id="rId3"/>
    <p:sldId id="1111" r:id="rId4"/>
    <p:sldId id="1112" r:id="rId5"/>
    <p:sldId id="1113" r:id="rId6"/>
    <p:sldId id="1114" r:id="rId7"/>
    <p:sldId id="1115" r:id="rId8"/>
    <p:sldId id="1116" r:id="rId9"/>
    <p:sldId id="1117" r:id="rId10"/>
    <p:sldId id="1119" r:id="rId11"/>
    <p:sldId id="1118" r:id="rId12"/>
    <p:sldId id="1158" r:id="rId13"/>
    <p:sldId id="1121" r:id="rId14"/>
    <p:sldId id="1122" r:id="rId15"/>
    <p:sldId id="1123" r:id="rId16"/>
    <p:sldId id="1124" r:id="rId17"/>
    <p:sldId id="1125" r:id="rId18"/>
    <p:sldId id="1126" r:id="rId19"/>
    <p:sldId id="1127" r:id="rId20"/>
    <p:sldId id="1128" r:id="rId21"/>
    <p:sldId id="1129" r:id="rId22"/>
    <p:sldId id="1131" r:id="rId23"/>
    <p:sldId id="1130" r:id="rId24"/>
    <p:sldId id="1132" r:id="rId25"/>
    <p:sldId id="1133" r:id="rId26"/>
    <p:sldId id="1134" r:id="rId27"/>
    <p:sldId id="1135" r:id="rId28"/>
    <p:sldId id="1136" r:id="rId29"/>
    <p:sldId id="1137" r:id="rId30"/>
    <p:sldId id="1138" r:id="rId31"/>
    <p:sldId id="1139" r:id="rId32"/>
    <p:sldId id="1141" r:id="rId33"/>
    <p:sldId id="1142" r:id="rId34"/>
    <p:sldId id="1143" r:id="rId35"/>
    <p:sldId id="1144" r:id="rId36"/>
    <p:sldId id="1145" r:id="rId37"/>
    <p:sldId id="1146" r:id="rId38"/>
    <p:sldId id="1147" r:id="rId39"/>
    <p:sldId id="1148" r:id="rId40"/>
    <p:sldId id="1149" r:id="rId41"/>
    <p:sldId id="1150" r:id="rId42"/>
    <p:sldId id="1151" r:id="rId43"/>
    <p:sldId id="1152" r:id="rId44"/>
    <p:sldId id="1153" r:id="rId45"/>
    <p:sldId id="1154" r:id="rId46"/>
    <p:sldId id="1155" r:id="rId47"/>
    <p:sldId id="1156" r:id="rId48"/>
    <p:sldId id="1157"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IO/m0ny70mnIeko7xMJy5QAy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234" y="5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461959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a:t>
            </a:fld>
            <a:endParaRPr lang="en-US" altLang="en-US"/>
          </a:p>
        </p:txBody>
      </p:sp>
    </p:spTree>
    <p:extLst>
      <p:ext uri="{BB962C8B-B14F-4D97-AF65-F5344CB8AC3E}">
        <p14:creationId xmlns:p14="http://schemas.microsoft.com/office/powerpoint/2010/main" val="873041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9</a:t>
            </a:fld>
            <a:endParaRPr lang="en-US" altLang="en-US"/>
          </a:p>
        </p:txBody>
      </p:sp>
    </p:spTree>
    <p:extLst>
      <p:ext uri="{BB962C8B-B14F-4D97-AF65-F5344CB8AC3E}">
        <p14:creationId xmlns:p14="http://schemas.microsoft.com/office/powerpoint/2010/main" val="929063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10</a:t>
            </a:fld>
            <a:endParaRPr lang="en-US" altLang="en-US"/>
          </a:p>
        </p:txBody>
      </p:sp>
    </p:spTree>
    <p:extLst>
      <p:ext uri="{BB962C8B-B14F-4D97-AF65-F5344CB8AC3E}">
        <p14:creationId xmlns:p14="http://schemas.microsoft.com/office/powerpoint/2010/main" val="2388866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11</a:t>
            </a:fld>
            <a:endParaRPr lang="en-US" altLang="en-US"/>
          </a:p>
        </p:txBody>
      </p:sp>
    </p:spTree>
    <p:extLst>
      <p:ext uri="{BB962C8B-B14F-4D97-AF65-F5344CB8AC3E}">
        <p14:creationId xmlns:p14="http://schemas.microsoft.com/office/powerpoint/2010/main" val="1607969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13</a:t>
            </a:fld>
            <a:endParaRPr lang="en-US" altLang="en-US"/>
          </a:p>
        </p:txBody>
      </p:sp>
    </p:spTree>
    <p:extLst>
      <p:ext uri="{BB962C8B-B14F-4D97-AF65-F5344CB8AC3E}">
        <p14:creationId xmlns:p14="http://schemas.microsoft.com/office/powerpoint/2010/main" val="341362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14</a:t>
            </a:fld>
            <a:endParaRPr lang="en-US" altLang="en-US"/>
          </a:p>
        </p:txBody>
      </p:sp>
    </p:spTree>
    <p:extLst>
      <p:ext uri="{BB962C8B-B14F-4D97-AF65-F5344CB8AC3E}">
        <p14:creationId xmlns:p14="http://schemas.microsoft.com/office/powerpoint/2010/main" val="3608609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15</a:t>
            </a:fld>
            <a:endParaRPr lang="en-US" altLang="en-US"/>
          </a:p>
        </p:txBody>
      </p:sp>
    </p:spTree>
    <p:extLst>
      <p:ext uri="{BB962C8B-B14F-4D97-AF65-F5344CB8AC3E}">
        <p14:creationId xmlns:p14="http://schemas.microsoft.com/office/powerpoint/2010/main" val="1192081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16</a:t>
            </a:fld>
            <a:endParaRPr lang="en-US" altLang="en-US"/>
          </a:p>
        </p:txBody>
      </p:sp>
    </p:spTree>
    <p:extLst>
      <p:ext uri="{BB962C8B-B14F-4D97-AF65-F5344CB8AC3E}">
        <p14:creationId xmlns:p14="http://schemas.microsoft.com/office/powerpoint/2010/main" val="1562425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17</a:t>
            </a:fld>
            <a:endParaRPr lang="en-US" altLang="en-US"/>
          </a:p>
        </p:txBody>
      </p:sp>
    </p:spTree>
    <p:extLst>
      <p:ext uri="{BB962C8B-B14F-4D97-AF65-F5344CB8AC3E}">
        <p14:creationId xmlns:p14="http://schemas.microsoft.com/office/powerpoint/2010/main" val="1143276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18</a:t>
            </a:fld>
            <a:endParaRPr lang="en-US" altLang="en-US"/>
          </a:p>
        </p:txBody>
      </p:sp>
    </p:spTree>
    <p:extLst>
      <p:ext uri="{BB962C8B-B14F-4D97-AF65-F5344CB8AC3E}">
        <p14:creationId xmlns:p14="http://schemas.microsoft.com/office/powerpoint/2010/main" val="3847375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19</a:t>
            </a:fld>
            <a:endParaRPr lang="en-US" altLang="en-US"/>
          </a:p>
        </p:txBody>
      </p:sp>
    </p:spTree>
    <p:extLst>
      <p:ext uri="{BB962C8B-B14F-4D97-AF65-F5344CB8AC3E}">
        <p14:creationId xmlns:p14="http://schemas.microsoft.com/office/powerpoint/2010/main" val="29499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20</a:t>
            </a:fld>
            <a:endParaRPr lang="en-US" altLang="en-US"/>
          </a:p>
        </p:txBody>
      </p:sp>
    </p:spTree>
    <p:extLst>
      <p:ext uri="{BB962C8B-B14F-4D97-AF65-F5344CB8AC3E}">
        <p14:creationId xmlns:p14="http://schemas.microsoft.com/office/powerpoint/2010/main" val="45383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21</a:t>
            </a:fld>
            <a:endParaRPr lang="en-US" altLang="en-US"/>
          </a:p>
        </p:txBody>
      </p:sp>
    </p:spTree>
    <p:extLst>
      <p:ext uri="{BB962C8B-B14F-4D97-AF65-F5344CB8AC3E}">
        <p14:creationId xmlns:p14="http://schemas.microsoft.com/office/powerpoint/2010/main" val="2094415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22</a:t>
            </a:fld>
            <a:endParaRPr lang="en-US" altLang="en-US"/>
          </a:p>
        </p:txBody>
      </p:sp>
    </p:spTree>
    <p:extLst>
      <p:ext uri="{BB962C8B-B14F-4D97-AF65-F5344CB8AC3E}">
        <p14:creationId xmlns:p14="http://schemas.microsoft.com/office/powerpoint/2010/main" val="3483385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23</a:t>
            </a:fld>
            <a:endParaRPr lang="en-US" altLang="en-US"/>
          </a:p>
        </p:txBody>
      </p:sp>
    </p:spTree>
    <p:extLst>
      <p:ext uri="{BB962C8B-B14F-4D97-AF65-F5344CB8AC3E}">
        <p14:creationId xmlns:p14="http://schemas.microsoft.com/office/powerpoint/2010/main" val="3790962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24</a:t>
            </a:fld>
            <a:endParaRPr lang="en-US" altLang="en-US"/>
          </a:p>
        </p:txBody>
      </p:sp>
    </p:spTree>
    <p:extLst>
      <p:ext uri="{BB962C8B-B14F-4D97-AF65-F5344CB8AC3E}">
        <p14:creationId xmlns:p14="http://schemas.microsoft.com/office/powerpoint/2010/main" val="1955830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25</a:t>
            </a:fld>
            <a:endParaRPr lang="en-US" altLang="en-US"/>
          </a:p>
        </p:txBody>
      </p:sp>
    </p:spTree>
    <p:extLst>
      <p:ext uri="{BB962C8B-B14F-4D97-AF65-F5344CB8AC3E}">
        <p14:creationId xmlns:p14="http://schemas.microsoft.com/office/powerpoint/2010/main" val="1687883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26</a:t>
            </a:fld>
            <a:endParaRPr lang="en-US" altLang="en-US"/>
          </a:p>
        </p:txBody>
      </p:sp>
    </p:spTree>
    <p:extLst>
      <p:ext uri="{BB962C8B-B14F-4D97-AF65-F5344CB8AC3E}">
        <p14:creationId xmlns:p14="http://schemas.microsoft.com/office/powerpoint/2010/main" val="3661869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27</a:t>
            </a:fld>
            <a:endParaRPr lang="en-US" altLang="en-US"/>
          </a:p>
        </p:txBody>
      </p:sp>
    </p:spTree>
    <p:extLst>
      <p:ext uri="{BB962C8B-B14F-4D97-AF65-F5344CB8AC3E}">
        <p14:creationId xmlns:p14="http://schemas.microsoft.com/office/powerpoint/2010/main" val="2439079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28</a:t>
            </a:fld>
            <a:endParaRPr lang="en-US" altLang="en-US"/>
          </a:p>
        </p:txBody>
      </p:sp>
    </p:spTree>
    <p:extLst>
      <p:ext uri="{BB962C8B-B14F-4D97-AF65-F5344CB8AC3E}">
        <p14:creationId xmlns:p14="http://schemas.microsoft.com/office/powerpoint/2010/main" val="38769567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29</a:t>
            </a:fld>
            <a:endParaRPr lang="en-US" altLang="en-US"/>
          </a:p>
        </p:txBody>
      </p:sp>
    </p:spTree>
    <p:extLst>
      <p:ext uri="{BB962C8B-B14F-4D97-AF65-F5344CB8AC3E}">
        <p14:creationId xmlns:p14="http://schemas.microsoft.com/office/powerpoint/2010/main" val="977285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30</a:t>
            </a:fld>
            <a:endParaRPr lang="en-US" altLang="en-US"/>
          </a:p>
        </p:txBody>
      </p:sp>
    </p:spTree>
    <p:extLst>
      <p:ext uri="{BB962C8B-B14F-4D97-AF65-F5344CB8AC3E}">
        <p14:creationId xmlns:p14="http://schemas.microsoft.com/office/powerpoint/2010/main" val="3378575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31</a:t>
            </a:fld>
            <a:endParaRPr lang="en-US" altLang="en-US"/>
          </a:p>
        </p:txBody>
      </p:sp>
    </p:spTree>
    <p:extLst>
      <p:ext uri="{BB962C8B-B14F-4D97-AF65-F5344CB8AC3E}">
        <p14:creationId xmlns:p14="http://schemas.microsoft.com/office/powerpoint/2010/main" val="2483476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32</a:t>
            </a:fld>
            <a:endParaRPr lang="en-US" altLang="en-US"/>
          </a:p>
        </p:txBody>
      </p:sp>
    </p:spTree>
    <p:extLst>
      <p:ext uri="{BB962C8B-B14F-4D97-AF65-F5344CB8AC3E}">
        <p14:creationId xmlns:p14="http://schemas.microsoft.com/office/powerpoint/2010/main" val="20603408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33</a:t>
            </a:fld>
            <a:endParaRPr lang="en-US" altLang="en-US"/>
          </a:p>
        </p:txBody>
      </p:sp>
    </p:spTree>
    <p:extLst>
      <p:ext uri="{BB962C8B-B14F-4D97-AF65-F5344CB8AC3E}">
        <p14:creationId xmlns:p14="http://schemas.microsoft.com/office/powerpoint/2010/main" val="28099602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34</a:t>
            </a:fld>
            <a:endParaRPr lang="en-US" altLang="en-US"/>
          </a:p>
        </p:txBody>
      </p:sp>
    </p:spTree>
    <p:extLst>
      <p:ext uri="{BB962C8B-B14F-4D97-AF65-F5344CB8AC3E}">
        <p14:creationId xmlns:p14="http://schemas.microsoft.com/office/powerpoint/2010/main" val="2148834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35</a:t>
            </a:fld>
            <a:endParaRPr lang="en-US" altLang="en-US"/>
          </a:p>
        </p:txBody>
      </p:sp>
    </p:spTree>
    <p:extLst>
      <p:ext uri="{BB962C8B-B14F-4D97-AF65-F5344CB8AC3E}">
        <p14:creationId xmlns:p14="http://schemas.microsoft.com/office/powerpoint/2010/main" val="21066696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36</a:t>
            </a:fld>
            <a:endParaRPr lang="en-US" altLang="en-US"/>
          </a:p>
        </p:txBody>
      </p:sp>
    </p:spTree>
    <p:extLst>
      <p:ext uri="{BB962C8B-B14F-4D97-AF65-F5344CB8AC3E}">
        <p14:creationId xmlns:p14="http://schemas.microsoft.com/office/powerpoint/2010/main" val="20881034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37</a:t>
            </a:fld>
            <a:endParaRPr lang="en-US" altLang="en-US"/>
          </a:p>
        </p:txBody>
      </p:sp>
    </p:spTree>
    <p:extLst>
      <p:ext uri="{BB962C8B-B14F-4D97-AF65-F5344CB8AC3E}">
        <p14:creationId xmlns:p14="http://schemas.microsoft.com/office/powerpoint/2010/main" val="3766703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38</a:t>
            </a:fld>
            <a:endParaRPr lang="en-US" altLang="en-US"/>
          </a:p>
        </p:txBody>
      </p:sp>
    </p:spTree>
    <p:extLst>
      <p:ext uri="{BB962C8B-B14F-4D97-AF65-F5344CB8AC3E}">
        <p14:creationId xmlns:p14="http://schemas.microsoft.com/office/powerpoint/2010/main" val="8315292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39</a:t>
            </a:fld>
            <a:endParaRPr lang="en-US" altLang="en-US"/>
          </a:p>
        </p:txBody>
      </p:sp>
    </p:spTree>
    <p:extLst>
      <p:ext uri="{BB962C8B-B14F-4D97-AF65-F5344CB8AC3E}">
        <p14:creationId xmlns:p14="http://schemas.microsoft.com/office/powerpoint/2010/main" val="39770501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40</a:t>
            </a:fld>
            <a:endParaRPr lang="en-US" altLang="en-US"/>
          </a:p>
        </p:txBody>
      </p:sp>
    </p:spTree>
    <p:extLst>
      <p:ext uri="{BB962C8B-B14F-4D97-AF65-F5344CB8AC3E}">
        <p14:creationId xmlns:p14="http://schemas.microsoft.com/office/powerpoint/2010/main" val="3376378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41</a:t>
            </a:fld>
            <a:endParaRPr lang="en-US" altLang="en-US"/>
          </a:p>
        </p:txBody>
      </p:sp>
    </p:spTree>
    <p:extLst>
      <p:ext uri="{BB962C8B-B14F-4D97-AF65-F5344CB8AC3E}">
        <p14:creationId xmlns:p14="http://schemas.microsoft.com/office/powerpoint/2010/main" val="5179715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42</a:t>
            </a:fld>
            <a:endParaRPr lang="en-US" altLang="en-US"/>
          </a:p>
        </p:txBody>
      </p:sp>
    </p:spTree>
    <p:extLst>
      <p:ext uri="{BB962C8B-B14F-4D97-AF65-F5344CB8AC3E}">
        <p14:creationId xmlns:p14="http://schemas.microsoft.com/office/powerpoint/2010/main" val="24846533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43</a:t>
            </a:fld>
            <a:endParaRPr lang="en-US" altLang="en-US"/>
          </a:p>
        </p:txBody>
      </p:sp>
    </p:spTree>
    <p:extLst>
      <p:ext uri="{BB962C8B-B14F-4D97-AF65-F5344CB8AC3E}">
        <p14:creationId xmlns:p14="http://schemas.microsoft.com/office/powerpoint/2010/main" val="37189171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44</a:t>
            </a:fld>
            <a:endParaRPr lang="en-US" altLang="en-US"/>
          </a:p>
        </p:txBody>
      </p:sp>
    </p:spTree>
    <p:extLst>
      <p:ext uri="{BB962C8B-B14F-4D97-AF65-F5344CB8AC3E}">
        <p14:creationId xmlns:p14="http://schemas.microsoft.com/office/powerpoint/2010/main" val="12825657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45</a:t>
            </a:fld>
            <a:endParaRPr lang="en-US" altLang="en-US"/>
          </a:p>
        </p:txBody>
      </p:sp>
    </p:spTree>
    <p:extLst>
      <p:ext uri="{BB962C8B-B14F-4D97-AF65-F5344CB8AC3E}">
        <p14:creationId xmlns:p14="http://schemas.microsoft.com/office/powerpoint/2010/main" val="30859135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46</a:t>
            </a:fld>
            <a:endParaRPr lang="en-US" altLang="en-US"/>
          </a:p>
        </p:txBody>
      </p:sp>
    </p:spTree>
    <p:extLst>
      <p:ext uri="{BB962C8B-B14F-4D97-AF65-F5344CB8AC3E}">
        <p14:creationId xmlns:p14="http://schemas.microsoft.com/office/powerpoint/2010/main" val="21472204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47</a:t>
            </a:fld>
            <a:endParaRPr lang="en-US" altLang="en-US"/>
          </a:p>
        </p:txBody>
      </p:sp>
    </p:spTree>
    <p:extLst>
      <p:ext uri="{BB962C8B-B14F-4D97-AF65-F5344CB8AC3E}">
        <p14:creationId xmlns:p14="http://schemas.microsoft.com/office/powerpoint/2010/main" val="33075078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 xmlns:a16="http://schemas.microsoft.com/office/drawing/2014/main" id="{F09125B6-81E9-6167-B59D-7FF337BFE56B}"/>
              </a:ext>
            </a:extLst>
          </p:cNvPr>
          <p:cNvSpPr>
            <a:spLocks noGrp="1" noChangeArrowheads="1"/>
          </p:cNvSpPr>
          <p:nvPr>
            <p:ph type="sldNum" sz="quarter" idx="5"/>
          </p:nvPr>
        </p:nvSpPr>
        <p:spPr>
          <a:ln/>
        </p:spPr>
        <p:txBody>
          <a:bodyPr/>
          <a:lstStyle/>
          <a:p>
            <a:fld id="{9466EAF8-A20A-4BC2-AD6B-91B96BC357BD}" type="slidenum">
              <a:rPr lang="en-US" altLang="en-US"/>
              <a:pPr/>
              <a:t>48</a:t>
            </a:fld>
            <a:endParaRPr lang="en-US" altLang="en-US"/>
          </a:p>
        </p:txBody>
      </p:sp>
    </p:spTree>
    <p:extLst>
      <p:ext uri="{BB962C8B-B14F-4D97-AF65-F5344CB8AC3E}">
        <p14:creationId xmlns:p14="http://schemas.microsoft.com/office/powerpoint/2010/main" val="2840177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9" name="Google Shape;59;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0" name="Google Shape;6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3"/>
          <p:cNvSpPr>
            <a:spLocks noGrp="1"/>
          </p:cNvSpPr>
          <p:nvPr>
            <p:ph type="pic" idx="2"/>
          </p:nvPr>
        </p:nvSpPr>
        <p:spPr>
          <a:xfrm>
            <a:off x="5183188" y="987425"/>
            <a:ext cx="6172200" cy="4873625"/>
          </a:xfrm>
          <a:prstGeom prst="rect">
            <a:avLst/>
          </a:prstGeom>
          <a:noFill/>
          <a:ln>
            <a:noFill/>
          </a:ln>
        </p:spPr>
      </p:sp>
      <p:sp>
        <p:nvSpPr>
          <p:cNvPr id="66" name="Google Shape;66;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4"/>
          <p:cNvPicPr preferRelativeResize="0"/>
          <p:nvPr/>
        </p:nvPicPr>
        <p:blipFill rotWithShape="1">
          <a:blip r:embed="rId10">
            <a:alphaModFix/>
          </a:blip>
          <a:srcRect/>
          <a:stretch/>
        </p:blipFill>
        <p:spPr>
          <a:xfrm>
            <a:off x="9982200" y="0"/>
            <a:ext cx="2200275" cy="990600"/>
          </a:xfrm>
          <a:prstGeom prst="rect">
            <a:avLst/>
          </a:prstGeom>
          <a:noFill/>
          <a:ln>
            <a:noFill/>
          </a:ln>
        </p:spPr>
      </p:pic>
      <p:pic>
        <p:nvPicPr>
          <p:cNvPr id="12" name="Google Shape;12;p4"/>
          <p:cNvPicPr preferRelativeResize="0"/>
          <p:nvPr/>
        </p:nvPicPr>
        <p:blipFill rotWithShape="1">
          <a:blip r:embed="rId11">
            <a:alphaModFix/>
          </a:blip>
          <a:srcRect/>
          <a:stretch/>
        </p:blipFill>
        <p:spPr>
          <a:xfrm>
            <a:off x="-9525" y="6465153"/>
            <a:ext cx="12192000" cy="380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statisticshowto.com/probability-and-statistics/normal-distributions/central-limit-theorem-definition-examples/"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endParaRPr/>
          </a:p>
        </p:txBody>
      </p:sp>
      <p:sp>
        <p:nvSpPr>
          <p:cNvPr id="87" name="Google Shape;87;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88" name="Google Shape;88;p1"/>
          <p:cNvPicPr preferRelativeResize="0"/>
          <p:nvPr/>
        </p:nvPicPr>
        <p:blipFill rotWithShape="1">
          <a:blip r:embed="rId3">
            <a:alphaModFix/>
          </a:blip>
          <a:srcRect b="2862"/>
          <a:stretch/>
        </p:blipFill>
        <p:spPr>
          <a:xfrm>
            <a:off x="-22946" y="-16728"/>
            <a:ext cx="12214948" cy="6874728"/>
          </a:xfrm>
          <a:prstGeom prst="rect">
            <a:avLst/>
          </a:prstGeom>
          <a:noFill/>
          <a:ln>
            <a:noFill/>
          </a:ln>
        </p:spPr>
      </p:pic>
      <p:sp>
        <p:nvSpPr>
          <p:cNvPr id="89" name="Google Shape;89;p1"/>
          <p:cNvSpPr txBox="1"/>
          <p:nvPr/>
        </p:nvSpPr>
        <p:spPr>
          <a:xfrm>
            <a:off x="22302" y="1295400"/>
            <a:ext cx="12169698" cy="29718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3000" dirty="0">
                <a:solidFill>
                  <a:srgbClr val="CC00CC"/>
                </a:solidFill>
              </a:rPr>
              <a:t>21BTCS503 –</a:t>
            </a:r>
            <a:r>
              <a:rPr lang="en-IN" sz="3000" dirty="0">
                <a:solidFill>
                  <a:srgbClr val="CC00CC"/>
                </a:solidFill>
              </a:rPr>
              <a:t>Introduction to Data Science</a:t>
            </a:r>
            <a:endParaRPr sz="3000" dirty="0">
              <a:solidFill>
                <a:srgbClr val="CC00CC"/>
              </a:solidFill>
            </a:endParaRPr>
          </a:p>
          <a:p>
            <a:pPr marL="0" marR="0" lvl="0" indent="0" algn="ctr" rtl="0">
              <a:spcBef>
                <a:spcPts val="0"/>
              </a:spcBef>
              <a:spcAft>
                <a:spcPts val="0"/>
              </a:spcAft>
              <a:buNone/>
            </a:pPr>
            <a:endParaRPr sz="30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3000" b="0" i="0" u="none" strike="noStrike" cap="none" dirty="0">
                <a:solidFill>
                  <a:srgbClr val="FF0000"/>
                </a:solidFill>
                <a:latin typeface="Times New Roman"/>
                <a:ea typeface="Times New Roman"/>
                <a:cs typeface="Times New Roman"/>
                <a:sym typeface="Times New Roman"/>
              </a:rPr>
              <a:t>Class - T.Y.  (SEM-V), </a:t>
            </a:r>
            <a:r>
              <a:rPr lang="en-US" sz="3000" dirty="0">
                <a:solidFill>
                  <a:srgbClr val="FF0000"/>
                </a:solidFill>
                <a:latin typeface="Times New Roman"/>
                <a:ea typeface="Times New Roman"/>
                <a:cs typeface="Times New Roman"/>
                <a:sym typeface="Times New Roman"/>
              </a:rPr>
              <a:t>Core</a:t>
            </a:r>
            <a:endParaRPr dirty="0"/>
          </a:p>
          <a:p>
            <a:pPr marL="0" marR="0" lvl="0" indent="0" algn="ctr" rtl="0">
              <a:spcBef>
                <a:spcPts val="0"/>
              </a:spcBef>
              <a:spcAft>
                <a:spcPts val="0"/>
              </a:spcAft>
              <a:buNone/>
            </a:pPr>
            <a:endParaRPr sz="3000" b="0" i="0" u="none" strike="noStrike" cap="none" dirty="0">
              <a:solidFill>
                <a:srgbClr val="FF0000"/>
              </a:solidFill>
              <a:latin typeface="Times New Roman"/>
              <a:ea typeface="Times New Roman"/>
              <a:cs typeface="Times New Roman"/>
              <a:sym typeface="Times New Roman"/>
            </a:endParaRPr>
          </a:p>
          <a:p>
            <a:pPr marL="0" marR="0" lvl="0" indent="0" algn="ctr" rtl="0">
              <a:spcBef>
                <a:spcPts val="0"/>
              </a:spcBef>
              <a:spcAft>
                <a:spcPts val="0"/>
              </a:spcAft>
              <a:buNone/>
            </a:pPr>
            <a:r>
              <a:rPr lang="en-US" sz="3600" b="1" i="0" u="none" strike="noStrike" cap="none" dirty="0">
                <a:solidFill>
                  <a:schemeClr val="dk1"/>
                </a:solidFill>
                <a:latin typeface="Times New Roman"/>
                <a:ea typeface="Times New Roman"/>
                <a:cs typeface="Times New Roman"/>
                <a:sym typeface="Times New Roman"/>
              </a:rPr>
              <a:t>Unit - III  </a:t>
            </a:r>
            <a:r>
              <a:rPr lang="en-US" sz="3800" b="1" dirty="0">
                <a:solidFill>
                  <a:schemeClr val="dk1"/>
                </a:solidFill>
                <a:latin typeface="Times New Roman"/>
                <a:ea typeface="Times New Roman"/>
                <a:cs typeface="Times New Roman"/>
                <a:sym typeface="Times New Roman"/>
              </a:rPr>
              <a:t>Statistics and Probability basics for Data Analysis</a:t>
            </a:r>
          </a:p>
          <a:p>
            <a:pPr marL="0" marR="0" lvl="0" indent="0" algn="ctr" rtl="0">
              <a:spcBef>
                <a:spcPts val="0"/>
              </a:spcBef>
              <a:spcAft>
                <a:spcPts val="0"/>
              </a:spcAft>
              <a:buNone/>
            </a:pPr>
            <a:r>
              <a:rPr lang="en-US" sz="3800" b="1" dirty="0">
                <a:solidFill>
                  <a:schemeClr val="dk1"/>
                </a:solidFill>
                <a:latin typeface="Times New Roman"/>
                <a:ea typeface="Times New Roman"/>
                <a:cs typeface="Times New Roman"/>
                <a:sym typeface="Times New Roman"/>
              </a:rPr>
              <a:t> </a:t>
            </a:r>
            <a:endParaRPr sz="3600" b="1" i="0" u="none" strike="noStrike" cap="none" dirty="0">
              <a:solidFill>
                <a:schemeClr val="dk1"/>
              </a:solidFill>
              <a:latin typeface="Times New Roman"/>
              <a:ea typeface="Times New Roman"/>
              <a:cs typeface="Times New Roman"/>
              <a:sym typeface="Times New Roman"/>
            </a:endParaRPr>
          </a:p>
        </p:txBody>
      </p:sp>
      <p:sp>
        <p:nvSpPr>
          <p:cNvPr id="90" name="Google Shape;90;p1"/>
          <p:cNvSpPr txBox="1"/>
          <p:nvPr/>
        </p:nvSpPr>
        <p:spPr>
          <a:xfrm>
            <a:off x="-1" y="-49696"/>
            <a:ext cx="10910171" cy="1219200"/>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chemeClr val="dk1"/>
              </a:buClr>
              <a:buSzPts val="2400"/>
              <a:buFont typeface="Times New Roman"/>
              <a:buNone/>
            </a:pPr>
            <a:r>
              <a:rPr lang="en-US" sz="2400" b="1" i="0" u="none" strike="noStrike" cap="none" dirty="0">
                <a:solidFill>
                  <a:schemeClr val="dk1"/>
                </a:solidFill>
                <a:latin typeface="Times New Roman"/>
                <a:ea typeface="Times New Roman"/>
                <a:cs typeface="Times New Roman"/>
                <a:sym typeface="Times New Roman"/>
              </a:rPr>
              <a:t>MIT Art Design and Technology University</a:t>
            </a:r>
            <a:r>
              <a:rPr lang="en-US" sz="2700" b="1" i="0" u="none" strike="noStrike" cap="none" dirty="0">
                <a:solidFill>
                  <a:schemeClr val="dk1"/>
                </a:solidFill>
                <a:latin typeface="Times New Roman"/>
                <a:ea typeface="Times New Roman"/>
                <a:cs typeface="Times New Roman"/>
                <a:sym typeface="Times New Roman"/>
              </a:rPr>
              <a:t/>
            </a:r>
            <a:br>
              <a:rPr lang="en-US" sz="2700" b="1" i="0" u="none" strike="noStrike" cap="none" dirty="0">
                <a:solidFill>
                  <a:schemeClr val="dk1"/>
                </a:solidFill>
                <a:latin typeface="Times New Roman"/>
                <a:ea typeface="Times New Roman"/>
                <a:cs typeface="Times New Roman"/>
                <a:sym typeface="Times New Roman"/>
              </a:rPr>
            </a:br>
            <a:r>
              <a:rPr lang="en-US" sz="3100" b="1" i="0" u="none" strike="noStrike" cap="none" dirty="0">
                <a:solidFill>
                  <a:schemeClr val="dk1"/>
                </a:solidFill>
                <a:latin typeface="Times New Roman"/>
                <a:ea typeface="Times New Roman"/>
                <a:cs typeface="Times New Roman"/>
                <a:sym typeface="Times New Roman"/>
              </a:rPr>
              <a:t>MIT School of Computing, </a:t>
            </a:r>
            <a:r>
              <a:rPr lang="en-US" sz="3100" b="1" i="0" u="none" strike="noStrike" cap="none" dirty="0" smtClean="0">
                <a:solidFill>
                  <a:schemeClr val="dk1"/>
                </a:solidFill>
                <a:latin typeface="Times New Roman"/>
                <a:ea typeface="Times New Roman"/>
                <a:cs typeface="Times New Roman"/>
                <a:sym typeface="Times New Roman"/>
              </a:rPr>
              <a:t>Pune</a:t>
            </a:r>
            <a:endParaRPr sz="2800" b="1" i="0" u="none" strike="noStrike" cap="none" dirty="0">
              <a:solidFill>
                <a:schemeClr val="dk1"/>
              </a:solidFill>
              <a:latin typeface="Times New Roman"/>
              <a:ea typeface="Times New Roman"/>
              <a:cs typeface="Times New Roman"/>
              <a:sym typeface="Times New Roman"/>
            </a:endParaRPr>
          </a:p>
        </p:txBody>
      </p:sp>
      <p:sp>
        <p:nvSpPr>
          <p:cNvPr id="91" name="Google Shape;91;p1"/>
          <p:cNvSpPr txBox="1"/>
          <p:nvPr/>
        </p:nvSpPr>
        <p:spPr>
          <a:xfrm>
            <a:off x="1713503" y="5600700"/>
            <a:ext cx="8784921" cy="914400"/>
          </a:xfrm>
          <a:prstGeom prst="rect">
            <a:avLst/>
          </a:prstGeom>
          <a:noFill/>
          <a:ln>
            <a:noFill/>
          </a:ln>
        </p:spPr>
        <p:txBody>
          <a:bodyPr spcFirstLastPara="1" wrap="square" lIns="91425" tIns="45700" rIns="91425" bIns="45700" anchor="ctr" anchorCtr="0">
            <a:normAutofit fontScale="97500"/>
          </a:bodyPr>
          <a:lstStyle/>
          <a:p>
            <a:pPr marL="0" marR="0" lvl="0" indent="0" algn="ctr" rtl="0">
              <a:spcBef>
                <a:spcPts val="0"/>
              </a:spcBef>
              <a:spcAft>
                <a:spcPts val="0"/>
              </a:spcAft>
              <a:buNone/>
            </a:pPr>
            <a:r>
              <a:rPr lang="en-US" sz="3100" b="0" i="0" u="none" strike="noStrike" cap="none" dirty="0">
                <a:solidFill>
                  <a:srgbClr val="CC00CC"/>
                </a:solidFill>
                <a:latin typeface="Times New Roman"/>
                <a:ea typeface="Times New Roman"/>
                <a:cs typeface="Times New Roman"/>
                <a:sym typeface="Times New Roman"/>
              </a:rPr>
              <a:t>AY </a:t>
            </a:r>
            <a:r>
              <a:rPr lang="en-US" sz="3100" b="0" i="0" u="none" strike="noStrike" cap="none" dirty="0" smtClean="0">
                <a:solidFill>
                  <a:srgbClr val="CC00CC"/>
                </a:solidFill>
                <a:latin typeface="Times New Roman"/>
                <a:ea typeface="Times New Roman"/>
                <a:cs typeface="Times New Roman"/>
                <a:sym typeface="Times New Roman"/>
              </a:rPr>
              <a:t>2024-2025 </a:t>
            </a:r>
            <a:r>
              <a:rPr lang="en-US" sz="3100" b="0" i="0" u="none" strike="noStrike" cap="none" dirty="0">
                <a:solidFill>
                  <a:srgbClr val="CC00CC"/>
                </a:solidFill>
                <a:latin typeface="Times New Roman"/>
                <a:ea typeface="Times New Roman"/>
                <a:cs typeface="Times New Roman"/>
                <a:sym typeface="Times New Roman"/>
              </a:rPr>
              <a:t>SEM-V</a:t>
            </a:r>
            <a:endParaRPr sz="28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body" idx="1"/>
          </p:nvPr>
        </p:nvSpPr>
        <p:spPr>
          <a:xfrm>
            <a:off x="299580" y="1337110"/>
            <a:ext cx="11725405" cy="496348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20000"/>
              </a:lnSpc>
              <a:spcBef>
                <a:spcPts val="0"/>
              </a:spcBef>
              <a:spcAft>
                <a:spcPts val="0"/>
              </a:spcAft>
              <a:buClr>
                <a:schemeClr val="dk1"/>
              </a:buClr>
              <a:buSzPct val="100000"/>
              <a:buNone/>
            </a:pPr>
            <a:r>
              <a:rPr lang="en-US" sz="3800" b="1" dirty="0">
                <a:latin typeface="Times New Roman"/>
                <a:ea typeface="Times New Roman"/>
                <a:cs typeface="Times New Roman"/>
                <a:sym typeface="Times New Roman"/>
              </a:rPr>
              <a:t>Unit III – Statistics &amp; Probability basics for Data Analysis                                               08 hours</a:t>
            </a:r>
            <a:endParaRPr dirty="0"/>
          </a:p>
          <a:p>
            <a:pPr marL="228600" lvl="0" indent="-210502" algn="just" rtl="0">
              <a:lnSpc>
                <a:spcPct val="120000"/>
              </a:lnSpc>
              <a:spcBef>
                <a:spcPts val="1200"/>
              </a:spcBef>
              <a:spcAft>
                <a:spcPts val="0"/>
              </a:spcAft>
              <a:buSzPct val="100000"/>
              <a:buChar char="•"/>
            </a:pPr>
            <a:r>
              <a:rPr lang="en-US" sz="3800" dirty="0">
                <a:latin typeface="Times New Roman"/>
                <a:ea typeface="Times New Roman"/>
                <a:cs typeface="Times New Roman"/>
                <a:sym typeface="Times New Roman"/>
              </a:rPr>
              <a:t>Statistics: Describing a Single Set of Data, Correlation, Simpson’s Paradox, Some Other Correlational Caveats, Correlation and Causation Probability : Dependence and Independence, Conditional Probability, </a:t>
            </a:r>
            <a:r>
              <a:rPr lang="en-US" sz="3800" dirty="0" err="1">
                <a:latin typeface="Times New Roman"/>
                <a:ea typeface="Times New Roman"/>
                <a:cs typeface="Times New Roman"/>
                <a:sym typeface="Times New Roman"/>
              </a:rPr>
              <a:t>Bayes’s</a:t>
            </a:r>
            <a:r>
              <a:rPr lang="en-US" sz="3800" dirty="0">
                <a:latin typeface="Times New Roman"/>
                <a:ea typeface="Times New Roman"/>
                <a:cs typeface="Times New Roman"/>
                <a:sym typeface="Times New Roman"/>
              </a:rPr>
              <a:t> Theorem, Random Variables, Continuous Distributions, The Normal Distribution, The Central Limit Theorem</a:t>
            </a:r>
          </a:p>
          <a:p>
            <a:pPr marL="228600" lvl="0" indent="-210502" algn="just" rtl="0">
              <a:lnSpc>
                <a:spcPct val="120000"/>
              </a:lnSpc>
              <a:spcBef>
                <a:spcPts val="1200"/>
              </a:spcBef>
              <a:spcAft>
                <a:spcPts val="0"/>
              </a:spcAft>
              <a:buSzPct val="100000"/>
              <a:buChar char="•"/>
            </a:pPr>
            <a:endParaRPr lang="en-US" sz="3800" dirty="0">
              <a:latin typeface="Times New Roman"/>
              <a:ea typeface="Times New Roman"/>
              <a:cs typeface="Times New Roman"/>
              <a:sym typeface="Times New Roman"/>
            </a:endParaRPr>
          </a:p>
        </p:txBody>
      </p:sp>
      <p:sp>
        <p:nvSpPr>
          <p:cNvPr id="98" name="Google Shape;98;p2"/>
          <p:cNvSpPr txBox="1">
            <a:spLocks noGrp="1"/>
          </p:cNvSpPr>
          <p:nvPr>
            <p:ph type="title"/>
          </p:nvPr>
        </p:nvSpPr>
        <p:spPr>
          <a:xfrm>
            <a:off x="904482" y="11547"/>
            <a:ext cx="10515600" cy="1325563"/>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FF0000"/>
              </a:buClr>
              <a:buSzPts val="3600"/>
              <a:buFont typeface="Times New Roman"/>
              <a:buNone/>
            </a:pPr>
            <a:r>
              <a:rPr lang="en-US" sz="3600" b="0" i="0" u="none" strike="noStrike" cap="none" dirty="0">
                <a:solidFill>
                  <a:srgbClr val="FF0000"/>
                </a:solidFill>
                <a:latin typeface="Times New Roman"/>
                <a:ea typeface="Times New Roman"/>
                <a:cs typeface="Times New Roman"/>
                <a:sym typeface="Times New Roman"/>
              </a:rPr>
              <a:t>Unit III - Syllabus </a:t>
            </a:r>
            <a:endParaRPr sz="3600" b="0"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113356" y="457200"/>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Single Set of Data</a:t>
            </a:r>
          </a:p>
        </p:txBody>
      </p:sp>
      <p:sp>
        <p:nvSpPr>
          <p:cNvPr id="1559555" name="Rectangle 3">
            <a:extLst>
              <a:ext uri="{FF2B5EF4-FFF2-40B4-BE49-F238E27FC236}">
                <a16:creationId xmlns="" xmlns:a16="http://schemas.microsoft.com/office/drawing/2014/main" id="{2E229F9F-96B1-3EE3-0D31-E42D98C4D889}"/>
              </a:ext>
            </a:extLst>
          </p:cNvPr>
          <p:cNvSpPr>
            <a:spLocks noGrp="1" noChangeArrowheads="1"/>
          </p:cNvSpPr>
          <p:nvPr>
            <p:ph type="body" idx="1"/>
          </p:nvPr>
        </p:nvSpPr>
        <p:spPr>
          <a:xfrm>
            <a:off x="839770" y="1440730"/>
            <a:ext cx="10934307" cy="4724400"/>
          </a:xfrm>
          <a:noFill/>
          <a:ln/>
        </p:spPr>
        <p:txBody>
          <a:bodyPr spcFirstLastPara="1" wrap="square" lIns="92075" tIns="46038" rIns="92075" bIns="46038" anchor="t" anchorCtr="0">
            <a:normAutofit/>
          </a:bodyPr>
          <a:lstStyle/>
          <a:p>
            <a:pPr algn="just"/>
            <a:r>
              <a:rPr lang="en-US" altLang="en-US" sz="2400" dirty="0">
                <a:solidFill>
                  <a:schemeClr val="tx1"/>
                </a:solidFill>
              </a:rPr>
              <a:t>A single set of data refers to a collection of information or observations that are grouped together as a cohesive unit. </a:t>
            </a:r>
          </a:p>
          <a:p>
            <a:pPr algn="just"/>
            <a:r>
              <a:rPr lang="en-US" altLang="en-US" sz="2400" dirty="0">
                <a:solidFill>
                  <a:schemeClr val="tx1"/>
                </a:solidFill>
              </a:rPr>
              <a:t>It typically consists of multiple instances or data points, each representing a specific record or observation.</a:t>
            </a:r>
          </a:p>
          <a:p>
            <a:pPr algn="just"/>
            <a:r>
              <a:rPr lang="en-US" altLang="en-US" sz="2400" dirty="0">
                <a:solidFill>
                  <a:schemeClr val="tx1"/>
                </a:solidFill>
              </a:rPr>
              <a:t>In the context of data science, a single set of data can refer to a dataset that contains information related to a specific problem or domain. </a:t>
            </a:r>
          </a:p>
          <a:p>
            <a:pPr algn="just"/>
            <a:r>
              <a:rPr lang="en-US" altLang="en-US" sz="2400" dirty="0">
                <a:solidFill>
                  <a:schemeClr val="tx1"/>
                </a:solidFill>
              </a:rPr>
              <a:t>This dataset may include various variables or attributes, each representing different aspects or measurements of the data.</a:t>
            </a:r>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113356" y="457200"/>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Correlation</a:t>
            </a:r>
          </a:p>
        </p:txBody>
      </p:sp>
      <p:sp>
        <p:nvSpPr>
          <p:cNvPr id="1559555" name="Rectangle 3">
            <a:extLst>
              <a:ext uri="{FF2B5EF4-FFF2-40B4-BE49-F238E27FC236}">
                <a16:creationId xmlns="" xmlns:a16="http://schemas.microsoft.com/office/drawing/2014/main" id="{2E229F9F-96B1-3EE3-0D31-E42D98C4D889}"/>
              </a:ext>
            </a:extLst>
          </p:cNvPr>
          <p:cNvSpPr>
            <a:spLocks noGrp="1" noChangeArrowheads="1"/>
          </p:cNvSpPr>
          <p:nvPr>
            <p:ph type="body" idx="1"/>
          </p:nvPr>
        </p:nvSpPr>
        <p:spPr>
          <a:xfrm>
            <a:off x="839770" y="1440730"/>
            <a:ext cx="10934307" cy="4724400"/>
          </a:xfrm>
          <a:noFill/>
          <a:ln/>
        </p:spPr>
        <p:txBody>
          <a:bodyPr spcFirstLastPara="1" wrap="square" lIns="92075" tIns="46038" rIns="92075" bIns="46038" anchor="t" anchorCtr="0">
            <a:normAutofit/>
          </a:bodyPr>
          <a:lstStyle/>
          <a:p>
            <a:pPr algn="just"/>
            <a:r>
              <a:rPr lang="en-US" altLang="en-US" sz="2400" dirty="0">
                <a:solidFill>
                  <a:schemeClr val="tx1"/>
                </a:solidFill>
              </a:rPr>
              <a:t>When two sets of data are strongly linked together we say they have a High Correlation.</a:t>
            </a:r>
          </a:p>
          <a:p>
            <a:pPr algn="just"/>
            <a:r>
              <a:rPr lang="en-US" altLang="en-US" sz="2400" dirty="0">
                <a:solidFill>
                  <a:schemeClr val="tx1"/>
                </a:solidFill>
              </a:rPr>
              <a:t>The word Correlation is made of Co- (meaning "together"), and Relation</a:t>
            </a:r>
          </a:p>
          <a:p>
            <a:pPr algn="just"/>
            <a:r>
              <a:rPr lang="en-US" altLang="en-US" sz="2400" dirty="0">
                <a:solidFill>
                  <a:schemeClr val="tx1"/>
                </a:solidFill>
              </a:rPr>
              <a:t>Correlation is Positive when the values increase together, and</a:t>
            </a:r>
          </a:p>
          <a:p>
            <a:pPr algn="just"/>
            <a:r>
              <a:rPr lang="en-US" altLang="en-US" sz="2400" dirty="0">
                <a:solidFill>
                  <a:schemeClr val="tx1"/>
                </a:solidFill>
              </a:rPr>
              <a:t>Correlation is Negative when one value decreases as the other increases</a:t>
            </a:r>
          </a:p>
        </p:txBody>
      </p:sp>
    </p:spTree>
    <p:extLst>
      <p:ext uri="{BB962C8B-B14F-4D97-AF65-F5344CB8AC3E}">
        <p14:creationId xmlns:p14="http://schemas.microsoft.com/office/powerpoint/2010/main" val="1443814327"/>
      </p:ext>
    </p:extLst>
  </p:cSld>
  <p:clrMapOvr>
    <a:masterClrMapping/>
  </p:clrMapOvr>
  <p:transition>
    <p:check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DF524D53-6C6B-D469-B0E7-B8327778A94C}"/>
              </a:ext>
            </a:extLst>
          </p:cNvPr>
          <p:cNvPicPr>
            <a:picLocks noChangeAspect="1"/>
          </p:cNvPicPr>
          <p:nvPr/>
        </p:nvPicPr>
        <p:blipFill>
          <a:blip r:embed="rId2"/>
          <a:stretch>
            <a:fillRect/>
          </a:stretch>
        </p:blipFill>
        <p:spPr>
          <a:xfrm>
            <a:off x="376823" y="424206"/>
            <a:ext cx="9854321" cy="5476973"/>
          </a:xfrm>
          <a:prstGeom prst="rect">
            <a:avLst/>
          </a:prstGeom>
        </p:spPr>
      </p:pic>
    </p:spTree>
    <p:extLst>
      <p:ext uri="{BB962C8B-B14F-4D97-AF65-F5344CB8AC3E}">
        <p14:creationId xmlns:p14="http://schemas.microsoft.com/office/powerpoint/2010/main" val="979588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781950D-9B01-F9BD-28A7-8D76FDF883FE}"/>
              </a:ext>
            </a:extLst>
          </p:cNvPr>
          <p:cNvPicPr>
            <a:picLocks noChangeAspect="1"/>
          </p:cNvPicPr>
          <p:nvPr/>
        </p:nvPicPr>
        <p:blipFill>
          <a:blip r:embed="rId2"/>
          <a:stretch>
            <a:fillRect/>
          </a:stretch>
        </p:blipFill>
        <p:spPr>
          <a:xfrm>
            <a:off x="903810" y="641023"/>
            <a:ext cx="10593856" cy="5495825"/>
          </a:xfrm>
          <a:prstGeom prst="rect">
            <a:avLst/>
          </a:prstGeom>
        </p:spPr>
      </p:pic>
    </p:spTree>
    <p:extLst>
      <p:ext uri="{BB962C8B-B14F-4D97-AF65-F5344CB8AC3E}">
        <p14:creationId xmlns:p14="http://schemas.microsoft.com/office/powerpoint/2010/main" val="1958449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5C157A01-01E8-8961-42CC-8CCDF7663A44}"/>
              </a:ext>
            </a:extLst>
          </p:cNvPr>
          <p:cNvPicPr>
            <a:picLocks noChangeAspect="1"/>
          </p:cNvPicPr>
          <p:nvPr/>
        </p:nvPicPr>
        <p:blipFill>
          <a:blip r:embed="rId2"/>
          <a:stretch>
            <a:fillRect/>
          </a:stretch>
        </p:blipFill>
        <p:spPr>
          <a:xfrm>
            <a:off x="1498862" y="375835"/>
            <a:ext cx="8195103" cy="6106330"/>
          </a:xfrm>
          <a:prstGeom prst="rect">
            <a:avLst/>
          </a:prstGeom>
        </p:spPr>
      </p:pic>
    </p:spTree>
    <p:extLst>
      <p:ext uri="{BB962C8B-B14F-4D97-AF65-F5344CB8AC3E}">
        <p14:creationId xmlns:p14="http://schemas.microsoft.com/office/powerpoint/2010/main" val="583967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2857F9AB-A450-6E4D-ABE8-0C38154C2404}"/>
              </a:ext>
            </a:extLst>
          </p:cNvPr>
          <p:cNvPicPr>
            <a:picLocks noChangeAspect="1"/>
          </p:cNvPicPr>
          <p:nvPr/>
        </p:nvPicPr>
        <p:blipFill>
          <a:blip r:embed="rId2"/>
          <a:stretch>
            <a:fillRect/>
          </a:stretch>
        </p:blipFill>
        <p:spPr>
          <a:xfrm>
            <a:off x="1649889" y="933255"/>
            <a:ext cx="9545933" cy="4582048"/>
          </a:xfrm>
          <a:prstGeom prst="rect">
            <a:avLst/>
          </a:prstGeom>
        </p:spPr>
      </p:pic>
    </p:spTree>
    <p:extLst>
      <p:ext uri="{BB962C8B-B14F-4D97-AF65-F5344CB8AC3E}">
        <p14:creationId xmlns:p14="http://schemas.microsoft.com/office/powerpoint/2010/main" val="180202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113356" y="457200"/>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Simpson’s Paradox</a:t>
            </a:r>
          </a:p>
        </p:txBody>
      </p:sp>
      <p:sp>
        <p:nvSpPr>
          <p:cNvPr id="1559555" name="Rectangle 3">
            <a:extLst>
              <a:ext uri="{FF2B5EF4-FFF2-40B4-BE49-F238E27FC236}">
                <a16:creationId xmlns="" xmlns:a16="http://schemas.microsoft.com/office/drawing/2014/main" id="{2E229F9F-96B1-3EE3-0D31-E42D98C4D889}"/>
              </a:ext>
            </a:extLst>
          </p:cNvPr>
          <p:cNvSpPr>
            <a:spLocks noGrp="1" noChangeArrowheads="1"/>
          </p:cNvSpPr>
          <p:nvPr>
            <p:ph type="body" idx="1"/>
          </p:nvPr>
        </p:nvSpPr>
        <p:spPr>
          <a:xfrm>
            <a:off x="295070" y="1157924"/>
            <a:ext cx="11648691" cy="5242875"/>
          </a:xfrm>
          <a:noFill/>
          <a:ln/>
        </p:spPr>
        <p:txBody>
          <a:bodyPr spcFirstLastPara="1" wrap="square" lIns="92075" tIns="46038" rIns="92075" bIns="46038" anchor="t" anchorCtr="0">
            <a:normAutofit/>
          </a:bodyPr>
          <a:lstStyle/>
          <a:p>
            <a:pPr algn="just"/>
            <a:r>
              <a:rPr lang="en-US" altLang="en-US" sz="2400" dirty="0">
                <a:solidFill>
                  <a:schemeClr val="tx1"/>
                </a:solidFill>
              </a:rPr>
              <a:t>Simpson’s Paradox is a classic example of how statistics can be wrong. The paradox is that averages can be silly and misleading. Sometimes they can be just plain baffling.</a:t>
            </a:r>
          </a:p>
          <a:p>
            <a:pPr algn="just"/>
            <a:r>
              <a:rPr lang="en-US" altLang="en-US" sz="2400" dirty="0">
                <a:solidFill>
                  <a:schemeClr val="tx1"/>
                </a:solidFill>
              </a:rPr>
              <a:t>An example of Simpson’s Paradox:</a:t>
            </a:r>
          </a:p>
          <a:p>
            <a:pPr marL="114300" indent="0" algn="just">
              <a:buNone/>
            </a:pPr>
            <a:endParaRPr lang="en-US" altLang="en-US" sz="2400" dirty="0">
              <a:solidFill>
                <a:schemeClr val="tx1"/>
              </a:solidFill>
            </a:endParaRPr>
          </a:p>
          <a:p>
            <a:pPr algn="just"/>
            <a:r>
              <a:rPr lang="en-US" altLang="en-US" sz="2400" dirty="0">
                <a:solidFill>
                  <a:schemeClr val="tx1"/>
                </a:solidFill>
              </a:rPr>
              <a:t>Votes case in a recent election: 120,045.</a:t>
            </a:r>
          </a:p>
          <a:p>
            <a:pPr algn="just"/>
            <a:r>
              <a:rPr lang="en-US" altLang="en-US" sz="2400" dirty="0">
                <a:solidFill>
                  <a:schemeClr val="tx1"/>
                </a:solidFill>
              </a:rPr>
              <a:t>Number of voting precincts: 109.</a:t>
            </a:r>
          </a:p>
          <a:p>
            <a:pPr algn="just"/>
            <a:r>
              <a:rPr lang="en-US" altLang="en-US" sz="2400" dirty="0">
                <a:solidFill>
                  <a:schemeClr val="tx1"/>
                </a:solidFill>
              </a:rPr>
              <a:t>Number of voters who own dogs: 19,876.</a:t>
            </a:r>
          </a:p>
          <a:p>
            <a:pPr algn="just"/>
            <a:r>
              <a:rPr lang="en-US" altLang="en-US" sz="2400" dirty="0">
                <a:solidFill>
                  <a:schemeClr val="tx1"/>
                </a:solidFill>
              </a:rPr>
              <a:t>Average = (120,045 + 109 + 19,876) / 3 = 46,677.</a:t>
            </a:r>
          </a:p>
          <a:p>
            <a:pPr algn="just"/>
            <a:endParaRPr lang="en-US" altLang="en-US" sz="2400" dirty="0">
              <a:solidFill>
                <a:schemeClr val="tx1"/>
              </a:solidFill>
            </a:endParaRPr>
          </a:p>
          <a:p>
            <a:pPr algn="just"/>
            <a:r>
              <a:rPr lang="en-US" altLang="en-US" sz="2400" dirty="0">
                <a:solidFill>
                  <a:schemeClr val="tx1"/>
                </a:solidFill>
              </a:rPr>
              <a:t>The “average” above is correct math, but it makes no sense to take an average of voters, precincts, and the number of voters who own dogs. In real life, the paradox is usually more subtle.</a:t>
            </a:r>
          </a:p>
          <a:p>
            <a:pPr algn="just"/>
            <a:endParaRPr lang="en-US" altLang="en-US" sz="2400" dirty="0">
              <a:solidFill>
                <a:schemeClr val="tx1"/>
              </a:solidFill>
            </a:endParaRPr>
          </a:p>
        </p:txBody>
      </p:sp>
    </p:spTree>
    <p:extLst>
      <p:ext uri="{BB962C8B-B14F-4D97-AF65-F5344CB8AC3E}">
        <p14:creationId xmlns:p14="http://schemas.microsoft.com/office/powerpoint/2010/main" val="14836731"/>
      </p:ext>
    </p:extLst>
  </p:cSld>
  <p:clrMapOvr>
    <a:masterClrMapping/>
  </p:clrMapOvr>
  <p:transition>
    <p:check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113356" y="457200"/>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What is Causal Relation?</a:t>
            </a:r>
          </a:p>
        </p:txBody>
      </p:sp>
      <p:sp>
        <p:nvSpPr>
          <p:cNvPr id="1559555" name="Rectangle 3">
            <a:extLst>
              <a:ext uri="{FF2B5EF4-FFF2-40B4-BE49-F238E27FC236}">
                <a16:creationId xmlns="" xmlns:a16="http://schemas.microsoft.com/office/drawing/2014/main" id="{2E229F9F-96B1-3EE3-0D31-E42D98C4D889}"/>
              </a:ext>
            </a:extLst>
          </p:cNvPr>
          <p:cNvSpPr>
            <a:spLocks noGrp="1" noChangeArrowheads="1"/>
          </p:cNvSpPr>
          <p:nvPr>
            <p:ph type="body" idx="1"/>
          </p:nvPr>
        </p:nvSpPr>
        <p:spPr>
          <a:xfrm>
            <a:off x="295070" y="1157924"/>
            <a:ext cx="11648691" cy="5242875"/>
          </a:xfrm>
          <a:noFill/>
          <a:ln/>
        </p:spPr>
        <p:txBody>
          <a:bodyPr spcFirstLastPara="1" wrap="square" lIns="92075" tIns="46038" rIns="92075" bIns="46038" anchor="t" anchorCtr="0">
            <a:normAutofit/>
          </a:bodyPr>
          <a:lstStyle/>
          <a:p>
            <a:pPr algn="just"/>
            <a:r>
              <a:rPr lang="en-US" altLang="en-US" sz="2400" dirty="0">
                <a:solidFill>
                  <a:schemeClr val="tx1"/>
                </a:solidFill>
              </a:rPr>
              <a:t>A causal relationship refers to a cause-and-effect connection between two variables, where changes in one variable directly lead to changes in another variable. </a:t>
            </a:r>
          </a:p>
          <a:p>
            <a:pPr algn="just"/>
            <a:r>
              <a:rPr lang="en-US" altLang="en-US" sz="2400" dirty="0">
                <a:solidFill>
                  <a:schemeClr val="tx1"/>
                </a:solidFill>
              </a:rPr>
              <a:t>In the context of correlation, it is important to note that correlation does not imply causation. </a:t>
            </a:r>
          </a:p>
          <a:p>
            <a:pPr algn="just"/>
            <a:r>
              <a:rPr lang="en-US" altLang="en-US" sz="2400" dirty="0">
                <a:solidFill>
                  <a:schemeClr val="tx1"/>
                </a:solidFill>
              </a:rPr>
              <a:t>While a correlation indicates that two variables are related or move together in some way, it does not establish a cause-and-effect relationship between them.</a:t>
            </a:r>
          </a:p>
          <a:p>
            <a:pPr algn="just"/>
            <a:r>
              <a:rPr lang="en-US" altLang="en-US" sz="2400" dirty="0">
                <a:solidFill>
                  <a:schemeClr val="tx1"/>
                </a:solidFill>
              </a:rPr>
              <a:t>Correlation measures the statistical association or relationship between variables, quantifying the degree to which they vary together. </a:t>
            </a:r>
          </a:p>
          <a:p>
            <a:pPr algn="just"/>
            <a:r>
              <a:rPr lang="en-US" altLang="en-US" sz="2400" dirty="0">
                <a:solidFill>
                  <a:schemeClr val="tx1"/>
                </a:solidFill>
              </a:rPr>
              <a:t>It indicates the strength and direction of the linear relationship between variables but does not provide information about the underlying mechanism or whether one variable directly influences the other.</a:t>
            </a:r>
          </a:p>
        </p:txBody>
      </p:sp>
    </p:spTree>
    <p:extLst>
      <p:ext uri="{BB962C8B-B14F-4D97-AF65-F5344CB8AC3E}">
        <p14:creationId xmlns:p14="http://schemas.microsoft.com/office/powerpoint/2010/main" val="552697176"/>
      </p:ext>
    </p:extLst>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113356" y="457200"/>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Key Caveats with Correlations</a:t>
            </a:r>
          </a:p>
        </p:txBody>
      </p:sp>
      <p:sp>
        <p:nvSpPr>
          <p:cNvPr id="1559555" name="Rectangle 3">
            <a:extLst>
              <a:ext uri="{FF2B5EF4-FFF2-40B4-BE49-F238E27FC236}">
                <a16:creationId xmlns="" xmlns:a16="http://schemas.microsoft.com/office/drawing/2014/main" id="{2E229F9F-96B1-3EE3-0D31-E42D98C4D889}"/>
              </a:ext>
            </a:extLst>
          </p:cNvPr>
          <p:cNvSpPr>
            <a:spLocks noGrp="1" noChangeArrowheads="1"/>
          </p:cNvSpPr>
          <p:nvPr>
            <p:ph type="body" idx="1"/>
          </p:nvPr>
        </p:nvSpPr>
        <p:spPr>
          <a:xfrm>
            <a:off x="295070" y="1157924"/>
            <a:ext cx="11648691" cy="5242875"/>
          </a:xfrm>
          <a:noFill/>
          <a:ln/>
        </p:spPr>
        <p:txBody>
          <a:bodyPr spcFirstLastPara="1" wrap="square" lIns="92075" tIns="46038" rIns="92075" bIns="46038" anchor="t" anchorCtr="0">
            <a:normAutofit/>
          </a:bodyPr>
          <a:lstStyle/>
          <a:p>
            <a:pPr algn="just"/>
            <a:r>
              <a:rPr lang="en-US" altLang="en-US" sz="2400" dirty="0">
                <a:solidFill>
                  <a:schemeClr val="tx1"/>
                </a:solidFill>
              </a:rPr>
              <a:t>There are three key caveats that must be recognized with regard to correlation.</a:t>
            </a:r>
          </a:p>
          <a:p>
            <a:pPr algn="just"/>
            <a:r>
              <a:rPr lang="en-US" altLang="en-US" sz="2400" dirty="0">
                <a:solidFill>
                  <a:schemeClr val="tx1"/>
                </a:solidFill>
              </a:rPr>
              <a:t>It is impossible to prove causal relationships with correlation. However, the strength of the evidence for such a relationship can be evaluated by examining and eliminating important alternate explanations for the correlation seen.</a:t>
            </a:r>
          </a:p>
          <a:p>
            <a:pPr algn="just"/>
            <a:r>
              <a:rPr lang="en-US" altLang="en-US" sz="2400" dirty="0">
                <a:solidFill>
                  <a:schemeClr val="tx1"/>
                </a:solidFill>
              </a:rPr>
              <a:t>Outliers can substantially inflate or deflate the correlation.</a:t>
            </a:r>
          </a:p>
          <a:p>
            <a:pPr algn="just"/>
            <a:r>
              <a:rPr lang="en-US" altLang="en-US" sz="2400" dirty="0">
                <a:solidFill>
                  <a:schemeClr val="tx1"/>
                </a:solidFill>
              </a:rPr>
              <a:t>Correlation describes the strength and direction of the linear association between variables. It does not describe non-linear relationships</a:t>
            </a:r>
          </a:p>
          <a:p>
            <a:pPr algn="just"/>
            <a:endParaRPr lang="en-US" altLang="en-US" sz="2400" dirty="0">
              <a:solidFill>
                <a:schemeClr val="tx1"/>
              </a:solidFill>
            </a:endParaRPr>
          </a:p>
        </p:txBody>
      </p:sp>
    </p:spTree>
    <p:extLst>
      <p:ext uri="{BB962C8B-B14F-4D97-AF65-F5344CB8AC3E}">
        <p14:creationId xmlns:p14="http://schemas.microsoft.com/office/powerpoint/2010/main" val="2848684367"/>
      </p:ext>
    </p:extLst>
  </p:cSld>
  <p:clrMapOvr>
    <a:masterClrMapping/>
  </p:clrMapOvr>
  <p:transition>
    <p:check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4968" y="722670"/>
            <a:ext cx="11651226" cy="5678129"/>
          </a:xfrm>
        </p:spPr>
        <p:txBody>
          <a:bodyPr/>
          <a:lstStyle/>
          <a:p>
            <a:pPr algn="just"/>
            <a:endParaRPr lang="en-US" b="1" dirty="0" smtClean="0"/>
          </a:p>
          <a:p>
            <a:pPr algn="just"/>
            <a:endParaRPr lang="en-US" b="1" dirty="0"/>
          </a:p>
          <a:p>
            <a:pPr algn="just"/>
            <a:r>
              <a:rPr lang="en-US" b="1" dirty="0" smtClean="0"/>
              <a:t>Covariance</a:t>
            </a:r>
            <a:r>
              <a:rPr lang="en-US" dirty="0" smtClean="0"/>
              <a:t> </a:t>
            </a:r>
            <a:r>
              <a:rPr lang="en-US" dirty="0"/>
              <a:t>is a statistical measure that indicates the extent to which two random variables change together. It provides insight into the direction of the linear relationship between the variables. If the variables tend to increase or decrease together, the covariance is positive; if one tends to increase when the other decreases, the covariance is </a:t>
            </a:r>
            <a:r>
              <a:rPr lang="en-US" dirty="0" smtClean="0"/>
              <a:t>negative.</a:t>
            </a:r>
          </a:p>
          <a:p>
            <a:pPr algn="just"/>
            <a:endParaRPr lang="en-US" dirty="0"/>
          </a:p>
          <a:p>
            <a:pPr algn="just"/>
            <a:endParaRPr lang="en-US" dirty="0" smtClean="0"/>
          </a:p>
          <a:p>
            <a:pPr algn="just"/>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4451" y="4446793"/>
            <a:ext cx="4216920" cy="83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72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113356" y="457200"/>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Probability- Events</a:t>
            </a:r>
          </a:p>
        </p:txBody>
      </p:sp>
      <p:pic>
        <p:nvPicPr>
          <p:cNvPr id="3" name="Picture 2">
            <a:extLst>
              <a:ext uri="{FF2B5EF4-FFF2-40B4-BE49-F238E27FC236}">
                <a16:creationId xmlns="" xmlns:a16="http://schemas.microsoft.com/office/drawing/2014/main" id="{8DA9C864-5CAD-045F-1E72-96F8EBD7DDC3}"/>
              </a:ext>
            </a:extLst>
          </p:cNvPr>
          <p:cNvPicPr>
            <a:picLocks noChangeAspect="1"/>
          </p:cNvPicPr>
          <p:nvPr/>
        </p:nvPicPr>
        <p:blipFill>
          <a:blip r:embed="rId3"/>
          <a:stretch>
            <a:fillRect/>
          </a:stretch>
        </p:blipFill>
        <p:spPr>
          <a:xfrm>
            <a:off x="1332818" y="1239838"/>
            <a:ext cx="9526363" cy="4976034"/>
          </a:xfrm>
          <a:prstGeom prst="rect">
            <a:avLst/>
          </a:prstGeom>
        </p:spPr>
      </p:pic>
    </p:spTree>
    <p:extLst>
      <p:ext uri="{BB962C8B-B14F-4D97-AF65-F5344CB8AC3E}">
        <p14:creationId xmlns:p14="http://schemas.microsoft.com/office/powerpoint/2010/main" val="955514632"/>
      </p:ext>
    </p:extLst>
  </p:cSld>
  <p:clrMapOvr>
    <a:masterClrMapping/>
  </p:clrMapOvr>
  <p:transition>
    <p:check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90495539-0352-8712-9AF1-E762F31D0AAD}"/>
              </a:ext>
            </a:extLst>
          </p:cNvPr>
          <p:cNvPicPr>
            <a:picLocks noChangeAspect="1"/>
          </p:cNvPicPr>
          <p:nvPr/>
        </p:nvPicPr>
        <p:blipFill>
          <a:blip r:embed="rId3"/>
          <a:stretch>
            <a:fillRect/>
          </a:stretch>
        </p:blipFill>
        <p:spPr>
          <a:xfrm>
            <a:off x="754144" y="282065"/>
            <a:ext cx="9268774" cy="5845357"/>
          </a:xfrm>
          <a:prstGeom prst="rect">
            <a:avLst/>
          </a:prstGeom>
        </p:spPr>
      </p:pic>
    </p:spTree>
    <p:extLst>
      <p:ext uri="{BB962C8B-B14F-4D97-AF65-F5344CB8AC3E}">
        <p14:creationId xmlns:p14="http://schemas.microsoft.com/office/powerpoint/2010/main" val="2121170641"/>
      </p:ext>
    </p:extLst>
  </p:cSld>
  <p:clrMapOvr>
    <a:masterClrMapping/>
  </p:clrMapOvr>
  <p:transition>
    <p:check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90495539-0352-8712-9AF1-E762F31D0AAD}"/>
              </a:ext>
            </a:extLst>
          </p:cNvPr>
          <p:cNvPicPr>
            <a:picLocks noChangeAspect="1"/>
          </p:cNvPicPr>
          <p:nvPr/>
        </p:nvPicPr>
        <p:blipFill>
          <a:blip r:embed="rId3"/>
          <a:stretch>
            <a:fillRect/>
          </a:stretch>
        </p:blipFill>
        <p:spPr>
          <a:xfrm>
            <a:off x="754144" y="282065"/>
            <a:ext cx="9268774" cy="5845357"/>
          </a:xfrm>
          <a:prstGeom prst="rect">
            <a:avLst/>
          </a:prstGeom>
        </p:spPr>
      </p:pic>
    </p:spTree>
    <p:extLst>
      <p:ext uri="{BB962C8B-B14F-4D97-AF65-F5344CB8AC3E}">
        <p14:creationId xmlns:p14="http://schemas.microsoft.com/office/powerpoint/2010/main" val="1746602981"/>
      </p:ext>
    </p:extLst>
  </p:cSld>
  <p:clrMapOvr>
    <a:masterClrMapping/>
  </p:clrMapOvr>
  <p:transition>
    <p:check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FAD08238-92B9-FD31-41C0-4B05825210D7}"/>
              </a:ext>
            </a:extLst>
          </p:cNvPr>
          <p:cNvPicPr>
            <a:picLocks noChangeAspect="1"/>
          </p:cNvPicPr>
          <p:nvPr/>
        </p:nvPicPr>
        <p:blipFill>
          <a:blip r:embed="rId3"/>
          <a:stretch>
            <a:fillRect/>
          </a:stretch>
        </p:blipFill>
        <p:spPr>
          <a:xfrm>
            <a:off x="733387" y="782425"/>
            <a:ext cx="8304188" cy="4098311"/>
          </a:xfrm>
          <a:prstGeom prst="rect">
            <a:avLst/>
          </a:prstGeom>
        </p:spPr>
      </p:pic>
    </p:spTree>
    <p:extLst>
      <p:ext uri="{BB962C8B-B14F-4D97-AF65-F5344CB8AC3E}">
        <p14:creationId xmlns:p14="http://schemas.microsoft.com/office/powerpoint/2010/main" val="625767212"/>
      </p:ext>
    </p:extLst>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267001" y="594929"/>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Probability- Random Variables</a:t>
            </a:r>
          </a:p>
        </p:txBody>
      </p:sp>
      <p:pic>
        <p:nvPicPr>
          <p:cNvPr id="4" name="Picture 3">
            <a:extLst>
              <a:ext uri="{FF2B5EF4-FFF2-40B4-BE49-F238E27FC236}">
                <a16:creationId xmlns="" xmlns:a16="http://schemas.microsoft.com/office/drawing/2014/main" id="{4AB4E74C-6EDC-C988-9598-FE997E22D3E0}"/>
              </a:ext>
            </a:extLst>
          </p:cNvPr>
          <p:cNvPicPr>
            <a:picLocks noChangeAspect="1"/>
          </p:cNvPicPr>
          <p:nvPr/>
        </p:nvPicPr>
        <p:blipFill>
          <a:blip r:embed="rId3"/>
          <a:stretch>
            <a:fillRect/>
          </a:stretch>
        </p:blipFill>
        <p:spPr>
          <a:xfrm>
            <a:off x="1811903" y="1615044"/>
            <a:ext cx="8568194" cy="4785756"/>
          </a:xfrm>
          <a:prstGeom prst="rect">
            <a:avLst/>
          </a:prstGeom>
        </p:spPr>
      </p:pic>
    </p:spTree>
    <p:extLst>
      <p:ext uri="{BB962C8B-B14F-4D97-AF65-F5344CB8AC3E}">
        <p14:creationId xmlns:p14="http://schemas.microsoft.com/office/powerpoint/2010/main" val="1172850485"/>
      </p:ext>
    </p:extLst>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FC68090B-1663-C667-1156-D13829DFE42E}"/>
              </a:ext>
            </a:extLst>
          </p:cNvPr>
          <p:cNvPicPr>
            <a:picLocks noChangeAspect="1"/>
          </p:cNvPicPr>
          <p:nvPr/>
        </p:nvPicPr>
        <p:blipFill>
          <a:blip r:embed="rId3"/>
          <a:stretch>
            <a:fillRect/>
          </a:stretch>
        </p:blipFill>
        <p:spPr>
          <a:xfrm>
            <a:off x="401520" y="285334"/>
            <a:ext cx="9986817" cy="5332195"/>
          </a:xfrm>
          <a:prstGeom prst="rect">
            <a:avLst/>
          </a:prstGeom>
        </p:spPr>
      </p:pic>
    </p:spTree>
    <p:extLst>
      <p:ext uri="{BB962C8B-B14F-4D97-AF65-F5344CB8AC3E}">
        <p14:creationId xmlns:p14="http://schemas.microsoft.com/office/powerpoint/2010/main" val="1853806666"/>
      </p:ext>
    </p:extLst>
  </p:cSld>
  <p:clrMapOvr>
    <a:masterClrMapping/>
  </p:clrMapOvr>
  <p:transition>
    <p:check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2DFC148-3360-F3E4-B2ED-36E47950F652}"/>
              </a:ext>
            </a:extLst>
          </p:cNvPr>
          <p:cNvPicPr>
            <a:picLocks noChangeAspect="1"/>
          </p:cNvPicPr>
          <p:nvPr/>
        </p:nvPicPr>
        <p:blipFill>
          <a:blip r:embed="rId3"/>
          <a:stretch>
            <a:fillRect/>
          </a:stretch>
        </p:blipFill>
        <p:spPr>
          <a:xfrm>
            <a:off x="722428" y="-1078"/>
            <a:ext cx="8374437" cy="6295382"/>
          </a:xfrm>
          <a:prstGeom prst="rect">
            <a:avLst/>
          </a:prstGeom>
        </p:spPr>
      </p:pic>
    </p:spTree>
    <p:extLst>
      <p:ext uri="{BB962C8B-B14F-4D97-AF65-F5344CB8AC3E}">
        <p14:creationId xmlns:p14="http://schemas.microsoft.com/office/powerpoint/2010/main" val="3236841896"/>
      </p:ext>
    </p:extLst>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B9C2B328-474D-B5CF-143C-88D9611A36C6}"/>
              </a:ext>
            </a:extLst>
          </p:cNvPr>
          <p:cNvPicPr>
            <a:picLocks noChangeAspect="1"/>
          </p:cNvPicPr>
          <p:nvPr/>
        </p:nvPicPr>
        <p:blipFill>
          <a:blip r:embed="rId3"/>
          <a:stretch>
            <a:fillRect/>
          </a:stretch>
        </p:blipFill>
        <p:spPr>
          <a:xfrm>
            <a:off x="645662" y="1170346"/>
            <a:ext cx="10900675" cy="4033250"/>
          </a:xfrm>
          <a:prstGeom prst="rect">
            <a:avLst/>
          </a:prstGeom>
        </p:spPr>
      </p:pic>
    </p:spTree>
    <p:extLst>
      <p:ext uri="{BB962C8B-B14F-4D97-AF65-F5344CB8AC3E}">
        <p14:creationId xmlns:p14="http://schemas.microsoft.com/office/powerpoint/2010/main" val="477113255"/>
      </p:ext>
    </p:extLst>
  </p:cSld>
  <p:clrMapOvr>
    <a:masterClrMapping/>
  </p:clrMapOvr>
  <p:transition>
    <p:check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AA2D801E-8CDA-ED08-2648-41489E1B820C}"/>
              </a:ext>
            </a:extLst>
          </p:cNvPr>
          <p:cNvPicPr>
            <a:picLocks noChangeAspect="1"/>
          </p:cNvPicPr>
          <p:nvPr/>
        </p:nvPicPr>
        <p:blipFill>
          <a:blip r:embed="rId3"/>
          <a:stretch>
            <a:fillRect/>
          </a:stretch>
        </p:blipFill>
        <p:spPr>
          <a:xfrm>
            <a:off x="489294" y="122548"/>
            <a:ext cx="3573658" cy="6175466"/>
          </a:xfrm>
          <a:prstGeom prst="rect">
            <a:avLst/>
          </a:prstGeom>
        </p:spPr>
      </p:pic>
      <p:pic>
        <p:nvPicPr>
          <p:cNvPr id="7" name="Picture 6">
            <a:extLst>
              <a:ext uri="{FF2B5EF4-FFF2-40B4-BE49-F238E27FC236}">
                <a16:creationId xmlns="" xmlns:a16="http://schemas.microsoft.com/office/drawing/2014/main" id="{0414AF55-CDCE-5650-DB80-7317C38BF7FB}"/>
              </a:ext>
            </a:extLst>
          </p:cNvPr>
          <p:cNvPicPr>
            <a:picLocks noChangeAspect="1"/>
          </p:cNvPicPr>
          <p:nvPr/>
        </p:nvPicPr>
        <p:blipFill>
          <a:blip r:embed="rId4"/>
          <a:stretch>
            <a:fillRect/>
          </a:stretch>
        </p:blipFill>
        <p:spPr>
          <a:xfrm>
            <a:off x="4062952" y="1833984"/>
            <a:ext cx="7950283" cy="2172408"/>
          </a:xfrm>
          <a:prstGeom prst="rect">
            <a:avLst/>
          </a:prstGeom>
        </p:spPr>
      </p:pic>
    </p:spTree>
    <p:extLst>
      <p:ext uri="{BB962C8B-B14F-4D97-AF65-F5344CB8AC3E}">
        <p14:creationId xmlns:p14="http://schemas.microsoft.com/office/powerpoint/2010/main" val="943402280"/>
      </p:ext>
    </p:extLst>
  </p:cSld>
  <p:clrMapOvr>
    <a:masterClrMapping/>
  </p:clrMapOvr>
  <p:transition>
    <p:check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207624" y="155542"/>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Dependence and Independence</a:t>
            </a:r>
          </a:p>
        </p:txBody>
      </p:sp>
      <p:sp>
        <p:nvSpPr>
          <p:cNvPr id="2" name="Rectangle 3">
            <a:extLst>
              <a:ext uri="{FF2B5EF4-FFF2-40B4-BE49-F238E27FC236}">
                <a16:creationId xmlns="" xmlns:a16="http://schemas.microsoft.com/office/drawing/2014/main" id="{08F4D4A3-3557-2344-61CE-3BF530C66F14}"/>
              </a:ext>
            </a:extLst>
          </p:cNvPr>
          <p:cNvSpPr>
            <a:spLocks noGrp="1" noChangeArrowheads="1"/>
          </p:cNvSpPr>
          <p:nvPr>
            <p:ph type="body" idx="1"/>
          </p:nvPr>
        </p:nvSpPr>
        <p:spPr>
          <a:xfrm>
            <a:off x="271654" y="938180"/>
            <a:ext cx="11648691" cy="5242875"/>
          </a:xfrm>
          <a:noFill/>
          <a:ln/>
        </p:spPr>
        <p:txBody>
          <a:bodyPr spcFirstLastPara="1" wrap="square" lIns="92075" tIns="46038" rIns="92075" bIns="46038" anchor="t" anchorCtr="0">
            <a:normAutofit/>
          </a:bodyPr>
          <a:lstStyle/>
          <a:p>
            <a:pPr algn="just"/>
            <a:r>
              <a:rPr lang="en-US" altLang="en-US" sz="2400" dirty="0">
                <a:solidFill>
                  <a:schemeClr val="tx1"/>
                </a:solidFill>
              </a:rPr>
              <a:t>In probability theory, dependence and independence refer to the relationship between events or random variables.</a:t>
            </a:r>
          </a:p>
          <a:p>
            <a:pPr algn="just"/>
            <a:r>
              <a:rPr lang="en-US" altLang="en-US" sz="2400" dirty="0">
                <a:solidFill>
                  <a:srgbClr val="FF0000"/>
                </a:solidFill>
              </a:rPr>
              <a:t>Dependence</a:t>
            </a:r>
            <a:r>
              <a:rPr lang="en-US" altLang="en-US" sz="2400" dirty="0">
                <a:solidFill>
                  <a:schemeClr val="tx1"/>
                </a:solidFill>
              </a:rPr>
              <a:t>: The outcome of one event or variable affects the probability distribution or behavior of the other.</a:t>
            </a:r>
          </a:p>
          <a:p>
            <a:pPr algn="just"/>
            <a:r>
              <a:rPr lang="en-US" altLang="en-US" sz="2400" dirty="0">
                <a:solidFill>
                  <a:schemeClr val="tx1"/>
                </a:solidFill>
              </a:rPr>
              <a:t>There are different types and degrees of dependence, such as </a:t>
            </a:r>
          </a:p>
          <a:p>
            <a:pPr lvl="1" algn="just"/>
            <a:r>
              <a:rPr lang="en-US" altLang="en-US" sz="2000" dirty="0">
                <a:solidFill>
                  <a:schemeClr val="tx1"/>
                </a:solidFill>
              </a:rPr>
              <a:t>positive dependence (when one event increases the likelihood of the other) or </a:t>
            </a:r>
          </a:p>
          <a:p>
            <a:pPr lvl="1" algn="just"/>
            <a:r>
              <a:rPr lang="en-US" altLang="en-US" sz="2000" dirty="0">
                <a:solidFill>
                  <a:schemeClr val="tx1"/>
                </a:solidFill>
              </a:rPr>
              <a:t>negative dependence (when one event decreases the likelihood of the other).</a:t>
            </a:r>
          </a:p>
          <a:p>
            <a:pPr algn="just"/>
            <a:r>
              <a:rPr lang="en-US" altLang="en-US" sz="2400" dirty="0">
                <a:solidFill>
                  <a:srgbClr val="FF0000"/>
                </a:solidFill>
              </a:rPr>
              <a:t>Independence</a:t>
            </a:r>
            <a:r>
              <a:rPr lang="en-US" altLang="en-US" sz="2400" dirty="0">
                <a:solidFill>
                  <a:schemeClr val="tx1"/>
                </a:solidFill>
              </a:rPr>
              <a:t>: In this case, the outcomes of the events or variables are not related, and knowledge of one event or variable does not affect the probability distribution or behavior of the other.</a:t>
            </a:r>
          </a:p>
        </p:txBody>
      </p:sp>
    </p:spTree>
    <p:extLst>
      <p:ext uri="{BB962C8B-B14F-4D97-AF65-F5344CB8AC3E}">
        <p14:creationId xmlns:p14="http://schemas.microsoft.com/office/powerpoint/2010/main" val="2096661786"/>
      </p:ext>
    </p:extLst>
  </p:cSld>
  <p:clrMapOvr>
    <a:masterClrMapping/>
  </p:clrMapOvr>
  <p:transition>
    <p:check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 xmlns:a16="http://schemas.microsoft.com/office/drawing/2014/main" id="{C9C4C27B-BC63-E475-629A-F96FF3A51ADE}"/>
              </a:ext>
            </a:extLst>
          </p:cNvPr>
          <p:cNvSpPr>
            <a:spLocks noGrp="1" noChangeArrowheads="1"/>
          </p:cNvSpPr>
          <p:nvPr>
            <p:ph type="title"/>
          </p:nvPr>
        </p:nvSpPr>
        <p:spPr>
          <a:xfrm>
            <a:off x="2207624" y="155542"/>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Conditional Probability</a:t>
            </a:r>
          </a:p>
        </p:txBody>
      </p:sp>
      <p:pic>
        <p:nvPicPr>
          <p:cNvPr id="7" name="Picture 6">
            <a:extLst>
              <a:ext uri="{FF2B5EF4-FFF2-40B4-BE49-F238E27FC236}">
                <a16:creationId xmlns="" xmlns:a16="http://schemas.microsoft.com/office/drawing/2014/main" id="{95BB7AD1-0FD9-101B-F2F6-B7AA3F8F5A9D}"/>
              </a:ext>
            </a:extLst>
          </p:cNvPr>
          <p:cNvPicPr>
            <a:picLocks noChangeAspect="1"/>
          </p:cNvPicPr>
          <p:nvPr/>
        </p:nvPicPr>
        <p:blipFill>
          <a:blip r:embed="rId3"/>
          <a:stretch>
            <a:fillRect/>
          </a:stretch>
        </p:blipFill>
        <p:spPr>
          <a:xfrm>
            <a:off x="1182981" y="938180"/>
            <a:ext cx="9497589" cy="5261730"/>
          </a:xfrm>
          <a:prstGeom prst="rect">
            <a:avLst/>
          </a:prstGeom>
        </p:spPr>
      </p:pic>
    </p:spTree>
    <p:extLst>
      <p:ext uri="{BB962C8B-B14F-4D97-AF65-F5344CB8AC3E}">
        <p14:creationId xmlns:p14="http://schemas.microsoft.com/office/powerpoint/2010/main" val="2563357100"/>
      </p:ext>
    </p:extLst>
  </p:cSld>
  <p:clrMapOvr>
    <a:masterClrMapping/>
  </p:clrMapOvr>
  <p:transition>
    <p:check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AF7B4404-A77B-C550-23D9-35A5722CCBA9}"/>
              </a:ext>
            </a:extLst>
          </p:cNvPr>
          <p:cNvPicPr>
            <a:picLocks noChangeAspect="1"/>
          </p:cNvPicPr>
          <p:nvPr/>
        </p:nvPicPr>
        <p:blipFill>
          <a:blip r:embed="rId3"/>
          <a:stretch>
            <a:fillRect/>
          </a:stretch>
        </p:blipFill>
        <p:spPr>
          <a:xfrm>
            <a:off x="499621" y="350854"/>
            <a:ext cx="9237472" cy="5880264"/>
          </a:xfrm>
          <a:prstGeom prst="rect">
            <a:avLst/>
          </a:prstGeom>
        </p:spPr>
      </p:pic>
    </p:spTree>
    <p:extLst>
      <p:ext uri="{BB962C8B-B14F-4D97-AF65-F5344CB8AC3E}">
        <p14:creationId xmlns:p14="http://schemas.microsoft.com/office/powerpoint/2010/main" val="821457200"/>
      </p:ext>
    </p:extLst>
  </p:cSld>
  <p:clrMapOvr>
    <a:masterClrMapping/>
  </p:clrMapOvr>
  <p:transition>
    <p:check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BEF344F-7CD3-28E7-EBA3-D96842B07CCD}"/>
              </a:ext>
            </a:extLst>
          </p:cNvPr>
          <p:cNvPicPr>
            <a:picLocks noChangeAspect="1"/>
          </p:cNvPicPr>
          <p:nvPr/>
        </p:nvPicPr>
        <p:blipFill>
          <a:blip r:embed="rId3"/>
          <a:stretch>
            <a:fillRect/>
          </a:stretch>
        </p:blipFill>
        <p:spPr>
          <a:xfrm>
            <a:off x="1272620" y="450910"/>
            <a:ext cx="8266614" cy="5956179"/>
          </a:xfrm>
          <a:prstGeom prst="rect">
            <a:avLst/>
          </a:prstGeom>
        </p:spPr>
      </p:pic>
    </p:spTree>
    <p:extLst>
      <p:ext uri="{BB962C8B-B14F-4D97-AF65-F5344CB8AC3E}">
        <p14:creationId xmlns:p14="http://schemas.microsoft.com/office/powerpoint/2010/main" val="713616707"/>
      </p:ext>
    </p:extLst>
  </p:cSld>
  <p:clrMapOvr>
    <a:masterClrMapping/>
  </p:clrMapOvr>
  <p:transition>
    <p:check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83C225A8-8C49-6591-0F3A-06253745055C}"/>
              </a:ext>
            </a:extLst>
          </p:cNvPr>
          <p:cNvPicPr>
            <a:picLocks noChangeAspect="1"/>
          </p:cNvPicPr>
          <p:nvPr/>
        </p:nvPicPr>
        <p:blipFill>
          <a:blip r:embed="rId3"/>
          <a:stretch>
            <a:fillRect/>
          </a:stretch>
        </p:blipFill>
        <p:spPr>
          <a:xfrm>
            <a:off x="621809" y="414780"/>
            <a:ext cx="6751697" cy="2431446"/>
          </a:xfrm>
          <a:prstGeom prst="rect">
            <a:avLst/>
          </a:prstGeom>
        </p:spPr>
      </p:pic>
      <p:pic>
        <p:nvPicPr>
          <p:cNvPr id="6" name="Picture 5">
            <a:extLst>
              <a:ext uri="{FF2B5EF4-FFF2-40B4-BE49-F238E27FC236}">
                <a16:creationId xmlns="" xmlns:a16="http://schemas.microsoft.com/office/drawing/2014/main" id="{58594CE9-C514-56CA-62B4-21B93171DE19}"/>
              </a:ext>
            </a:extLst>
          </p:cNvPr>
          <p:cNvPicPr>
            <a:picLocks noChangeAspect="1"/>
          </p:cNvPicPr>
          <p:nvPr/>
        </p:nvPicPr>
        <p:blipFill>
          <a:blip r:embed="rId4"/>
          <a:stretch>
            <a:fillRect/>
          </a:stretch>
        </p:blipFill>
        <p:spPr>
          <a:xfrm>
            <a:off x="621809" y="2846225"/>
            <a:ext cx="8568191" cy="3356611"/>
          </a:xfrm>
          <a:prstGeom prst="rect">
            <a:avLst/>
          </a:prstGeom>
        </p:spPr>
      </p:pic>
    </p:spTree>
    <p:extLst>
      <p:ext uri="{BB962C8B-B14F-4D97-AF65-F5344CB8AC3E}">
        <p14:creationId xmlns:p14="http://schemas.microsoft.com/office/powerpoint/2010/main" val="3131888414"/>
      </p:ext>
    </p:extLst>
  </p:cSld>
  <p:clrMapOvr>
    <a:masterClrMapping/>
  </p:clrMapOvr>
  <p:transition>
    <p:check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EBFADCC-6450-6657-2027-689B3E644475}"/>
              </a:ext>
            </a:extLst>
          </p:cNvPr>
          <p:cNvPicPr>
            <a:picLocks noChangeAspect="1"/>
          </p:cNvPicPr>
          <p:nvPr/>
        </p:nvPicPr>
        <p:blipFill>
          <a:blip r:embed="rId3"/>
          <a:stretch>
            <a:fillRect/>
          </a:stretch>
        </p:blipFill>
        <p:spPr>
          <a:xfrm>
            <a:off x="611382" y="509047"/>
            <a:ext cx="9193332" cy="5637229"/>
          </a:xfrm>
          <a:prstGeom prst="rect">
            <a:avLst/>
          </a:prstGeom>
        </p:spPr>
      </p:pic>
    </p:spTree>
    <p:extLst>
      <p:ext uri="{BB962C8B-B14F-4D97-AF65-F5344CB8AC3E}">
        <p14:creationId xmlns:p14="http://schemas.microsoft.com/office/powerpoint/2010/main" val="95988619"/>
      </p:ext>
    </p:extLst>
  </p:cSld>
  <p:clrMapOvr>
    <a:masterClrMapping/>
  </p:clrMapOvr>
  <p:transition>
    <p:check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49177D9D-6147-5BB3-20F1-8EC03332067F}"/>
              </a:ext>
            </a:extLst>
          </p:cNvPr>
          <p:cNvPicPr>
            <a:picLocks noChangeAspect="1"/>
          </p:cNvPicPr>
          <p:nvPr/>
        </p:nvPicPr>
        <p:blipFill>
          <a:blip r:embed="rId3"/>
          <a:stretch>
            <a:fillRect/>
          </a:stretch>
        </p:blipFill>
        <p:spPr>
          <a:xfrm>
            <a:off x="0" y="367004"/>
            <a:ext cx="9681790" cy="5882966"/>
          </a:xfrm>
          <a:prstGeom prst="rect">
            <a:avLst/>
          </a:prstGeom>
        </p:spPr>
      </p:pic>
    </p:spTree>
    <p:extLst>
      <p:ext uri="{BB962C8B-B14F-4D97-AF65-F5344CB8AC3E}">
        <p14:creationId xmlns:p14="http://schemas.microsoft.com/office/powerpoint/2010/main" val="4254875864"/>
      </p:ext>
    </p:extLst>
  </p:cSld>
  <p:clrMapOvr>
    <a:masterClrMapping/>
  </p:clrMapOvr>
  <p:transition>
    <p:check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E1DD132-1119-14B6-3D85-D863B3E48ADB}"/>
              </a:ext>
            </a:extLst>
          </p:cNvPr>
          <p:cNvPicPr>
            <a:picLocks noChangeAspect="1"/>
          </p:cNvPicPr>
          <p:nvPr/>
        </p:nvPicPr>
        <p:blipFill>
          <a:blip r:embed="rId3"/>
          <a:stretch>
            <a:fillRect/>
          </a:stretch>
        </p:blipFill>
        <p:spPr>
          <a:xfrm>
            <a:off x="848413" y="299537"/>
            <a:ext cx="9030991" cy="5865593"/>
          </a:xfrm>
          <a:prstGeom prst="rect">
            <a:avLst/>
          </a:prstGeom>
        </p:spPr>
      </p:pic>
    </p:spTree>
    <p:extLst>
      <p:ext uri="{BB962C8B-B14F-4D97-AF65-F5344CB8AC3E}">
        <p14:creationId xmlns:p14="http://schemas.microsoft.com/office/powerpoint/2010/main" val="3358012094"/>
      </p:ext>
    </p:extLst>
  </p:cSld>
  <p:clrMapOvr>
    <a:masterClrMapping/>
  </p:clrMapOvr>
  <p:transition>
    <p:check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AF2E338E-E403-7BA4-5B53-5A25C379386D}"/>
              </a:ext>
            </a:extLst>
          </p:cNvPr>
          <p:cNvPicPr>
            <a:picLocks noChangeAspect="1"/>
          </p:cNvPicPr>
          <p:nvPr/>
        </p:nvPicPr>
        <p:blipFill>
          <a:blip r:embed="rId3"/>
          <a:stretch>
            <a:fillRect/>
          </a:stretch>
        </p:blipFill>
        <p:spPr>
          <a:xfrm>
            <a:off x="820132" y="474300"/>
            <a:ext cx="9639659" cy="5398599"/>
          </a:xfrm>
          <a:prstGeom prst="rect">
            <a:avLst/>
          </a:prstGeom>
        </p:spPr>
      </p:pic>
    </p:spTree>
    <p:extLst>
      <p:ext uri="{BB962C8B-B14F-4D97-AF65-F5344CB8AC3E}">
        <p14:creationId xmlns:p14="http://schemas.microsoft.com/office/powerpoint/2010/main" val="1264175976"/>
      </p:ext>
    </p:extLst>
  </p:cSld>
  <p:clrMapOvr>
    <a:masterClrMapping/>
  </p:clrMapOvr>
  <p:transition>
    <p:check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7FD40788-3CA1-926C-3549-16E4CB453F09}"/>
              </a:ext>
            </a:extLst>
          </p:cNvPr>
          <p:cNvPicPr>
            <a:picLocks noChangeAspect="1"/>
          </p:cNvPicPr>
          <p:nvPr/>
        </p:nvPicPr>
        <p:blipFill>
          <a:blip r:embed="rId3"/>
          <a:stretch>
            <a:fillRect/>
          </a:stretch>
        </p:blipFill>
        <p:spPr>
          <a:xfrm>
            <a:off x="84842" y="328693"/>
            <a:ext cx="10006252" cy="6015546"/>
          </a:xfrm>
          <a:prstGeom prst="rect">
            <a:avLst/>
          </a:prstGeom>
        </p:spPr>
      </p:pic>
    </p:spTree>
    <p:extLst>
      <p:ext uri="{BB962C8B-B14F-4D97-AF65-F5344CB8AC3E}">
        <p14:creationId xmlns:p14="http://schemas.microsoft.com/office/powerpoint/2010/main" val="487292416"/>
      </p:ext>
    </p:extLst>
  </p:cSld>
  <p:clrMapOvr>
    <a:masterClrMapping/>
  </p:clrMapOvr>
  <p:transition>
    <p:check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9801F7C-1545-C495-6BA9-9B6C26078B95}"/>
              </a:ext>
            </a:extLst>
          </p:cNvPr>
          <p:cNvPicPr>
            <a:picLocks noChangeAspect="1"/>
          </p:cNvPicPr>
          <p:nvPr/>
        </p:nvPicPr>
        <p:blipFill>
          <a:blip r:embed="rId3"/>
          <a:stretch>
            <a:fillRect/>
          </a:stretch>
        </p:blipFill>
        <p:spPr>
          <a:xfrm>
            <a:off x="407114" y="558139"/>
            <a:ext cx="9496907" cy="5748393"/>
          </a:xfrm>
          <a:prstGeom prst="rect">
            <a:avLst/>
          </a:prstGeom>
        </p:spPr>
      </p:pic>
    </p:spTree>
    <p:extLst>
      <p:ext uri="{BB962C8B-B14F-4D97-AF65-F5344CB8AC3E}">
        <p14:creationId xmlns:p14="http://schemas.microsoft.com/office/powerpoint/2010/main" val="1223120379"/>
      </p:ext>
    </p:extLst>
  </p:cSld>
  <p:clrMapOvr>
    <a:masterClrMapping/>
  </p:clrMapOvr>
  <p:transition>
    <p:check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92486D6B-04CD-7634-7DC0-6602276B4F88}"/>
              </a:ext>
            </a:extLst>
          </p:cNvPr>
          <p:cNvPicPr>
            <a:picLocks noChangeAspect="1"/>
          </p:cNvPicPr>
          <p:nvPr/>
        </p:nvPicPr>
        <p:blipFill>
          <a:blip r:embed="rId3"/>
          <a:stretch>
            <a:fillRect/>
          </a:stretch>
        </p:blipFill>
        <p:spPr>
          <a:xfrm>
            <a:off x="245096" y="760020"/>
            <a:ext cx="10264566" cy="5669059"/>
          </a:xfrm>
          <a:prstGeom prst="rect">
            <a:avLst/>
          </a:prstGeom>
        </p:spPr>
      </p:pic>
    </p:spTree>
    <p:extLst>
      <p:ext uri="{BB962C8B-B14F-4D97-AF65-F5344CB8AC3E}">
        <p14:creationId xmlns:p14="http://schemas.microsoft.com/office/powerpoint/2010/main" val="2923732670"/>
      </p:ext>
    </p:extLst>
  </p:cSld>
  <p:clrMapOvr>
    <a:masterClrMapping/>
  </p:clrMapOvr>
  <p:transition>
    <p:check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44EEB42-0EEF-9594-CF88-EDC43919BC7C}"/>
              </a:ext>
            </a:extLst>
          </p:cNvPr>
          <p:cNvPicPr>
            <a:picLocks noChangeAspect="1"/>
          </p:cNvPicPr>
          <p:nvPr/>
        </p:nvPicPr>
        <p:blipFill>
          <a:blip r:embed="rId3"/>
          <a:stretch>
            <a:fillRect/>
          </a:stretch>
        </p:blipFill>
        <p:spPr>
          <a:xfrm>
            <a:off x="654458" y="942680"/>
            <a:ext cx="10689843" cy="4468305"/>
          </a:xfrm>
          <a:prstGeom prst="rect">
            <a:avLst/>
          </a:prstGeom>
        </p:spPr>
      </p:pic>
    </p:spTree>
    <p:extLst>
      <p:ext uri="{BB962C8B-B14F-4D97-AF65-F5344CB8AC3E}">
        <p14:creationId xmlns:p14="http://schemas.microsoft.com/office/powerpoint/2010/main" val="1105780855"/>
      </p:ext>
    </p:extLst>
  </p:cSld>
  <p:clrMapOvr>
    <a:masterClrMapping/>
  </p:clrMapOvr>
  <p:transition>
    <p:check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44EEB42-0EEF-9594-CF88-EDC43919BC7C}"/>
              </a:ext>
            </a:extLst>
          </p:cNvPr>
          <p:cNvPicPr>
            <a:picLocks noChangeAspect="1"/>
          </p:cNvPicPr>
          <p:nvPr/>
        </p:nvPicPr>
        <p:blipFill>
          <a:blip r:embed="rId3"/>
          <a:stretch>
            <a:fillRect/>
          </a:stretch>
        </p:blipFill>
        <p:spPr>
          <a:xfrm>
            <a:off x="654458" y="942680"/>
            <a:ext cx="10689843" cy="4468305"/>
          </a:xfrm>
          <a:prstGeom prst="rect">
            <a:avLst/>
          </a:prstGeom>
        </p:spPr>
      </p:pic>
    </p:spTree>
    <p:extLst>
      <p:ext uri="{BB962C8B-B14F-4D97-AF65-F5344CB8AC3E}">
        <p14:creationId xmlns:p14="http://schemas.microsoft.com/office/powerpoint/2010/main" val="748117576"/>
      </p:ext>
    </p:extLst>
  </p:cSld>
  <p:clrMapOvr>
    <a:masterClrMapping/>
  </p:clrMapOvr>
  <p:transition>
    <p:check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D720EACB-E7D1-9966-7B4C-BE99AD6F38A7}"/>
              </a:ext>
            </a:extLst>
          </p:cNvPr>
          <p:cNvPicPr>
            <a:picLocks noChangeAspect="1"/>
          </p:cNvPicPr>
          <p:nvPr/>
        </p:nvPicPr>
        <p:blipFill>
          <a:blip r:embed="rId3"/>
          <a:stretch>
            <a:fillRect/>
          </a:stretch>
        </p:blipFill>
        <p:spPr>
          <a:xfrm>
            <a:off x="1951348" y="215486"/>
            <a:ext cx="8099136" cy="6279581"/>
          </a:xfrm>
          <a:prstGeom prst="rect">
            <a:avLst/>
          </a:prstGeom>
        </p:spPr>
      </p:pic>
    </p:spTree>
    <p:extLst>
      <p:ext uri="{BB962C8B-B14F-4D97-AF65-F5344CB8AC3E}">
        <p14:creationId xmlns:p14="http://schemas.microsoft.com/office/powerpoint/2010/main" val="2697244987"/>
      </p:ext>
    </p:extLst>
  </p:cSld>
  <p:clrMapOvr>
    <a:masterClrMapping/>
  </p:clrMapOvr>
  <p:transition>
    <p:check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1B07C85-B891-A8A2-A8A2-43690FE965AC}"/>
              </a:ext>
            </a:extLst>
          </p:cNvPr>
          <p:cNvPicPr>
            <a:picLocks noChangeAspect="1"/>
          </p:cNvPicPr>
          <p:nvPr/>
        </p:nvPicPr>
        <p:blipFill>
          <a:blip r:embed="rId3"/>
          <a:stretch>
            <a:fillRect/>
          </a:stretch>
        </p:blipFill>
        <p:spPr>
          <a:xfrm>
            <a:off x="834247" y="273377"/>
            <a:ext cx="8705795" cy="5797485"/>
          </a:xfrm>
          <a:prstGeom prst="rect">
            <a:avLst/>
          </a:prstGeom>
        </p:spPr>
      </p:pic>
    </p:spTree>
    <p:extLst>
      <p:ext uri="{BB962C8B-B14F-4D97-AF65-F5344CB8AC3E}">
        <p14:creationId xmlns:p14="http://schemas.microsoft.com/office/powerpoint/2010/main" val="3331849533"/>
      </p:ext>
    </p:extLst>
  </p:cSld>
  <p:clrMapOvr>
    <a:masterClrMapping/>
  </p:clrMapOvr>
  <p:transition>
    <p:check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98B4B1A3-7498-6CB2-1332-79BF17306F15}"/>
              </a:ext>
            </a:extLst>
          </p:cNvPr>
          <p:cNvPicPr>
            <a:picLocks noChangeAspect="1"/>
          </p:cNvPicPr>
          <p:nvPr/>
        </p:nvPicPr>
        <p:blipFill>
          <a:blip r:embed="rId3"/>
          <a:stretch>
            <a:fillRect/>
          </a:stretch>
        </p:blipFill>
        <p:spPr>
          <a:xfrm>
            <a:off x="1216059" y="245003"/>
            <a:ext cx="9189044" cy="5995541"/>
          </a:xfrm>
          <a:prstGeom prst="rect">
            <a:avLst/>
          </a:prstGeom>
        </p:spPr>
      </p:pic>
    </p:spTree>
    <p:extLst>
      <p:ext uri="{BB962C8B-B14F-4D97-AF65-F5344CB8AC3E}">
        <p14:creationId xmlns:p14="http://schemas.microsoft.com/office/powerpoint/2010/main" val="1121325109"/>
      </p:ext>
    </p:extLst>
  </p:cSld>
  <p:clrMapOvr>
    <a:masterClrMapping/>
  </p:clrMapOvr>
  <p:transition>
    <p:check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E857B99-1F76-D3D6-753E-0C2D85AF609F}"/>
              </a:ext>
            </a:extLst>
          </p:cNvPr>
          <p:cNvPicPr>
            <a:picLocks noChangeAspect="1"/>
          </p:cNvPicPr>
          <p:nvPr/>
        </p:nvPicPr>
        <p:blipFill>
          <a:blip r:embed="rId3"/>
          <a:stretch>
            <a:fillRect/>
          </a:stretch>
        </p:blipFill>
        <p:spPr>
          <a:xfrm>
            <a:off x="330780" y="79300"/>
            <a:ext cx="9096024" cy="6416596"/>
          </a:xfrm>
          <a:prstGeom prst="rect">
            <a:avLst/>
          </a:prstGeom>
        </p:spPr>
      </p:pic>
    </p:spTree>
    <p:extLst>
      <p:ext uri="{BB962C8B-B14F-4D97-AF65-F5344CB8AC3E}">
        <p14:creationId xmlns:p14="http://schemas.microsoft.com/office/powerpoint/2010/main" val="3739781397"/>
      </p:ext>
    </p:extLst>
  </p:cSld>
  <p:clrMapOvr>
    <a:masterClrMapping/>
  </p:clrMapOvr>
  <p:transition>
    <p:check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3C85D106-B755-70C2-87E8-9B5E066EA9A4}"/>
              </a:ext>
            </a:extLst>
          </p:cNvPr>
          <p:cNvPicPr>
            <a:picLocks noChangeAspect="1"/>
          </p:cNvPicPr>
          <p:nvPr/>
        </p:nvPicPr>
        <p:blipFill>
          <a:blip r:embed="rId3"/>
          <a:stretch>
            <a:fillRect/>
          </a:stretch>
        </p:blipFill>
        <p:spPr>
          <a:xfrm>
            <a:off x="760021" y="914400"/>
            <a:ext cx="10462161" cy="5497473"/>
          </a:xfrm>
          <a:prstGeom prst="rect">
            <a:avLst/>
          </a:prstGeom>
        </p:spPr>
      </p:pic>
    </p:spTree>
    <p:extLst>
      <p:ext uri="{BB962C8B-B14F-4D97-AF65-F5344CB8AC3E}">
        <p14:creationId xmlns:p14="http://schemas.microsoft.com/office/powerpoint/2010/main" val="4084858437"/>
      </p:ext>
    </p:extLst>
  </p:cSld>
  <p:clrMapOvr>
    <a:masterClrMapping/>
  </p:clrMapOvr>
  <p:transition>
    <p:check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 xmlns:a16="http://schemas.microsoft.com/office/drawing/2014/main" id="{728117AD-FA0E-2BC5-1F8F-CFC9F069A44C}"/>
              </a:ext>
            </a:extLst>
          </p:cNvPr>
          <p:cNvPicPr>
            <a:picLocks noChangeAspect="1"/>
          </p:cNvPicPr>
          <p:nvPr/>
        </p:nvPicPr>
        <p:blipFill>
          <a:blip r:embed="rId3"/>
          <a:stretch>
            <a:fillRect/>
          </a:stretch>
        </p:blipFill>
        <p:spPr>
          <a:xfrm>
            <a:off x="721018" y="509047"/>
            <a:ext cx="9457192" cy="5137609"/>
          </a:xfrm>
          <a:prstGeom prst="rect">
            <a:avLst/>
          </a:prstGeom>
        </p:spPr>
      </p:pic>
    </p:spTree>
    <p:extLst>
      <p:ext uri="{BB962C8B-B14F-4D97-AF65-F5344CB8AC3E}">
        <p14:creationId xmlns:p14="http://schemas.microsoft.com/office/powerpoint/2010/main" val="3864366040"/>
      </p:ext>
    </p:extLst>
  </p:cSld>
  <p:clrMapOvr>
    <a:masterClrMapping/>
  </p:clrMapOvr>
  <p:transition>
    <p:check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922DDA2D-AD02-4303-43B2-0AF10E8E0FE6}"/>
              </a:ext>
            </a:extLst>
          </p:cNvPr>
          <p:cNvPicPr>
            <a:picLocks noChangeAspect="1"/>
          </p:cNvPicPr>
          <p:nvPr/>
        </p:nvPicPr>
        <p:blipFill>
          <a:blip r:embed="rId3"/>
          <a:stretch>
            <a:fillRect/>
          </a:stretch>
        </p:blipFill>
        <p:spPr>
          <a:xfrm>
            <a:off x="1121789" y="234581"/>
            <a:ext cx="8666834" cy="6005964"/>
          </a:xfrm>
          <a:prstGeom prst="rect">
            <a:avLst/>
          </a:prstGeom>
        </p:spPr>
      </p:pic>
    </p:spTree>
    <p:extLst>
      <p:ext uri="{BB962C8B-B14F-4D97-AF65-F5344CB8AC3E}">
        <p14:creationId xmlns:p14="http://schemas.microsoft.com/office/powerpoint/2010/main" val="3422984320"/>
      </p:ext>
    </p:extLst>
  </p:cSld>
  <p:clrMapOvr>
    <a:masterClrMapping/>
  </p:clrMapOvr>
  <p:transition>
    <p:check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CD14E144-83AF-C566-BD42-CC13BC1EB1B6}"/>
              </a:ext>
            </a:extLst>
          </p:cNvPr>
          <p:cNvPicPr>
            <a:picLocks noChangeAspect="1"/>
          </p:cNvPicPr>
          <p:nvPr/>
        </p:nvPicPr>
        <p:blipFill>
          <a:blip r:embed="rId3"/>
          <a:stretch>
            <a:fillRect/>
          </a:stretch>
        </p:blipFill>
        <p:spPr>
          <a:xfrm>
            <a:off x="1989056" y="88092"/>
            <a:ext cx="7692271" cy="6257491"/>
          </a:xfrm>
          <a:prstGeom prst="rect">
            <a:avLst/>
          </a:prstGeom>
        </p:spPr>
      </p:pic>
    </p:spTree>
    <p:extLst>
      <p:ext uri="{BB962C8B-B14F-4D97-AF65-F5344CB8AC3E}">
        <p14:creationId xmlns:p14="http://schemas.microsoft.com/office/powerpoint/2010/main" val="1859092839"/>
      </p:ext>
    </p:extLst>
  </p:cSld>
  <p:clrMapOvr>
    <a:masterClrMapping/>
  </p:clrMapOvr>
  <p:transition>
    <p:check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B20FD85D-38FF-D8AF-51B3-207A045B1169}"/>
              </a:ext>
            </a:extLst>
          </p:cNvPr>
          <p:cNvPicPr>
            <a:picLocks noChangeAspect="1"/>
          </p:cNvPicPr>
          <p:nvPr/>
        </p:nvPicPr>
        <p:blipFill>
          <a:blip r:embed="rId3"/>
          <a:stretch>
            <a:fillRect/>
          </a:stretch>
        </p:blipFill>
        <p:spPr>
          <a:xfrm>
            <a:off x="1737747" y="1809946"/>
            <a:ext cx="9576172" cy="3632984"/>
          </a:xfrm>
          <a:prstGeom prst="rect">
            <a:avLst/>
          </a:prstGeom>
        </p:spPr>
      </p:pic>
    </p:spTree>
    <p:extLst>
      <p:ext uri="{BB962C8B-B14F-4D97-AF65-F5344CB8AC3E}">
        <p14:creationId xmlns:p14="http://schemas.microsoft.com/office/powerpoint/2010/main" val="912760568"/>
      </p:ext>
    </p:extLst>
  </p:cSld>
  <p:clrMapOvr>
    <a:masterClrMapping/>
  </p:clrMapOvr>
  <p:transition>
    <p:check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553629BA-6DA5-463E-389D-779C66F5EFD1}"/>
              </a:ext>
            </a:extLst>
          </p:cNvPr>
          <p:cNvPicPr>
            <a:picLocks noChangeAspect="1"/>
          </p:cNvPicPr>
          <p:nvPr/>
        </p:nvPicPr>
        <p:blipFill>
          <a:blip r:embed="rId3"/>
          <a:stretch>
            <a:fillRect/>
          </a:stretch>
        </p:blipFill>
        <p:spPr>
          <a:xfrm>
            <a:off x="537326" y="997527"/>
            <a:ext cx="10043587" cy="5327858"/>
          </a:xfrm>
          <a:prstGeom prst="rect">
            <a:avLst/>
          </a:prstGeom>
        </p:spPr>
      </p:pic>
    </p:spTree>
    <p:extLst>
      <p:ext uri="{BB962C8B-B14F-4D97-AF65-F5344CB8AC3E}">
        <p14:creationId xmlns:p14="http://schemas.microsoft.com/office/powerpoint/2010/main" val="2549424977"/>
      </p:ext>
    </p:extLst>
  </p:cSld>
  <p:clrMapOvr>
    <a:masterClrMapping/>
  </p:clrMapOvr>
  <p:transition>
    <p:checke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5603651-BD25-B899-59A7-E2FE5C382A78}"/>
              </a:ext>
            </a:extLst>
          </p:cNvPr>
          <p:cNvPicPr>
            <a:picLocks noChangeAspect="1"/>
          </p:cNvPicPr>
          <p:nvPr/>
        </p:nvPicPr>
        <p:blipFill>
          <a:blip r:embed="rId3"/>
          <a:stretch>
            <a:fillRect/>
          </a:stretch>
        </p:blipFill>
        <p:spPr>
          <a:xfrm>
            <a:off x="251286" y="118171"/>
            <a:ext cx="8402520" cy="6415097"/>
          </a:xfrm>
          <a:prstGeom prst="rect">
            <a:avLst/>
          </a:prstGeom>
        </p:spPr>
      </p:pic>
    </p:spTree>
    <p:extLst>
      <p:ext uri="{BB962C8B-B14F-4D97-AF65-F5344CB8AC3E}">
        <p14:creationId xmlns:p14="http://schemas.microsoft.com/office/powerpoint/2010/main" val="3341835312"/>
      </p:ext>
    </p:extLst>
  </p:cSld>
  <p:clrMapOvr>
    <a:masterClrMapping/>
  </p:clrMapOvr>
  <p:transition>
    <p:checke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 xmlns:a16="http://schemas.microsoft.com/office/drawing/2014/main" id="{4DDFE3DA-4A8F-45EA-AF91-82D65693E26E}"/>
              </a:ext>
            </a:extLst>
          </p:cNvPr>
          <p:cNvSpPr>
            <a:spLocks noGrp="1" noChangeArrowheads="1"/>
          </p:cNvSpPr>
          <p:nvPr>
            <p:ph type="title"/>
          </p:nvPr>
        </p:nvSpPr>
        <p:spPr>
          <a:xfrm>
            <a:off x="2207624" y="155542"/>
            <a:ext cx="7297737" cy="782638"/>
          </a:xfrm>
          <a:noFill/>
          <a:ln/>
        </p:spPr>
        <p:txBody>
          <a:bodyPr spcFirstLastPara="1" wrap="square" lIns="92075" tIns="46038" rIns="92075" bIns="46038" anchor="ctr" anchorCtr="0">
            <a:normAutofit/>
          </a:bodyPr>
          <a:lstStyle/>
          <a:p>
            <a:pPr algn="ctr"/>
            <a:r>
              <a:rPr lang="en-US" altLang="en-US" sz="3600" dirty="0">
                <a:solidFill>
                  <a:srgbClr val="FF0000"/>
                </a:solidFill>
                <a:latin typeface="Times New Roman" panose="02020603050405020304" pitchFamily="18" charset="0"/>
                <a:cs typeface="Times New Roman" panose="02020603050405020304" pitchFamily="18" charset="0"/>
              </a:rPr>
              <a:t>Central Limit Theorem</a:t>
            </a:r>
          </a:p>
        </p:txBody>
      </p:sp>
      <p:sp>
        <p:nvSpPr>
          <p:cNvPr id="5" name="TextBox 4">
            <a:extLst>
              <a:ext uri="{FF2B5EF4-FFF2-40B4-BE49-F238E27FC236}">
                <a16:creationId xmlns="" xmlns:a16="http://schemas.microsoft.com/office/drawing/2014/main" id="{72286E3C-CAFB-DE8C-4043-3DD04E373B8C}"/>
              </a:ext>
            </a:extLst>
          </p:cNvPr>
          <p:cNvSpPr txBox="1"/>
          <p:nvPr/>
        </p:nvSpPr>
        <p:spPr>
          <a:xfrm>
            <a:off x="263951" y="1187777"/>
            <a:ext cx="11689237" cy="4154984"/>
          </a:xfrm>
          <a:prstGeom prst="rect">
            <a:avLst/>
          </a:prstGeom>
          <a:noFill/>
        </p:spPr>
        <p:txBody>
          <a:bodyPr wrap="square">
            <a:spAutoFit/>
          </a:bodyPr>
          <a:lstStyle/>
          <a:p>
            <a:pPr algn="l"/>
            <a:r>
              <a:rPr lang="en-US" sz="2400" b="0" i="0" dirty="0">
                <a:solidFill>
                  <a:srgbClr val="575760"/>
                </a:solidFill>
                <a:effectLst/>
                <a:latin typeface="Helvetica" panose="020B0604020202020204" pitchFamily="34" charset="0"/>
              </a:rPr>
              <a:t>The Central Limit Theorem states that the </a:t>
            </a:r>
            <a:r>
              <a:rPr lang="en-US" sz="2400" b="1" i="0" u="none" strike="noStrike" dirty="0">
                <a:solidFill>
                  <a:srgbClr val="005C85"/>
                </a:solidFill>
                <a:effectLst/>
                <a:latin typeface="Helvetica" panose="020B0604020202020204" pitchFamily="34" charset="0"/>
              </a:rPr>
              <a:t>sampling distribution</a:t>
            </a:r>
            <a:r>
              <a:rPr lang="en-US" sz="2400" b="1" i="0" dirty="0">
                <a:solidFill>
                  <a:srgbClr val="575760"/>
                </a:solidFill>
                <a:effectLst/>
                <a:latin typeface="Helvetica" panose="020B0604020202020204" pitchFamily="34" charset="0"/>
              </a:rPr>
              <a:t> of the </a:t>
            </a:r>
            <a:r>
              <a:rPr lang="en-US" sz="2400" b="1" i="0" u="none" strike="noStrike" dirty="0">
                <a:solidFill>
                  <a:srgbClr val="005C85"/>
                </a:solidFill>
                <a:effectLst/>
                <a:latin typeface="Helvetica" panose="020B0604020202020204" pitchFamily="34" charset="0"/>
              </a:rPr>
              <a:t>sample means</a:t>
            </a:r>
            <a:r>
              <a:rPr lang="en-US" sz="2400" b="0" i="0" dirty="0">
                <a:solidFill>
                  <a:srgbClr val="575760"/>
                </a:solidFill>
                <a:effectLst/>
                <a:latin typeface="Helvetica" panose="020B0604020202020204" pitchFamily="34" charset="0"/>
              </a:rPr>
              <a:t> approaches a </a:t>
            </a:r>
            <a:r>
              <a:rPr lang="en-US" sz="2400" b="0" i="0" u="none" strike="noStrike" dirty="0">
                <a:solidFill>
                  <a:srgbClr val="005C85"/>
                </a:solidFill>
                <a:effectLst/>
                <a:latin typeface="Helvetica" panose="020B0604020202020204" pitchFamily="34" charset="0"/>
              </a:rPr>
              <a:t>normal distribution</a:t>
            </a:r>
            <a:r>
              <a:rPr lang="en-US" sz="2400" b="0" i="0" dirty="0">
                <a:solidFill>
                  <a:srgbClr val="575760"/>
                </a:solidFill>
                <a:effectLst/>
                <a:latin typeface="Helvetica" panose="020B0604020202020204" pitchFamily="34" charset="0"/>
              </a:rPr>
              <a:t> as the </a:t>
            </a:r>
            <a:r>
              <a:rPr lang="en-US" sz="2400" b="0" i="0" u="none" strike="noStrike" dirty="0">
                <a:solidFill>
                  <a:srgbClr val="005C85"/>
                </a:solidFill>
                <a:effectLst/>
                <a:latin typeface="Helvetica" panose="020B0604020202020204" pitchFamily="34" charset="0"/>
              </a:rPr>
              <a:t>sample size</a:t>
            </a:r>
            <a:r>
              <a:rPr lang="en-US" sz="2400" b="0" i="0" dirty="0">
                <a:solidFill>
                  <a:srgbClr val="575760"/>
                </a:solidFill>
                <a:effectLst/>
                <a:latin typeface="Helvetica" panose="020B0604020202020204" pitchFamily="34" charset="0"/>
              </a:rPr>
              <a:t> gets larger — </a:t>
            </a:r>
            <a:r>
              <a:rPr lang="en-US" sz="2400" b="0" i="1" dirty="0">
                <a:solidFill>
                  <a:srgbClr val="575760"/>
                </a:solidFill>
                <a:effectLst/>
                <a:latin typeface="Helvetica" panose="020B0604020202020204" pitchFamily="34" charset="0"/>
              </a:rPr>
              <a:t>no matter what the shape of the </a:t>
            </a:r>
            <a:r>
              <a:rPr lang="en-US" sz="2400" b="0" i="1" u="none" strike="noStrike" dirty="0">
                <a:solidFill>
                  <a:srgbClr val="005C85"/>
                </a:solidFill>
                <a:effectLst/>
                <a:latin typeface="Helvetica" panose="020B0604020202020204" pitchFamily="34" charset="0"/>
              </a:rPr>
              <a:t>population</a:t>
            </a:r>
            <a:r>
              <a:rPr lang="en-US" sz="2400" b="0" i="1" dirty="0">
                <a:solidFill>
                  <a:srgbClr val="575760"/>
                </a:solidFill>
                <a:effectLst/>
                <a:latin typeface="Helvetica" panose="020B0604020202020204" pitchFamily="34" charset="0"/>
              </a:rPr>
              <a:t> distribution</a:t>
            </a:r>
            <a:r>
              <a:rPr lang="en-US" sz="2400" b="0" i="0" dirty="0">
                <a:solidFill>
                  <a:srgbClr val="575760"/>
                </a:solidFill>
                <a:effectLst/>
                <a:latin typeface="Helvetica" panose="020B0604020202020204" pitchFamily="34" charset="0"/>
              </a:rPr>
              <a:t>. This fact holds especially true for sample sizes over 30.</a:t>
            </a:r>
          </a:p>
          <a:p>
            <a:pPr algn="l"/>
            <a:endParaRPr lang="en-US" sz="2400" b="0" i="0" dirty="0">
              <a:solidFill>
                <a:srgbClr val="575760"/>
              </a:solidFill>
              <a:effectLst/>
              <a:latin typeface="Helvetica" panose="020B0604020202020204" pitchFamily="34" charset="0"/>
            </a:endParaRPr>
          </a:p>
          <a:p>
            <a:pPr algn="l"/>
            <a:r>
              <a:rPr lang="en-US" sz="2400" b="0" i="1" dirty="0">
                <a:solidFill>
                  <a:srgbClr val="575760"/>
                </a:solidFill>
                <a:effectLst/>
                <a:latin typeface="Helvetica" panose="020B0604020202020204" pitchFamily="34" charset="0"/>
              </a:rPr>
              <a:t>All this is saying is that as you take more </a:t>
            </a:r>
            <a:r>
              <a:rPr lang="en-US" sz="2400" b="0" i="1" u="none" strike="noStrike" dirty="0">
                <a:solidFill>
                  <a:srgbClr val="005C85"/>
                </a:solidFill>
                <a:effectLst/>
                <a:latin typeface="Helvetica" panose="020B0604020202020204" pitchFamily="34" charset="0"/>
              </a:rPr>
              <a:t>samples</a:t>
            </a:r>
            <a:r>
              <a:rPr lang="en-US" sz="2400" b="0" i="1" dirty="0">
                <a:solidFill>
                  <a:srgbClr val="575760"/>
                </a:solidFill>
                <a:effectLst/>
                <a:latin typeface="Helvetica" panose="020B0604020202020204" pitchFamily="34" charset="0"/>
              </a:rPr>
              <a:t>, especially large ones, your graph of the </a:t>
            </a:r>
            <a:r>
              <a:rPr lang="en-US" sz="2400" b="0" i="1" u="none" strike="noStrike" dirty="0">
                <a:solidFill>
                  <a:srgbClr val="005C85"/>
                </a:solidFill>
                <a:effectLst/>
                <a:latin typeface="Helvetica" panose="020B0604020202020204" pitchFamily="34" charset="0"/>
              </a:rPr>
              <a:t>sample means</a:t>
            </a:r>
            <a:r>
              <a:rPr lang="en-US" sz="2400" b="0" i="1" dirty="0">
                <a:solidFill>
                  <a:srgbClr val="575760"/>
                </a:solidFill>
                <a:effectLst/>
                <a:latin typeface="Helvetica" panose="020B0604020202020204" pitchFamily="34" charset="0"/>
              </a:rPr>
              <a:t> will look more like a normal distribution.</a:t>
            </a:r>
          </a:p>
          <a:p>
            <a:pPr algn="l"/>
            <a:endParaRPr lang="en-US" sz="2400" b="0" i="0" dirty="0">
              <a:solidFill>
                <a:srgbClr val="575760"/>
              </a:solidFill>
              <a:effectLst/>
              <a:latin typeface="Helvetica" panose="020B0604020202020204" pitchFamily="34" charset="0"/>
            </a:endParaRPr>
          </a:p>
          <a:p>
            <a:pPr algn="l"/>
            <a:r>
              <a:rPr lang="en-US" sz="2400" b="0" i="0" dirty="0">
                <a:solidFill>
                  <a:srgbClr val="575760"/>
                </a:solidFill>
                <a:effectLst/>
                <a:latin typeface="Helvetica" panose="020B0604020202020204" pitchFamily="34" charset="0"/>
              </a:rPr>
              <a:t>The picture shows one of the simplest types of test: rolling a </a:t>
            </a:r>
            <a:r>
              <a:rPr lang="en-US" sz="2400" b="0" i="0" u="none" strike="noStrike" dirty="0">
                <a:solidFill>
                  <a:srgbClr val="005C85"/>
                </a:solidFill>
                <a:effectLst/>
                <a:latin typeface="Helvetica" panose="020B0604020202020204" pitchFamily="34" charset="0"/>
              </a:rPr>
              <a:t>fair die</a:t>
            </a:r>
            <a:r>
              <a:rPr lang="en-US" sz="2400" b="0" i="0" dirty="0">
                <a:solidFill>
                  <a:srgbClr val="575760"/>
                </a:solidFill>
                <a:effectLst/>
                <a:latin typeface="Helvetica" panose="020B0604020202020204" pitchFamily="34" charset="0"/>
              </a:rPr>
              <a:t>. The </a:t>
            </a:r>
            <a:r>
              <a:rPr lang="en-US" sz="2400" b="1" i="0" dirty="0">
                <a:solidFill>
                  <a:srgbClr val="575760"/>
                </a:solidFill>
                <a:effectLst/>
                <a:latin typeface="Helvetica" panose="020B0604020202020204" pitchFamily="34" charset="0"/>
              </a:rPr>
              <a:t>more times you roll the die</a:t>
            </a:r>
            <a:r>
              <a:rPr lang="en-US" sz="2400" b="0" i="0" dirty="0">
                <a:solidFill>
                  <a:srgbClr val="575760"/>
                </a:solidFill>
                <a:effectLst/>
                <a:latin typeface="Helvetica" panose="020B0604020202020204" pitchFamily="34" charset="0"/>
              </a:rPr>
              <a:t>, the more likely the shape of the distribution of the means tends to look like a</a:t>
            </a:r>
            <a:r>
              <a:rPr lang="en-US" sz="2400" b="1" i="0" dirty="0">
                <a:solidFill>
                  <a:srgbClr val="575760"/>
                </a:solidFill>
                <a:effectLst/>
                <a:latin typeface="Helvetica" panose="020B0604020202020204" pitchFamily="34" charset="0"/>
              </a:rPr>
              <a:t> normal distribution graph</a:t>
            </a:r>
            <a:r>
              <a:rPr lang="en-US" sz="2400" b="0" i="0" dirty="0">
                <a:solidFill>
                  <a:srgbClr val="575760"/>
                </a:solidFill>
                <a:effectLst/>
                <a:latin typeface="Helvetica" panose="020B0604020202020204" pitchFamily="34" charset="0"/>
              </a:rPr>
              <a:t>.</a:t>
            </a:r>
          </a:p>
        </p:txBody>
      </p:sp>
    </p:spTree>
    <p:extLst>
      <p:ext uri="{BB962C8B-B14F-4D97-AF65-F5344CB8AC3E}">
        <p14:creationId xmlns:p14="http://schemas.microsoft.com/office/powerpoint/2010/main" val="1134335700"/>
      </p:ext>
    </p:extLst>
  </p:cSld>
  <p:clrMapOvr>
    <a:masterClrMapping/>
  </p:clrMapOvr>
  <p:transition>
    <p:check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entral limit theorem examples">
            <a:hlinkClick r:id="rId3"/>
            <a:extLst>
              <a:ext uri="{FF2B5EF4-FFF2-40B4-BE49-F238E27FC236}">
                <a16:creationId xmlns="" xmlns:a16="http://schemas.microsoft.com/office/drawing/2014/main" id="{D622D223-F2E6-8638-1EFB-24A7DCDCF0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1673" y="0"/>
            <a:ext cx="5043341" cy="605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028213"/>
      </p:ext>
    </p:extLst>
  </p:cSld>
  <p:clrMapOvr>
    <a:masterClrMapping/>
  </p:clrMapOvr>
  <p:transition>
    <p:checker/>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2156</TotalTime>
  <Words>801</Words>
  <Application>Microsoft Office PowerPoint</Application>
  <PresentationFormat>Custom</PresentationFormat>
  <Paragraphs>103</Paragraphs>
  <Slides>48</Slides>
  <Notes>43</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PowerPoint Presentation</vt:lpstr>
      <vt:lpstr>Unit III - Syllabus </vt:lpstr>
      <vt:lpstr>Single Set of Data</vt:lpstr>
      <vt:lpstr>Correlation</vt:lpstr>
      <vt:lpstr>PowerPoint Presentation</vt:lpstr>
      <vt:lpstr>PowerPoint Presentation</vt:lpstr>
      <vt:lpstr>PowerPoint Presentation</vt:lpstr>
      <vt:lpstr>PowerPoint Presentation</vt:lpstr>
      <vt:lpstr>Simpson’s Paradox</vt:lpstr>
      <vt:lpstr>What is Causal Relation?</vt:lpstr>
      <vt:lpstr>Key Caveats with Correlations</vt:lpstr>
      <vt:lpstr>PowerPoint Presentation</vt:lpstr>
      <vt:lpstr>Probability- Events</vt:lpstr>
      <vt:lpstr>PowerPoint Presentation</vt:lpstr>
      <vt:lpstr>PowerPoint Presentation</vt:lpstr>
      <vt:lpstr>PowerPoint Presentation</vt:lpstr>
      <vt:lpstr>Probability- Random Variables</vt:lpstr>
      <vt:lpstr>PowerPoint Presentation</vt:lpstr>
      <vt:lpstr>PowerPoint Presentation</vt:lpstr>
      <vt:lpstr>PowerPoint Presentation</vt:lpstr>
      <vt:lpstr>PowerPoint Presentation</vt:lpstr>
      <vt:lpstr>Dependence and Independence</vt:lpstr>
      <vt:lpstr>Conditional Probability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Central Limit Theorem</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Admin</cp:lastModifiedBy>
  <cp:revision>304</cp:revision>
  <dcterms:created xsi:type="dcterms:W3CDTF">2022-12-29T17:02:59Z</dcterms:created>
  <dcterms:modified xsi:type="dcterms:W3CDTF">2024-09-03T10:48:16Z</dcterms:modified>
</cp:coreProperties>
</file>