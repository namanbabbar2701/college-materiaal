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3"/>
  </p:notesMasterIdLst>
  <p:sldIdLst>
    <p:sldId id="256" r:id="rId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pos="3840" userDrawn="1">
          <p15:clr>
            <a:srgbClr val="9AA0A6"/>
          </p15:clr>
        </p15:guide>
        <p15:guide id="2" orient="horz"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61E7BF-AC56-4A48-A770-D55F02DAAF11}" v="1" dt="2024-09-01T21:24:03.0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464" autoAdjust="0"/>
  </p:normalViewPr>
  <p:slideViewPr>
    <p:cSldViewPr snapToGrid="0" showGuides="1">
      <p:cViewPr varScale="1">
        <p:scale>
          <a:sx n="75" d="100"/>
          <a:sy n="75" d="100"/>
        </p:scale>
        <p:origin x="946" y="48"/>
      </p:cViewPr>
      <p:guideLst>
        <p:guide pos="384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0"/>
          <p:cNvSpPr>
            <a:spLocks noGrp="1"/>
          </p:cNvSpPr>
          <p:nvPr>
            <p:ph type="pic" idx="2"/>
          </p:nvPr>
        </p:nvSpPr>
        <p:spPr>
          <a:xfrm>
            <a:off x="5183188" y="987425"/>
            <a:ext cx="6172200" cy="4873625"/>
          </a:xfrm>
          <a:prstGeom prst="rect">
            <a:avLst/>
          </a:prstGeom>
          <a:noFill/>
          <a:ln>
            <a:noFill/>
          </a:ln>
        </p:spPr>
      </p:sp>
      <p:sp>
        <p:nvSpPr>
          <p:cNvPr id="64" name="Google Shape;64;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
        <p:nvSpPr>
          <p:cNvPr id="7" name="Google Shape;7;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9" name="Google Shape;9;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0" name="Google Shape;10;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A picture containing logo&#10;&#10;Description automatically generated"/>
          <p:cNvPicPr preferRelativeResize="0"/>
          <p:nvPr/>
        </p:nvPicPr>
        <p:blipFill rotWithShape="1">
          <a:blip r:embed="rId3"/>
          <a:srcRect/>
          <a:stretch>
            <a:fillRect/>
          </a:stretch>
        </p:blipFill>
        <p:spPr>
          <a:xfrm>
            <a:off x="153573" y="81285"/>
            <a:ext cx="2920931" cy="1354217"/>
          </a:xfrm>
          <a:prstGeom prst="rect">
            <a:avLst/>
          </a:prstGeom>
          <a:noFill/>
          <a:ln>
            <a:noFill/>
          </a:ln>
        </p:spPr>
      </p:pic>
      <p:sp>
        <p:nvSpPr>
          <p:cNvPr id="85" name="Google Shape;85;p13"/>
          <p:cNvSpPr txBox="1"/>
          <p:nvPr/>
        </p:nvSpPr>
        <p:spPr>
          <a:xfrm>
            <a:off x="3074503" y="829023"/>
            <a:ext cx="9030900" cy="1015622"/>
          </a:xfrm>
          <a:prstGeom prst="rect">
            <a:avLst/>
          </a:prstGeom>
          <a:solidFill>
            <a:srgbClr val="2F5496"/>
          </a:solidFill>
          <a:ln>
            <a:noFill/>
          </a:ln>
        </p:spPr>
        <p:txBody>
          <a:bodyPr spcFirstLastPara="1" wrap="square" lIns="91425" tIns="45700" rIns="0" bIns="45700" anchor="t" anchorCtr="0">
            <a:spAutoFit/>
          </a:bodyPr>
          <a:lstStyle/>
          <a:p>
            <a:pPr marL="0" marR="0" lvl="0" indent="0" algn="ctr" rtl="0">
              <a:lnSpc>
                <a:spcPct val="100000"/>
              </a:lnSpc>
              <a:spcBef>
                <a:spcPts val="0"/>
              </a:spcBef>
              <a:spcAft>
                <a:spcPts val="0"/>
              </a:spcAft>
              <a:buNone/>
            </a:pPr>
            <a:r>
              <a:rPr lang="en-US" sz="1800" b="0" i="0" u="none" strike="noStrike" cap="none" dirty="0">
                <a:solidFill>
                  <a:schemeClr val="lt1"/>
                </a:solidFill>
                <a:latin typeface="Century"/>
                <a:ea typeface="Century"/>
                <a:cs typeface="Century"/>
                <a:sym typeface="Century"/>
              </a:rPr>
              <a:t>DEPARTMENT OF COMPUTER SCIENCE &amp; ENGINEERING</a:t>
            </a:r>
            <a:endParaRPr sz="1800" b="0" i="0" u="none" strike="noStrike" cap="none" dirty="0">
              <a:solidFill>
                <a:schemeClr val="lt1"/>
              </a:solidFill>
              <a:latin typeface="Century"/>
              <a:ea typeface="Century"/>
              <a:cs typeface="Century"/>
              <a:sym typeface="Century"/>
            </a:endParaRPr>
          </a:p>
          <a:p>
            <a:pPr marL="0" marR="0" lvl="0" indent="0" algn="ctr" rtl="0">
              <a:lnSpc>
                <a:spcPct val="100000"/>
              </a:lnSpc>
              <a:spcBef>
                <a:spcPts val="0"/>
              </a:spcBef>
              <a:spcAft>
                <a:spcPts val="0"/>
              </a:spcAft>
              <a:buClr>
                <a:srgbClr val="000000"/>
              </a:buClr>
              <a:buSzPts val="2800"/>
              <a:buFont typeface="Arial" panose="020B0604020202020204"/>
              <a:buNone/>
            </a:pPr>
            <a:r>
              <a:rPr lang="en-US" sz="2400" b="1" i="1" dirty="0">
                <a:solidFill>
                  <a:schemeClr val="bg1"/>
                </a:solidFill>
              </a:rPr>
              <a:t>Campus Connect</a:t>
            </a:r>
          </a:p>
          <a:p>
            <a:pPr marL="0" marR="0" lvl="0" indent="0" algn="ctr" rtl="0">
              <a:lnSpc>
                <a:spcPct val="100000"/>
              </a:lnSpc>
              <a:spcBef>
                <a:spcPts val="0"/>
              </a:spcBef>
              <a:spcAft>
                <a:spcPts val="0"/>
              </a:spcAft>
              <a:buNone/>
            </a:pPr>
            <a:r>
              <a:rPr lang="en-US" sz="1800" i="1" dirty="0">
                <a:solidFill>
                  <a:schemeClr val="lt1"/>
                </a:solidFill>
                <a:latin typeface="Calibri" panose="020F0502020204030204"/>
                <a:ea typeface="Calibri" panose="020F0502020204030204"/>
                <a:cs typeface="Calibri" panose="020F0502020204030204"/>
                <a:sym typeface="Calibri" panose="020F0502020204030204"/>
              </a:rPr>
              <a:t>Jayesh </a:t>
            </a:r>
            <a:r>
              <a:rPr lang="en-US" sz="1800" i="1" dirty="0" err="1">
                <a:solidFill>
                  <a:schemeClr val="lt1"/>
                </a:solidFill>
                <a:latin typeface="Calibri" panose="020F0502020204030204"/>
                <a:ea typeface="Calibri" panose="020F0502020204030204"/>
                <a:cs typeface="Calibri" panose="020F0502020204030204"/>
                <a:sym typeface="Calibri" panose="020F0502020204030204"/>
              </a:rPr>
              <a:t>Mathur,Mayank</a:t>
            </a:r>
            <a:r>
              <a:rPr lang="en-US" sz="1800" i="1" dirty="0">
                <a:solidFill>
                  <a:schemeClr val="lt1"/>
                </a:solidFill>
                <a:latin typeface="Calibri" panose="020F0502020204030204"/>
                <a:ea typeface="Calibri" panose="020F0502020204030204"/>
                <a:cs typeface="Calibri" panose="020F0502020204030204"/>
                <a:sym typeface="Calibri" panose="020F0502020204030204"/>
              </a:rPr>
              <a:t> </a:t>
            </a:r>
            <a:r>
              <a:rPr lang="en-US" sz="1800" i="1" dirty="0" err="1">
                <a:solidFill>
                  <a:schemeClr val="lt1"/>
                </a:solidFill>
                <a:latin typeface="Calibri" panose="020F0502020204030204"/>
                <a:ea typeface="Calibri" panose="020F0502020204030204"/>
                <a:cs typeface="Calibri" panose="020F0502020204030204"/>
                <a:sym typeface="Calibri" panose="020F0502020204030204"/>
              </a:rPr>
              <a:t>Modi,Ritwick</a:t>
            </a:r>
            <a:r>
              <a:rPr lang="en-US" sz="1800" i="1" dirty="0">
                <a:solidFill>
                  <a:schemeClr val="lt1"/>
                </a:solidFill>
                <a:latin typeface="Calibri" panose="020F0502020204030204"/>
                <a:ea typeface="Calibri" panose="020F0502020204030204"/>
                <a:cs typeface="Calibri" panose="020F0502020204030204"/>
                <a:sym typeface="Calibri" panose="020F0502020204030204"/>
              </a:rPr>
              <a:t> </a:t>
            </a:r>
            <a:r>
              <a:rPr lang="en-US" sz="1800" i="1" dirty="0" err="1">
                <a:solidFill>
                  <a:schemeClr val="lt1"/>
                </a:solidFill>
                <a:latin typeface="Calibri" panose="020F0502020204030204"/>
                <a:ea typeface="Calibri" panose="020F0502020204030204"/>
                <a:cs typeface="Calibri" panose="020F0502020204030204"/>
                <a:sym typeface="Calibri" panose="020F0502020204030204"/>
              </a:rPr>
              <a:t>prabhat,Himanshu</a:t>
            </a:r>
            <a:r>
              <a:rPr lang="en-US" sz="1800" i="1" dirty="0">
                <a:solidFill>
                  <a:schemeClr val="lt1"/>
                </a:solidFill>
                <a:latin typeface="Calibri" panose="020F0502020204030204"/>
                <a:ea typeface="Calibri" panose="020F0502020204030204"/>
                <a:cs typeface="Calibri" panose="020F0502020204030204"/>
                <a:sym typeface="Calibri" panose="020F0502020204030204"/>
              </a:rPr>
              <a:t> </a:t>
            </a:r>
            <a:r>
              <a:rPr lang="en-US" sz="1800" i="1" dirty="0" err="1">
                <a:solidFill>
                  <a:schemeClr val="lt1"/>
                </a:solidFill>
                <a:latin typeface="Calibri" panose="020F0502020204030204"/>
                <a:ea typeface="Calibri" panose="020F0502020204030204"/>
                <a:cs typeface="Calibri" panose="020F0502020204030204"/>
                <a:sym typeface="Calibri" panose="020F0502020204030204"/>
              </a:rPr>
              <a:t>Gujrathi</a:t>
            </a:r>
            <a:endParaRPr dirty="0"/>
          </a:p>
        </p:txBody>
      </p:sp>
      <p:sp>
        <p:nvSpPr>
          <p:cNvPr id="86" name="Google Shape;86;p13"/>
          <p:cNvSpPr txBox="1"/>
          <p:nvPr/>
        </p:nvSpPr>
        <p:spPr>
          <a:xfrm>
            <a:off x="139676" y="1435502"/>
            <a:ext cx="2869500" cy="661679"/>
          </a:xfrm>
          <a:prstGeom prst="rect">
            <a:avLst/>
          </a:prstGeom>
          <a:solidFill>
            <a:srgbClr val="FEE599"/>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dirty="0">
                <a:solidFill>
                  <a:schemeClr val="dk1"/>
                </a:solidFill>
                <a:latin typeface="Calibri" panose="020F0502020204030204"/>
                <a:ea typeface="Calibri" panose="020F0502020204030204"/>
                <a:cs typeface="Calibri" panose="020F0502020204030204"/>
                <a:sym typeface="Calibri" panose="020F0502020204030204"/>
              </a:rPr>
              <a:t>Faculty Guide:</a:t>
            </a:r>
            <a:endParaRPr dirty="0"/>
          </a:p>
          <a:p>
            <a:pPr marL="0" marR="0" lvl="0" indent="0" algn="l" rtl="0">
              <a:lnSpc>
                <a:spcPct val="150000"/>
              </a:lnSpc>
              <a:spcBef>
                <a:spcPts val="0"/>
              </a:spcBef>
              <a:spcAft>
                <a:spcPts val="0"/>
              </a:spcAft>
              <a:buClr>
                <a:srgbClr val="000000"/>
              </a:buClr>
              <a:buSzPts val="1600"/>
              <a:buFont typeface="Arial" panose="020B0604020202020204"/>
              <a:buNone/>
            </a:pPr>
            <a:r>
              <a:rPr lang="en-US" b="1" dirty="0">
                <a:solidFill>
                  <a:schemeClr val="dk1"/>
                </a:solidFill>
                <a:latin typeface="Calibri" panose="020F0502020204030204"/>
                <a:ea typeface="Calibri" panose="020F0502020204030204"/>
                <a:cs typeface="Calibri" panose="020F0502020204030204"/>
                <a:sym typeface="Calibri" panose="020F0502020204030204"/>
              </a:rPr>
              <a:t>Prof. Deepa Mishra</a:t>
            </a:r>
            <a:endParaRPr sz="1700" b="1" dirty="0"/>
          </a:p>
        </p:txBody>
      </p:sp>
      <p:sp>
        <p:nvSpPr>
          <p:cNvPr id="87" name="Google Shape;87;p13"/>
          <p:cNvSpPr txBox="1"/>
          <p:nvPr/>
        </p:nvSpPr>
        <p:spPr>
          <a:xfrm>
            <a:off x="13013334" y="-393524"/>
            <a:ext cx="4927697" cy="6155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chemeClr val="dk1"/>
                </a:solidFill>
                <a:latin typeface="Calibri" panose="020F0502020204030204"/>
                <a:ea typeface="Calibri" panose="020F0502020204030204"/>
                <a:cs typeface="Calibri" panose="020F0502020204030204"/>
                <a:sym typeface="Calibri" panose="020F0502020204030204"/>
              </a:rPr>
              <a:t>Proposed Architecture/ Diagram:</a:t>
            </a: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8" name="Google Shape;88;p13"/>
          <p:cNvSpPr txBox="1"/>
          <p:nvPr/>
        </p:nvSpPr>
        <p:spPr>
          <a:xfrm>
            <a:off x="3074504" y="170085"/>
            <a:ext cx="7420624" cy="584775"/>
          </a:xfrm>
          <a:prstGeom prst="rect">
            <a:avLst/>
          </a:prstGeom>
          <a:solidFill>
            <a:srgbClr val="B3C6E7"/>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0" i="0" u="none" strike="noStrike" cap="none">
                <a:solidFill>
                  <a:srgbClr val="323F4F"/>
                </a:solidFill>
                <a:latin typeface="Century"/>
                <a:ea typeface="Century"/>
                <a:cs typeface="Century"/>
                <a:sym typeface="Century"/>
              </a:rPr>
              <a:t>MIT SCHOOL OF COMPUTING </a:t>
            </a:r>
            <a:endParaRPr sz="3200" b="0" i="0" u="none" strike="noStrike" cap="none">
              <a:solidFill>
                <a:srgbClr val="323F4F"/>
              </a:solidFill>
              <a:latin typeface="Century"/>
              <a:ea typeface="Century"/>
              <a:cs typeface="Century"/>
              <a:sym typeface="Century"/>
            </a:endParaRPr>
          </a:p>
        </p:txBody>
      </p:sp>
      <p:sp>
        <p:nvSpPr>
          <p:cNvPr id="89" name="Google Shape;89;p13"/>
          <p:cNvSpPr txBox="1"/>
          <p:nvPr/>
        </p:nvSpPr>
        <p:spPr>
          <a:xfrm>
            <a:off x="-3345986" y="2629235"/>
            <a:ext cx="28695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0" name="Google Shape;90;p13"/>
          <p:cNvSpPr txBox="1"/>
          <p:nvPr/>
        </p:nvSpPr>
        <p:spPr>
          <a:xfrm>
            <a:off x="139700" y="5256530"/>
            <a:ext cx="4160520" cy="1524000"/>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b="1" i="0" u="none" strike="noStrike" cap="none" dirty="0">
                <a:solidFill>
                  <a:schemeClr val="dk1"/>
                </a:solidFill>
              </a:rPr>
              <a:t>Problem </a:t>
            </a:r>
            <a:r>
              <a:rPr lang="en-US" b="1" dirty="0">
                <a:solidFill>
                  <a:schemeClr val="dk1"/>
                </a:solidFill>
              </a:rPr>
              <a:t>statement</a:t>
            </a:r>
          </a:p>
          <a:p>
            <a:pPr marL="0" marR="0" lvl="0" indent="0" algn="just" rtl="0">
              <a:lnSpc>
                <a:spcPct val="100000"/>
              </a:lnSpc>
              <a:spcBef>
                <a:spcPts val="0"/>
              </a:spcBef>
              <a:spcAft>
                <a:spcPts val="0"/>
              </a:spcAft>
              <a:buNone/>
            </a:pPr>
            <a:endParaRPr lang="en-US" dirty="0"/>
          </a:p>
          <a:p>
            <a:pPr marL="0" marR="0" lvl="0" indent="0" algn="just" rtl="0">
              <a:lnSpc>
                <a:spcPct val="100000"/>
              </a:lnSpc>
              <a:spcBef>
                <a:spcPts val="0"/>
              </a:spcBef>
              <a:spcAft>
                <a:spcPts val="0"/>
              </a:spcAft>
              <a:buNone/>
            </a:pPr>
            <a:r>
              <a:rPr lang="en-US"/>
              <a:t>Create </a:t>
            </a:r>
            <a:r>
              <a:rPr lang="en-US" dirty="0"/>
              <a:t>a platform for managing academic fests, enabling event discovery, enrollment, proposal approval, and volunteer coordination with authority oversight.</a:t>
            </a:r>
            <a:endParaRPr b="1" dirty="0"/>
          </a:p>
        </p:txBody>
      </p:sp>
      <p:sp>
        <p:nvSpPr>
          <p:cNvPr id="91" name="Google Shape;91;p13"/>
          <p:cNvSpPr txBox="1"/>
          <p:nvPr/>
        </p:nvSpPr>
        <p:spPr>
          <a:xfrm>
            <a:off x="4392295" y="5256530"/>
            <a:ext cx="3855720" cy="1515745"/>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80"/>
              </a:spcAft>
              <a:buNone/>
            </a:pPr>
            <a:r>
              <a:rPr lang="en-US" b="1" i="0" u="none" strike="noStrike" cap="none" dirty="0">
                <a:solidFill>
                  <a:schemeClr val="dk1"/>
                </a:solidFill>
              </a:rPr>
              <a:t>Proposed Solution</a:t>
            </a:r>
          </a:p>
          <a:p>
            <a:pPr marR="0" lvl="0" rtl="0">
              <a:lnSpc>
                <a:spcPct val="100000"/>
              </a:lnSpc>
              <a:spcBef>
                <a:spcPts val="0"/>
              </a:spcBef>
              <a:spcAft>
                <a:spcPts val="80"/>
              </a:spcAft>
            </a:pPr>
            <a:r>
              <a:rPr lang="en-US" sz="1050" dirty="0"/>
              <a:t>Develop "Campus Connect“, a unified platform for academic events. It offers seamless event discovery, enrollment, proposal submission, and volunteer management. Using Google APIs for secure authentication, it integrates real-time notifications, analytics, and a centralized database, streamlining event coordination and enhancing engagement for students, organizers, and authorities.</a:t>
            </a:r>
            <a:endParaRPr lang="en-US" sz="1050" b="1" i="0" u="none" strike="noStrike" cap="none" dirty="0">
              <a:solidFill>
                <a:schemeClr val="dk1"/>
              </a:solidFill>
            </a:endParaRPr>
          </a:p>
        </p:txBody>
      </p:sp>
      <p:sp>
        <p:nvSpPr>
          <p:cNvPr id="92" name="Google Shape;92;p13"/>
          <p:cNvSpPr txBox="1"/>
          <p:nvPr/>
        </p:nvSpPr>
        <p:spPr>
          <a:xfrm>
            <a:off x="8371205" y="5256530"/>
            <a:ext cx="3734435" cy="1521460"/>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b="1" i="0" u="none" strike="noStrike" cap="none" dirty="0">
                <a:solidFill>
                  <a:schemeClr val="dk1"/>
                </a:solidFill>
              </a:rPr>
              <a:t>Scope and Feasibility</a:t>
            </a:r>
          </a:p>
          <a:p>
            <a:r>
              <a:rPr lang="en-US" sz="1100" dirty="0"/>
              <a:t>“Campus Connect" will manage academic event coordination, from discovery to volunteering. The project is feasible with existing technologies for secure user authentication (Google APIs) and real-time updates. It requires web development, database integration, and a user-friendly interface. It aligns with current tech trends and campus needs..</a:t>
            </a:r>
          </a:p>
        </p:txBody>
      </p:sp>
      <p:sp>
        <p:nvSpPr>
          <p:cNvPr id="93" name="Google Shape;93;p13"/>
          <p:cNvSpPr txBox="1"/>
          <p:nvPr/>
        </p:nvSpPr>
        <p:spPr>
          <a:xfrm>
            <a:off x="10565338" y="180102"/>
            <a:ext cx="1556400" cy="585000"/>
          </a:xfrm>
          <a:prstGeom prst="rect">
            <a:avLst/>
          </a:prstGeom>
          <a:solidFill>
            <a:srgbClr val="FEE599"/>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dirty="0">
                <a:solidFill>
                  <a:schemeClr val="dk1"/>
                </a:solidFill>
                <a:latin typeface="Calibri" panose="020F0502020204030204"/>
                <a:ea typeface="Calibri" panose="020F0502020204030204"/>
                <a:cs typeface="Calibri" panose="020F0502020204030204"/>
                <a:sym typeface="Calibri" panose="020F0502020204030204"/>
              </a:rPr>
              <a:t>Class : </a:t>
            </a:r>
            <a:r>
              <a:rPr lang="en-US" sz="1600" b="1" dirty="0">
                <a:solidFill>
                  <a:schemeClr val="dk1"/>
                </a:solidFill>
                <a:latin typeface="Calibri" panose="020F0502020204030204"/>
                <a:ea typeface="Calibri" panose="020F0502020204030204"/>
                <a:cs typeface="Calibri" panose="020F0502020204030204"/>
                <a:sym typeface="Calibri" panose="020F0502020204030204"/>
              </a:rPr>
              <a:t>TYCORE1</a:t>
            </a:r>
            <a:endParaRPr dirty="0"/>
          </a:p>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dirty="0">
                <a:solidFill>
                  <a:schemeClr val="dk1"/>
                </a:solidFill>
                <a:latin typeface="Calibri" panose="020F0502020204030204"/>
                <a:ea typeface="Calibri" panose="020F0502020204030204"/>
                <a:cs typeface="Calibri" panose="020F0502020204030204"/>
                <a:sym typeface="Calibri" panose="020F0502020204030204"/>
              </a:rPr>
              <a:t>Group Id: </a:t>
            </a:r>
            <a:r>
              <a:rPr lang="en-US" sz="1600" b="1" dirty="0">
                <a:solidFill>
                  <a:schemeClr val="dk1"/>
                </a:solidFill>
                <a:latin typeface="Calibri" panose="020F0502020204030204"/>
                <a:ea typeface="Calibri" panose="020F0502020204030204"/>
                <a:cs typeface="Calibri" panose="020F0502020204030204"/>
                <a:sym typeface="Calibri" panose="020F0502020204030204"/>
              </a:rPr>
              <a:t>119</a:t>
            </a:r>
            <a:endParaRPr dirty="0"/>
          </a:p>
        </p:txBody>
      </p:sp>
      <p:sp>
        <p:nvSpPr>
          <p:cNvPr id="7" name="Rectangles 6"/>
          <p:cNvSpPr/>
          <p:nvPr/>
        </p:nvSpPr>
        <p:spPr>
          <a:xfrm>
            <a:off x="4392930" y="2319655"/>
            <a:ext cx="3855085" cy="2802890"/>
          </a:xfrm>
          <a:prstGeom prst="rect">
            <a:avLst/>
          </a:prstGeom>
          <a:solidFill>
            <a:schemeClr val="bg1"/>
          </a:solidFill>
          <a:ln w="9525" cmpd="sng">
            <a:solidFill>
              <a:srgbClr val="00B0F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8" name="Rectangles 7"/>
          <p:cNvSpPr/>
          <p:nvPr/>
        </p:nvSpPr>
        <p:spPr>
          <a:xfrm>
            <a:off x="153670" y="2334260"/>
            <a:ext cx="4147820" cy="2768600"/>
          </a:xfrm>
          <a:prstGeom prst="rect">
            <a:avLst/>
          </a:prstGeom>
          <a:noFill/>
          <a:ln w="9525">
            <a:solidFill>
              <a:srgbClr val="00B0F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9" name="Rectangles 8"/>
          <p:cNvSpPr/>
          <p:nvPr/>
        </p:nvSpPr>
        <p:spPr>
          <a:xfrm>
            <a:off x="8370570" y="2334260"/>
            <a:ext cx="3729355" cy="2788920"/>
          </a:xfrm>
          <a:prstGeom prst="rect">
            <a:avLst/>
          </a:prstGeom>
          <a:noFill/>
          <a:ln w="9525">
            <a:solidFill>
              <a:srgbClr val="00B0F0"/>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0" name="Text Box 9"/>
          <p:cNvSpPr txBox="1"/>
          <p:nvPr/>
        </p:nvSpPr>
        <p:spPr>
          <a:xfrm>
            <a:off x="4334510" y="2382936"/>
            <a:ext cx="3966210" cy="2633980"/>
          </a:xfrm>
          <a:prstGeom prst="rect">
            <a:avLst/>
          </a:prstGeom>
          <a:noFill/>
        </p:spPr>
        <p:txBody>
          <a:bodyPr wrap="square" rtlCol="0">
            <a:noAutofit/>
          </a:bodyPr>
          <a:lstStyle/>
          <a:p>
            <a:pPr algn="ctr"/>
            <a:r>
              <a:rPr lang="en-US" b="1" dirty="0"/>
              <a:t>Ideation</a:t>
            </a:r>
          </a:p>
          <a:p>
            <a:pPr algn="just"/>
            <a:r>
              <a:rPr lang="en-US" sz="1100" dirty="0"/>
              <a:t> </a:t>
            </a:r>
          </a:p>
          <a:p>
            <a:r>
              <a:rPr lang="en-US" sz="1200" dirty="0"/>
              <a:t>Inspired by student struggles with fragmented event   information, complex proposal processes, and unclear    volunteering roles, “Campus Connect" was conceived. This platform centralizes event details, simplifies proposal submissions with automated approvals, and streamlines volunteer management. "Campus Connect " offers a unified interface for students to register, propose, and volunteer for events, while providing organizers and authorities with efficient management tools. </a:t>
            </a:r>
          </a:p>
        </p:txBody>
      </p:sp>
      <p:sp>
        <p:nvSpPr>
          <p:cNvPr id="11" name="Text Box 10"/>
          <p:cNvSpPr txBox="1"/>
          <p:nvPr/>
        </p:nvSpPr>
        <p:spPr>
          <a:xfrm>
            <a:off x="410210" y="2334260"/>
            <a:ext cx="3509645" cy="295275"/>
          </a:xfrm>
          <a:prstGeom prst="rect">
            <a:avLst/>
          </a:prstGeom>
          <a:noFill/>
        </p:spPr>
        <p:txBody>
          <a:bodyPr wrap="square" rtlCol="0">
            <a:noAutofit/>
          </a:bodyPr>
          <a:lstStyle/>
          <a:p>
            <a:pPr algn="ctr"/>
            <a:r>
              <a:rPr lang="en-US" b="1"/>
              <a:t>Empathy Chart</a:t>
            </a:r>
          </a:p>
        </p:txBody>
      </p:sp>
      <p:sp>
        <p:nvSpPr>
          <p:cNvPr id="13" name="Text Box 12"/>
          <p:cNvSpPr txBox="1"/>
          <p:nvPr/>
        </p:nvSpPr>
        <p:spPr>
          <a:xfrm>
            <a:off x="8451215" y="2371725"/>
            <a:ext cx="3458845" cy="306705"/>
          </a:xfrm>
          <a:prstGeom prst="rect">
            <a:avLst/>
          </a:prstGeom>
          <a:noFill/>
        </p:spPr>
        <p:txBody>
          <a:bodyPr wrap="square" rtlCol="0">
            <a:spAutoFit/>
          </a:bodyPr>
          <a:lstStyle/>
          <a:p>
            <a:pPr algn="ctr"/>
            <a:r>
              <a:rPr lang="en-US" b="1"/>
              <a:t>Block Diagram</a:t>
            </a:r>
          </a:p>
        </p:txBody>
      </p:sp>
      <p:sp>
        <p:nvSpPr>
          <p:cNvPr id="19" name="TextBox 18">
            <a:extLst>
              <a:ext uri="{FF2B5EF4-FFF2-40B4-BE49-F238E27FC236}">
                <a16:creationId xmlns:a16="http://schemas.microsoft.com/office/drawing/2014/main" id="{19BC8D13-71C7-B874-C615-5D4B974162AE}"/>
              </a:ext>
            </a:extLst>
          </p:cNvPr>
          <p:cNvSpPr txBox="1"/>
          <p:nvPr/>
        </p:nvSpPr>
        <p:spPr>
          <a:xfrm>
            <a:off x="204470" y="2678430"/>
            <a:ext cx="1619250" cy="1154162"/>
          </a:xfrm>
          <a:prstGeom prst="rect">
            <a:avLst/>
          </a:prstGeom>
          <a:noFill/>
          <a:ln>
            <a:solidFill>
              <a:schemeClr val="tx1"/>
            </a:solidFill>
          </a:ln>
        </p:spPr>
        <p:txBody>
          <a:bodyPr wrap="square" rtlCol="0">
            <a:spAutoFit/>
          </a:bodyPr>
          <a:lstStyle/>
          <a:p>
            <a:pPr algn="ctr"/>
            <a:r>
              <a:rPr lang="en-IN" sz="900" b="1" dirty="0"/>
              <a:t>User Segment:</a:t>
            </a:r>
          </a:p>
          <a:p>
            <a:pPr algn="ctr"/>
            <a:endParaRPr lang="en-IN" sz="1000" b="1" dirty="0"/>
          </a:p>
          <a:p>
            <a:pPr marL="171450" marR="0" lvl="0" indent="-1714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Students attending, organizing, or volunteering for events.</a:t>
            </a:r>
          </a:p>
          <a:p>
            <a:pPr marL="171450" marR="0" lvl="0" indent="-1714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Event organizers managing events.</a:t>
            </a:r>
          </a:p>
          <a:p>
            <a:pPr marL="171450" marR="0" lvl="0" indent="-1714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College authorities overseeing event approvals</a:t>
            </a:r>
          </a:p>
          <a:p>
            <a:pPr marL="171450" marR="0" lvl="0" indent="-171450"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800" dirty="0">
              <a:solidFill>
                <a:schemeClr val="tx1"/>
              </a:solidFill>
              <a:latin typeface="Arial" panose="020B0604020202020204" pitchFamily="34" charset="0"/>
            </a:endParaRPr>
          </a:p>
        </p:txBody>
      </p:sp>
      <p:sp>
        <p:nvSpPr>
          <p:cNvPr id="20" name="Rectangle 3">
            <a:extLst>
              <a:ext uri="{FF2B5EF4-FFF2-40B4-BE49-F238E27FC236}">
                <a16:creationId xmlns:a16="http://schemas.microsoft.com/office/drawing/2014/main" id="{76B2F057-D13F-146A-9D95-67BC4719F393}"/>
              </a:ext>
            </a:extLst>
          </p:cNvPr>
          <p:cNvSpPr>
            <a:spLocks noChangeArrowheads="1"/>
          </p:cNvSpPr>
          <p:nvPr/>
        </p:nvSpPr>
        <p:spPr bwMode="auto">
          <a:xfrm>
            <a:off x="314609" y="3150676"/>
            <a:ext cx="207108" cy="169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500" b="0" i="0" u="none" strike="noStrike" cap="none" normalizeH="0" baseline="0" dirty="0">
              <a:ln>
                <a:noFill/>
              </a:ln>
              <a:solidFill>
                <a:schemeClr val="tx1"/>
              </a:solidFill>
              <a:effectLst/>
              <a:latin typeface="Arial" panose="020B0604020202020204" pitchFamily="34" charset="0"/>
            </a:endParaRPr>
          </a:p>
        </p:txBody>
      </p:sp>
      <p:sp>
        <p:nvSpPr>
          <p:cNvPr id="21" name="TextBox 20">
            <a:extLst>
              <a:ext uri="{FF2B5EF4-FFF2-40B4-BE49-F238E27FC236}">
                <a16:creationId xmlns:a16="http://schemas.microsoft.com/office/drawing/2014/main" id="{E7702F3D-A463-2AED-199A-264565F5D90C}"/>
              </a:ext>
            </a:extLst>
          </p:cNvPr>
          <p:cNvSpPr txBox="1"/>
          <p:nvPr/>
        </p:nvSpPr>
        <p:spPr>
          <a:xfrm>
            <a:off x="204470" y="4010901"/>
            <a:ext cx="1619250" cy="984885"/>
          </a:xfrm>
          <a:prstGeom prst="rect">
            <a:avLst/>
          </a:prstGeom>
          <a:noFill/>
          <a:ln>
            <a:solidFill>
              <a:schemeClr val="tx1"/>
            </a:solidFill>
          </a:ln>
        </p:spPr>
        <p:txBody>
          <a:bodyPr wrap="square" rtlCol="0">
            <a:spAutoFit/>
          </a:bodyPr>
          <a:lstStyle/>
          <a:p>
            <a:pPr algn="ctr"/>
            <a:r>
              <a:rPr lang="en-IN" sz="900" b="1" dirty="0"/>
              <a:t>User Thoughts:</a:t>
            </a:r>
          </a:p>
          <a:p>
            <a:pPr algn="ctr"/>
            <a:endParaRPr lang="en-IN" sz="700" b="1" dirty="0"/>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"I need one place for all event info."</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"I want a quicker approval process.“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sz="700" dirty="0"/>
              <a:t>"How do I find volunteering roles?"</a:t>
            </a:r>
            <a:endParaRPr lang="en-IN" sz="700" dirty="0"/>
          </a:p>
        </p:txBody>
      </p:sp>
      <p:sp>
        <p:nvSpPr>
          <p:cNvPr id="22" name="Rectangle 4">
            <a:extLst>
              <a:ext uri="{FF2B5EF4-FFF2-40B4-BE49-F238E27FC236}">
                <a16:creationId xmlns:a16="http://schemas.microsoft.com/office/drawing/2014/main" id="{68328C33-69D7-A073-A97D-EE1547E458C4}"/>
              </a:ext>
            </a:extLst>
          </p:cNvPr>
          <p:cNvSpPr>
            <a:spLocks noChangeArrowheads="1"/>
          </p:cNvSpPr>
          <p:nvPr/>
        </p:nvSpPr>
        <p:spPr bwMode="auto">
          <a:xfrm>
            <a:off x="0" y="-184666"/>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23" name="TextBox 22">
            <a:extLst>
              <a:ext uri="{FF2B5EF4-FFF2-40B4-BE49-F238E27FC236}">
                <a16:creationId xmlns:a16="http://schemas.microsoft.com/office/drawing/2014/main" id="{5B423EC7-2358-722F-8165-8BFB7DBDF463}"/>
              </a:ext>
            </a:extLst>
          </p:cNvPr>
          <p:cNvSpPr txBox="1"/>
          <p:nvPr/>
        </p:nvSpPr>
        <p:spPr>
          <a:xfrm>
            <a:off x="2335372" y="2657066"/>
            <a:ext cx="1846104" cy="1092607"/>
          </a:xfrm>
          <a:prstGeom prst="rect">
            <a:avLst/>
          </a:prstGeom>
          <a:noFill/>
          <a:ln>
            <a:solidFill>
              <a:schemeClr val="tx1"/>
            </a:solidFill>
          </a:ln>
        </p:spPr>
        <p:txBody>
          <a:bodyPr wrap="square" rtlCol="0">
            <a:spAutoFit/>
          </a:bodyPr>
          <a:lstStyle/>
          <a:p>
            <a:pPr algn="ctr"/>
            <a:r>
              <a:rPr lang="en-IN" sz="900" b="1" dirty="0"/>
              <a:t>User Feels:</a:t>
            </a:r>
            <a:endParaRPr lang="en-IN" sz="1000" b="1" dirty="0"/>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Overwhelmed by scattered event info.</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Frustrated with complex approval processes.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Anxious about missing deadlines.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Eager but unclear about volunteering opportunities.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IN" sz="700" b="1" dirty="0"/>
          </a:p>
        </p:txBody>
      </p:sp>
      <p:sp>
        <p:nvSpPr>
          <p:cNvPr id="24" name="Rectangle 5">
            <a:extLst>
              <a:ext uri="{FF2B5EF4-FFF2-40B4-BE49-F238E27FC236}">
                <a16:creationId xmlns:a16="http://schemas.microsoft.com/office/drawing/2014/main" id="{4AE0F3EA-24FD-9374-B400-C06795EC51E5}"/>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5" name="TextBox 24">
            <a:extLst>
              <a:ext uri="{FF2B5EF4-FFF2-40B4-BE49-F238E27FC236}">
                <a16:creationId xmlns:a16="http://schemas.microsoft.com/office/drawing/2014/main" id="{5D3E0640-692E-A889-0789-6491F807143D}"/>
              </a:ext>
            </a:extLst>
          </p:cNvPr>
          <p:cNvSpPr txBox="1"/>
          <p:nvPr/>
        </p:nvSpPr>
        <p:spPr>
          <a:xfrm>
            <a:off x="2345532" y="4002107"/>
            <a:ext cx="1846103" cy="1000274"/>
          </a:xfrm>
          <a:prstGeom prst="rect">
            <a:avLst/>
          </a:prstGeom>
          <a:noFill/>
          <a:ln>
            <a:solidFill>
              <a:schemeClr val="tx1"/>
            </a:solidFill>
          </a:ln>
        </p:spPr>
        <p:txBody>
          <a:bodyPr wrap="square" rtlCol="0">
            <a:spAutoFit/>
          </a:bodyPr>
          <a:lstStyle/>
          <a:p>
            <a:pPr algn="ctr"/>
            <a:r>
              <a:rPr lang="en-IN" sz="900" b="1" dirty="0"/>
              <a:t>User Action:</a:t>
            </a:r>
          </a:p>
          <a:p>
            <a:pPr algn="ctr"/>
            <a:endParaRPr lang="en-IN" sz="900" b="1" dirty="0"/>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Checking multiple sources for event details.</a:t>
            </a:r>
          </a:p>
          <a:p>
            <a:pPr marR="0" lvl="0" algn="l" defTabSz="914400" rtl="0" eaLnBrk="0" fontAlgn="base" latinLnBrk="0" hangingPunct="0">
              <a:lnSpc>
                <a:spcPct val="100000"/>
              </a:lnSpc>
              <a:spcBef>
                <a:spcPct val="0"/>
              </a:spcBef>
              <a:spcAft>
                <a:spcPct val="0"/>
              </a:spcAft>
              <a:buClrTx/>
              <a:buSzTx/>
              <a:tabLst/>
            </a:pPr>
            <a:endParaRPr kumimoji="0" lang="en-US" altLang="en-US" sz="700" b="0" i="0" u="none" strike="noStrike" cap="none" normalizeH="0" baseline="0" dirty="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700" b="0" i="0" u="none" strike="noStrike" cap="none" normalizeH="0" baseline="0" dirty="0">
                <a:ln>
                  <a:noFill/>
                </a:ln>
                <a:solidFill>
                  <a:schemeClr val="tx1"/>
                </a:solidFill>
                <a:effectLst/>
                <a:latin typeface="Arial" panose="020B0604020202020204" pitchFamily="34" charset="0"/>
              </a:rPr>
              <a:t>Submitting proposals through manual processes.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600" b="0" i="0" u="none" strike="noStrike" cap="none" normalizeH="0" baseline="0" dirty="0">
              <a:ln>
                <a:noFill/>
              </a:ln>
              <a:solidFill>
                <a:schemeClr val="tx1"/>
              </a:solidFill>
              <a:effectLst/>
              <a:latin typeface="Arial" panose="020B0604020202020204" pitchFamily="34" charset="0"/>
            </a:endParaRPr>
          </a:p>
        </p:txBody>
      </p:sp>
      <p:sp>
        <p:nvSpPr>
          <p:cNvPr id="27" name="Oval 26">
            <a:extLst>
              <a:ext uri="{FF2B5EF4-FFF2-40B4-BE49-F238E27FC236}">
                <a16:creationId xmlns:a16="http://schemas.microsoft.com/office/drawing/2014/main" id="{6F08BA57-E31A-C29E-8F05-5183ADA90A79}"/>
              </a:ext>
            </a:extLst>
          </p:cNvPr>
          <p:cNvSpPr/>
          <p:nvPr/>
        </p:nvSpPr>
        <p:spPr>
          <a:xfrm>
            <a:off x="1622134" y="3464311"/>
            <a:ext cx="831742" cy="74535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User</a:t>
            </a:r>
          </a:p>
        </p:txBody>
      </p:sp>
      <p:pic>
        <p:nvPicPr>
          <p:cNvPr id="4" name="Picture 3">
            <a:extLst>
              <a:ext uri="{FF2B5EF4-FFF2-40B4-BE49-F238E27FC236}">
                <a16:creationId xmlns:a16="http://schemas.microsoft.com/office/drawing/2014/main" id="{BF452AE6-8591-9CEB-C428-980962723D39}"/>
              </a:ext>
            </a:extLst>
          </p:cNvPr>
          <p:cNvPicPr>
            <a:picLocks noChangeAspect="1"/>
          </p:cNvPicPr>
          <p:nvPr/>
        </p:nvPicPr>
        <p:blipFill>
          <a:blip r:embed="rId4"/>
          <a:stretch>
            <a:fillRect/>
          </a:stretch>
        </p:blipFill>
        <p:spPr>
          <a:xfrm>
            <a:off x="8924023" y="2663231"/>
            <a:ext cx="2622448" cy="231614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490</TotalTime>
  <Words>366</Words>
  <Application>Microsoft Office PowerPoint</Application>
  <PresentationFormat>Widescreen</PresentationFormat>
  <Paragraphs>43</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Century</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Khwaish Agarwal</dc:creator>
  <cp:lastModifiedBy>Naman Babbar</cp:lastModifiedBy>
  <cp:revision>7</cp:revision>
  <dcterms:created xsi:type="dcterms:W3CDTF">2024-08-31T09:54:00Z</dcterms:created>
  <dcterms:modified xsi:type="dcterms:W3CDTF">2024-09-02T04:35:43Z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65487c9-99ed-4cbc-93a8-0e9b1796bde5_Enabled">
    <vt:lpwstr>true</vt:lpwstr>
  </property>
  <property fmtid="{D5CDD505-2E9C-101B-9397-08002B2CF9AE}" pid="3" name="MSIP_Label_e65487c9-99ed-4cbc-93a8-0e9b1796bde5_SetDate">
    <vt:lpwstr>2023-08-22T15:55:58Z</vt:lpwstr>
  </property>
  <property fmtid="{D5CDD505-2E9C-101B-9397-08002B2CF9AE}" pid="4" name="MSIP_Label_e65487c9-99ed-4cbc-93a8-0e9b1796bde5_Method">
    <vt:lpwstr>Standard</vt:lpwstr>
  </property>
  <property fmtid="{D5CDD505-2E9C-101B-9397-08002B2CF9AE}" pid="5" name="MSIP_Label_e65487c9-99ed-4cbc-93a8-0e9b1796bde5_Name">
    <vt:lpwstr>defa4170-0d19-0005-0004-bc88714345d2</vt:lpwstr>
  </property>
  <property fmtid="{D5CDD505-2E9C-101B-9397-08002B2CF9AE}" pid="6" name="MSIP_Label_e65487c9-99ed-4cbc-93a8-0e9b1796bde5_SiteId">
    <vt:lpwstr>03cb5f0c-1f82-4993-9621-36330f6309ec</vt:lpwstr>
  </property>
  <property fmtid="{D5CDD505-2E9C-101B-9397-08002B2CF9AE}" pid="7" name="MSIP_Label_e65487c9-99ed-4cbc-93a8-0e9b1796bde5_ActionId">
    <vt:lpwstr>a9f9e4d2-07a5-4c01-b96a-2377cca3dabb</vt:lpwstr>
  </property>
  <property fmtid="{D5CDD505-2E9C-101B-9397-08002B2CF9AE}" pid="8" name="MSIP_Label_e65487c9-99ed-4cbc-93a8-0e9b1796bde5_ContentBits">
    <vt:lpwstr>0</vt:lpwstr>
  </property>
  <property fmtid="{D5CDD505-2E9C-101B-9397-08002B2CF9AE}" pid="9" name="ICV">
    <vt:lpwstr>9ED4C3513C5249F18E983A8DA6752F3F_13</vt:lpwstr>
  </property>
  <property fmtid="{D5CDD505-2E9C-101B-9397-08002B2CF9AE}" pid="10" name="KSOProductBuildVer">
    <vt:lpwstr>1033-12.2.0.13472</vt:lpwstr>
  </property>
</Properties>
</file>