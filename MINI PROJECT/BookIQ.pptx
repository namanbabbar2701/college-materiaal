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70" r:id="rId9"/>
    <p:sldId id="262" r:id="rId10"/>
    <p:sldId id="263" r:id="rId11"/>
    <p:sldId id="272" r:id="rId12"/>
    <p:sldId id="264" r:id="rId13"/>
    <p:sldId id="265" r:id="rId14"/>
    <p:sldId id="266" r:id="rId15"/>
    <p:sldId id="267" r:id="rId16"/>
    <p:sldId id="268" r:id="rId17"/>
  </p:sldIdLst>
  <p:sldSz cx="9144000" cy="6858000" type="screen4x3"/>
  <p:notesSz cx="9144000" cy="6858000"/>
  <p:embeddedFontLst>
    <p:embeddedFont>
      <p:font typeface="Century Schoolbook" panose="02040604050505020304" pitchFamily="18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guATwLBPAuOsgfyrv/xwC2db7U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CB3F4C0-F2E8-4320-A34B-0B094AA10944}">
  <a:tblStyle styleId="{6CB3F4C0-F2E8-4320-A34B-0B094AA1094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" name="Google Shape;4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5cc8714c89_0_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" name="Google Shape;54;g5cc8714c89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044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58C2896C-0F56-B9C4-A001-1DBE72D3E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2:notes">
            <a:extLst>
              <a:ext uri="{FF2B5EF4-FFF2-40B4-BE49-F238E27FC236}">
                <a16:creationId xmlns:a16="http://schemas.microsoft.com/office/drawing/2014/main" id="{F0B18CED-BD32-383A-C526-C48DDE9121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2:notes">
            <a:extLst>
              <a:ext uri="{FF2B5EF4-FFF2-40B4-BE49-F238E27FC236}">
                <a16:creationId xmlns:a16="http://schemas.microsoft.com/office/drawing/2014/main" id="{8F257342-C9ED-15FB-138D-940C7FB3D4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91333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5cc8714c89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g5cc8714c89_2_3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1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1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8"/>
          <p:cNvSpPr txBox="1">
            <a:spLocks noGrp="1"/>
          </p:cNvSpPr>
          <p:nvPr>
            <p:ph type="title"/>
          </p:nvPr>
        </p:nvSpPr>
        <p:spPr>
          <a:xfrm>
            <a:off x="1753870" y="482930"/>
            <a:ext cx="5636259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hlink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8"/>
          <p:cNvSpPr txBox="1">
            <a:spLocks noGrp="1"/>
          </p:cNvSpPr>
          <p:nvPr>
            <p:ph type="body" idx="1"/>
          </p:nvPr>
        </p:nvSpPr>
        <p:spPr>
          <a:xfrm>
            <a:off x="535940" y="1570180"/>
            <a:ext cx="8073390" cy="3409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8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8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8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9"/>
          <p:cNvSpPr txBox="1">
            <a:spLocks noGrp="1"/>
          </p:cNvSpPr>
          <p:nvPr>
            <p:ph type="ctrTitle"/>
          </p:nvPr>
        </p:nvSpPr>
        <p:spPr>
          <a:xfrm>
            <a:off x="803554" y="214706"/>
            <a:ext cx="7536891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>
                <a:solidFill>
                  <a:schemeClr val="hlink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9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9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9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0"/>
          <p:cNvSpPr txBox="1">
            <a:spLocks noGrp="1"/>
          </p:cNvSpPr>
          <p:nvPr>
            <p:ph type="title"/>
          </p:nvPr>
        </p:nvSpPr>
        <p:spPr>
          <a:xfrm>
            <a:off x="1753870" y="482930"/>
            <a:ext cx="5636259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hlink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0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0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1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1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2"/>
          <p:cNvSpPr txBox="1">
            <a:spLocks noGrp="1"/>
          </p:cNvSpPr>
          <p:nvPr>
            <p:ph type="title"/>
          </p:nvPr>
        </p:nvSpPr>
        <p:spPr>
          <a:xfrm>
            <a:off x="1753870" y="482930"/>
            <a:ext cx="5636259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hlink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2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2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/>
          <p:nvPr/>
        </p:nvSpPr>
        <p:spPr>
          <a:xfrm>
            <a:off x="0" y="5816578"/>
            <a:ext cx="1062142" cy="1041418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27"/>
          <p:cNvSpPr/>
          <p:nvPr/>
        </p:nvSpPr>
        <p:spPr>
          <a:xfrm>
            <a:off x="0" y="5638800"/>
            <a:ext cx="9144000" cy="152400"/>
          </a:xfrm>
          <a:custGeom>
            <a:avLst/>
            <a:gdLst/>
            <a:ahLst/>
            <a:cxnLst/>
            <a:rect l="l" t="t" r="r" b="b"/>
            <a:pathLst>
              <a:path w="9144000" h="152400" extrusionOk="0">
                <a:moveTo>
                  <a:pt x="0" y="152400"/>
                </a:moveTo>
                <a:lnTo>
                  <a:pt x="9144000" y="152400"/>
                </a:lnTo>
                <a:lnTo>
                  <a:pt x="91440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00006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27"/>
          <p:cNvSpPr/>
          <p:nvPr/>
        </p:nvSpPr>
        <p:spPr>
          <a:xfrm>
            <a:off x="0" y="5638800"/>
            <a:ext cx="9144000" cy="152400"/>
          </a:xfrm>
          <a:custGeom>
            <a:avLst/>
            <a:gdLst/>
            <a:ahLst/>
            <a:cxnLst/>
            <a:rect l="l" t="t" r="r" b="b"/>
            <a:pathLst>
              <a:path w="9144000" h="152400" extrusionOk="0">
                <a:moveTo>
                  <a:pt x="0" y="152400"/>
                </a:moveTo>
                <a:lnTo>
                  <a:pt x="9144000" y="152400"/>
                </a:lnTo>
                <a:lnTo>
                  <a:pt x="91440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;p27"/>
          <p:cNvSpPr txBox="1">
            <a:spLocks noGrp="1"/>
          </p:cNvSpPr>
          <p:nvPr>
            <p:ph type="title"/>
          </p:nvPr>
        </p:nvSpPr>
        <p:spPr>
          <a:xfrm>
            <a:off x="1753870" y="482930"/>
            <a:ext cx="5636259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chemeClr val="hlink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7"/>
          <p:cNvSpPr txBox="1">
            <a:spLocks noGrp="1"/>
          </p:cNvSpPr>
          <p:nvPr>
            <p:ph type="body" idx="1"/>
          </p:nvPr>
        </p:nvSpPr>
        <p:spPr>
          <a:xfrm>
            <a:off x="535940" y="1570180"/>
            <a:ext cx="8073390" cy="3409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6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 txBox="1"/>
          <p:nvPr/>
        </p:nvSpPr>
        <p:spPr>
          <a:xfrm>
            <a:off x="1280160" y="5943053"/>
            <a:ext cx="7496601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MITSoC, Loni Kalbhor</a:t>
            </a:r>
            <a:endParaRPr sz="1800" b="1" i="1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2514600" y="3840480"/>
            <a:ext cx="3733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9762" marR="0" lvl="0" indent="-5191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>
            <a:spLocks noGrp="1"/>
          </p:cNvSpPr>
          <p:nvPr>
            <p:ph type="title"/>
          </p:nvPr>
        </p:nvSpPr>
        <p:spPr>
          <a:xfrm>
            <a:off x="267300" y="1951900"/>
            <a:ext cx="86094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dirty="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“BookIQ”</a:t>
            </a:r>
            <a:endParaRPr sz="4000" dirty="0">
              <a:solidFill>
                <a:srgbClr val="0737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822787" y="3387039"/>
            <a:ext cx="7496700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 MITU22BTCS0104:- Amit </a:t>
            </a:r>
            <a:r>
              <a:rPr lang="en-US" sz="1600" b="1" dirty="0" err="1">
                <a:latin typeface="Times New Roman"/>
                <a:ea typeface="Times New Roman"/>
                <a:cs typeface="Times New Roman"/>
                <a:sym typeface="Times New Roman"/>
              </a:rPr>
              <a:t>Nishankar</a:t>
            </a:r>
            <a:endParaRPr lang="en-US"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/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MITU22BTCS0467:- Naman Babbar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 MITU22BTCS0303:- Goutam Kumar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    MITU22BTCS0303:- Khwaish Agarwal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Guided by</a:t>
            </a:r>
            <a:endParaRPr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Prof. Umesh Nanavare</a:t>
            </a:r>
          </a:p>
        </p:txBody>
      </p:sp>
      <p:sp>
        <p:nvSpPr>
          <p:cNvPr id="50" name="Google Shape;50;p2"/>
          <p:cNvSpPr txBox="1"/>
          <p:nvPr/>
        </p:nvSpPr>
        <p:spPr>
          <a:xfrm>
            <a:off x="2878691" y="555528"/>
            <a:ext cx="3384884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</a:t>
            </a:r>
            <a:endParaRPr/>
          </a:p>
        </p:txBody>
      </p:sp>
      <p:pic>
        <p:nvPicPr>
          <p:cNvPr id="51" name="Google Shape;5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073217-8751-399B-937A-E5715BFE9684}"/>
              </a:ext>
            </a:extLst>
          </p:cNvPr>
          <p:cNvSpPr txBox="1"/>
          <p:nvPr/>
        </p:nvSpPr>
        <p:spPr>
          <a:xfrm>
            <a:off x="1280160" y="2587294"/>
            <a:ext cx="67822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 Scanning and Searching Books for Credibility Score &amp; References.</a:t>
            </a:r>
            <a:endParaRPr lang="en-IN"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5cc8714c89_0_4"/>
          <p:cNvSpPr txBox="1">
            <a:spLocks noGrp="1"/>
          </p:cNvSpPr>
          <p:nvPr>
            <p:ph type="title"/>
          </p:nvPr>
        </p:nvSpPr>
        <p:spPr>
          <a:xfrm>
            <a:off x="830592" y="408046"/>
            <a:ext cx="6932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>
              <a:solidFill>
                <a:srgbClr val="073763"/>
              </a:solidFill>
            </a:endParaRPr>
          </a:p>
        </p:txBody>
      </p:sp>
      <p:sp>
        <p:nvSpPr>
          <p:cNvPr id="57" name="Google Shape;57;g5cc8714c89_0_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58" name="Google Shape;58;g5cc8714c89_0_4"/>
          <p:cNvSpPr txBox="1"/>
          <p:nvPr/>
        </p:nvSpPr>
        <p:spPr>
          <a:xfrm>
            <a:off x="1379346" y="6055962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9" name="Google Shape;59;g5cc8714c89_0_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g5cc8714c89_0_4"/>
          <p:cNvSpPr txBox="1"/>
          <p:nvPr/>
        </p:nvSpPr>
        <p:spPr>
          <a:xfrm>
            <a:off x="830590" y="1284140"/>
            <a:ext cx="7848600" cy="47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Concepts &amp; Methods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 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Identification of gaps &amp; scope of work 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Q&amp;A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66" name="Google Shape;66;p4"/>
          <p:cNvSpPr txBox="1"/>
          <p:nvPr/>
        </p:nvSpPr>
        <p:spPr>
          <a:xfrm>
            <a:off x="417107" y="224589"/>
            <a:ext cx="80103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r>
              <a:rPr lang="en-US" sz="2200" b="0" i="0" u="none" strike="noStrike" cap="none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rgbClr val="073763"/>
              </a:solidFill>
            </a:endParaRPr>
          </a:p>
        </p:txBody>
      </p:sp>
      <p:sp>
        <p:nvSpPr>
          <p:cNvPr id="67" name="Google Shape;67;p4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A9A424-3B5A-605C-A02E-6B55707665C1}"/>
              </a:ext>
            </a:extLst>
          </p:cNvPr>
          <p:cNvSpPr txBox="1"/>
          <p:nvPr/>
        </p:nvSpPr>
        <p:spPr>
          <a:xfrm>
            <a:off x="499927" y="1160206"/>
            <a:ext cx="65006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face difficulty verifying the credibility of learning materials.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platform allows user to scan or search books to get credibility score and reliable reference instantly.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all types of sources: printed, eBooks, research papers, etc.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76" name="Google Shape;76;p6"/>
          <p:cNvSpPr txBox="1"/>
          <p:nvPr/>
        </p:nvSpPr>
        <p:spPr>
          <a:xfrm>
            <a:off x="528744" y="325664"/>
            <a:ext cx="80103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r>
              <a:rPr lang="en-US" sz="2200" b="0" i="0" u="none" strike="noStrike" cap="none" dirty="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>
              <a:solidFill>
                <a:srgbClr val="073763"/>
              </a:solidFill>
            </a:endParaRPr>
          </a:p>
        </p:txBody>
      </p:sp>
      <p:sp>
        <p:nvSpPr>
          <p:cNvPr id="77" name="Google Shape;77;p6"/>
          <p:cNvSpPr txBox="1"/>
          <p:nvPr/>
        </p:nvSpPr>
        <p:spPr>
          <a:xfrm>
            <a:off x="1379346" y="6104088"/>
            <a:ext cx="73788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8" name="Google Shape;7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6"/>
          <p:cNvSpPr txBox="1"/>
          <p:nvPr/>
        </p:nvSpPr>
        <p:spPr>
          <a:xfrm>
            <a:off x="0" y="903764"/>
            <a:ext cx="80889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solve the problem of evaluating textbook quality before purchase, ensuring students and educators make informed decisions based on reliable reviews, structured insights, and OCR-based data analysis.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Google Shape;80;p6"/>
          <p:cNvSpPr txBox="1"/>
          <p:nvPr/>
        </p:nvSpPr>
        <p:spPr>
          <a:xfrm>
            <a:off x="499926" y="3194072"/>
            <a:ext cx="8186753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scan a book’s cover or search by title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detailed credibility score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key content summaries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access to verified academic references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printed books, eBooks, research papers, and reference documents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choose trustworthy study resources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528744" y="2434308"/>
            <a:ext cx="80103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r>
              <a:rPr lang="en-US" sz="2200" b="0" i="0" u="none" strike="noStrike" cap="none" dirty="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87" name="Google Shape;87;p8"/>
          <p:cNvSpPr txBox="1"/>
          <p:nvPr/>
        </p:nvSpPr>
        <p:spPr>
          <a:xfrm>
            <a:off x="417094" y="-11"/>
            <a:ext cx="80103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Concepts and Methods</a:t>
            </a:r>
            <a:r>
              <a:rPr lang="en-US" sz="2200" b="0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88" name="Google Shape;88;p8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9" name="Google Shape;8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07B987-3BF6-CE50-EE2C-5AA5C618B6A5}"/>
              </a:ext>
            </a:extLst>
          </p:cNvPr>
          <p:cNvSpPr txBox="1"/>
          <p:nvPr/>
        </p:nvSpPr>
        <p:spPr>
          <a:xfrm>
            <a:off x="499927" y="1105559"/>
            <a:ext cx="663263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Scanning: Extract title from book cover.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Engine: Fetch data via APIs.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Scoring System: Based on author, citations, publisher, user ratings.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Store book info and credibility data.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00" name="Google Shape;100;p9"/>
          <p:cNvSpPr txBox="1"/>
          <p:nvPr/>
        </p:nvSpPr>
        <p:spPr>
          <a:xfrm>
            <a:off x="417094" y="224589"/>
            <a:ext cx="8010213" cy="57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Literature Survey</a:t>
            </a:r>
            <a:r>
              <a:rPr lang="en-US" sz="2200" b="0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101" name="Google Shape;101;p9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" name="Google Shape;10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44A9C69-B5F0-4916-B414-F6A054AFDE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493673"/>
              </p:ext>
            </p:extLst>
          </p:nvPr>
        </p:nvGraphicFramePr>
        <p:xfrm>
          <a:off x="253884" y="1076466"/>
          <a:ext cx="8636232" cy="3753921"/>
        </p:xfrm>
        <a:graphic>
          <a:graphicData uri="http://schemas.openxmlformats.org/drawingml/2006/table">
            <a:tbl>
              <a:tblPr>
                <a:noFill/>
                <a:tableStyleId>{6CB3F4C0-F2E8-4320-A34B-0B094AA10944}</a:tableStyleId>
              </a:tblPr>
              <a:tblGrid>
                <a:gridCol w="638105">
                  <a:extLst>
                    <a:ext uri="{9D8B030D-6E8A-4147-A177-3AD203B41FA5}">
                      <a16:colId xmlns:a16="http://schemas.microsoft.com/office/drawing/2014/main" val="252431437"/>
                    </a:ext>
                  </a:extLst>
                </a:gridCol>
                <a:gridCol w="3138105">
                  <a:extLst>
                    <a:ext uri="{9D8B030D-6E8A-4147-A177-3AD203B41FA5}">
                      <a16:colId xmlns:a16="http://schemas.microsoft.com/office/drawing/2014/main" val="1391965780"/>
                    </a:ext>
                  </a:extLst>
                </a:gridCol>
                <a:gridCol w="1496063">
                  <a:extLst>
                    <a:ext uri="{9D8B030D-6E8A-4147-A177-3AD203B41FA5}">
                      <a16:colId xmlns:a16="http://schemas.microsoft.com/office/drawing/2014/main" val="2398366065"/>
                    </a:ext>
                  </a:extLst>
                </a:gridCol>
                <a:gridCol w="3363959">
                  <a:extLst>
                    <a:ext uri="{9D8B030D-6E8A-4147-A177-3AD203B41FA5}">
                      <a16:colId xmlns:a16="http://schemas.microsoft.com/office/drawing/2014/main" val="450394623"/>
                    </a:ext>
                  </a:extLst>
                </a:gridCol>
              </a:tblGrid>
              <a:tr h="28662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Sr. no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Literature Title</a:t>
                      </a:r>
                      <a:endParaRPr sz="12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Findings</a:t>
                      </a:r>
                      <a:endParaRPr sz="12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0282819"/>
                  </a:ext>
                </a:extLst>
              </a:tr>
              <a:tr h="155942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1.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Overview of the Tesseract OCR Engine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Ray Smith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524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Calibri"/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Presented Tesseract as an open-source OCR engine enabling accurate text recognition from scanned documents.</a:t>
                      </a:r>
                      <a:endParaRPr lang="en-US" sz="1600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5009235"/>
                  </a:ext>
                </a:extLst>
              </a:tr>
              <a:tr h="114657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2.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524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BERT: Pre-training of Deep Bidirectional Transformers for Language Understanding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524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Jacob Devlin,</a:t>
                      </a:r>
                    </a:p>
                    <a:p>
                      <a:pPr marL="1524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Ming-Wei, Chang,</a:t>
                      </a:r>
                    </a:p>
                    <a:p>
                      <a:pPr marL="1524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Kenton Lee,</a:t>
                      </a:r>
                    </a:p>
                    <a:p>
                      <a:pPr marL="1524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IN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Kristina, Toutanova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ysClr val="windowText" lastClr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524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Calibri"/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BERT, a deep bidirectional transformer model that significantly improved performance in text understanding and retrieval tasks.</a:t>
                      </a:r>
                      <a:endParaRPr sz="16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61213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01" name="Google Shape;101;p9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" name="Google Shape;10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44A9C69-B5F0-4916-B414-F6A054AFDE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422338"/>
              </p:ext>
            </p:extLst>
          </p:nvPr>
        </p:nvGraphicFramePr>
        <p:xfrm>
          <a:off x="253884" y="1035902"/>
          <a:ext cx="8636232" cy="1952678"/>
        </p:xfrm>
        <a:graphic>
          <a:graphicData uri="http://schemas.openxmlformats.org/drawingml/2006/table">
            <a:tbl>
              <a:tblPr>
                <a:noFill/>
                <a:tableStyleId>{6CB3F4C0-F2E8-4320-A34B-0B094AA10944}</a:tableStyleId>
              </a:tblPr>
              <a:tblGrid>
                <a:gridCol w="638105">
                  <a:extLst>
                    <a:ext uri="{9D8B030D-6E8A-4147-A177-3AD203B41FA5}">
                      <a16:colId xmlns:a16="http://schemas.microsoft.com/office/drawing/2014/main" val="252431437"/>
                    </a:ext>
                  </a:extLst>
                </a:gridCol>
                <a:gridCol w="3138105">
                  <a:extLst>
                    <a:ext uri="{9D8B030D-6E8A-4147-A177-3AD203B41FA5}">
                      <a16:colId xmlns:a16="http://schemas.microsoft.com/office/drawing/2014/main" val="1391965780"/>
                    </a:ext>
                  </a:extLst>
                </a:gridCol>
                <a:gridCol w="1525880">
                  <a:extLst>
                    <a:ext uri="{9D8B030D-6E8A-4147-A177-3AD203B41FA5}">
                      <a16:colId xmlns:a16="http://schemas.microsoft.com/office/drawing/2014/main" val="2398366065"/>
                    </a:ext>
                  </a:extLst>
                </a:gridCol>
                <a:gridCol w="3334142">
                  <a:extLst>
                    <a:ext uri="{9D8B030D-6E8A-4147-A177-3AD203B41FA5}">
                      <a16:colId xmlns:a16="http://schemas.microsoft.com/office/drawing/2014/main" val="450394623"/>
                    </a:ext>
                  </a:extLst>
                </a:gridCol>
              </a:tblGrid>
              <a:tr h="48814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Sr. no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Literature Title</a:t>
                      </a:r>
                      <a:endParaRPr sz="12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</a:t>
                      </a:r>
                      <a:endParaRPr sz="12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Findings</a:t>
                      </a:r>
                      <a:endParaRPr sz="12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0282819"/>
                  </a:ext>
                </a:extLst>
              </a:tr>
              <a:tr h="146452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3</a:t>
                      </a: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524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S2ORC: The Semantic Scholar Open Research Corpus</a:t>
                      </a: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Kyle Lo,</a:t>
                      </a:r>
                    </a:p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Lucy Lu Wang,</a:t>
                      </a:r>
                    </a:p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 Neumann,</a:t>
                      </a:r>
                    </a:p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Rodney, Kinney</a:t>
                      </a:r>
                    </a:p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Daniel S. Weld</a:t>
                      </a: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524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Introduced S2ORC, a large, open-access corpus enabling scalable reference extraction and citation linking for scientific research</a:t>
                      </a:r>
                      <a:endParaRPr lang="en-US"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5009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0324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78" name="Google Shape;178;p10"/>
          <p:cNvSpPr txBox="1"/>
          <p:nvPr/>
        </p:nvSpPr>
        <p:spPr>
          <a:xfrm>
            <a:off x="417094" y="224589"/>
            <a:ext cx="8010213" cy="57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Tools and Languages</a:t>
            </a:r>
            <a:r>
              <a:rPr lang="en-US" sz="2200" b="0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179" name="Google Shape;179;p10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0" name="Google Shape;18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C0E4EC85-3048-A864-159E-F4DC34925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094" y="949127"/>
            <a:ext cx="8169964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HTML, CSS, Javascript,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Node.js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OCR Tool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Tesseract OCR / Google Vision API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Google Books API.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MongoDB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Other Tools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Postman (API testing), GitHub (version control), Figma (UI design)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09" name="Google Shape;109;p7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0" name="Google Shape;11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7"/>
          <p:cNvSpPr txBox="1"/>
          <p:nvPr/>
        </p:nvSpPr>
        <p:spPr>
          <a:xfrm>
            <a:off x="407155" y="224589"/>
            <a:ext cx="80103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Identification of gaps &amp; scope of work 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FC4903-6B26-8349-053D-7DAACD98749A}"/>
              </a:ext>
            </a:extLst>
          </p:cNvPr>
          <p:cNvSpPr txBox="1"/>
          <p:nvPr/>
        </p:nvSpPr>
        <p:spPr>
          <a:xfrm>
            <a:off x="417094" y="1052052"/>
            <a:ext cx="834100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Gaps Identified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unified credibility assessment for books from all formats.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existing platform offers book scanning + citation credibility.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need multiple apps/websites for reviews, citations, and summaries. 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all-in-one platform.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both online and offline materials.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machine learning to continuously improve credibility analysis.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integration with institutional libraries and LMS systems.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18" name="Google Shape;118;p12"/>
          <p:cNvSpPr txBox="1"/>
          <p:nvPr/>
        </p:nvSpPr>
        <p:spPr>
          <a:xfrm>
            <a:off x="417094" y="224589"/>
            <a:ext cx="8010213" cy="57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Implementation</a:t>
            </a:r>
            <a:r>
              <a:rPr lang="en-US" sz="2200" b="0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119" name="Google Shape;119;p12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0" name="Google Shape;120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B2E6F8-C720-4440-D654-60BDF59D5046}"/>
              </a:ext>
            </a:extLst>
          </p:cNvPr>
          <p:cNvSpPr txBox="1"/>
          <p:nvPr/>
        </p:nvSpPr>
        <p:spPr>
          <a:xfrm>
            <a:off x="139148" y="894522"/>
            <a:ext cx="887564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Front-End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 with scanning and search features.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dashboards showing scores, references, and highlights.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Back-End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from Google Books API.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for processing and scoring algorithms.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for storage and data indexing.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Toolkits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Tesseract or Google Vision API for extracting title from book cover scans.</a:t>
            </a: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182557AD-7736-0B69-CF49-F8C0A8AC0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>
            <a:extLst>
              <a:ext uri="{FF2B5EF4-FFF2-40B4-BE49-F238E27FC236}">
                <a16:creationId xmlns:a16="http://schemas.microsoft.com/office/drawing/2014/main" id="{AFD4899E-BE13-F9C5-C70D-7E2B70F313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19" name="Google Shape;119;p12">
            <a:extLst>
              <a:ext uri="{FF2B5EF4-FFF2-40B4-BE49-F238E27FC236}">
                <a16:creationId xmlns:a16="http://schemas.microsoft.com/office/drawing/2014/main" id="{8C83508D-C379-BED0-ED66-879C3DD3C6BD}"/>
              </a:ext>
            </a:extLst>
          </p:cNvPr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0" name="Google Shape;120;p12">
            <a:extLst>
              <a:ext uri="{FF2B5EF4-FFF2-40B4-BE49-F238E27FC236}">
                <a16:creationId xmlns:a16="http://schemas.microsoft.com/office/drawing/2014/main" id="{76D1406B-7BA9-30A1-48EC-89F35F8BB46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2B4A00-0046-E0C9-F6BD-F79DAF648150}"/>
              </a:ext>
            </a:extLst>
          </p:cNvPr>
          <p:cNvSpPr txBox="1"/>
          <p:nvPr/>
        </p:nvSpPr>
        <p:spPr>
          <a:xfrm>
            <a:off x="134178" y="855193"/>
            <a:ext cx="8875643" cy="367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Integration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models to summarize books and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context.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Scoring Engine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algorithm combining:</a:t>
            </a:r>
          </a:p>
          <a:p>
            <a:pPr marL="1143000" lvl="2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academic citations</a:t>
            </a:r>
          </a:p>
          <a:p>
            <a:pPr marL="1143000" lvl="2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Publisher tier level</a:t>
            </a:r>
          </a:p>
          <a:p>
            <a:pPr marL="1143000" lvl="2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 reviews</a:t>
            </a:r>
          </a:p>
          <a:p>
            <a:pPr marL="1143000" lvl="2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rating history</a:t>
            </a: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548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417094" y="224589"/>
            <a:ext cx="8010213" cy="57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C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9. Results</a:t>
            </a:r>
            <a:r>
              <a:rPr lang="en-US" sz="2200" b="0" i="0" u="none" strike="noStrike" cap="none" dirty="0">
                <a:solidFill>
                  <a:srgbClr val="C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9" name="Google Shape;129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2E58B52-2097-46C5-CA4C-1F5E22E08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186" y="878700"/>
            <a:ext cx="784894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38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sz="16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are currently in the process of making further advancements.</a:t>
            </a:r>
          </a:p>
          <a:p>
            <a:pPr marL="738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Attached are snapshots of the project phases that have been finalized.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1DEED8-DDD0-2C39-9115-18A5DFCCA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836" y="1515857"/>
            <a:ext cx="2768799" cy="17049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1ADB84-09B6-3121-165D-7F419D091814}"/>
              </a:ext>
            </a:extLst>
          </p:cNvPr>
          <p:cNvSpPr txBox="1"/>
          <p:nvPr/>
        </p:nvSpPr>
        <p:spPr>
          <a:xfrm>
            <a:off x="1403697" y="3154525"/>
            <a:ext cx="10815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013433-2E5B-6A5E-769B-26F72AC942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527" y="1534896"/>
            <a:ext cx="2538602" cy="15963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2E1465-BF95-0FD4-92D5-17987C342F8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164" t="14419" r="47635" b="25520"/>
          <a:stretch/>
        </p:blipFill>
        <p:spPr>
          <a:xfrm>
            <a:off x="736480" y="3533269"/>
            <a:ext cx="3089208" cy="17611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CC8BB8D-2908-2B8B-4A0E-051BDCD1FFF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9334" t="6255" r="2795" b="5443"/>
          <a:stretch/>
        </p:blipFill>
        <p:spPr>
          <a:xfrm>
            <a:off x="5068722" y="3533269"/>
            <a:ext cx="2768799" cy="182688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EA238C1-39CF-770A-A17C-491220ED7DB3}"/>
              </a:ext>
            </a:extLst>
          </p:cNvPr>
          <p:cNvSpPr txBox="1"/>
          <p:nvPr/>
        </p:nvSpPr>
        <p:spPr>
          <a:xfrm>
            <a:off x="5810268" y="3225492"/>
            <a:ext cx="12857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Selected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87D343-937C-B20A-F290-A3E162DA7BE7}"/>
              </a:ext>
            </a:extLst>
          </p:cNvPr>
          <p:cNvSpPr txBox="1"/>
          <p:nvPr/>
        </p:nvSpPr>
        <p:spPr>
          <a:xfrm>
            <a:off x="1582054" y="5255252"/>
            <a:ext cx="10815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BA8C28-1E27-463B-97C0-0C9B4A6EF2B5}"/>
              </a:ext>
            </a:extLst>
          </p:cNvPr>
          <p:cNvSpPr txBox="1"/>
          <p:nvPr/>
        </p:nvSpPr>
        <p:spPr>
          <a:xfrm>
            <a:off x="5787268" y="5360154"/>
            <a:ext cx="11838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 Failed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417094" y="224589"/>
            <a:ext cx="8010213" cy="57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 Conclusion and Future Work</a:t>
            </a:r>
            <a:r>
              <a:rPr lang="en-US" sz="2200" b="0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136" name="Google Shape;136;p14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7" name="Google Shape;13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28214C-AB21-7EF1-1FD0-68E3672D2C9A}"/>
              </a:ext>
            </a:extLst>
          </p:cNvPr>
          <p:cNvSpPr txBox="1"/>
          <p:nvPr/>
        </p:nvSpPr>
        <p:spPr>
          <a:xfrm>
            <a:off x="499926" y="973509"/>
            <a:ext cx="775949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79388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users quickly check a book’s credibility and references, making study material selection easier and more reliable.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regional/language support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content summaries with 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with university libraries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 a mobile app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user reviews and ratings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5cc8714c89_2_35"/>
          <p:cNvSpPr txBox="1">
            <a:spLocks noGrp="1"/>
          </p:cNvSpPr>
          <p:nvPr>
            <p:ph type="body" idx="1"/>
          </p:nvPr>
        </p:nvSpPr>
        <p:spPr>
          <a:xfrm>
            <a:off x="124934" y="1123230"/>
            <a:ext cx="8661208" cy="3329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36575" indent="-357188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Smith, R. (2007). An overview of the Tesseract OCR engine. In Proceedings of the Ninth     International Conference on Document Analysis and Recognition (Vol. 2, pp. 629–633). IEEE.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Books API.</a:t>
            </a:r>
          </a:p>
          <a:p>
            <a:pPr marL="536575" indent="-357188"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6575" indent="-357188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Devlin, J., Chang, M.-W., Lee, K., &amp; Toutanova, K. (2018). BERT: Pre-training of deep bidirectional transformers for language understanding.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arXiv:1810.04805.</a:t>
            </a:r>
          </a:p>
          <a:p>
            <a:pPr marL="536575" indent="-357188"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6575" indent="-357188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Lo, K., Wang, L. L., Neumann, M., Kinney, R., &amp; Weld, D. S. (2020). S2ORC: The Semantic Scholar Open Research Corpus. In Proceedings of ACL (pp. 4969–4983).</a:t>
            </a:r>
            <a:endParaRPr lang="en-IN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44" name="Google Shape;144;g5cc8714c89_2_35"/>
          <p:cNvSpPr txBox="1"/>
          <p:nvPr/>
        </p:nvSpPr>
        <p:spPr>
          <a:xfrm>
            <a:off x="375528" y="-1"/>
            <a:ext cx="4425071" cy="72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11. References</a:t>
            </a:r>
            <a:endParaRPr dirty="0"/>
          </a:p>
        </p:txBody>
      </p:sp>
      <p:sp>
        <p:nvSpPr>
          <p:cNvPr id="145" name="Google Shape;145;g5cc8714c89_2_35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46" name="Google Shape;146;g5cc8714c89_2_35"/>
          <p:cNvSpPr txBox="1"/>
          <p:nvPr/>
        </p:nvSpPr>
        <p:spPr>
          <a:xfrm>
            <a:off x="1379346" y="6055962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7" name="Google Shape;147;g5cc8714c89_2_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1379346" y="6055962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1792145" y="2374230"/>
            <a:ext cx="533055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</p:txBody>
      </p:sp>
      <p:pic>
        <p:nvPicPr>
          <p:cNvPr id="155" name="Google Shape;15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CD914464-B6E8-41B7-9559-14FAEFF19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1"/>
            <a:ext cx="9144000" cy="5625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1379346" y="6055962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1792145" y="2374230"/>
            <a:ext cx="533055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endParaRPr/>
          </a:p>
        </p:txBody>
      </p:sp>
      <p:pic>
        <p:nvPicPr>
          <p:cNvPr id="163" name="Google Shape;16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49CD5E89-1073-4A72-A930-74619A1892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5635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</TotalTime>
  <Words>1016</Words>
  <Application>Microsoft Office PowerPoint</Application>
  <PresentationFormat>On-screen Show (4:3)</PresentationFormat>
  <Paragraphs>168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Times New Roman</vt:lpstr>
      <vt:lpstr>Calibri</vt:lpstr>
      <vt:lpstr>Century Schoolbook</vt:lpstr>
      <vt:lpstr>Arial</vt:lpstr>
      <vt:lpstr>Wingdings</vt:lpstr>
      <vt:lpstr>Office Theme</vt:lpstr>
      <vt:lpstr>“BookIQ”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“BookIQ”</dc:title>
  <dc:creator>Hp</dc:creator>
  <cp:lastModifiedBy>Naman Babbar</cp:lastModifiedBy>
  <cp:revision>15</cp:revision>
  <dcterms:created xsi:type="dcterms:W3CDTF">2018-12-06T11:05:22Z</dcterms:created>
  <dcterms:modified xsi:type="dcterms:W3CDTF">2025-04-23T06:06:49Z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2017-02-01T00:00:00Z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2018-12-06T00:00:00Z</vt:filetime>
  </property>
</Properties>
</file>