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4" y="-85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33314-8871-42CF-B70B-E6A7039D2F10}" type="datetimeFigureOut">
              <a:rPr lang="en-IN" smtClean="0"/>
              <a:t>28-02-2025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13AE4-600B-4ADF-B0F5-2F31098F8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02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13AE4-600B-4ADF-B0F5-2F31098F832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659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13E4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13E4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13E4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13E4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3568" y="81280"/>
            <a:ext cx="2920873" cy="135420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39674" y="1435468"/>
            <a:ext cx="2869565" cy="662305"/>
          </a:xfrm>
          <a:custGeom>
            <a:avLst/>
            <a:gdLst/>
            <a:ahLst/>
            <a:cxnLst/>
            <a:rect l="l" t="t" r="r" b="b"/>
            <a:pathLst>
              <a:path w="2869565" h="662305">
                <a:moveTo>
                  <a:pt x="2869438" y="0"/>
                </a:moveTo>
                <a:lnTo>
                  <a:pt x="0" y="0"/>
                </a:lnTo>
                <a:lnTo>
                  <a:pt x="0" y="661682"/>
                </a:lnTo>
                <a:lnTo>
                  <a:pt x="2869438" y="661682"/>
                </a:lnTo>
                <a:lnTo>
                  <a:pt x="2869438" y="0"/>
                </a:lnTo>
                <a:close/>
              </a:path>
            </a:pathLst>
          </a:custGeom>
          <a:solidFill>
            <a:srgbClr val="FDE4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96847" y="180047"/>
            <a:ext cx="8798305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13E4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4542" y="829055"/>
            <a:ext cx="9047480" cy="940642"/>
          </a:xfrm>
          <a:prstGeom prst="rect">
            <a:avLst/>
          </a:prstGeom>
          <a:solidFill>
            <a:srgbClr val="2E5395"/>
          </a:solidFill>
        </p:spPr>
        <p:txBody>
          <a:bodyPr vert="horz" wrap="square" lIns="0" tIns="42545" rIns="0" bIns="0" rtlCol="0">
            <a:spAutoFit/>
          </a:bodyPr>
          <a:lstStyle/>
          <a:p>
            <a:pPr marL="73660" algn="ctr">
              <a:lnSpc>
                <a:spcPts val="2140"/>
              </a:lnSpc>
              <a:spcBef>
                <a:spcPts val="335"/>
              </a:spcBef>
            </a:pPr>
            <a:r>
              <a:rPr sz="1800" spc="195" dirty="0">
                <a:solidFill>
                  <a:srgbClr val="FFFFFF"/>
                </a:solidFill>
                <a:latin typeface="Cambria"/>
                <a:cs typeface="Cambria"/>
              </a:rPr>
              <a:t>DEPARTMENT</a:t>
            </a:r>
            <a:r>
              <a:rPr sz="1800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2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1800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20" dirty="0">
                <a:solidFill>
                  <a:srgbClr val="FFFFFF"/>
                </a:solidFill>
                <a:latin typeface="Cambria"/>
                <a:cs typeface="Cambria"/>
              </a:rPr>
              <a:t>COMPUTER</a:t>
            </a:r>
            <a:r>
              <a:rPr sz="1800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35" dirty="0">
                <a:solidFill>
                  <a:srgbClr val="FFFFFF"/>
                </a:solidFill>
                <a:latin typeface="Cambria"/>
                <a:cs typeface="Cambria"/>
              </a:rPr>
              <a:t>SCIENCE</a:t>
            </a:r>
            <a:r>
              <a:rPr sz="18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20" dirty="0">
                <a:solidFill>
                  <a:srgbClr val="FFFFFF"/>
                </a:solidFill>
                <a:latin typeface="Cambria"/>
                <a:cs typeface="Cambria"/>
              </a:rPr>
              <a:t>&amp;</a:t>
            </a:r>
            <a:r>
              <a:rPr sz="18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15" dirty="0">
                <a:solidFill>
                  <a:srgbClr val="FFFFFF"/>
                </a:solidFill>
                <a:latin typeface="Cambria"/>
                <a:cs typeface="Cambria"/>
              </a:rPr>
              <a:t>ENGINEERING</a:t>
            </a:r>
            <a:endParaRPr sz="1800" dirty="0">
              <a:latin typeface="Cambria"/>
              <a:cs typeface="Cambria"/>
            </a:endParaRPr>
          </a:p>
          <a:p>
            <a:pPr marL="74930" algn="ctr">
              <a:lnSpc>
                <a:spcPts val="2845"/>
              </a:lnSpc>
            </a:pPr>
            <a:r>
              <a:rPr lang="en-IN" sz="2400" b="1" i="1" spc="-10" dirty="0" err="1">
                <a:solidFill>
                  <a:srgbClr val="FFFFFF"/>
                </a:solidFill>
                <a:latin typeface="Arial"/>
                <a:cs typeface="Arial"/>
              </a:rPr>
              <a:t>BookIQ</a:t>
            </a:r>
            <a:endParaRPr sz="2400" dirty="0">
              <a:latin typeface="Arial"/>
              <a:cs typeface="Arial"/>
            </a:endParaRPr>
          </a:p>
          <a:p>
            <a:pPr marL="78105" algn="ctr">
              <a:lnSpc>
                <a:spcPts val="2140"/>
              </a:lnSpc>
            </a:pPr>
            <a:r>
              <a:rPr lang="en-IN" sz="1800" i="1" dirty="0">
                <a:solidFill>
                  <a:srgbClr val="FFFFFF"/>
                </a:solidFill>
                <a:latin typeface="Calibri"/>
                <a:cs typeface="Calibri"/>
              </a:rPr>
              <a:t>Amit</a:t>
            </a:r>
            <a:r>
              <a:rPr lang="en-IN" sz="1800" i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1800" i="1" dirty="0" err="1">
                <a:solidFill>
                  <a:srgbClr val="FFFFFF"/>
                </a:solidFill>
                <a:latin typeface="Calibri"/>
                <a:cs typeface="Calibri"/>
              </a:rPr>
              <a:t>Nishankar</a:t>
            </a:r>
            <a:r>
              <a:rPr lang="en-IN" sz="1800" i="1" dirty="0">
                <a:solidFill>
                  <a:srgbClr val="FFFFFF"/>
                </a:solidFill>
                <a:latin typeface="Calibri"/>
                <a:cs typeface="Calibri"/>
              </a:rPr>
              <a:t> ,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Goutam</a:t>
            </a:r>
            <a:r>
              <a:rPr sz="1800" i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Kumar,</a:t>
            </a:r>
            <a:r>
              <a:rPr lang="en-IN" sz="1800" i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IN" sz="1800" i="1" dirty="0" err="1">
                <a:solidFill>
                  <a:srgbClr val="FFFFFF"/>
                </a:solidFill>
                <a:latin typeface="Calibri"/>
                <a:cs typeface="Calibri"/>
              </a:rPr>
              <a:t>Khwaish</a:t>
            </a:r>
            <a:r>
              <a:rPr lang="en-IN" sz="1800" i="1" dirty="0">
                <a:solidFill>
                  <a:srgbClr val="FFFFFF"/>
                </a:solidFill>
                <a:latin typeface="Calibri"/>
                <a:cs typeface="Calibri"/>
              </a:rPr>
              <a:t> Agarwal,</a:t>
            </a:r>
            <a:r>
              <a:rPr sz="18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Naman</a:t>
            </a:r>
            <a:r>
              <a:rPr sz="1800" i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Babbar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338" y="1374365"/>
            <a:ext cx="1407160" cy="64071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600" b="1" dirty="0">
                <a:latin typeface="Calibri"/>
                <a:cs typeface="Calibri"/>
              </a:rPr>
              <a:t>Faculty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Guide: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lang="en-IN" sz="1400" b="1" dirty="0">
                <a:latin typeface="Calibri"/>
                <a:cs typeface="Calibri"/>
              </a:rPr>
              <a:t>Prof. Nilesh </a:t>
            </a:r>
            <a:r>
              <a:rPr lang="en-IN" sz="1400" b="1" dirty="0" err="1">
                <a:latin typeface="Calibri"/>
                <a:cs typeface="Calibri"/>
              </a:rPr>
              <a:t>Kulal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074542" y="180047"/>
            <a:ext cx="7420609" cy="575310"/>
          </a:xfrm>
          <a:prstGeom prst="rect">
            <a:avLst/>
          </a:prstGeom>
          <a:solidFill>
            <a:srgbClr val="B3C5E7"/>
          </a:solidFill>
        </p:spPr>
        <p:txBody>
          <a:bodyPr vert="horz" wrap="square" lIns="0" tIns="29845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235"/>
              </a:spcBef>
            </a:pPr>
            <a:r>
              <a:rPr spc="295" dirty="0"/>
              <a:t>MIT</a:t>
            </a:r>
            <a:r>
              <a:rPr spc="170" dirty="0"/>
              <a:t> </a:t>
            </a:r>
            <a:r>
              <a:rPr spc="434" dirty="0"/>
              <a:t>SCHOOL</a:t>
            </a:r>
            <a:r>
              <a:rPr spc="170" dirty="0"/>
              <a:t> </a:t>
            </a:r>
            <a:r>
              <a:rPr spc="395" dirty="0"/>
              <a:t>OF</a:t>
            </a:r>
            <a:r>
              <a:rPr spc="190" dirty="0"/>
              <a:t> </a:t>
            </a:r>
            <a:r>
              <a:rPr spc="395" dirty="0"/>
              <a:t>COMPUTING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9700" y="5256529"/>
            <a:ext cx="4160520" cy="1364476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400" b="1" dirty="0">
                <a:latin typeface="Arial"/>
                <a:cs typeface="Arial"/>
              </a:rPr>
              <a:t>Problem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statement</a:t>
            </a:r>
            <a:endParaRPr lang="en-US" sz="1400" dirty="0">
              <a:latin typeface="Arial"/>
              <a:cs typeface="Arial"/>
            </a:endParaRPr>
          </a:p>
          <a:p>
            <a:pPr marL="90805" marR="83820">
              <a:lnSpc>
                <a:spcPct val="100000"/>
              </a:lnSpc>
            </a:pPr>
            <a:endParaRPr lang="en-US" sz="1200" dirty="0"/>
          </a:p>
          <a:p>
            <a:pPr marL="90805" marR="83820">
              <a:lnSpc>
                <a:spcPct val="100000"/>
              </a:lnSpc>
            </a:pPr>
            <a:r>
              <a:rPr lang="en-US" sz="1200" dirty="0"/>
              <a:t>To solve the problem of evaluating textbook quality before purchase, ensuring students and educators make informed decisions based on reliable reviews, structured insights, and OCR-based data analysis.</a:t>
            </a:r>
          </a:p>
          <a:p>
            <a:pPr marL="90805" marR="83820">
              <a:lnSpc>
                <a:spcPct val="100000"/>
              </a:lnSpc>
            </a:pPr>
            <a:endParaRPr lang="en-US" sz="12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2295" y="5256529"/>
            <a:ext cx="3855720" cy="1372171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20"/>
              </a:spcBef>
            </a:pPr>
            <a:r>
              <a:rPr sz="1400" b="1" dirty="0">
                <a:latin typeface="Arial"/>
                <a:cs typeface="Arial"/>
              </a:rPr>
              <a:t>Proposed</a:t>
            </a:r>
            <a:r>
              <a:rPr sz="1400" b="1" spc="-7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Solution</a:t>
            </a:r>
            <a:endParaRPr sz="1400" dirty="0">
              <a:latin typeface="Arial"/>
              <a:cs typeface="Arial"/>
            </a:endParaRPr>
          </a:p>
          <a:p>
            <a:pPr marL="174625" indent="-173355" algn="l">
              <a:lnSpc>
                <a:spcPct val="100000"/>
              </a:lnSpc>
              <a:spcBef>
                <a:spcPts val="120"/>
              </a:spcBef>
              <a:buChar char="•"/>
              <a:tabLst>
                <a:tab pos="174625" algn="l"/>
              </a:tabLst>
            </a:pPr>
            <a:r>
              <a:rPr lang="en-US" sz="1000" dirty="0"/>
              <a:t>Develop an AI-powered application that uses OCR and data analysis to evaluate textbooks based on reviews, ratings, and credibility scores.</a:t>
            </a:r>
          </a:p>
          <a:p>
            <a:pPr marL="174625" indent="-173355" algn="l">
              <a:lnSpc>
                <a:spcPct val="100000"/>
              </a:lnSpc>
              <a:spcBef>
                <a:spcPts val="120"/>
              </a:spcBef>
              <a:buChar char="•"/>
              <a:tabLst>
                <a:tab pos="174625" algn="l"/>
              </a:tabLst>
            </a:pPr>
            <a:r>
              <a:rPr lang="en-US" sz="1000" dirty="0"/>
              <a:t>Enable users to scan book details or input author information to receive structured insights, comparisons, and recommendations for better decisions.</a:t>
            </a:r>
          </a:p>
          <a:p>
            <a:pPr marL="174625" indent="-173355" algn="l">
              <a:lnSpc>
                <a:spcPct val="100000"/>
              </a:lnSpc>
              <a:spcBef>
                <a:spcPts val="120"/>
              </a:spcBef>
              <a:buChar char="•"/>
              <a:tabLst>
                <a:tab pos="174625" algn="l"/>
              </a:tabLst>
            </a:pPr>
            <a:r>
              <a:rPr sz="1000" dirty="0">
                <a:latin typeface="Arial MT"/>
                <a:cs typeface="Arial MT"/>
              </a:rPr>
              <a:t>Clubs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can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add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or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remove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events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from</a:t>
            </a:r>
            <a:r>
              <a:rPr sz="1000" spc="7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the</a:t>
            </a:r>
            <a:r>
              <a:rPr sz="1000" spc="5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website</a:t>
            </a:r>
            <a:r>
              <a:rPr sz="1000" spc="4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on </a:t>
            </a:r>
            <a:r>
              <a:rPr sz="1000" dirty="0">
                <a:latin typeface="Arial MT"/>
                <a:cs typeface="Arial MT"/>
              </a:rPr>
              <a:t>their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own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71205" y="5256529"/>
            <a:ext cx="3734435" cy="1364476"/>
          </a:xfrm>
          <a:prstGeom prst="rect">
            <a:avLst/>
          </a:prstGeom>
          <a:ln w="9525">
            <a:solidFill>
              <a:srgbClr val="4471C4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62660">
              <a:lnSpc>
                <a:spcPct val="100000"/>
              </a:lnSpc>
              <a:spcBef>
                <a:spcPts val="320"/>
              </a:spcBef>
            </a:pPr>
            <a:r>
              <a:rPr sz="1400" b="1" dirty="0">
                <a:latin typeface="Arial"/>
                <a:cs typeface="Arial"/>
              </a:rPr>
              <a:t>Scope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and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Feasibility</a:t>
            </a:r>
            <a:endParaRPr lang="en-IN" sz="1400" b="1" spc="-10" dirty="0">
              <a:latin typeface="Arial"/>
              <a:cs typeface="Arial"/>
            </a:endParaRPr>
          </a:p>
          <a:p>
            <a:pPr marL="92075" marR="123189">
              <a:lnSpc>
                <a:spcPct val="100000"/>
              </a:lnSpc>
              <a:spcBef>
                <a:spcPts val="10"/>
              </a:spcBef>
            </a:pPr>
            <a:r>
              <a:rPr lang="en-US" sz="1200" b="1" dirty="0">
                <a:latin typeface="Arial MT"/>
                <a:cs typeface="Arial MT"/>
              </a:rPr>
              <a:t>Scope: </a:t>
            </a:r>
            <a:r>
              <a:rPr lang="en-US" sz="1200" dirty="0"/>
              <a:t>Enables students and educators to assess book quality using OCR, reviews, and metadata analysis.</a:t>
            </a:r>
            <a:r>
              <a:rPr lang="en-US" sz="1200" spc="-55" dirty="0">
                <a:latin typeface="Arial MT"/>
                <a:cs typeface="Arial MT"/>
              </a:rPr>
              <a:t> </a:t>
            </a:r>
          </a:p>
          <a:p>
            <a:pPr marL="92075" marR="123189">
              <a:lnSpc>
                <a:spcPct val="100000"/>
              </a:lnSpc>
              <a:spcBef>
                <a:spcPts val="10"/>
              </a:spcBef>
            </a:pPr>
            <a:r>
              <a:rPr lang="en-US" sz="1200" b="1" spc="-20" dirty="0">
                <a:latin typeface="Arial MT"/>
                <a:cs typeface="Arial MT"/>
              </a:rPr>
              <a:t>Feasibility</a:t>
            </a:r>
            <a:r>
              <a:rPr lang="en-US" sz="1200" spc="-20" dirty="0">
                <a:latin typeface="Arial MT"/>
                <a:cs typeface="Arial MT"/>
              </a:rPr>
              <a:t>: </a:t>
            </a:r>
            <a:r>
              <a:rPr lang="en-US" sz="1200" dirty="0"/>
              <a:t>Developed using JavaScript, Node.js, Tesseract.js, and APIs, ensuring smooth integration and accurate book evaluation.</a:t>
            </a:r>
            <a:endParaRPr lang="en-US" sz="12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65383" y="180047"/>
            <a:ext cx="1556385" cy="527067"/>
          </a:xfrm>
          <a:prstGeom prst="rect">
            <a:avLst/>
          </a:prstGeom>
          <a:solidFill>
            <a:srgbClr val="FDE499"/>
          </a:solidFill>
        </p:spPr>
        <p:txBody>
          <a:bodyPr vert="horz" wrap="square" lIns="0" tIns="34290" rIns="0" bIns="0" rtlCol="0">
            <a:spAutoFit/>
          </a:bodyPr>
          <a:lstStyle/>
          <a:p>
            <a:pPr marL="92710" marR="123825">
              <a:lnSpc>
                <a:spcPct val="100000"/>
              </a:lnSpc>
              <a:spcBef>
                <a:spcPts val="270"/>
              </a:spcBef>
            </a:pPr>
            <a:r>
              <a:rPr sz="1600" b="1" dirty="0">
                <a:latin typeface="Calibri"/>
                <a:cs typeface="Calibri"/>
              </a:rPr>
              <a:t>Class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TYCORE6 </a:t>
            </a:r>
            <a:r>
              <a:rPr sz="1600" b="1" dirty="0">
                <a:latin typeface="Calibri"/>
                <a:cs typeface="Calibri"/>
              </a:rPr>
              <a:t>Group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Id:</a:t>
            </a:r>
            <a:r>
              <a:rPr sz="1600" b="1" spc="-25" dirty="0">
                <a:latin typeface="Calibri"/>
                <a:cs typeface="Calibri"/>
              </a:rPr>
              <a:t> 6</a:t>
            </a:r>
            <a:r>
              <a:rPr lang="en-IN" sz="1600" b="1" spc="-25" dirty="0">
                <a:latin typeface="Calibri"/>
                <a:cs typeface="Calibri"/>
              </a:rPr>
              <a:t>08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3670" y="2334260"/>
            <a:ext cx="4147820" cy="2768600"/>
          </a:xfrm>
          <a:custGeom>
            <a:avLst/>
            <a:gdLst/>
            <a:ahLst/>
            <a:cxnLst/>
            <a:rect l="l" t="t" r="r" b="b"/>
            <a:pathLst>
              <a:path w="4147820" h="2768600">
                <a:moveTo>
                  <a:pt x="0" y="2768600"/>
                </a:moveTo>
                <a:lnTo>
                  <a:pt x="4147820" y="2768600"/>
                </a:lnTo>
                <a:lnTo>
                  <a:pt x="4147820" y="0"/>
                </a:lnTo>
                <a:lnTo>
                  <a:pt x="0" y="0"/>
                </a:lnTo>
                <a:lnTo>
                  <a:pt x="0" y="2768600"/>
                </a:lnTo>
                <a:close/>
              </a:path>
            </a:pathLst>
          </a:custGeom>
          <a:ln w="9525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408487" y="2331048"/>
            <a:ext cx="3855720" cy="2641108"/>
          </a:xfrm>
          <a:prstGeom prst="rect">
            <a:avLst/>
          </a:prstGeom>
          <a:ln w="9525">
            <a:solidFill>
              <a:srgbClr val="00AFEF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1400" b="1" spc="-10" dirty="0">
                <a:latin typeface="Arial"/>
                <a:cs typeface="Arial"/>
              </a:rPr>
              <a:t>Ideation</a:t>
            </a:r>
            <a:endParaRPr sz="1400" dirty="0">
              <a:latin typeface="Arial"/>
              <a:cs typeface="Arial"/>
            </a:endParaRPr>
          </a:p>
          <a:p>
            <a:pPr marL="33655" marR="28575" algn="just">
              <a:lnSpc>
                <a:spcPct val="100000"/>
              </a:lnSpc>
              <a:spcBef>
                <a:spcPts val="1330"/>
              </a:spcBef>
            </a:pPr>
            <a:r>
              <a:rPr lang="en-US" sz="1400" dirty="0"/>
              <a:t>Despite the abundance of textbooks, selecting the right one remains a challenge for students and educators. Many invest time and money in books only to find them outdated or ineffective. To solve this, I envisioned a Textbook Quality Assessment Application—an AI-powered tool that analyzes book quality through OCR, reviews, and structured insights, ensuring smarter academic choices and a seamless learning experience.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532508" y="2361692"/>
            <a:ext cx="12763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Arial"/>
                <a:cs typeface="Arial"/>
              </a:rPr>
              <a:t>Empathy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Chart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70569" y="2334260"/>
            <a:ext cx="3729354" cy="2788920"/>
          </a:xfrm>
          <a:prstGeom prst="rect">
            <a:avLst/>
          </a:prstGeom>
          <a:ln w="9525">
            <a:solidFill>
              <a:srgbClr val="00AFEF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1188720">
              <a:lnSpc>
                <a:spcPct val="100000"/>
              </a:lnSpc>
              <a:spcBef>
                <a:spcPts val="615"/>
              </a:spcBef>
            </a:pPr>
            <a:r>
              <a:rPr sz="1400" b="1" dirty="0">
                <a:latin typeface="Arial"/>
                <a:cs typeface="Arial"/>
              </a:rPr>
              <a:t>Block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Diagram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4470" y="2678468"/>
            <a:ext cx="1619250" cy="1046480"/>
          </a:xfrm>
          <a:custGeom>
            <a:avLst/>
            <a:gdLst/>
            <a:ahLst/>
            <a:cxnLst/>
            <a:rect l="l" t="t" r="r" b="b"/>
            <a:pathLst>
              <a:path w="1619250" h="1046479">
                <a:moveTo>
                  <a:pt x="0" y="1046441"/>
                </a:moveTo>
                <a:lnTo>
                  <a:pt x="1619250" y="1046441"/>
                </a:lnTo>
                <a:lnTo>
                  <a:pt x="1619250" y="0"/>
                </a:lnTo>
                <a:lnTo>
                  <a:pt x="0" y="0"/>
                </a:lnTo>
                <a:lnTo>
                  <a:pt x="0" y="104644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9904" y="2708909"/>
            <a:ext cx="8197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Arial"/>
                <a:cs typeface="Arial"/>
              </a:rPr>
              <a:t>User</a:t>
            </a:r>
            <a:r>
              <a:rPr sz="900" b="1" spc="-3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Segment: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5960" y="2916218"/>
            <a:ext cx="136017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085" marR="508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172085" algn="l"/>
              </a:tabLst>
            </a:pPr>
            <a:r>
              <a:rPr lang="en-US" sz="600" dirty="0"/>
              <a:t>Students struggling to find quality study materials</a:t>
            </a:r>
            <a:r>
              <a:rPr sz="600" spc="-10" dirty="0">
                <a:latin typeface="Arial MT"/>
                <a:cs typeface="Arial MT"/>
              </a:rPr>
              <a:t>.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5960" y="3162848"/>
            <a:ext cx="139255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085" marR="508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172085" algn="l"/>
              </a:tabLst>
            </a:pPr>
            <a:r>
              <a:rPr lang="en-US" sz="600" dirty="0"/>
              <a:t>Educators seeking reliable reference books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4470" y="3878834"/>
            <a:ext cx="1619250" cy="984885"/>
          </a:xfrm>
          <a:custGeom>
            <a:avLst/>
            <a:gdLst/>
            <a:ahLst/>
            <a:cxnLst/>
            <a:rect l="l" t="t" r="r" b="b"/>
            <a:pathLst>
              <a:path w="1619250" h="984885">
                <a:moveTo>
                  <a:pt x="0" y="984884"/>
                </a:moveTo>
                <a:lnTo>
                  <a:pt x="1619250" y="984884"/>
                </a:lnTo>
                <a:lnTo>
                  <a:pt x="1619250" y="0"/>
                </a:lnTo>
                <a:lnTo>
                  <a:pt x="0" y="0"/>
                </a:lnTo>
                <a:lnTo>
                  <a:pt x="0" y="984884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91616" y="3909441"/>
            <a:ext cx="8585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Arial"/>
                <a:cs typeface="Arial"/>
              </a:rPr>
              <a:t>User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Thoughts: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5960" y="4155185"/>
            <a:ext cx="143065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085" marR="508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172085" algn="l"/>
              </a:tabLst>
            </a:pPr>
            <a:r>
              <a:rPr lang="en-US" sz="600" dirty="0"/>
              <a:t>"Is this book worth my time?"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5960" y="4353805"/>
            <a:ext cx="141224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085" marR="508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172085" algn="l"/>
              </a:tabLst>
            </a:pPr>
            <a:r>
              <a:rPr lang="en-US" sz="600" dirty="0"/>
              <a:t>"Are the reviews reliable and unbiased?"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65882" y="2657030"/>
            <a:ext cx="1846580" cy="1031240"/>
          </a:xfrm>
          <a:custGeom>
            <a:avLst/>
            <a:gdLst/>
            <a:ahLst/>
            <a:cxnLst/>
            <a:rect l="l" t="t" r="r" b="b"/>
            <a:pathLst>
              <a:path w="1846579" h="1031239">
                <a:moveTo>
                  <a:pt x="0" y="1031049"/>
                </a:moveTo>
                <a:lnTo>
                  <a:pt x="1846071" y="1031049"/>
                </a:lnTo>
                <a:lnTo>
                  <a:pt x="1846071" y="0"/>
                </a:lnTo>
                <a:lnTo>
                  <a:pt x="0" y="0"/>
                </a:lnTo>
                <a:lnTo>
                  <a:pt x="0" y="1031049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980308" y="2687573"/>
            <a:ext cx="62928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Arial"/>
                <a:cs typeface="Arial"/>
              </a:rPr>
              <a:t>User</a:t>
            </a:r>
            <a:r>
              <a:rPr sz="900" b="1" spc="-3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Feels: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09964" y="2911764"/>
            <a:ext cx="162179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085" marR="5080" indent="-172085" algn="l">
              <a:lnSpc>
                <a:spcPct val="100000"/>
              </a:lnSpc>
              <a:spcBef>
                <a:spcPts val="95"/>
              </a:spcBef>
              <a:buChar char="•"/>
              <a:tabLst>
                <a:tab pos="172085" algn="l"/>
              </a:tabLst>
            </a:pPr>
            <a:r>
              <a:rPr lang="en-US" sz="600" spc="-10" dirty="0">
                <a:latin typeface="Arial MT"/>
                <a:cs typeface="Arial MT"/>
              </a:rPr>
              <a:t>Frustrated by outdating or misleading content.                                            </a:t>
            </a:r>
            <a:r>
              <a:rPr lang="en-US" sz="600" dirty="0">
                <a:latin typeface="Arial MT"/>
                <a:cs typeface="Arial MT"/>
              </a:rPr>
              <a:t> </a:t>
            </a:r>
            <a:r>
              <a:rPr lang="en-US" sz="700" spc="-10" dirty="0">
                <a:latin typeface="Arial MT"/>
                <a:cs typeface="Arial MT"/>
              </a:rPr>
              <a:t>-</a:t>
            </a:r>
            <a:endParaRPr lang="en-US" sz="700" dirty="0">
              <a:latin typeface="Arial MT"/>
              <a:cs typeface="Arial MT"/>
            </a:endParaRPr>
          </a:p>
          <a:p>
            <a:pPr marR="59055" algn="r">
              <a:lnSpc>
                <a:spcPct val="100000"/>
              </a:lnSpc>
            </a:pPr>
            <a:r>
              <a:rPr lang="en-US" sz="700" spc="-10" dirty="0">
                <a:latin typeface="Arial MT"/>
                <a:cs typeface="Arial MT"/>
              </a:rPr>
              <a:t>.</a:t>
            </a:r>
            <a:endParaRPr lang="en-US" sz="700" dirty="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19426" y="3156622"/>
            <a:ext cx="14439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085" marR="508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172085" algn="l"/>
              </a:tabLst>
            </a:pPr>
            <a:r>
              <a:rPr lang="en-US" sz="600" dirty="0"/>
              <a:t>Overwhelmed by too many book options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65882" y="3859872"/>
            <a:ext cx="1846580" cy="1016000"/>
          </a:xfrm>
          <a:custGeom>
            <a:avLst/>
            <a:gdLst/>
            <a:ahLst/>
            <a:cxnLst/>
            <a:rect l="l" t="t" r="r" b="b"/>
            <a:pathLst>
              <a:path w="1846579" h="1016000">
                <a:moveTo>
                  <a:pt x="0" y="1015657"/>
                </a:moveTo>
                <a:lnTo>
                  <a:pt x="1846071" y="1015657"/>
                </a:lnTo>
                <a:lnTo>
                  <a:pt x="1846071" y="0"/>
                </a:lnTo>
                <a:lnTo>
                  <a:pt x="0" y="0"/>
                </a:lnTo>
                <a:lnTo>
                  <a:pt x="0" y="1015657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2949829" y="3890517"/>
            <a:ext cx="6908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900" b="1" dirty="0">
                <a:latin typeface="Arial"/>
                <a:cs typeface="Arial"/>
              </a:rPr>
              <a:t>User</a:t>
            </a:r>
            <a:r>
              <a:rPr sz="900" b="1" spc="-2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Action:</a:t>
            </a:r>
            <a:endParaRPr sz="9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57576" y="4166361"/>
            <a:ext cx="165544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085" indent="-172085">
              <a:lnSpc>
                <a:spcPct val="100000"/>
              </a:lnSpc>
              <a:spcBef>
                <a:spcPts val="95"/>
              </a:spcBef>
              <a:buChar char="•"/>
              <a:tabLst>
                <a:tab pos="172085" algn="l"/>
              </a:tabLst>
            </a:pPr>
            <a:r>
              <a:rPr lang="en-US" sz="600" dirty="0"/>
              <a:t>Search online for book ratings and reviews.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54021" y="4324355"/>
            <a:ext cx="1509395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085" marR="508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172085" algn="l"/>
              </a:tabLst>
            </a:pPr>
            <a:r>
              <a:rPr lang="en-US" sz="600" dirty="0"/>
              <a:t>Compare multiple books before making a choice</a:t>
            </a:r>
            <a:r>
              <a:rPr lang="en-US" sz="800" dirty="0"/>
              <a:t>.</a:t>
            </a:r>
            <a:endParaRPr sz="700" dirty="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609471" y="3451605"/>
            <a:ext cx="857250" cy="770890"/>
            <a:chOff x="1609471" y="3451605"/>
            <a:chExt cx="857250" cy="770890"/>
          </a:xfrm>
        </p:grpSpPr>
        <p:sp>
          <p:nvSpPr>
            <p:cNvPr id="31" name="object 31"/>
            <p:cNvSpPr/>
            <p:nvPr/>
          </p:nvSpPr>
          <p:spPr>
            <a:xfrm>
              <a:off x="1622171" y="3464305"/>
              <a:ext cx="831850" cy="745490"/>
            </a:xfrm>
            <a:custGeom>
              <a:avLst/>
              <a:gdLst/>
              <a:ahLst/>
              <a:cxnLst/>
              <a:rect l="l" t="t" r="r" b="b"/>
              <a:pathLst>
                <a:path w="831850" h="745489">
                  <a:moveTo>
                    <a:pt x="415797" y="0"/>
                  </a:moveTo>
                  <a:lnTo>
                    <a:pt x="363645" y="2904"/>
                  </a:lnTo>
                  <a:lnTo>
                    <a:pt x="313425" y="11383"/>
                  </a:lnTo>
                  <a:lnTo>
                    <a:pt x="265526" y="25089"/>
                  </a:lnTo>
                  <a:lnTo>
                    <a:pt x="220339" y="43671"/>
                  </a:lnTo>
                  <a:lnTo>
                    <a:pt x="178253" y="66781"/>
                  </a:lnTo>
                  <a:lnTo>
                    <a:pt x="139659" y="94070"/>
                  </a:lnTo>
                  <a:lnTo>
                    <a:pt x="104945" y="125187"/>
                  </a:lnTo>
                  <a:lnTo>
                    <a:pt x="74503" y="159785"/>
                  </a:lnTo>
                  <a:lnTo>
                    <a:pt x="48721" y="197513"/>
                  </a:lnTo>
                  <a:lnTo>
                    <a:pt x="27990" y="238022"/>
                  </a:lnTo>
                  <a:lnTo>
                    <a:pt x="12700" y="280963"/>
                  </a:lnTo>
                  <a:lnTo>
                    <a:pt x="3240" y="325987"/>
                  </a:lnTo>
                  <a:lnTo>
                    <a:pt x="0" y="372745"/>
                  </a:lnTo>
                  <a:lnTo>
                    <a:pt x="3240" y="419475"/>
                  </a:lnTo>
                  <a:lnTo>
                    <a:pt x="12700" y="464476"/>
                  </a:lnTo>
                  <a:lnTo>
                    <a:pt x="27990" y="507398"/>
                  </a:lnTo>
                  <a:lnTo>
                    <a:pt x="48721" y="547891"/>
                  </a:lnTo>
                  <a:lnTo>
                    <a:pt x="74503" y="585607"/>
                  </a:lnTo>
                  <a:lnTo>
                    <a:pt x="104945" y="620194"/>
                  </a:lnTo>
                  <a:lnTo>
                    <a:pt x="139659" y="651305"/>
                  </a:lnTo>
                  <a:lnTo>
                    <a:pt x="178253" y="678588"/>
                  </a:lnTo>
                  <a:lnTo>
                    <a:pt x="220339" y="701694"/>
                  </a:lnTo>
                  <a:lnTo>
                    <a:pt x="265526" y="720275"/>
                  </a:lnTo>
                  <a:lnTo>
                    <a:pt x="313425" y="733979"/>
                  </a:lnTo>
                  <a:lnTo>
                    <a:pt x="363645" y="742458"/>
                  </a:lnTo>
                  <a:lnTo>
                    <a:pt x="415797" y="745363"/>
                  </a:lnTo>
                  <a:lnTo>
                    <a:pt x="467977" y="742458"/>
                  </a:lnTo>
                  <a:lnTo>
                    <a:pt x="518220" y="733979"/>
                  </a:lnTo>
                  <a:lnTo>
                    <a:pt x="566138" y="720275"/>
                  </a:lnTo>
                  <a:lnTo>
                    <a:pt x="611341" y="701694"/>
                  </a:lnTo>
                  <a:lnTo>
                    <a:pt x="653439" y="678588"/>
                  </a:lnTo>
                  <a:lnTo>
                    <a:pt x="692043" y="651305"/>
                  </a:lnTo>
                  <a:lnTo>
                    <a:pt x="726764" y="620194"/>
                  </a:lnTo>
                  <a:lnTo>
                    <a:pt x="757212" y="585607"/>
                  </a:lnTo>
                  <a:lnTo>
                    <a:pt x="782997" y="547891"/>
                  </a:lnTo>
                  <a:lnTo>
                    <a:pt x="803730" y="507398"/>
                  </a:lnTo>
                  <a:lnTo>
                    <a:pt x="819022" y="464476"/>
                  </a:lnTo>
                  <a:lnTo>
                    <a:pt x="828482" y="419475"/>
                  </a:lnTo>
                  <a:lnTo>
                    <a:pt x="831722" y="372745"/>
                  </a:lnTo>
                  <a:lnTo>
                    <a:pt x="828482" y="325987"/>
                  </a:lnTo>
                  <a:lnTo>
                    <a:pt x="819022" y="280963"/>
                  </a:lnTo>
                  <a:lnTo>
                    <a:pt x="803730" y="238022"/>
                  </a:lnTo>
                  <a:lnTo>
                    <a:pt x="782997" y="197513"/>
                  </a:lnTo>
                  <a:lnTo>
                    <a:pt x="757212" y="159785"/>
                  </a:lnTo>
                  <a:lnTo>
                    <a:pt x="726764" y="125187"/>
                  </a:lnTo>
                  <a:lnTo>
                    <a:pt x="692043" y="94070"/>
                  </a:lnTo>
                  <a:lnTo>
                    <a:pt x="653439" y="66781"/>
                  </a:lnTo>
                  <a:lnTo>
                    <a:pt x="611341" y="43671"/>
                  </a:lnTo>
                  <a:lnTo>
                    <a:pt x="566138" y="25089"/>
                  </a:lnTo>
                  <a:lnTo>
                    <a:pt x="518220" y="11383"/>
                  </a:lnTo>
                  <a:lnTo>
                    <a:pt x="467977" y="2904"/>
                  </a:lnTo>
                  <a:lnTo>
                    <a:pt x="41579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22171" y="3464305"/>
              <a:ext cx="831850" cy="745490"/>
            </a:xfrm>
            <a:custGeom>
              <a:avLst/>
              <a:gdLst/>
              <a:ahLst/>
              <a:cxnLst/>
              <a:rect l="l" t="t" r="r" b="b"/>
              <a:pathLst>
                <a:path w="831850" h="745489">
                  <a:moveTo>
                    <a:pt x="0" y="372745"/>
                  </a:moveTo>
                  <a:lnTo>
                    <a:pt x="3240" y="325987"/>
                  </a:lnTo>
                  <a:lnTo>
                    <a:pt x="12700" y="280963"/>
                  </a:lnTo>
                  <a:lnTo>
                    <a:pt x="27990" y="238022"/>
                  </a:lnTo>
                  <a:lnTo>
                    <a:pt x="48721" y="197513"/>
                  </a:lnTo>
                  <a:lnTo>
                    <a:pt x="74503" y="159785"/>
                  </a:lnTo>
                  <a:lnTo>
                    <a:pt x="104945" y="125187"/>
                  </a:lnTo>
                  <a:lnTo>
                    <a:pt x="139659" y="94070"/>
                  </a:lnTo>
                  <a:lnTo>
                    <a:pt x="178253" y="66781"/>
                  </a:lnTo>
                  <a:lnTo>
                    <a:pt x="220339" y="43671"/>
                  </a:lnTo>
                  <a:lnTo>
                    <a:pt x="265526" y="25089"/>
                  </a:lnTo>
                  <a:lnTo>
                    <a:pt x="313425" y="11383"/>
                  </a:lnTo>
                  <a:lnTo>
                    <a:pt x="363645" y="2904"/>
                  </a:lnTo>
                  <a:lnTo>
                    <a:pt x="415797" y="0"/>
                  </a:lnTo>
                  <a:lnTo>
                    <a:pt x="467977" y="2904"/>
                  </a:lnTo>
                  <a:lnTo>
                    <a:pt x="518220" y="11383"/>
                  </a:lnTo>
                  <a:lnTo>
                    <a:pt x="566138" y="25089"/>
                  </a:lnTo>
                  <a:lnTo>
                    <a:pt x="611341" y="43671"/>
                  </a:lnTo>
                  <a:lnTo>
                    <a:pt x="653439" y="66781"/>
                  </a:lnTo>
                  <a:lnTo>
                    <a:pt x="692043" y="94070"/>
                  </a:lnTo>
                  <a:lnTo>
                    <a:pt x="726764" y="125187"/>
                  </a:lnTo>
                  <a:lnTo>
                    <a:pt x="757212" y="159785"/>
                  </a:lnTo>
                  <a:lnTo>
                    <a:pt x="782997" y="197513"/>
                  </a:lnTo>
                  <a:lnTo>
                    <a:pt x="803730" y="238022"/>
                  </a:lnTo>
                  <a:lnTo>
                    <a:pt x="819022" y="280963"/>
                  </a:lnTo>
                  <a:lnTo>
                    <a:pt x="828482" y="325987"/>
                  </a:lnTo>
                  <a:lnTo>
                    <a:pt x="831722" y="372745"/>
                  </a:lnTo>
                  <a:lnTo>
                    <a:pt x="828482" y="419475"/>
                  </a:lnTo>
                  <a:lnTo>
                    <a:pt x="819022" y="464476"/>
                  </a:lnTo>
                  <a:lnTo>
                    <a:pt x="803730" y="507398"/>
                  </a:lnTo>
                  <a:lnTo>
                    <a:pt x="782997" y="547891"/>
                  </a:lnTo>
                  <a:lnTo>
                    <a:pt x="757212" y="585607"/>
                  </a:lnTo>
                  <a:lnTo>
                    <a:pt x="726764" y="620194"/>
                  </a:lnTo>
                  <a:lnTo>
                    <a:pt x="692043" y="651305"/>
                  </a:lnTo>
                  <a:lnTo>
                    <a:pt x="653439" y="678588"/>
                  </a:lnTo>
                  <a:lnTo>
                    <a:pt x="611341" y="701694"/>
                  </a:lnTo>
                  <a:lnTo>
                    <a:pt x="566138" y="720275"/>
                  </a:lnTo>
                  <a:lnTo>
                    <a:pt x="518220" y="733979"/>
                  </a:lnTo>
                  <a:lnTo>
                    <a:pt x="467977" y="742458"/>
                  </a:lnTo>
                  <a:lnTo>
                    <a:pt x="415797" y="745363"/>
                  </a:lnTo>
                  <a:lnTo>
                    <a:pt x="363645" y="742458"/>
                  </a:lnTo>
                  <a:lnTo>
                    <a:pt x="313425" y="733979"/>
                  </a:lnTo>
                  <a:lnTo>
                    <a:pt x="265526" y="720275"/>
                  </a:lnTo>
                  <a:lnTo>
                    <a:pt x="220339" y="701694"/>
                  </a:lnTo>
                  <a:lnTo>
                    <a:pt x="178253" y="678588"/>
                  </a:lnTo>
                  <a:lnTo>
                    <a:pt x="139659" y="651305"/>
                  </a:lnTo>
                  <a:lnTo>
                    <a:pt x="104945" y="620194"/>
                  </a:lnTo>
                  <a:lnTo>
                    <a:pt x="74503" y="585607"/>
                  </a:lnTo>
                  <a:lnTo>
                    <a:pt x="48721" y="547891"/>
                  </a:lnTo>
                  <a:lnTo>
                    <a:pt x="27990" y="507398"/>
                  </a:lnTo>
                  <a:lnTo>
                    <a:pt x="12700" y="464476"/>
                  </a:lnTo>
                  <a:lnTo>
                    <a:pt x="3240" y="419475"/>
                  </a:lnTo>
                  <a:lnTo>
                    <a:pt x="0" y="372745"/>
                  </a:lnTo>
                  <a:close/>
                </a:path>
              </a:pathLst>
            </a:custGeom>
            <a:ln w="254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849501" y="3712209"/>
            <a:ext cx="3892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User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4" name="object 17">
            <a:extLst>
              <a:ext uri="{FF2B5EF4-FFF2-40B4-BE49-F238E27FC236}">
                <a16:creationId xmlns:a16="http://schemas.microsoft.com/office/drawing/2014/main" id="{E763E8BA-C600-33E3-13B9-45AC0346CD8B}"/>
              </a:ext>
            </a:extLst>
          </p:cNvPr>
          <p:cNvSpPr txBox="1"/>
          <p:nvPr/>
        </p:nvSpPr>
        <p:spPr>
          <a:xfrm>
            <a:off x="295960" y="3395848"/>
            <a:ext cx="139255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085" marR="508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172085" algn="l"/>
              </a:tabLst>
            </a:pPr>
            <a:r>
              <a:rPr lang="en-US" sz="600" dirty="0"/>
              <a:t>Researchers needing credible academic resources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35" name="object 25">
            <a:extLst>
              <a:ext uri="{FF2B5EF4-FFF2-40B4-BE49-F238E27FC236}">
                <a16:creationId xmlns:a16="http://schemas.microsoft.com/office/drawing/2014/main" id="{17BB4E76-6D7B-28C7-606A-9C98E324C2EE}"/>
              </a:ext>
            </a:extLst>
          </p:cNvPr>
          <p:cNvSpPr txBox="1"/>
          <p:nvPr/>
        </p:nvSpPr>
        <p:spPr>
          <a:xfrm>
            <a:off x="2519426" y="3378101"/>
            <a:ext cx="144399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085" marR="508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172085" algn="l"/>
              </a:tabLst>
            </a:pPr>
            <a:r>
              <a:rPr lang="en-US" sz="600" dirty="0"/>
              <a:t>Eager for a smarter book selection process.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36" name="object 21">
            <a:extLst>
              <a:ext uri="{FF2B5EF4-FFF2-40B4-BE49-F238E27FC236}">
                <a16:creationId xmlns:a16="http://schemas.microsoft.com/office/drawing/2014/main" id="{A80C1566-DE6F-8707-7E7A-4E764135C069}"/>
              </a:ext>
            </a:extLst>
          </p:cNvPr>
          <p:cNvSpPr txBox="1"/>
          <p:nvPr/>
        </p:nvSpPr>
        <p:spPr>
          <a:xfrm>
            <a:off x="295960" y="4622112"/>
            <a:ext cx="1412240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085" marR="508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172085" algn="l"/>
              </a:tabLst>
            </a:pPr>
            <a:r>
              <a:rPr lang="en-US" sz="600" dirty="0"/>
              <a:t>"I wish book selection was easier!"</a:t>
            </a:r>
            <a:endParaRPr sz="600" dirty="0">
              <a:latin typeface="Arial MT"/>
              <a:cs typeface="Arial MT"/>
            </a:endParaRPr>
          </a:p>
        </p:txBody>
      </p:sp>
      <p:sp>
        <p:nvSpPr>
          <p:cNvPr id="38" name="object 29">
            <a:extLst>
              <a:ext uri="{FF2B5EF4-FFF2-40B4-BE49-F238E27FC236}">
                <a16:creationId xmlns:a16="http://schemas.microsoft.com/office/drawing/2014/main" id="{14224548-2DF2-3D61-0C49-BD79EF27CDF7}"/>
              </a:ext>
            </a:extLst>
          </p:cNvPr>
          <p:cNvSpPr txBox="1"/>
          <p:nvPr/>
        </p:nvSpPr>
        <p:spPr>
          <a:xfrm>
            <a:off x="2454784" y="4568212"/>
            <a:ext cx="15093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085" marR="5080" indent="-172720">
              <a:lnSpc>
                <a:spcPct val="100000"/>
              </a:lnSpc>
              <a:spcBef>
                <a:spcPts val="95"/>
              </a:spcBef>
              <a:buChar char="•"/>
              <a:tabLst>
                <a:tab pos="172085" algn="l"/>
              </a:tabLst>
            </a:pPr>
            <a:r>
              <a:rPr lang="en-US" sz="600" dirty="0"/>
              <a:t>Seek recommendations from professors or peers.</a:t>
            </a:r>
            <a:endParaRPr sz="600" dirty="0">
              <a:latin typeface="Arial MT"/>
              <a:cs typeface="Arial MT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1783A408-81B5-2889-B3D0-4E6987056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891" y="2502679"/>
            <a:ext cx="3689031" cy="26341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661CEB0-0D36-EB9F-19CE-127179B7F1B2}"/>
              </a:ext>
            </a:extLst>
          </p:cNvPr>
          <p:cNvSpPr/>
          <p:nvPr/>
        </p:nvSpPr>
        <p:spPr>
          <a:xfrm>
            <a:off x="7239000" y="762000"/>
            <a:ext cx="1310640" cy="51435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User Input (Enter Name/Scan)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4E28CE4-F99C-D4A1-50ED-8024A3548CC6}"/>
              </a:ext>
            </a:extLst>
          </p:cNvPr>
          <p:cNvSpPr/>
          <p:nvPr/>
        </p:nvSpPr>
        <p:spPr>
          <a:xfrm>
            <a:off x="7239000" y="1581765"/>
            <a:ext cx="1310640" cy="51435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OCR Processing 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45A9E9-8086-D3AC-8FB8-4FE6FE606A72}"/>
              </a:ext>
            </a:extLst>
          </p:cNvPr>
          <p:cNvSpPr/>
          <p:nvPr/>
        </p:nvSpPr>
        <p:spPr>
          <a:xfrm>
            <a:off x="7195738" y="5279307"/>
            <a:ext cx="1371600" cy="6477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Output &amp; Recommendations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36D760E-19B6-0534-7D74-E9292CBBE8A5}"/>
              </a:ext>
            </a:extLst>
          </p:cNvPr>
          <p:cNvSpPr/>
          <p:nvPr/>
        </p:nvSpPr>
        <p:spPr>
          <a:xfrm>
            <a:off x="7075661" y="3371850"/>
            <a:ext cx="1600200" cy="6096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Quality Assessment Sentiment Analysis Credibility Check</a:t>
            </a:r>
            <a:endParaRPr lang="en-IN" sz="10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0622E8-88DA-D1B2-0189-47426B6D7136}"/>
              </a:ext>
            </a:extLst>
          </p:cNvPr>
          <p:cNvSpPr/>
          <p:nvPr/>
        </p:nvSpPr>
        <p:spPr>
          <a:xfrm>
            <a:off x="7195738" y="4351388"/>
            <a:ext cx="1295400" cy="6477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Database &amp; Storage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FD7B19-FE41-D21C-8A33-F7A9FE1E874B}"/>
              </a:ext>
            </a:extLst>
          </p:cNvPr>
          <p:cNvSpPr/>
          <p:nvPr/>
        </p:nvSpPr>
        <p:spPr>
          <a:xfrm>
            <a:off x="7201883" y="2432257"/>
            <a:ext cx="1347757" cy="56504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Book Metadata Fetch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26BEC8-AED6-3DE8-602E-86D479A7D397}"/>
              </a:ext>
            </a:extLst>
          </p:cNvPr>
          <p:cNvSpPr/>
          <p:nvPr/>
        </p:nvSpPr>
        <p:spPr>
          <a:xfrm>
            <a:off x="9540240" y="895350"/>
            <a:ext cx="1828800" cy="247650"/>
          </a:xfrm>
          <a:prstGeom prst="roundRect">
            <a:avLst>
              <a:gd name="adj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Enter Book Details OR Scan Book</a:t>
            </a:r>
            <a:endParaRPr lang="en-IN" sz="8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183E598-FB71-2A6F-4213-EB37CCAD4D54}"/>
              </a:ext>
            </a:extLst>
          </p:cNvPr>
          <p:cNvSpPr/>
          <p:nvPr/>
        </p:nvSpPr>
        <p:spPr>
          <a:xfrm>
            <a:off x="9616440" y="4585825"/>
            <a:ext cx="1828800" cy="209550"/>
          </a:xfrm>
          <a:prstGeom prst="roundRect">
            <a:avLst>
              <a:gd name="adj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Stores Searches, Ratings &amp; Book Data</a:t>
            </a:r>
            <a:endParaRPr lang="en-IN" sz="8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F8E884B-B759-A025-31AE-3E7108005922}"/>
              </a:ext>
            </a:extLst>
          </p:cNvPr>
          <p:cNvSpPr/>
          <p:nvPr/>
        </p:nvSpPr>
        <p:spPr>
          <a:xfrm>
            <a:off x="9464040" y="2600020"/>
            <a:ext cx="1981200" cy="247650"/>
          </a:xfrm>
          <a:prstGeom prst="roundRect">
            <a:avLst>
              <a:gd name="adj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Google Books API, Open Library</a:t>
            </a:r>
            <a:endParaRPr lang="en-IN" sz="8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43116D0-4EA2-31AE-37DC-913AE12B22A4}"/>
              </a:ext>
            </a:extLst>
          </p:cNvPr>
          <p:cNvSpPr/>
          <p:nvPr/>
        </p:nvSpPr>
        <p:spPr>
          <a:xfrm>
            <a:off x="4282440" y="1715115"/>
            <a:ext cx="2381250" cy="247650"/>
          </a:xfrm>
          <a:prstGeom prst="roundRect">
            <a:avLst>
              <a:gd name="adj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Extracts Text from Scanned Book</a:t>
            </a:r>
            <a:endParaRPr lang="en-IN" sz="10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CA1AB1-80AC-2815-8D88-F50CE9E30A87}"/>
              </a:ext>
            </a:extLst>
          </p:cNvPr>
          <p:cNvSpPr/>
          <p:nvPr/>
        </p:nvSpPr>
        <p:spPr>
          <a:xfrm>
            <a:off x="4787265" y="3571875"/>
            <a:ext cx="1371600" cy="209549"/>
          </a:xfrm>
          <a:prstGeom prst="roundRect">
            <a:avLst>
              <a:gd name="adj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/>
              <a:t>Reviews &amp; Ratings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D03CDEF-9A93-103E-5EED-4B3C662B15EB}"/>
              </a:ext>
            </a:extLst>
          </p:cNvPr>
          <p:cNvSpPr/>
          <p:nvPr/>
        </p:nvSpPr>
        <p:spPr>
          <a:xfrm>
            <a:off x="4482465" y="5479332"/>
            <a:ext cx="1981200" cy="247650"/>
          </a:xfrm>
          <a:prstGeom prst="roundRect">
            <a:avLst>
              <a:gd name="adj" fmla="val 50000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Show Quality Score &amp; Suggested Books</a:t>
            </a:r>
            <a:endParaRPr lang="en-IN" sz="8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E5B1360-6BBC-804D-6051-84D1777CB697}"/>
              </a:ext>
            </a:extLst>
          </p:cNvPr>
          <p:cNvCxnSpPr>
            <a:cxnSpLocks/>
            <a:stCxn id="2" idx="3"/>
            <a:endCxn id="15" idx="1"/>
          </p:cNvCxnSpPr>
          <p:nvPr/>
        </p:nvCxnSpPr>
        <p:spPr>
          <a:xfrm>
            <a:off x="8549640" y="1019175"/>
            <a:ext cx="990600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8003E6F-2C4F-45A9-95B7-B42B1C813D9B}"/>
              </a:ext>
            </a:extLst>
          </p:cNvPr>
          <p:cNvCxnSpPr>
            <a:cxnSpLocks/>
            <a:stCxn id="3" idx="1"/>
            <a:endCxn id="22" idx="3"/>
          </p:cNvCxnSpPr>
          <p:nvPr/>
        </p:nvCxnSpPr>
        <p:spPr>
          <a:xfrm flipH="1">
            <a:off x="6663690" y="1838940"/>
            <a:ext cx="575310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C2C4491-0AC4-5328-5AD0-4006694489E6}"/>
              </a:ext>
            </a:extLst>
          </p:cNvPr>
          <p:cNvCxnSpPr>
            <a:cxnSpLocks/>
            <a:stCxn id="7" idx="3"/>
            <a:endCxn id="20" idx="1"/>
          </p:cNvCxnSpPr>
          <p:nvPr/>
        </p:nvCxnSpPr>
        <p:spPr>
          <a:xfrm>
            <a:off x="8491138" y="4675238"/>
            <a:ext cx="1125302" cy="15362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39C3A7B-1D9C-0D71-1738-F51839D79490}"/>
              </a:ext>
            </a:extLst>
          </p:cNvPr>
          <p:cNvCxnSpPr>
            <a:cxnSpLocks/>
            <a:stCxn id="5" idx="1"/>
            <a:endCxn id="23" idx="3"/>
          </p:cNvCxnSpPr>
          <p:nvPr/>
        </p:nvCxnSpPr>
        <p:spPr>
          <a:xfrm flipH="1">
            <a:off x="6158865" y="3676650"/>
            <a:ext cx="916796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25B2688-A27B-BADB-4B40-94C2745FC292}"/>
              </a:ext>
            </a:extLst>
          </p:cNvPr>
          <p:cNvCxnSpPr>
            <a:cxnSpLocks/>
            <a:stCxn id="8" idx="3"/>
            <a:endCxn id="21" idx="1"/>
          </p:cNvCxnSpPr>
          <p:nvPr/>
        </p:nvCxnSpPr>
        <p:spPr>
          <a:xfrm>
            <a:off x="8549640" y="2714781"/>
            <a:ext cx="914400" cy="9064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1276680-40F1-FE19-29BE-F86F923B5A3B}"/>
              </a:ext>
            </a:extLst>
          </p:cNvPr>
          <p:cNvCxnSpPr>
            <a:cxnSpLocks/>
            <a:stCxn id="4" idx="1"/>
            <a:endCxn id="24" idx="3"/>
          </p:cNvCxnSpPr>
          <p:nvPr/>
        </p:nvCxnSpPr>
        <p:spPr>
          <a:xfrm flipH="1">
            <a:off x="6463665" y="5603157"/>
            <a:ext cx="732073" cy="0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2" name="Arrow: Down 61">
            <a:extLst>
              <a:ext uri="{FF2B5EF4-FFF2-40B4-BE49-F238E27FC236}">
                <a16:creationId xmlns:a16="http://schemas.microsoft.com/office/drawing/2014/main" id="{FB955F9A-3136-A350-CE72-A9810244C056}"/>
              </a:ext>
            </a:extLst>
          </p:cNvPr>
          <p:cNvSpPr/>
          <p:nvPr/>
        </p:nvSpPr>
        <p:spPr>
          <a:xfrm>
            <a:off x="7849091" y="1278346"/>
            <a:ext cx="96602" cy="300807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C7F0B158-7DEC-D8F2-C520-BF86530830E4}"/>
              </a:ext>
            </a:extLst>
          </p:cNvPr>
          <p:cNvSpPr/>
          <p:nvPr/>
        </p:nvSpPr>
        <p:spPr>
          <a:xfrm>
            <a:off x="7827460" y="2991308"/>
            <a:ext cx="112580" cy="375934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Arrow: Down 64">
            <a:extLst>
              <a:ext uri="{FF2B5EF4-FFF2-40B4-BE49-F238E27FC236}">
                <a16:creationId xmlns:a16="http://schemas.microsoft.com/office/drawing/2014/main" id="{DDAC49BD-698F-0A27-8866-F4ABA193E57C}"/>
              </a:ext>
            </a:extLst>
          </p:cNvPr>
          <p:cNvSpPr/>
          <p:nvPr/>
        </p:nvSpPr>
        <p:spPr>
          <a:xfrm>
            <a:off x="7843438" y="2097186"/>
            <a:ext cx="96602" cy="330463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3606394B-A1A8-5687-9EAA-6638E7DE1279}"/>
              </a:ext>
            </a:extLst>
          </p:cNvPr>
          <p:cNvSpPr/>
          <p:nvPr/>
        </p:nvSpPr>
        <p:spPr>
          <a:xfrm>
            <a:off x="7827460" y="3981450"/>
            <a:ext cx="87999" cy="366714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Arrow: Down 66">
            <a:extLst>
              <a:ext uri="{FF2B5EF4-FFF2-40B4-BE49-F238E27FC236}">
                <a16:creationId xmlns:a16="http://schemas.microsoft.com/office/drawing/2014/main" id="{EF06B3A7-D6CB-7A85-AC87-4135FCF3E2C5}"/>
              </a:ext>
            </a:extLst>
          </p:cNvPr>
          <p:cNvSpPr/>
          <p:nvPr/>
        </p:nvSpPr>
        <p:spPr>
          <a:xfrm>
            <a:off x="7818857" y="4999088"/>
            <a:ext cx="96602" cy="276995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815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413</Words>
  <Application>Microsoft Office PowerPoint</Application>
  <PresentationFormat>Widescreen</PresentationFormat>
  <Paragraphs>52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MT</vt:lpstr>
      <vt:lpstr>Calibri</vt:lpstr>
      <vt:lpstr>Cambria</vt:lpstr>
      <vt:lpstr>Office Theme</vt:lpstr>
      <vt:lpstr>MIT SCHOOL OF COMPUTING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Naman Babbar</dc:creator>
  <cp:lastModifiedBy>Naman Babbar</cp:lastModifiedBy>
  <cp:revision>2</cp:revision>
  <dcterms:created xsi:type="dcterms:W3CDTF">2025-02-27T18:18:27Z</dcterms:created>
  <dcterms:modified xsi:type="dcterms:W3CDTF">2025-02-27T20:42:58Z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2025-02-27T00:00:00Z</vt:filetime>
  </property>
  <property fmtid="{D5CDD505-2E9C-101B-9397-08002B2CF9AE}" pid="5" name="Producer">
    <vt:lpwstr>Microsoft® PowerPoint® 2021</vt:lpwstr>
  </property>
</Properties>
</file>